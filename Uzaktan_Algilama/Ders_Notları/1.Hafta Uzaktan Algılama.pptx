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72" autoAdjust="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BEE3-403F-4C70-A1A1-2BB1B32F48D5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09F0-F6B3-41A2-8C9A-3E39791D5D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725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2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90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22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42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1E0E-70AA-4C5F-B0F7-EBC0C05F04ED}" type="datetimeFigureOut">
              <a:rPr lang="tr-TR" smtClean="0"/>
              <a:t>17.10.2024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3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09499"/>
            <a:ext cx="5069921" cy="3848500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0554" y="-354745"/>
            <a:ext cx="9144000" cy="2387600"/>
          </a:xfrm>
        </p:spPr>
        <p:txBody>
          <a:bodyPr/>
          <a:lstStyle/>
          <a:p>
            <a:r>
              <a:rPr lang="tr-TR" dirty="0" smtClean="0"/>
              <a:t>Çukurova Üniversitesi </a:t>
            </a:r>
            <a:br>
              <a:rPr lang="tr-TR" dirty="0" smtClean="0"/>
            </a:br>
            <a:r>
              <a:rPr lang="tr-TR" sz="5000" dirty="0" smtClean="0"/>
              <a:t>Karaisalı Meslek Yüksekokulu</a:t>
            </a:r>
            <a:endParaRPr lang="tr-TR" sz="50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75592" y="2592660"/>
            <a:ext cx="10521462" cy="4071438"/>
          </a:xfrm>
        </p:spPr>
        <p:txBody>
          <a:bodyPr>
            <a:normAutofit fontScale="92500" lnSpcReduction="10000"/>
          </a:bodyPr>
          <a:lstStyle/>
          <a:p>
            <a:r>
              <a:rPr lang="tr-TR" sz="3500" dirty="0" smtClean="0"/>
              <a:t>UZAKTAN ALGILAMA</a:t>
            </a:r>
            <a:r>
              <a:rPr lang="tr-TR" dirty="0" smtClean="0"/>
              <a:t>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r>
              <a:rPr lang="tr-TR" sz="3000" dirty="0" err="1" smtClean="0"/>
              <a:t>Öğr</a:t>
            </a:r>
            <a:r>
              <a:rPr lang="tr-TR" sz="3000" dirty="0" smtClean="0"/>
              <a:t>. Gör. Buray KARSLI</a:t>
            </a:r>
            <a:endParaRPr lang="tr-TR" sz="3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4" y="306569"/>
            <a:ext cx="2143125" cy="214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580" y="205060"/>
            <a:ext cx="2244634" cy="2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 ve Önemi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Coğrafi bilgi ile çalışan bütün disiplinler </a:t>
            </a:r>
            <a:r>
              <a:rPr lang="tr-TR" dirty="0" err="1"/>
              <a:t>jeoreferanslanmış</a:t>
            </a:r>
            <a:r>
              <a:rPr lang="tr-TR" dirty="0"/>
              <a:t> (</a:t>
            </a:r>
            <a:r>
              <a:rPr lang="tr-TR" dirty="0" err="1"/>
              <a:t>koordinatlanmış</a:t>
            </a:r>
            <a:r>
              <a:rPr lang="tr-TR" dirty="0"/>
              <a:t>) </a:t>
            </a:r>
            <a:r>
              <a:rPr lang="tr-TR" dirty="0" smtClean="0"/>
              <a:t>veriye ihtiyaç </a:t>
            </a:r>
            <a:r>
              <a:rPr lang="tr-TR" dirty="0"/>
              <a:t>duyarlar. Bu disiplinler verinin toplanmasında, işlenmesinde, analizinde veya </a:t>
            </a:r>
            <a:r>
              <a:rPr lang="tr-TR" dirty="0" smtClean="0"/>
              <a:t>genel olarak </a:t>
            </a:r>
            <a:r>
              <a:rPr lang="tr-TR" dirty="0"/>
              <a:t>veriyi kullanarak karar verme mekanizmasında görev alıyor olabilir. Sonuç </a:t>
            </a:r>
            <a:r>
              <a:rPr lang="tr-TR" dirty="0" smtClean="0"/>
              <a:t>olarak, verinin </a:t>
            </a:r>
            <a:r>
              <a:rPr lang="tr-TR" dirty="0"/>
              <a:t>yönetim amaçlı olarak bilgi haline dönüştürülmesi söz konusudur. Bu </a:t>
            </a:r>
            <a:r>
              <a:rPr lang="tr-TR" dirty="0" smtClean="0"/>
              <a:t>derste, </a:t>
            </a:r>
            <a:r>
              <a:rPr lang="tr-TR" dirty="0" err="1" smtClean="0"/>
              <a:t>jeoreferanslanmış</a:t>
            </a:r>
            <a:r>
              <a:rPr lang="tr-TR" dirty="0" smtClean="0"/>
              <a:t> </a:t>
            </a:r>
            <a:r>
              <a:rPr lang="tr-TR" dirty="0"/>
              <a:t>veya mekânsal verinin elde edilmesindeki uzaktan algılama metodu </a:t>
            </a:r>
            <a:r>
              <a:rPr lang="tr-TR" dirty="0" smtClean="0"/>
              <a:t>üzerinde durulacaktır</a:t>
            </a:r>
            <a:r>
              <a:rPr lang="tr-TR" dirty="0"/>
              <a:t>. Dolayısıyla uzaktan algılama, daha çok </a:t>
            </a:r>
            <a:r>
              <a:rPr lang="tr-TR" dirty="0" err="1"/>
              <a:t>referanslandırılmış</a:t>
            </a:r>
            <a:r>
              <a:rPr lang="tr-TR" dirty="0"/>
              <a:t> mekânsal verinin </a:t>
            </a:r>
            <a:r>
              <a:rPr lang="tr-TR" dirty="0" smtClean="0"/>
              <a:t>elde edilme </a:t>
            </a:r>
            <a:r>
              <a:rPr lang="tr-TR" dirty="0"/>
              <a:t>yöntemi olarak karşımıza çıkar.</a:t>
            </a:r>
          </a:p>
        </p:txBody>
      </p:sp>
    </p:spTree>
    <p:extLst>
      <p:ext uri="{BB962C8B-B14F-4D97-AF65-F5344CB8AC3E}">
        <p14:creationId xmlns:p14="http://schemas.microsoft.com/office/powerpoint/2010/main" val="194517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 ve Önemi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Coğrafi Bilgi Sistemleri (CBS) dersinden hatırlanacağı üzere, </a:t>
            </a:r>
            <a:r>
              <a:rPr lang="tr-TR" dirty="0" err="1"/>
              <a:t>CBS’nin</a:t>
            </a:r>
            <a:r>
              <a:rPr lang="tr-TR" dirty="0"/>
              <a:t> altı </a:t>
            </a:r>
            <a:r>
              <a:rPr lang="tr-TR" dirty="0" smtClean="0"/>
              <a:t>önemli bileşeni </a:t>
            </a:r>
            <a:r>
              <a:rPr lang="tr-TR" dirty="0"/>
              <a:t>bulunmaktadır. </a:t>
            </a:r>
            <a:endParaRPr lang="tr-TR" dirty="0" smtClean="0"/>
          </a:p>
          <a:p>
            <a:r>
              <a:rPr lang="tr-TR" dirty="0" smtClean="0"/>
              <a:t>Bunlar</a:t>
            </a:r>
            <a:r>
              <a:rPr lang="tr-TR" dirty="0"/>
              <a:t>; yazılım, donanım, insan, veri, metot ve ağ (network) </a:t>
            </a:r>
            <a:r>
              <a:rPr lang="tr-TR" dirty="0" err="1"/>
              <a:t>dır</a:t>
            </a:r>
            <a:r>
              <a:rPr lang="tr-TR" dirty="0"/>
              <a:t>. </a:t>
            </a:r>
            <a:r>
              <a:rPr lang="tr-TR" dirty="0" smtClean="0"/>
              <a:t>Bu bileşenlerden </a:t>
            </a:r>
            <a:r>
              <a:rPr lang="tr-TR" dirty="0"/>
              <a:t>veri bileşeni </a:t>
            </a:r>
            <a:r>
              <a:rPr lang="tr-TR" dirty="0" err="1"/>
              <a:t>CBS’nin</a:t>
            </a:r>
            <a:r>
              <a:rPr lang="tr-TR" dirty="0"/>
              <a:t> en önemli bileşenidir. </a:t>
            </a:r>
            <a:r>
              <a:rPr lang="tr-TR" dirty="0" err="1"/>
              <a:t>CBS’de</a:t>
            </a:r>
            <a:r>
              <a:rPr lang="tr-TR" dirty="0"/>
              <a:t> veri, gerçek </a:t>
            </a:r>
            <a:r>
              <a:rPr lang="tr-TR" dirty="0" smtClean="0"/>
              <a:t>dünyadaki coğrafi </a:t>
            </a:r>
            <a:r>
              <a:rPr lang="tr-TR" dirty="0"/>
              <a:t>olayların </a:t>
            </a:r>
            <a:r>
              <a:rPr lang="tr-TR" dirty="0" err="1"/>
              <a:t>raster</a:t>
            </a:r>
            <a:r>
              <a:rPr lang="tr-TR" dirty="0"/>
              <a:t> ve/ya vektör formatta depolanması olarak tanımlanabilir. </a:t>
            </a:r>
            <a:r>
              <a:rPr lang="tr-TR" dirty="0" err="1"/>
              <a:t>Raster</a:t>
            </a:r>
            <a:r>
              <a:rPr lang="tr-TR" dirty="0"/>
              <a:t> </a:t>
            </a:r>
            <a:r>
              <a:rPr lang="tr-TR" dirty="0" smtClean="0"/>
              <a:t>veriler hücrelerden </a:t>
            </a:r>
            <a:r>
              <a:rPr lang="tr-TR" dirty="0"/>
              <a:t>oluşurken, vektör veriler </a:t>
            </a:r>
            <a:r>
              <a:rPr lang="tr-TR" dirty="0" err="1"/>
              <a:t>x,y</a:t>
            </a:r>
            <a:r>
              <a:rPr lang="tr-TR" dirty="0"/>
              <a:t> koordinat çiftlerinin bir araya gelmesiyle oluşur </a:t>
            </a:r>
            <a:r>
              <a:rPr lang="tr-TR" dirty="0" smtClean="0"/>
              <a:t>ve nokta</a:t>
            </a:r>
            <a:r>
              <a:rPr lang="tr-TR" dirty="0"/>
              <a:t>, çizgi ve alan olarak temsil edilirler (Şekil 1.1). Aynı zamanda veriler, mekânsal </a:t>
            </a:r>
            <a:r>
              <a:rPr lang="tr-TR" dirty="0" smtClean="0"/>
              <a:t>olmayan sözel </a:t>
            </a:r>
            <a:r>
              <a:rPr lang="tr-TR" dirty="0"/>
              <a:t>nitelikte de CBS de depolanabilirler. </a:t>
            </a:r>
            <a:endParaRPr lang="tr-TR" dirty="0" smtClean="0"/>
          </a:p>
          <a:p>
            <a:r>
              <a:rPr lang="tr-TR" dirty="0" err="1" smtClean="0"/>
              <a:t>CBS’deki</a:t>
            </a:r>
            <a:r>
              <a:rPr lang="tr-TR" dirty="0" smtClean="0"/>
              <a:t> </a:t>
            </a:r>
            <a:r>
              <a:rPr lang="tr-TR" dirty="0"/>
              <a:t>mekânsal veriler, verinin temsil </a:t>
            </a:r>
            <a:r>
              <a:rPr lang="tr-TR" dirty="0" smtClean="0"/>
              <a:t>ettiği coğrafi </a:t>
            </a:r>
            <a:r>
              <a:rPr lang="tr-TR" dirty="0"/>
              <a:t>olayın doğası gereği 2 boyutlu (</a:t>
            </a:r>
            <a:r>
              <a:rPr lang="tr-TR" dirty="0" err="1"/>
              <a:t>x,y</a:t>
            </a:r>
            <a:r>
              <a:rPr lang="tr-TR" dirty="0"/>
              <a:t>) ve 3 boyutlu (z) olabildikleri gibi 4 boyutlu </a:t>
            </a:r>
            <a:r>
              <a:rPr lang="tr-TR" dirty="0" smtClean="0"/>
              <a:t>da olabilmektedir</a:t>
            </a:r>
            <a:r>
              <a:rPr lang="tr-TR" dirty="0"/>
              <a:t>. Burada 4. boyut özelliği, verinin zaman içindeki değişimidir. Dolayısıyla </a:t>
            </a:r>
            <a:r>
              <a:rPr lang="tr-TR" dirty="0" smtClean="0"/>
              <a:t>4.boyut </a:t>
            </a:r>
            <a:r>
              <a:rPr lang="tr-TR" dirty="0"/>
              <a:t>zamandır (Şekil 1.2).</a:t>
            </a:r>
          </a:p>
        </p:txBody>
      </p:sp>
    </p:spTree>
    <p:extLst>
      <p:ext uri="{BB962C8B-B14F-4D97-AF65-F5344CB8AC3E}">
        <p14:creationId xmlns:p14="http://schemas.microsoft.com/office/powerpoint/2010/main" val="389211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 ve Önemi</a:t>
            </a:r>
            <a:endParaRPr lang="tr-TR" dirty="0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35" y="1390690"/>
            <a:ext cx="10056530" cy="5202615"/>
          </a:xfrm>
        </p:spPr>
      </p:pic>
    </p:spTree>
    <p:extLst>
      <p:ext uri="{BB962C8B-B14F-4D97-AF65-F5344CB8AC3E}">
        <p14:creationId xmlns:p14="http://schemas.microsoft.com/office/powerpoint/2010/main" val="250070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 ve Önemi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Yukarıda bahsi geçen </a:t>
            </a:r>
            <a:r>
              <a:rPr lang="tr-TR" dirty="0" err="1"/>
              <a:t>CBS’deki</a:t>
            </a:r>
            <a:r>
              <a:rPr lang="tr-TR" dirty="0"/>
              <a:t> mekânsal verilerle ilgili bütün özellikleri, </a:t>
            </a:r>
            <a:r>
              <a:rPr lang="tr-TR" dirty="0" smtClean="0"/>
              <a:t>uzaktan algılama </a:t>
            </a:r>
            <a:r>
              <a:rPr lang="tr-TR" dirty="0"/>
              <a:t>metotlarıyla elde edebilir ve kolaylıkla </a:t>
            </a:r>
            <a:r>
              <a:rPr lang="tr-TR" dirty="0" err="1"/>
              <a:t>CBS’ye</a:t>
            </a:r>
            <a:r>
              <a:rPr lang="tr-TR" dirty="0"/>
              <a:t> veri aktarımını </a:t>
            </a:r>
            <a:r>
              <a:rPr lang="tr-TR" dirty="0" smtClean="0"/>
              <a:t>gerçekleştirebiliriz. Uzaktan </a:t>
            </a:r>
            <a:r>
              <a:rPr lang="tr-TR" dirty="0"/>
              <a:t>algılama metoduyla 2 boyutlu, 3 boyutlu ve hatta 4 boyutlu verileri </a:t>
            </a:r>
            <a:r>
              <a:rPr lang="tr-TR" dirty="0" smtClean="0"/>
              <a:t>üretmek mümkündür</a:t>
            </a:r>
            <a:r>
              <a:rPr lang="tr-TR" dirty="0"/>
              <a:t>. Uzaktan algılamanın bu özelliklerini ilerleyen derslerimizde ayrıntılı bir </a:t>
            </a:r>
            <a:r>
              <a:rPr lang="tr-TR" dirty="0" smtClean="0"/>
              <a:t>şekilde işleyeceğiz</a:t>
            </a:r>
            <a:r>
              <a:rPr lang="tr-TR" dirty="0"/>
              <a:t>.</a:t>
            </a:r>
          </a:p>
          <a:p>
            <a:r>
              <a:rPr lang="tr-TR" dirty="0"/>
              <a:t>Dünya üzerindeki coğrafi olaylarla çalışan bütün disiplinler gibi, coğrafyacılar da </a:t>
            </a:r>
            <a:r>
              <a:rPr lang="tr-TR" dirty="0" smtClean="0"/>
              <a:t>bir şekilde </a:t>
            </a:r>
            <a:r>
              <a:rPr lang="tr-TR" dirty="0"/>
              <a:t>gerek fiziki gerekse beşeri coğrafya konularında </a:t>
            </a:r>
            <a:r>
              <a:rPr lang="tr-TR" dirty="0" err="1"/>
              <a:t>referanslandırılmış</a:t>
            </a:r>
            <a:r>
              <a:rPr lang="tr-TR" dirty="0"/>
              <a:t> mekânsal </a:t>
            </a:r>
            <a:r>
              <a:rPr lang="tr-TR" dirty="0" smtClean="0"/>
              <a:t>veriye ihtiyaç </a:t>
            </a:r>
            <a:r>
              <a:rPr lang="tr-TR" dirty="0"/>
              <a:t>duyar. Bu verileri elde etmek için de kullandıkları metotlardan birisi de </a:t>
            </a:r>
            <a:r>
              <a:rPr lang="tr-TR" dirty="0" smtClean="0"/>
              <a:t>uzaktan algılamadır</a:t>
            </a:r>
            <a:r>
              <a:rPr lang="tr-TR" dirty="0"/>
              <a:t>. Bu nedenle, uzaktan algılamanın ne olduğu ve nasıl işlediğinin </a:t>
            </a:r>
            <a:r>
              <a:rPr lang="tr-TR" dirty="0" smtClean="0"/>
              <a:t>anlaşılması coğrafyacılar </a:t>
            </a:r>
            <a:r>
              <a:rPr lang="tr-TR" dirty="0"/>
              <a:t>için önem arz eder.</a:t>
            </a:r>
          </a:p>
        </p:txBody>
      </p:sp>
    </p:spTree>
    <p:extLst>
      <p:ext uri="{BB962C8B-B14F-4D97-AF65-F5344CB8AC3E}">
        <p14:creationId xmlns:p14="http://schemas.microsoft.com/office/powerpoint/2010/main" val="248020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291" y="1188912"/>
            <a:ext cx="7207417" cy="5399011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 ve Önemi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1904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Verinin Üretilmesi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Temelde mekânsal verinin üretilmesinde iki önemli yöntem vardır. Bunlar; </a:t>
            </a:r>
            <a:r>
              <a:rPr lang="tr-TR" dirty="0" smtClean="0"/>
              <a:t>Yer/arazi temelli </a:t>
            </a:r>
            <a:r>
              <a:rPr lang="tr-TR" dirty="0"/>
              <a:t>metot ve uzaktan algılama metodudur.</a:t>
            </a:r>
          </a:p>
          <a:p>
            <a:r>
              <a:rPr lang="tr-TR" dirty="0"/>
              <a:t>Arazi temelli metotta; arazi gözlemleri, arazi çalışmaları yaparak yerinde </a:t>
            </a:r>
            <a:r>
              <a:rPr lang="tr-TR" dirty="0" smtClean="0"/>
              <a:t>ölçümle gerçekleştirilir</a:t>
            </a:r>
            <a:r>
              <a:rPr lang="tr-TR" dirty="0"/>
              <a:t>. Dolayısıyla gerçek dünyada ilgili </a:t>
            </a:r>
            <a:r>
              <a:rPr lang="tr-TR" dirty="0" err="1"/>
              <a:t>lokaliteye</a:t>
            </a:r>
            <a:r>
              <a:rPr lang="tr-TR" dirty="0"/>
              <a:t> gidilip bizzat ölçüm ve </a:t>
            </a:r>
            <a:r>
              <a:rPr lang="tr-TR" dirty="0" smtClean="0"/>
              <a:t>gözlem yapmak </a:t>
            </a:r>
            <a:r>
              <a:rPr lang="tr-TR" dirty="0"/>
              <a:t>bu metodun temelini oluşturur (Şekil 1.3). Arazide yapılacak gözlem ve </a:t>
            </a:r>
            <a:r>
              <a:rPr lang="tr-TR" dirty="0" smtClean="0"/>
              <a:t>ölçümler kullanılarak </a:t>
            </a:r>
            <a:r>
              <a:rPr lang="tr-TR" dirty="0"/>
              <a:t>mekânsal </a:t>
            </a:r>
            <a:r>
              <a:rPr lang="tr-TR" dirty="0" err="1"/>
              <a:t>veritabanı</a:t>
            </a:r>
            <a:r>
              <a:rPr lang="tr-TR" dirty="0"/>
              <a:t> oluşturulur.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367" y="4809122"/>
            <a:ext cx="9878928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5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Verinin Üretilmesi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Uzaktan algılama metodunda; hava kameraları, tarayıcılar veya radarlar </a:t>
            </a:r>
            <a:r>
              <a:rPr lang="tr-TR" dirty="0" smtClean="0"/>
              <a:t>gibi algılayıcılar </a:t>
            </a:r>
            <a:r>
              <a:rPr lang="tr-TR" dirty="0"/>
              <a:t>tarafından elde edilen görüntülerin kullanımıyla mekânsal veri </a:t>
            </a:r>
            <a:r>
              <a:rPr lang="tr-TR" dirty="0" smtClean="0"/>
              <a:t>tabanının oluşturulması </a:t>
            </a:r>
            <a:r>
              <a:rPr lang="tr-TR" dirty="0"/>
              <a:t>gerçekleşir (Şekil 1.4). </a:t>
            </a:r>
            <a:endParaRPr lang="tr-TR" dirty="0" smtClean="0"/>
          </a:p>
          <a:p>
            <a:r>
              <a:rPr lang="tr-TR" dirty="0" smtClean="0"/>
              <a:t>Uzaktan </a:t>
            </a:r>
            <a:r>
              <a:rPr lang="tr-TR" dirty="0"/>
              <a:t>algılama metodunun kullanılmasının </a:t>
            </a:r>
            <a:r>
              <a:rPr lang="tr-TR" dirty="0" smtClean="0"/>
              <a:t>anlamı, dünyanın </a:t>
            </a:r>
            <a:r>
              <a:rPr lang="tr-TR" dirty="0"/>
              <a:t>belirli bir alanını içeren görüntülerden bilgiyi üretmek demektir. Bunun arazi </a:t>
            </a:r>
            <a:r>
              <a:rPr lang="tr-TR" dirty="0" smtClean="0"/>
              <a:t>temelli yaklaşımdan </a:t>
            </a:r>
            <a:r>
              <a:rPr lang="tr-TR" dirty="0"/>
              <a:t>farkını ise sadece uydu görüntülerinden elde edilen bilgilerin kontrolü için </a:t>
            </a:r>
            <a:r>
              <a:rPr lang="tr-TR" dirty="0" smtClean="0"/>
              <a:t>araziye  gidilmesi </a:t>
            </a:r>
            <a:r>
              <a:rPr lang="tr-TR" dirty="0"/>
              <a:t>şeklinde özetleyebiliriz. </a:t>
            </a:r>
            <a:endParaRPr lang="tr-TR" dirty="0" smtClean="0"/>
          </a:p>
          <a:p>
            <a:r>
              <a:rPr lang="tr-TR" dirty="0" smtClean="0"/>
              <a:t>Arazi </a:t>
            </a:r>
            <a:r>
              <a:rPr lang="tr-TR" dirty="0"/>
              <a:t>temelli metotta her bir </a:t>
            </a:r>
            <a:r>
              <a:rPr lang="tr-TR" dirty="0" err="1"/>
              <a:t>lokasyon</a:t>
            </a:r>
            <a:r>
              <a:rPr lang="tr-TR" dirty="0"/>
              <a:t> için araziye </a:t>
            </a:r>
            <a:r>
              <a:rPr lang="tr-TR" dirty="0" smtClean="0"/>
              <a:t>gidilip ölçüm </a:t>
            </a:r>
            <a:r>
              <a:rPr lang="tr-TR" dirty="0"/>
              <a:t>veya gözlem yapmak gerekirken, uzaktan algılama metodunda buna gerek </a:t>
            </a:r>
            <a:r>
              <a:rPr lang="tr-TR" dirty="0" smtClean="0"/>
              <a:t>olmayıp, sadece </a:t>
            </a:r>
            <a:r>
              <a:rPr lang="tr-TR" dirty="0"/>
              <a:t>uydu görüntülerinin işlenmesi neticesinde sonuçların kontrolü ve doğrulanması </a:t>
            </a:r>
            <a:r>
              <a:rPr lang="tr-TR" dirty="0" smtClean="0"/>
              <a:t>amaçlı olarak </a:t>
            </a:r>
            <a:r>
              <a:rPr lang="tr-TR" dirty="0"/>
              <a:t>belirli </a:t>
            </a:r>
            <a:r>
              <a:rPr lang="tr-TR" dirty="0" err="1"/>
              <a:t>lokalitelere</a:t>
            </a:r>
            <a:r>
              <a:rPr lang="tr-TR" dirty="0"/>
              <a:t> gidilir. Böylelikle arazi temelli yaklaşımın iş ve maliyet </a:t>
            </a:r>
            <a:r>
              <a:rPr lang="tr-TR" dirty="0" smtClean="0"/>
              <a:t>yükünü azaltmış </a:t>
            </a:r>
            <a:r>
              <a:rPr lang="tr-TR" dirty="0"/>
              <a:t>olur.</a:t>
            </a:r>
          </a:p>
        </p:txBody>
      </p:sp>
    </p:spTree>
    <p:extLst>
      <p:ext uri="{BB962C8B-B14F-4D97-AF65-F5344CB8AC3E}">
        <p14:creationId xmlns:p14="http://schemas.microsoft.com/office/powerpoint/2010/main" val="336124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Mekânsal Verinin Üretilmesi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33" y="2192044"/>
            <a:ext cx="10662567" cy="3037681"/>
          </a:xfrm>
        </p:spPr>
      </p:pic>
    </p:spTree>
    <p:extLst>
      <p:ext uri="{BB962C8B-B14F-4D97-AF65-F5344CB8AC3E}">
        <p14:creationId xmlns:p14="http://schemas.microsoft.com/office/powerpoint/2010/main" val="204470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Tanımı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Uzaktan algılama ile değişik birbirine yakın </a:t>
            </a:r>
            <a:r>
              <a:rPr lang="tr-TR" dirty="0" err="1"/>
              <a:t>tanımlamar</a:t>
            </a:r>
            <a:r>
              <a:rPr lang="tr-TR" dirty="0"/>
              <a:t> mevcuttur. Bunlardan </a:t>
            </a:r>
            <a:r>
              <a:rPr lang="tr-TR" dirty="0" smtClean="0"/>
              <a:t>bazıları şu </a:t>
            </a:r>
            <a:r>
              <a:rPr lang="tr-TR" dirty="0"/>
              <a:t>şekildedir;</a:t>
            </a:r>
          </a:p>
          <a:p>
            <a:r>
              <a:rPr lang="es-ES" dirty="0" smtClean="0"/>
              <a:t>Herhangi </a:t>
            </a:r>
            <a:r>
              <a:rPr lang="es-ES" dirty="0"/>
              <a:t>bir temas olmadan bir obje hakkında bir şeyler söyleme sanatı </a:t>
            </a:r>
            <a:r>
              <a:rPr lang="es-ES" dirty="0" smtClean="0"/>
              <a:t>veya</a:t>
            </a:r>
            <a:r>
              <a:rPr lang="tr-TR" dirty="0" smtClean="0"/>
              <a:t> bilimidir </a:t>
            </a:r>
            <a:r>
              <a:rPr lang="tr-TR" dirty="0"/>
              <a:t>(</a:t>
            </a:r>
            <a:r>
              <a:rPr lang="tr-TR" dirty="0" err="1"/>
              <a:t>Fischer</a:t>
            </a:r>
            <a:r>
              <a:rPr lang="tr-TR" dirty="0"/>
              <a:t> vd. 1976).</a:t>
            </a:r>
          </a:p>
          <a:p>
            <a:r>
              <a:rPr lang="tr-TR" dirty="0" smtClean="0"/>
              <a:t>Dünya </a:t>
            </a:r>
            <a:r>
              <a:rPr lang="tr-TR" dirty="0"/>
              <a:t>üzerindeki belirli objelerden anlamlı bilgiler üretmek üzere elde </a:t>
            </a:r>
            <a:r>
              <a:rPr lang="tr-TR" dirty="0" smtClean="0"/>
              <a:t>edilmiş görüntüleri </a:t>
            </a:r>
            <a:r>
              <a:rPr lang="tr-TR" dirty="0"/>
              <a:t>yorumlayabilmek ve dünyayı belirli bir uzaklıktan izlemeyi sağlayan araç, </a:t>
            </a:r>
            <a:r>
              <a:rPr lang="tr-TR" dirty="0" smtClean="0"/>
              <a:t>teknik </a:t>
            </a:r>
            <a:r>
              <a:rPr lang="nl-NL" dirty="0" smtClean="0"/>
              <a:t>ve </a:t>
            </a:r>
            <a:r>
              <a:rPr lang="nl-NL" dirty="0"/>
              <a:t>metotlardır (Buiten ve Clevers, 1993).</a:t>
            </a:r>
          </a:p>
          <a:p>
            <a:r>
              <a:rPr lang="tr-TR" dirty="0" smtClean="0"/>
              <a:t>Elektromanyetik </a:t>
            </a:r>
            <a:r>
              <a:rPr lang="tr-TR" dirty="0"/>
              <a:t>enerji ve cisimler arasındaki etkileşimi kaydeden </a:t>
            </a:r>
            <a:r>
              <a:rPr lang="tr-TR" dirty="0" smtClean="0"/>
              <a:t>görüntülerin elde </a:t>
            </a:r>
            <a:r>
              <a:rPr lang="tr-TR" dirty="0"/>
              <a:t>edilmesi, işlenmesi ve yorumlanması bilimidir (</a:t>
            </a:r>
            <a:r>
              <a:rPr lang="tr-TR" dirty="0" err="1"/>
              <a:t>Sabins</a:t>
            </a:r>
            <a:r>
              <a:rPr lang="tr-TR" dirty="0"/>
              <a:t>, 1996).</a:t>
            </a:r>
          </a:p>
          <a:p>
            <a:pPr marL="0" indent="0">
              <a:buNone/>
            </a:pPr>
            <a:r>
              <a:rPr lang="tr-TR" dirty="0"/>
              <a:t>Bu tanımlamalar yanında bizim dersimizde kullanacağımız tanımlama </a:t>
            </a:r>
            <a:r>
              <a:rPr lang="tr-TR" dirty="0" err="1"/>
              <a:t>Lillesand</a:t>
            </a:r>
            <a:r>
              <a:rPr lang="tr-TR" dirty="0"/>
              <a:t> vd</a:t>
            </a:r>
            <a:r>
              <a:rPr lang="tr-TR" dirty="0" smtClean="0"/>
              <a:t>. (</a:t>
            </a:r>
            <a:r>
              <a:rPr lang="tr-TR" dirty="0"/>
              <a:t>2004) tarafından verilen tanımlamadır. Buna göre uzaktan algılama; “</a:t>
            </a:r>
            <a:r>
              <a:rPr lang="tr-TR" i="1" dirty="0"/>
              <a:t>yeryüzündeki </a:t>
            </a:r>
            <a:r>
              <a:rPr lang="tr-TR" i="1" dirty="0" smtClean="0"/>
              <a:t>coğrafi varlıklarla </a:t>
            </a:r>
            <a:r>
              <a:rPr lang="tr-TR" i="1" dirty="0"/>
              <a:t>herhangi bir fiziksel temasa geçmeksizin, algılayıcılar ile elde edilen </a:t>
            </a:r>
            <a:r>
              <a:rPr lang="tr-TR" i="1" dirty="0" smtClean="0"/>
              <a:t>görüntülerin analiziyle </a:t>
            </a:r>
            <a:r>
              <a:rPr lang="tr-TR" i="1" dirty="0"/>
              <a:t>coğrafi varlıklar hakkında bilgi sahibi olma bilimi, tekniği ve sanatıdır</a:t>
            </a:r>
            <a:r>
              <a:rPr lang="tr-TR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425466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Tanımı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Bütün bu tanımlamaların ortak yanı, dünya üzerindeki verinin sağlanabileceği </a:t>
            </a:r>
            <a:r>
              <a:rPr lang="tr-TR" dirty="0" smtClean="0"/>
              <a:t>herhangi bir </a:t>
            </a:r>
            <a:r>
              <a:rPr lang="tr-TR" dirty="0"/>
              <a:t>objeyle fiziksel bir temasa geçmeksizin, uydular tarafından elde edilen görüntüler </a:t>
            </a:r>
            <a:r>
              <a:rPr lang="tr-TR" dirty="0" smtClean="0"/>
              <a:t>üzerinde birtakım </a:t>
            </a:r>
            <a:r>
              <a:rPr lang="tr-TR" dirty="0"/>
              <a:t>analizler yaparak o obje hakkında bilgi sahibi olma özelliklerini barındırmasıdır. </a:t>
            </a:r>
            <a:endParaRPr lang="tr-TR" dirty="0" smtClean="0"/>
          </a:p>
          <a:p>
            <a:r>
              <a:rPr lang="tr-TR" dirty="0" smtClean="0"/>
              <a:t>Buna </a:t>
            </a:r>
            <a:r>
              <a:rPr lang="tr-TR" dirty="0" smtClean="0"/>
              <a:t>en </a:t>
            </a:r>
            <a:r>
              <a:rPr lang="tr-TR" dirty="0"/>
              <a:t>basit örnek olarak, yaz tatilini geçirmek için gittiğiniz çok güzel bir </a:t>
            </a:r>
            <a:r>
              <a:rPr lang="tr-TR" dirty="0" err="1"/>
              <a:t>lokasyondan</a:t>
            </a:r>
            <a:r>
              <a:rPr lang="tr-TR" dirty="0"/>
              <a:t> </a:t>
            </a:r>
            <a:r>
              <a:rPr lang="tr-TR" dirty="0" smtClean="0"/>
              <a:t>çekmiş olduğunuz </a:t>
            </a:r>
            <a:r>
              <a:rPr lang="tr-TR" dirty="0"/>
              <a:t>fotoğrafları arkadaşlarınızla paylaşarak, o </a:t>
            </a:r>
            <a:r>
              <a:rPr lang="tr-TR" dirty="0" err="1"/>
              <a:t>lokasyon</a:t>
            </a:r>
            <a:r>
              <a:rPr lang="tr-TR" dirty="0"/>
              <a:t> hakkında arkadaşlarınızda </a:t>
            </a:r>
            <a:r>
              <a:rPr lang="tr-TR" dirty="0" smtClean="0"/>
              <a:t>bir fikir </a:t>
            </a:r>
            <a:r>
              <a:rPr lang="tr-TR" dirty="0"/>
              <a:t>oluşmasını sağlamanız verilebilir. Burada sizin tatil için gittiğiniz </a:t>
            </a:r>
            <a:r>
              <a:rPr lang="tr-TR" dirty="0" err="1"/>
              <a:t>lokasyonda</a:t>
            </a:r>
            <a:r>
              <a:rPr lang="tr-TR" dirty="0"/>
              <a:t> </a:t>
            </a:r>
            <a:r>
              <a:rPr lang="tr-TR" dirty="0" smtClean="0"/>
              <a:t>hiç bulunmamış </a:t>
            </a:r>
            <a:r>
              <a:rPr lang="tr-TR" dirty="0"/>
              <a:t>(fiziksel temasa geçmemiş) kişiler, fotoğraflara bakarak tatil yeri hakkında </a:t>
            </a:r>
            <a:r>
              <a:rPr lang="tr-TR" dirty="0" smtClean="0"/>
              <a:t>bilgi sahibi </a:t>
            </a:r>
            <a:r>
              <a:rPr lang="tr-TR" dirty="0"/>
              <a:t>olabilir. </a:t>
            </a:r>
            <a:endParaRPr lang="tr-TR" dirty="0" smtClean="0"/>
          </a:p>
          <a:p>
            <a:r>
              <a:rPr lang="tr-TR" dirty="0" smtClean="0"/>
              <a:t>Uzaktan </a:t>
            </a:r>
            <a:r>
              <a:rPr lang="tr-TR" dirty="0"/>
              <a:t>algılama biliminin tam olarak vermek istediği de budur. Güneşten </a:t>
            </a:r>
            <a:r>
              <a:rPr lang="tr-TR" dirty="0" smtClean="0"/>
              <a:t>gelen elektromanyetik </a:t>
            </a:r>
            <a:r>
              <a:rPr lang="tr-TR" dirty="0"/>
              <a:t>spektrumların yeryüzü ve nesnelerle etkileşimi sonucu ortaya </a:t>
            </a:r>
            <a:r>
              <a:rPr lang="tr-TR" dirty="0" smtClean="0"/>
              <a:t>çıkan yansımaların </a:t>
            </a:r>
            <a:r>
              <a:rPr lang="tr-TR" dirty="0"/>
              <a:t>algılayıcı aletler tarafından kaydedilmesi ile ortaya çıkan uydu görüntülerinin, </a:t>
            </a:r>
            <a:r>
              <a:rPr lang="tr-TR" dirty="0" smtClean="0"/>
              <a:t>o yüzey </a:t>
            </a:r>
            <a:r>
              <a:rPr lang="tr-TR" dirty="0"/>
              <a:t>ve nesnelere temas etmeden bazı bilgilerin üretilmek istenmesidir.</a:t>
            </a:r>
          </a:p>
        </p:txBody>
      </p:sp>
    </p:spTree>
    <p:extLst>
      <p:ext uri="{BB962C8B-B14F-4D97-AF65-F5344CB8AC3E}">
        <p14:creationId xmlns:p14="http://schemas.microsoft.com/office/powerpoint/2010/main" val="111547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Tanımı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Uzaktan algılama ile gerçek dünyadan mekânsal verilerin üretilmesine kadarki </a:t>
            </a:r>
            <a:r>
              <a:rPr lang="tr-TR" dirty="0" smtClean="0"/>
              <a:t>süreçte, bilinmesi </a:t>
            </a:r>
            <a:r>
              <a:rPr lang="tr-TR" dirty="0"/>
              <a:t>gereken bazı başlıklar; Elektromanyetik (EM) enerji, algılayıcılar ve </a:t>
            </a:r>
            <a:r>
              <a:rPr lang="tr-TR" dirty="0" smtClean="0"/>
              <a:t>özellikleri, platformlar </a:t>
            </a:r>
            <a:r>
              <a:rPr lang="tr-TR" dirty="0"/>
              <a:t>ve özellikleri, uydu görüntüleri, uydu görüntülerinin radyometrik ve </a:t>
            </a:r>
            <a:r>
              <a:rPr lang="tr-TR" dirty="0" smtClean="0"/>
              <a:t>geometrik düzeltmeleri</a:t>
            </a:r>
            <a:r>
              <a:rPr lang="tr-TR" dirty="0"/>
              <a:t>, görüntü zenginleştirme, yorumlama ve sınıflamadır. Dolayısıyla </a:t>
            </a:r>
            <a:r>
              <a:rPr lang="tr-TR" dirty="0" smtClean="0"/>
              <a:t>temelde, görüntünün </a:t>
            </a:r>
            <a:r>
              <a:rPr lang="tr-TR" dirty="0"/>
              <a:t>temeli enerji, görüntüyü kaydediciler ve görüntü üzerindeki işlemler </a:t>
            </a:r>
            <a:r>
              <a:rPr lang="tr-TR" dirty="0" smtClean="0"/>
              <a:t>üzerinde </a:t>
            </a:r>
            <a:r>
              <a:rPr lang="tr-TR" dirty="0" err="1" smtClean="0"/>
              <a:t>yoğunlaşılmaktadır</a:t>
            </a:r>
            <a:r>
              <a:rPr lang="tr-TR" dirty="0"/>
              <a:t>. Bu dersin temel içeriği de bu başlıklar üzerinden oluşturulmuştur.</a:t>
            </a:r>
          </a:p>
        </p:txBody>
      </p:sp>
    </p:spTree>
    <p:extLst>
      <p:ext uri="{BB962C8B-B14F-4D97-AF65-F5344CB8AC3E}">
        <p14:creationId xmlns:p14="http://schemas.microsoft.com/office/powerpoint/2010/main" val="135844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Tarihi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5133473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Uzaktan algılama her ne kadar insanın var oluşundan buyana var ola gelmişse </a:t>
            </a:r>
            <a:r>
              <a:rPr lang="tr-TR" dirty="0" smtClean="0"/>
              <a:t>de, literatürdeki </a:t>
            </a:r>
            <a:r>
              <a:rPr lang="tr-TR" dirty="0"/>
              <a:t>ilk başlangıcı fotoğrafların ortaya çıktığı 1800 </a:t>
            </a:r>
            <a:r>
              <a:rPr lang="tr-TR" dirty="0" err="1"/>
              <a:t>lü</a:t>
            </a:r>
            <a:r>
              <a:rPr lang="tr-TR" dirty="0"/>
              <a:t> yıllara dayandırılır (Tablo 1.1</a:t>
            </a:r>
            <a:r>
              <a:rPr lang="tr-TR" dirty="0" smtClean="0"/>
              <a:t>). 1800’lü </a:t>
            </a:r>
            <a:r>
              <a:rPr lang="tr-TR" dirty="0"/>
              <a:t>yılların ikinci yarısında ve 1900 </a:t>
            </a:r>
            <a:r>
              <a:rPr lang="tr-TR" dirty="0" err="1"/>
              <a:t>lü</a:t>
            </a:r>
            <a:r>
              <a:rPr lang="tr-TR" dirty="0"/>
              <a:t> yılların başlarında fotoğraf makinaları </a:t>
            </a:r>
            <a:r>
              <a:rPr lang="tr-TR" dirty="0" smtClean="0"/>
              <a:t>balon, güvercin </a:t>
            </a:r>
            <a:r>
              <a:rPr lang="tr-TR" dirty="0"/>
              <a:t>ve uçaklara monte edilerek birtakım veriler elde edilmeye çalışılmıştır. Özellikle </a:t>
            </a:r>
            <a:r>
              <a:rPr lang="tr-TR" dirty="0" smtClean="0"/>
              <a:t>1.Dünya </a:t>
            </a:r>
            <a:r>
              <a:rPr lang="tr-TR" dirty="0"/>
              <a:t>savaşında uçaklarla çekilen fotoğraflar askeri amaçlı olarak kullanılmıştır. </a:t>
            </a:r>
            <a:endParaRPr lang="tr-TR" dirty="0" smtClean="0"/>
          </a:p>
          <a:p>
            <a:r>
              <a:rPr lang="tr-TR" dirty="0" smtClean="0"/>
              <a:t>I</a:t>
            </a:r>
            <a:r>
              <a:rPr lang="tr-TR" dirty="0"/>
              <a:t>. ve </a:t>
            </a:r>
            <a:r>
              <a:rPr lang="tr-TR" dirty="0" err="1" smtClean="0"/>
              <a:t>II.Dünya</a:t>
            </a:r>
            <a:r>
              <a:rPr lang="tr-TR" dirty="0" smtClean="0"/>
              <a:t> </a:t>
            </a:r>
            <a:r>
              <a:rPr lang="tr-TR" dirty="0"/>
              <a:t>savaşları arasında hava fotolarının ve renkli fotoğrafların ortaya çıkması </a:t>
            </a:r>
            <a:r>
              <a:rPr lang="tr-TR" dirty="0" smtClean="0"/>
              <a:t>uzaktan algılama </a:t>
            </a:r>
            <a:r>
              <a:rPr lang="tr-TR" dirty="0"/>
              <a:t>tarihinde yeni bir dönemi başlatır. Özellikle de II. Dünya savaşında hava </a:t>
            </a:r>
            <a:r>
              <a:rPr lang="tr-TR" dirty="0" smtClean="0"/>
              <a:t>fotolarının yoğun </a:t>
            </a:r>
            <a:r>
              <a:rPr lang="tr-TR" dirty="0"/>
              <a:t>kullanımını görmek mümkündür. Görünür dalga boylarının ötesinde insan </a:t>
            </a:r>
            <a:r>
              <a:rPr lang="tr-TR" dirty="0" smtClean="0"/>
              <a:t>gözünün göremediği </a:t>
            </a:r>
            <a:r>
              <a:rPr lang="tr-TR" dirty="0"/>
              <a:t>spektrumlarda birtakım çalışmaların yapılmış ve tecrübelerin kazanılmış </a:t>
            </a:r>
            <a:r>
              <a:rPr lang="tr-TR" dirty="0" smtClean="0"/>
              <a:t>olması, savaş </a:t>
            </a:r>
            <a:r>
              <a:rPr lang="tr-TR" dirty="0"/>
              <a:t>sonrasında askeri amaçlarla yapılan bu çalışmaların sivil çalışmalarda kullanılması </a:t>
            </a:r>
            <a:r>
              <a:rPr lang="tr-TR" dirty="0" smtClean="0"/>
              <a:t>için yoğun </a:t>
            </a:r>
            <a:r>
              <a:rPr lang="tr-TR" dirty="0"/>
              <a:t>bir bilgi transferi gerçekleştirilir. </a:t>
            </a:r>
            <a:endParaRPr lang="tr-TR" dirty="0" smtClean="0"/>
          </a:p>
          <a:p>
            <a:r>
              <a:rPr lang="tr-TR" dirty="0" smtClean="0"/>
              <a:t>Dolayısıyla </a:t>
            </a:r>
            <a:r>
              <a:rPr lang="tr-TR" dirty="0"/>
              <a:t>1950- 1970 </a:t>
            </a:r>
            <a:r>
              <a:rPr lang="tr-TR" dirty="0" err="1"/>
              <a:t>li</a:t>
            </a:r>
            <a:r>
              <a:rPr lang="tr-TR" dirty="0"/>
              <a:t> yıllar arasında </a:t>
            </a:r>
            <a:r>
              <a:rPr lang="tr-TR" dirty="0" smtClean="0"/>
              <a:t>uzaktan algılamanın </a:t>
            </a:r>
            <a:r>
              <a:rPr lang="tr-TR" dirty="0"/>
              <a:t>temelleri atılmış ve uzaktan algılama kavramı ilk defa kullanılmaya </a:t>
            </a:r>
            <a:r>
              <a:rPr lang="tr-TR" dirty="0" smtClean="0"/>
              <a:t>başlanmıştır. Amerikalı </a:t>
            </a:r>
            <a:r>
              <a:rPr lang="tr-TR" dirty="0"/>
              <a:t>bilimci </a:t>
            </a:r>
            <a:r>
              <a:rPr lang="tr-TR" dirty="0" err="1"/>
              <a:t>Evelyn</a:t>
            </a:r>
            <a:r>
              <a:rPr lang="tr-TR" dirty="0"/>
              <a:t> </a:t>
            </a:r>
            <a:r>
              <a:rPr lang="tr-TR" dirty="0" err="1"/>
              <a:t>Pruitt</a:t>
            </a:r>
            <a:r>
              <a:rPr lang="tr-TR" dirty="0"/>
              <a:t>, hava fotosu teriminin görünür dalga boylarının </a:t>
            </a:r>
            <a:r>
              <a:rPr lang="tr-TR" dirty="0" smtClean="0"/>
              <a:t>ötesindeki spektrumları </a:t>
            </a:r>
            <a:r>
              <a:rPr lang="tr-TR" dirty="0"/>
              <a:t>kaydeden görüntüleri tanımlamada yetersiz kaldığını görünce uzaktan </a:t>
            </a:r>
            <a:r>
              <a:rPr lang="tr-TR" dirty="0" smtClean="0"/>
              <a:t>algılama tanımlamasının </a:t>
            </a:r>
            <a:r>
              <a:rPr lang="tr-TR" dirty="0"/>
              <a:t>temelini atmıştır (</a:t>
            </a:r>
            <a:r>
              <a:rPr lang="tr-TR" dirty="0" err="1"/>
              <a:t>Campbell</a:t>
            </a:r>
            <a:r>
              <a:rPr lang="tr-TR" dirty="0"/>
              <a:t> ve </a:t>
            </a:r>
            <a:r>
              <a:rPr lang="tr-TR" dirty="0" err="1"/>
              <a:t>Wynne</a:t>
            </a:r>
            <a:r>
              <a:rPr lang="tr-TR" dirty="0"/>
              <a:t>, 2011).</a:t>
            </a:r>
          </a:p>
        </p:txBody>
      </p:sp>
    </p:spTree>
    <p:extLst>
      <p:ext uri="{BB962C8B-B14F-4D97-AF65-F5344CB8AC3E}">
        <p14:creationId xmlns:p14="http://schemas.microsoft.com/office/powerpoint/2010/main" val="353520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Tarihi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1970 ve 80 </a:t>
            </a:r>
            <a:r>
              <a:rPr lang="tr-TR" dirty="0" err="1"/>
              <a:t>li</a:t>
            </a:r>
            <a:r>
              <a:rPr lang="tr-TR" dirty="0"/>
              <a:t> yıllarda uzaktan algılama ile ilgili olarak ilk defa Amerika </a:t>
            </a:r>
            <a:r>
              <a:rPr lang="tr-TR" dirty="0" smtClean="0"/>
              <a:t>Birleşik Devletleri </a:t>
            </a:r>
            <a:r>
              <a:rPr lang="tr-TR" dirty="0" err="1"/>
              <a:t>Landsat</a:t>
            </a:r>
            <a:r>
              <a:rPr lang="tr-TR" dirty="0"/>
              <a:t> uydusunu fırlatmış ve uzaktan algılamada yeni bir dönem başlamıştır. </a:t>
            </a:r>
            <a:r>
              <a:rPr lang="tr-TR" dirty="0" smtClean="0"/>
              <a:t>Hava araçlarından </a:t>
            </a:r>
            <a:r>
              <a:rPr lang="tr-TR" dirty="0"/>
              <a:t>uzay araçlarına doğru olan bu sıçrayış daha sonra birçok devlet tarafından </a:t>
            </a:r>
            <a:r>
              <a:rPr lang="tr-TR" dirty="0" smtClean="0"/>
              <a:t>takip edilmiştir</a:t>
            </a:r>
            <a:r>
              <a:rPr lang="tr-TR" dirty="0"/>
              <a:t>. 1990 </a:t>
            </a:r>
            <a:r>
              <a:rPr lang="tr-TR" dirty="0" err="1"/>
              <a:t>lı</a:t>
            </a:r>
            <a:r>
              <a:rPr lang="tr-TR" dirty="0"/>
              <a:t> yıllarda RADAR görüntüleri ve </a:t>
            </a:r>
            <a:r>
              <a:rPr lang="tr-TR" dirty="0" err="1"/>
              <a:t>hiperspektral</a:t>
            </a:r>
            <a:r>
              <a:rPr lang="tr-TR" dirty="0"/>
              <a:t> görüntülerin de elde </a:t>
            </a:r>
            <a:r>
              <a:rPr lang="tr-TR" dirty="0" smtClean="0"/>
              <a:t>edilmeye başlanmasıyla </a:t>
            </a:r>
            <a:r>
              <a:rPr lang="tr-TR" dirty="0"/>
              <a:t>uzaktan algılama kapsamı genişlemiştir. Günümüzde birçok devletin </a:t>
            </a:r>
            <a:r>
              <a:rPr lang="tr-TR" dirty="0" smtClean="0"/>
              <a:t>farklı çözünürlükte</a:t>
            </a:r>
            <a:r>
              <a:rPr lang="tr-TR" dirty="0"/>
              <a:t>, farklı spektral aralıkta ve farklı zamansal çözünürlükte uydulara sahip olduğu </a:t>
            </a:r>
            <a:r>
              <a:rPr lang="tr-TR" dirty="0" smtClean="0"/>
              <a:t>bir konuma </a:t>
            </a:r>
            <a:r>
              <a:rPr lang="tr-TR" dirty="0"/>
              <a:t>gelinmiştir.</a:t>
            </a:r>
          </a:p>
        </p:txBody>
      </p:sp>
    </p:spTree>
    <p:extLst>
      <p:ext uri="{BB962C8B-B14F-4D97-AF65-F5344CB8AC3E}">
        <p14:creationId xmlns:p14="http://schemas.microsoft.com/office/powerpoint/2010/main" val="3147683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Uzaktan algılamayı, görüntünün üretilmesinden </a:t>
            </a:r>
            <a:r>
              <a:rPr lang="tr-TR" dirty="0" smtClean="0"/>
              <a:t>uygulamaya </a:t>
            </a:r>
            <a:r>
              <a:rPr lang="tr-TR" dirty="0"/>
              <a:t>kadarki </a:t>
            </a:r>
            <a:r>
              <a:rPr lang="tr-TR" dirty="0" smtClean="0"/>
              <a:t>aşamaları ayırdığımızda </a:t>
            </a:r>
            <a:r>
              <a:rPr lang="tr-TR" dirty="0"/>
              <a:t>temel bileşenlerine ulaşmış oluruz. Bunlar; enerji, atmosfer, algılanan, </a:t>
            </a:r>
            <a:r>
              <a:rPr lang="tr-TR" dirty="0" smtClean="0"/>
              <a:t>algılayıcı </a:t>
            </a:r>
            <a:r>
              <a:rPr lang="es-ES" dirty="0" smtClean="0"/>
              <a:t>ve </a:t>
            </a:r>
            <a:r>
              <a:rPr lang="es-ES" dirty="0"/>
              <a:t>analiz-uygulama şeklindedir (Şekil 1.5</a:t>
            </a:r>
            <a:r>
              <a:rPr lang="es-ES" dirty="0" smtClean="0"/>
              <a:t>).</a:t>
            </a:r>
            <a:r>
              <a:rPr lang="tr-TR" dirty="0" smtClean="0"/>
              <a:t> </a:t>
            </a:r>
          </a:p>
          <a:p>
            <a:r>
              <a:rPr lang="tr-TR" dirty="0" smtClean="0"/>
              <a:t>Uzaktan </a:t>
            </a:r>
            <a:r>
              <a:rPr lang="tr-TR" dirty="0"/>
              <a:t>algılamada enerjinin kaynağı güneştir. Güneşten gelen elektromanyetik (</a:t>
            </a:r>
            <a:r>
              <a:rPr lang="tr-TR" dirty="0" smtClean="0"/>
              <a:t>EM) spektrumların </a:t>
            </a:r>
            <a:r>
              <a:rPr lang="tr-TR" dirty="0"/>
              <a:t>dünya ile etkileşime girmesi ile canlı yaşamı başladığı gibi uzaktan </a:t>
            </a:r>
            <a:r>
              <a:rPr lang="tr-TR" dirty="0" smtClean="0"/>
              <a:t>algılamanın da </a:t>
            </a:r>
            <a:r>
              <a:rPr lang="tr-TR" dirty="0"/>
              <a:t>başlamasına neden olur. Kendi enerjisini üreten sistemler bunun dışındadır. </a:t>
            </a:r>
            <a:r>
              <a:rPr lang="tr-TR" dirty="0" smtClean="0"/>
              <a:t>Dolayısıyla güneşin </a:t>
            </a:r>
            <a:r>
              <a:rPr lang="tr-TR" dirty="0"/>
              <a:t>ürettiği EM spektrumlar uzaktan </a:t>
            </a:r>
            <a:r>
              <a:rPr lang="tr-TR" dirty="0" smtClean="0"/>
              <a:t>algılamanın </a:t>
            </a:r>
            <a:r>
              <a:rPr lang="tr-TR" dirty="0"/>
              <a:t>başlangıç bileşenidir.</a:t>
            </a:r>
          </a:p>
        </p:txBody>
      </p:sp>
    </p:spTree>
    <p:extLst>
      <p:ext uri="{BB962C8B-B14F-4D97-AF65-F5344CB8AC3E}">
        <p14:creationId xmlns:p14="http://schemas.microsoft.com/office/powerpoint/2010/main" val="2606310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594" y="1216024"/>
            <a:ext cx="6428812" cy="564197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06407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29" y="1548398"/>
            <a:ext cx="9198142" cy="5309602"/>
          </a:xfrm>
        </p:spPr>
      </p:pic>
    </p:spTree>
    <p:extLst>
      <p:ext uri="{BB962C8B-B14F-4D97-AF65-F5344CB8AC3E}">
        <p14:creationId xmlns:p14="http://schemas.microsoft.com/office/powerpoint/2010/main" val="4218189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EM spektrumlar yeryüzü ile etkileşime girmeden önce atmosferden geçerler. Güneş </a:t>
            </a:r>
            <a:r>
              <a:rPr lang="tr-TR" dirty="0" smtClean="0"/>
              <a:t>ile yüzey </a:t>
            </a:r>
            <a:r>
              <a:rPr lang="tr-TR" dirty="0"/>
              <a:t>arasındaki bu geçiş esnasında, atmosferin sahip olduğu özelliklerden dolayı </a:t>
            </a:r>
            <a:r>
              <a:rPr lang="tr-TR" dirty="0" smtClean="0"/>
              <a:t>EM spektrumlarda </a:t>
            </a:r>
            <a:r>
              <a:rPr lang="tr-TR" dirty="0"/>
              <a:t>birtakım değişiklik ortaya çıkar. Bu değişim, ayrıca hedef-algılanan </a:t>
            </a:r>
            <a:r>
              <a:rPr lang="tr-TR" dirty="0" smtClean="0"/>
              <a:t>yüzeylerden sonra </a:t>
            </a:r>
            <a:r>
              <a:rPr lang="tr-TR" dirty="0"/>
              <a:t>yansıyan spektrumların algılayıcılara ulaşıncaya kadar tekrar atmosferi </a:t>
            </a:r>
            <a:r>
              <a:rPr lang="tr-TR" dirty="0" smtClean="0"/>
              <a:t>geçmelerinden dolayı </a:t>
            </a:r>
            <a:r>
              <a:rPr lang="tr-TR" dirty="0"/>
              <a:t>devam eder. Bundan dolayı atmosfer hem gelen enerjide hem de yüzeyden </a:t>
            </a:r>
            <a:r>
              <a:rPr lang="tr-TR" dirty="0" smtClean="0"/>
              <a:t>yansıyan enerjide </a:t>
            </a:r>
            <a:r>
              <a:rPr lang="tr-TR" dirty="0"/>
              <a:t>birtakım değişiklikler yaptığı için uzaktan algılamanın bileşenlerinden birisidir.</a:t>
            </a:r>
          </a:p>
        </p:txBody>
      </p:sp>
    </p:spTree>
    <p:extLst>
      <p:ext uri="{BB962C8B-B14F-4D97-AF65-F5344CB8AC3E}">
        <p14:creationId xmlns:p14="http://schemas.microsoft.com/office/powerpoint/2010/main" val="167484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Uzaktan algılamanın diğer bir bileşeni </a:t>
            </a:r>
            <a:r>
              <a:rPr lang="tr-TR" b="1" dirty="0"/>
              <a:t>algılanandır</a:t>
            </a:r>
            <a:r>
              <a:rPr lang="tr-TR" dirty="0"/>
              <a:t>. Yeryüzündeki bütün nesneler </a:t>
            </a:r>
            <a:r>
              <a:rPr lang="tr-TR" dirty="0" smtClean="0"/>
              <a:t>ve olaylar </a:t>
            </a:r>
            <a:r>
              <a:rPr lang="tr-TR" dirty="0"/>
              <a:t>bu gruba girerler. Yeryüzü üzerindeki bütün nesneler, kimyasal bileşikleri, </a:t>
            </a:r>
            <a:r>
              <a:rPr lang="tr-TR" dirty="0" smtClean="0"/>
              <a:t>fiziksel özellikleri </a:t>
            </a:r>
            <a:r>
              <a:rPr lang="tr-TR" dirty="0"/>
              <a:t>ve şekilsel büyüklükleri itibariyle birbirinden farklılık gösterdiği için, </a:t>
            </a:r>
            <a:r>
              <a:rPr lang="tr-TR" dirty="0" smtClean="0"/>
              <a:t>yüzeylerine ulaşan </a:t>
            </a:r>
            <a:r>
              <a:rPr lang="tr-TR" dirty="0"/>
              <a:t>EM spektrumlara karşı farklı tepkime verirler. Dolayısıyla algılayıcılar tarafından </a:t>
            </a:r>
            <a:r>
              <a:rPr lang="tr-TR" dirty="0" smtClean="0"/>
              <a:t>bu farklı </a:t>
            </a:r>
            <a:r>
              <a:rPr lang="tr-TR" dirty="0"/>
              <a:t>tepkimeler farklı kaydedilir. Sonuç ürünleri değiştirmesi bakımından </a:t>
            </a:r>
            <a:r>
              <a:rPr lang="tr-TR" dirty="0" smtClean="0"/>
              <a:t>algılanan-hedef uzaktan </a:t>
            </a:r>
            <a:r>
              <a:rPr lang="tr-TR" dirty="0"/>
              <a:t>algılamanın temel bileşenlerindendir.</a:t>
            </a:r>
          </a:p>
        </p:txBody>
      </p:sp>
    </p:spTree>
    <p:extLst>
      <p:ext uri="{BB962C8B-B14F-4D97-AF65-F5344CB8AC3E}">
        <p14:creationId xmlns:p14="http://schemas.microsoft.com/office/powerpoint/2010/main" val="1866068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Bileşenleri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Yeryüzündeki bütün yukarıda bahsi geçen olayların kaydedildiği aletlere </a:t>
            </a:r>
            <a:r>
              <a:rPr lang="tr-TR" dirty="0" smtClean="0"/>
              <a:t>algılayıcı (</a:t>
            </a:r>
            <a:r>
              <a:rPr lang="tr-TR" dirty="0" err="1" smtClean="0"/>
              <a:t>sensör</a:t>
            </a:r>
            <a:r>
              <a:rPr lang="tr-TR" dirty="0"/>
              <a:t>) denir. Algılayıcılar ve bunların içinde taşındığı platformlar (araçlar) </a:t>
            </a:r>
            <a:r>
              <a:rPr lang="tr-TR" dirty="0" smtClean="0"/>
              <a:t>uzaktan algılamanın </a:t>
            </a:r>
            <a:r>
              <a:rPr lang="tr-TR" dirty="0"/>
              <a:t>diğer önemli bileşenidir ve olmazsa olmazıdır. Çünkü uzaktan algılamada </a:t>
            </a:r>
            <a:r>
              <a:rPr lang="tr-TR" dirty="0" smtClean="0"/>
              <a:t>gerekli olan </a:t>
            </a:r>
            <a:r>
              <a:rPr lang="tr-TR" dirty="0"/>
              <a:t>uydu görüntülerini üreten araçlar bunlardır. Üretilen veriler yer istasyonları </a:t>
            </a:r>
            <a:r>
              <a:rPr lang="tr-TR" dirty="0" smtClean="0"/>
              <a:t>sayesinden analizciye </a:t>
            </a:r>
            <a:r>
              <a:rPr lang="tr-TR" dirty="0"/>
              <a:t>ulaştırılır. Bu araçlar, sahip oldukları teknik özelliklere bağlı olarak </a:t>
            </a:r>
            <a:r>
              <a:rPr lang="tr-TR" dirty="0" smtClean="0"/>
              <a:t>değişik çözünürlükte</a:t>
            </a:r>
            <a:r>
              <a:rPr lang="tr-TR" dirty="0"/>
              <a:t>, değişik spektral aralıkta verileri kaydedebilirler.</a:t>
            </a:r>
          </a:p>
        </p:txBody>
      </p:sp>
    </p:spTree>
    <p:extLst>
      <p:ext uri="{BB962C8B-B14F-4D97-AF65-F5344CB8AC3E}">
        <p14:creationId xmlns:p14="http://schemas.microsoft.com/office/powerpoint/2010/main" val="631662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Avantajları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Coğrafi verinin elde edilmesinde önemli yöntemlerden birisi olan uzaktan </a:t>
            </a:r>
            <a:r>
              <a:rPr lang="tr-TR" dirty="0" smtClean="0"/>
              <a:t>algılama sahip </a:t>
            </a:r>
            <a:r>
              <a:rPr lang="tr-TR" dirty="0"/>
              <a:t>olduğu avantajlar neticesinde diğer yöntem ve tekniklerin üstüne çıkmıştır. Bu </a:t>
            </a:r>
            <a:r>
              <a:rPr lang="tr-TR" dirty="0" smtClean="0"/>
              <a:t>avantajları </a:t>
            </a:r>
            <a:r>
              <a:rPr lang="tr-TR" dirty="0" err="1" smtClean="0"/>
              <a:t>sayısallık</a:t>
            </a:r>
            <a:r>
              <a:rPr lang="tr-TR" dirty="0"/>
              <a:t>, hızlılık, ucuzluğu, küreselliği, </a:t>
            </a:r>
            <a:r>
              <a:rPr lang="tr-TR" dirty="0" err="1"/>
              <a:t>güncellenebilirliği</a:t>
            </a:r>
            <a:r>
              <a:rPr lang="tr-TR" dirty="0"/>
              <a:t>, </a:t>
            </a:r>
            <a:r>
              <a:rPr lang="tr-TR" dirty="0" err="1"/>
              <a:t>ayrınıtılı</a:t>
            </a:r>
            <a:r>
              <a:rPr lang="tr-TR" dirty="0"/>
              <a:t> olma, güvenirliliği </a:t>
            </a:r>
            <a:r>
              <a:rPr lang="tr-TR" dirty="0" smtClean="0"/>
              <a:t>ve esnekliği </a:t>
            </a:r>
            <a:r>
              <a:rPr lang="tr-TR" dirty="0"/>
              <a:t>olarak sıralayabiliriz.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i="1" dirty="0" smtClean="0"/>
              <a:t>Sayısaldır</a:t>
            </a:r>
            <a:r>
              <a:rPr lang="tr-TR" b="1" i="1" dirty="0"/>
              <a:t>: </a:t>
            </a:r>
            <a:r>
              <a:rPr lang="tr-TR" dirty="0"/>
              <a:t>Uydu görüntüleri dijital verilerdir. Sahip olduğu bu </a:t>
            </a:r>
            <a:r>
              <a:rPr lang="tr-TR" dirty="0" err="1" smtClean="0"/>
              <a:t>sayısallık</a:t>
            </a:r>
            <a:r>
              <a:rPr lang="tr-TR" dirty="0" smtClean="0"/>
              <a:t> neticesinde </a:t>
            </a:r>
            <a:r>
              <a:rPr lang="tr-TR" dirty="0"/>
              <a:t>birçok uzaktan algılama yazılımında işlenebilir ve diğer </a:t>
            </a:r>
            <a:r>
              <a:rPr lang="tr-TR" dirty="0" err="1"/>
              <a:t>CBS’deki</a:t>
            </a:r>
            <a:r>
              <a:rPr lang="tr-TR" dirty="0"/>
              <a:t> altlık </a:t>
            </a:r>
            <a:r>
              <a:rPr lang="tr-TR" dirty="0" smtClean="0"/>
              <a:t>sayısal verilerle </a:t>
            </a:r>
            <a:r>
              <a:rPr lang="tr-TR" dirty="0"/>
              <a:t>değerlendirilebilir.</a:t>
            </a:r>
          </a:p>
        </p:txBody>
      </p:sp>
    </p:spTree>
    <p:extLst>
      <p:ext uri="{BB962C8B-B14F-4D97-AF65-F5344CB8AC3E}">
        <p14:creationId xmlns:p14="http://schemas.microsoft.com/office/powerpoint/2010/main" val="1122488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Avantajları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tr-TR" b="1" i="1" dirty="0"/>
              <a:t>Hızlıdır: </a:t>
            </a:r>
            <a:r>
              <a:rPr lang="tr-TR" dirty="0"/>
              <a:t>Uzaktan algılama ile dünyanın birçok yerindeki </a:t>
            </a:r>
            <a:r>
              <a:rPr lang="tr-TR" dirty="0" err="1"/>
              <a:t>lokasyonlar</a:t>
            </a:r>
            <a:r>
              <a:rPr lang="tr-TR" dirty="0"/>
              <a:t> için </a:t>
            </a:r>
            <a:r>
              <a:rPr lang="tr-TR" dirty="0" smtClean="0"/>
              <a:t>uydu görüntüsü </a:t>
            </a:r>
            <a:r>
              <a:rPr lang="tr-TR" dirty="0"/>
              <a:t>siparişi verilebilir ve çalışmalar yapılabilir. Bu </a:t>
            </a:r>
            <a:r>
              <a:rPr lang="tr-TR" dirty="0" err="1"/>
              <a:t>lokasyonlara</a:t>
            </a:r>
            <a:r>
              <a:rPr lang="tr-TR" dirty="0"/>
              <a:t> gidilerek </a:t>
            </a:r>
            <a:r>
              <a:rPr lang="tr-TR" dirty="0" smtClean="0"/>
              <a:t>harcanacak zaman </a:t>
            </a:r>
            <a:r>
              <a:rPr lang="tr-TR" dirty="0"/>
              <a:t>ile uydu görüntüsünün siparişi ile temini arasındaki geçen zaman </a:t>
            </a:r>
            <a:r>
              <a:rPr lang="tr-TR" dirty="0" smtClean="0"/>
              <a:t>kıyaslandığında sürenin </a:t>
            </a:r>
            <a:r>
              <a:rPr lang="tr-TR" dirty="0"/>
              <a:t>ne kadar kısaldığı görülecektir. Aynı zamanda dünyanın belirli bir yerinde </a:t>
            </a:r>
            <a:r>
              <a:rPr lang="tr-TR" dirty="0" smtClean="0"/>
              <a:t>meydana gelen </a:t>
            </a:r>
            <a:r>
              <a:rPr lang="tr-TR" dirty="0"/>
              <a:t>bir olay için uydular o alanlara yönlendirilebilir ve anlık görüntüler temin edilebilir.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i="1" dirty="0" smtClean="0"/>
              <a:t>Ucuzdur</a:t>
            </a:r>
            <a:r>
              <a:rPr lang="tr-TR" b="1" i="1" dirty="0"/>
              <a:t>: </a:t>
            </a:r>
            <a:r>
              <a:rPr lang="tr-TR" dirty="0"/>
              <a:t>Arazi temelli veri üretme metotlarında arazide yapılacak </a:t>
            </a:r>
            <a:r>
              <a:rPr lang="tr-TR" dirty="0" smtClean="0"/>
              <a:t>çalışmalara bağlı </a:t>
            </a:r>
            <a:r>
              <a:rPr lang="tr-TR" dirty="0"/>
              <a:t>olarak taşınan ekip ve ekipmanın maliyetleri ile uydu görüntülerinin temininde </a:t>
            </a:r>
            <a:r>
              <a:rPr lang="tr-TR" dirty="0" smtClean="0"/>
              <a:t>harcanan maliyet </a:t>
            </a:r>
            <a:r>
              <a:rPr lang="tr-TR" dirty="0"/>
              <a:t>karşılaştırıldığında uydu görüntülerinin temini daha avantajlı bir konumdadır. </a:t>
            </a:r>
            <a:r>
              <a:rPr lang="tr-TR" dirty="0" smtClean="0"/>
              <a:t>Ayrıca uydu </a:t>
            </a:r>
            <a:r>
              <a:rPr lang="tr-TR" dirty="0"/>
              <a:t>görüntülerinin temininde güncel görüntüler yanında arşiv görüntüler de seçenek </a:t>
            </a:r>
            <a:r>
              <a:rPr lang="tr-TR" dirty="0" smtClean="0"/>
              <a:t>olarak sunulmaktadır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453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Avantajları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tr-TR" b="1" i="1" dirty="0"/>
              <a:t>Globaldir: </a:t>
            </a:r>
            <a:r>
              <a:rPr lang="tr-TR" dirty="0"/>
              <a:t>Uydularla çok küçük alanların çekimleri yapılabildiği gibi </a:t>
            </a:r>
            <a:r>
              <a:rPr lang="tr-TR" dirty="0" smtClean="0"/>
              <a:t>bütün dünyayı </a:t>
            </a:r>
            <a:r>
              <a:rPr lang="tr-TR" dirty="0"/>
              <a:t>kapsayan çekimler de yapılabilir. Dolayısıyla uzaktan algılamada çalışılacak </a:t>
            </a:r>
            <a:r>
              <a:rPr lang="tr-TR" dirty="0" smtClean="0"/>
              <a:t>alanın sınırına </a:t>
            </a:r>
            <a:r>
              <a:rPr lang="tr-TR" dirty="0"/>
              <a:t>bağlı olarak her büyüklükte görüntü temin etmek mümkündür.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i="1" dirty="0" smtClean="0"/>
              <a:t>Güncellenebilir</a:t>
            </a:r>
            <a:r>
              <a:rPr lang="tr-TR" b="1" i="1" dirty="0"/>
              <a:t>: </a:t>
            </a:r>
            <a:r>
              <a:rPr lang="tr-TR" dirty="0"/>
              <a:t>Mekâna ait görüntüler uyduların zamansal </a:t>
            </a:r>
            <a:r>
              <a:rPr lang="tr-TR" dirty="0" smtClean="0"/>
              <a:t>çözünürlüklerine bağlı </a:t>
            </a:r>
            <a:r>
              <a:rPr lang="tr-TR" dirty="0"/>
              <a:t>olarak (kaç günde aynı </a:t>
            </a:r>
            <a:r>
              <a:rPr lang="tr-TR" dirty="0" err="1"/>
              <a:t>lokasyona</a:t>
            </a:r>
            <a:r>
              <a:rPr lang="tr-TR" dirty="0"/>
              <a:t> geldikleri) güncellenebilir. Böylece mekânlara </a:t>
            </a:r>
            <a:r>
              <a:rPr lang="tr-TR" dirty="0" smtClean="0"/>
              <a:t>ait değişimler </a:t>
            </a:r>
            <a:r>
              <a:rPr lang="tr-TR" dirty="0"/>
              <a:t>(orman örtüsü, yerleşme, kıyı, tarım vb.) değişik zamanlarda elde edilen </a:t>
            </a:r>
            <a:r>
              <a:rPr lang="tr-TR" dirty="0" smtClean="0"/>
              <a:t>görüntülerle izlenebilir </a:t>
            </a:r>
            <a:r>
              <a:rPr lang="tr-TR" dirty="0"/>
              <a:t>ve geleceğe yönelik senaryolar üretilebilir.</a:t>
            </a:r>
          </a:p>
        </p:txBody>
      </p:sp>
    </p:spTree>
    <p:extLst>
      <p:ext uri="{BB962C8B-B14F-4D97-AF65-F5344CB8AC3E}">
        <p14:creationId xmlns:p14="http://schemas.microsoft.com/office/powerpoint/2010/main" val="2192848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Uzaktan Algılamanın Avantajları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tr-TR" b="1" i="1" dirty="0"/>
              <a:t>Ayrıntılıdır: </a:t>
            </a:r>
            <a:r>
              <a:rPr lang="tr-TR" dirty="0"/>
              <a:t>Yapılan çalışmaların içeriğine bağlı olarak çok küçük </a:t>
            </a:r>
            <a:r>
              <a:rPr lang="tr-TR" dirty="0" smtClean="0"/>
              <a:t>alanların yüksek </a:t>
            </a:r>
            <a:r>
              <a:rPr lang="tr-TR" dirty="0"/>
              <a:t>çözünürlüklü görüntüleri temin edilebilir. Piksel boyutları 0.50 m ye kadar inen </a:t>
            </a:r>
            <a:r>
              <a:rPr lang="tr-TR" dirty="0" smtClean="0"/>
              <a:t>uydular mevcuttur</a:t>
            </a:r>
            <a:r>
              <a:rPr lang="tr-TR" dirty="0"/>
              <a:t>. Bu uydularda, caddeler, sokaklar, binalar, araçlar, insan vb. unsurlar kolay </a:t>
            </a:r>
            <a:r>
              <a:rPr lang="tr-TR" dirty="0" smtClean="0"/>
              <a:t>bir şekilde </a:t>
            </a:r>
            <a:r>
              <a:rPr lang="tr-TR" dirty="0"/>
              <a:t>ayırt edilebilir.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i="1" dirty="0" smtClean="0"/>
              <a:t>Güvenilir</a:t>
            </a:r>
            <a:r>
              <a:rPr lang="tr-TR" b="1" i="1" dirty="0"/>
              <a:t>: </a:t>
            </a:r>
            <a:r>
              <a:rPr lang="tr-TR" dirty="0"/>
              <a:t>Uydu görüntüleri yerden yansıyan ışınların kaydedilmesi olduğu </a:t>
            </a:r>
            <a:r>
              <a:rPr lang="tr-TR" dirty="0" smtClean="0"/>
              <a:t>için yeryüzündeki </a:t>
            </a:r>
            <a:r>
              <a:rPr lang="tr-TR" dirty="0"/>
              <a:t>mevcut durumu olduğu gibi objektif olarak yansıtırlar. Bundan dolayı </a:t>
            </a:r>
            <a:r>
              <a:rPr lang="tr-TR" dirty="0" smtClean="0"/>
              <a:t>görüntüler üzerinde </a:t>
            </a:r>
            <a:r>
              <a:rPr lang="tr-TR" dirty="0"/>
              <a:t>herhangi bir hile söz konusu olmaz.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i="1" dirty="0" smtClean="0"/>
              <a:t>Esnektir</a:t>
            </a:r>
            <a:r>
              <a:rPr lang="tr-TR" b="1" i="1" dirty="0"/>
              <a:t>: </a:t>
            </a:r>
            <a:r>
              <a:rPr lang="tr-TR" dirty="0"/>
              <a:t>Elde edilen uydu görüntüleri belirli bir amaç için kullanıldıktan </a:t>
            </a:r>
            <a:r>
              <a:rPr lang="tr-TR" dirty="0" smtClean="0"/>
              <a:t>sonra kullanımı </a:t>
            </a:r>
            <a:r>
              <a:rPr lang="tr-TR" dirty="0"/>
              <a:t>sona ermez. Başka bir zaman başka bir amaç için de kullanılabilir veya aynı </a:t>
            </a:r>
            <a:r>
              <a:rPr lang="tr-TR" dirty="0" smtClean="0"/>
              <a:t>amaç için </a:t>
            </a:r>
            <a:r>
              <a:rPr lang="tr-TR" dirty="0"/>
              <a:t>farklı zamanlardaki değişimi ortaya koymak için kullanıma sahiptir.</a:t>
            </a:r>
          </a:p>
        </p:txBody>
      </p:sp>
    </p:spTree>
    <p:extLst>
      <p:ext uri="{BB962C8B-B14F-4D97-AF65-F5344CB8AC3E}">
        <p14:creationId xmlns:p14="http://schemas.microsoft.com/office/powerpoint/2010/main" val="257577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DCB7A48CD16EE43B925771B387E1328" ma:contentTypeVersion="4" ma:contentTypeDescription="Yeni belge oluşturun." ma:contentTypeScope="" ma:versionID="8cd08cc54155ef2839875b24107c4d91">
  <xsd:schema xmlns:xsd="http://www.w3.org/2001/XMLSchema" xmlns:xs="http://www.w3.org/2001/XMLSchema" xmlns:p="http://schemas.microsoft.com/office/2006/metadata/properties" xmlns:ns2="cd4edf54-67b3-4910-9de7-59ff84f4ae2e" targetNamespace="http://schemas.microsoft.com/office/2006/metadata/properties" ma:root="true" ma:fieldsID="020b23ac89fbdb1593e8cd77d9d69472" ns2:_="">
    <xsd:import namespace="cd4edf54-67b3-4910-9de7-59ff84f4a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4edf54-67b3-4910-9de7-59ff84f4a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632069-39C6-4ADF-B74B-E98476B9DB9F}"/>
</file>

<file path=customXml/itemProps2.xml><?xml version="1.0" encoding="utf-8"?>
<ds:datastoreItem xmlns:ds="http://schemas.openxmlformats.org/officeDocument/2006/customXml" ds:itemID="{B1CE611F-5ED9-463C-A524-F05C02C1EEE8}"/>
</file>

<file path=customXml/itemProps3.xml><?xml version="1.0" encoding="utf-8"?>
<ds:datastoreItem xmlns:ds="http://schemas.openxmlformats.org/officeDocument/2006/customXml" ds:itemID="{D830C549-456B-4FA6-B41B-2019D461913A}"/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1824</Words>
  <Application>Microsoft Office PowerPoint</Application>
  <PresentationFormat>Geniş ekran</PresentationFormat>
  <Paragraphs>71</Paragraphs>
  <Slides>24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Teması</vt:lpstr>
      <vt:lpstr>Çukurova Üniversitesi  Karaisalı Meslek Yüksekokulu</vt:lpstr>
      <vt:lpstr>Mekânsal Veri ve Önemi</vt:lpstr>
      <vt:lpstr>Mekânsal Veri ve Önemi</vt:lpstr>
      <vt:lpstr>Mekânsal Veri ve Önemi</vt:lpstr>
      <vt:lpstr>Mekânsal Veri ve Önemi</vt:lpstr>
      <vt:lpstr>Mekânsal Veri ve Önemi</vt:lpstr>
      <vt:lpstr>Mekânsal Verinin Üretilmesi</vt:lpstr>
      <vt:lpstr>Mekânsal Verinin Üretilmesi</vt:lpstr>
      <vt:lpstr>Mekânsal Verinin Üretilmesi</vt:lpstr>
      <vt:lpstr>Uzaktan Algılamanın Tanımı</vt:lpstr>
      <vt:lpstr>Uzaktan Algılamanın Tanımı</vt:lpstr>
      <vt:lpstr>Uzaktan Algılamanın Tanımı</vt:lpstr>
      <vt:lpstr>Uzaktan Algılamanın Tarihi</vt:lpstr>
      <vt:lpstr>Uzaktan Algılamanın Tarihi</vt:lpstr>
      <vt:lpstr>Uzaktan Algılamanın Bileşenleri</vt:lpstr>
      <vt:lpstr>Uzaktan Algılamanın Bileşenleri</vt:lpstr>
      <vt:lpstr>Uzaktan Algılamanın Bileşenleri</vt:lpstr>
      <vt:lpstr>Uzaktan Algılamanın Bileşenleri</vt:lpstr>
      <vt:lpstr>Uzaktan Algılamanın Bileşenleri</vt:lpstr>
      <vt:lpstr>Uzaktan Algılamanın Bileşenleri</vt:lpstr>
      <vt:lpstr>Uzaktan Algılamanın Avantajları</vt:lpstr>
      <vt:lpstr>Uzaktan Algılamanın Avantajları</vt:lpstr>
      <vt:lpstr>Uzaktan Algılamanın Avantajları</vt:lpstr>
      <vt:lpstr>Uzaktan Algılamanın Avantajları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Çukurova Üniversitesi  Karaisalı Meslek Yüksekokulu</dc:title>
  <dc:creator>Buray Karslı</dc:creator>
  <cp:lastModifiedBy>Buray Karslı</cp:lastModifiedBy>
  <cp:revision>39</cp:revision>
  <dcterms:created xsi:type="dcterms:W3CDTF">2024-07-04T08:09:56Z</dcterms:created>
  <dcterms:modified xsi:type="dcterms:W3CDTF">2024-10-17T10:05:35Z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0x010100DDCB7A48CD16EE43B925771B387E1328</vt:lpwstr>
  </property>
</Properties>
</file>