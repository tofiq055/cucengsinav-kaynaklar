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0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3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72" autoAdjust="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EBEE3-403F-4C70-A1A1-2BB1B32F48D5}" type="datetimeFigureOut">
              <a:rPr lang="tr-TR" smtClean="0"/>
              <a:t>15.11.2024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209F0-F6B3-41A2-8C9A-3E39791D5DE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7250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209F0-F6B3-41A2-8C9A-3E39791D5DED}" type="slidenum">
              <a:rPr lang="tr-TR" smtClean="0"/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3076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15.11.2024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42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15.11.2024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921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15.11.2024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0366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15.11.2024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190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15.11.2024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3557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15.11.2024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122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15.11.2024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71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15.11.2024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242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15.11.2024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301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15.11.2024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171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15.11.2024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4747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31E0E-70AA-4C5F-B0F7-EBC0C05F04ED}" type="datetimeFigureOut">
              <a:rPr lang="tr-TR" smtClean="0"/>
              <a:t>15.11.2024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6435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009499"/>
            <a:ext cx="5069921" cy="3848500"/>
          </a:xfrm>
          <a:prstGeom prst="rect">
            <a:avLst/>
          </a:prstGeom>
        </p:spPr>
      </p:pic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00554" y="-354745"/>
            <a:ext cx="9144000" cy="2387600"/>
          </a:xfrm>
        </p:spPr>
        <p:txBody>
          <a:bodyPr/>
          <a:lstStyle/>
          <a:p>
            <a:r>
              <a:rPr lang="tr-TR" dirty="0" smtClean="0"/>
              <a:t>Çukurova Üniversitesi </a:t>
            </a:r>
            <a:br>
              <a:rPr lang="tr-TR" dirty="0" smtClean="0"/>
            </a:br>
            <a:r>
              <a:rPr lang="tr-TR" sz="5000" dirty="0" smtClean="0"/>
              <a:t>Karaisalı Meslek Yüksekokulu</a:t>
            </a:r>
            <a:endParaRPr lang="tr-TR" sz="500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075592" y="2592660"/>
            <a:ext cx="10521462" cy="4071438"/>
          </a:xfrm>
        </p:spPr>
        <p:txBody>
          <a:bodyPr>
            <a:normAutofit fontScale="92500" lnSpcReduction="10000"/>
          </a:bodyPr>
          <a:lstStyle/>
          <a:p>
            <a:r>
              <a:rPr lang="tr-TR" sz="3500" dirty="0" smtClean="0"/>
              <a:t>UZAKTAN ALGILAMA</a:t>
            </a:r>
            <a:r>
              <a:rPr lang="tr-TR" dirty="0" smtClean="0"/>
              <a:t> 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pPr algn="r"/>
            <a:endParaRPr lang="tr-TR" sz="3000" dirty="0" smtClean="0"/>
          </a:p>
          <a:p>
            <a:pPr algn="r"/>
            <a:endParaRPr lang="tr-TR" sz="3000" dirty="0"/>
          </a:p>
          <a:p>
            <a:pPr algn="r"/>
            <a:endParaRPr lang="tr-TR" sz="3000" dirty="0" smtClean="0"/>
          </a:p>
          <a:p>
            <a:pPr algn="r"/>
            <a:endParaRPr lang="tr-TR" sz="3000" dirty="0"/>
          </a:p>
          <a:p>
            <a:pPr algn="r"/>
            <a:r>
              <a:rPr lang="tr-TR" sz="3000" dirty="0" err="1" smtClean="0"/>
              <a:t>Öğr</a:t>
            </a:r>
            <a:r>
              <a:rPr lang="tr-TR" sz="3000" dirty="0" smtClean="0"/>
              <a:t>. Gör. Buray KARSLI</a:t>
            </a:r>
            <a:endParaRPr lang="tr-TR" sz="30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4" y="306569"/>
            <a:ext cx="2143125" cy="214312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580" y="205060"/>
            <a:ext cx="2244634" cy="224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54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Platform ve Özellikleri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Platform, uydu ve uçak gibi bir araç olup belirli bir amaç doğrultusunda ekipman </a:t>
            </a:r>
            <a:r>
              <a:rPr lang="tr-TR" dirty="0" smtClean="0"/>
              <a:t>ve </a:t>
            </a:r>
            <a:r>
              <a:rPr lang="tr-TR" dirty="0" err="1" smtClean="0"/>
              <a:t>sensörleri</a:t>
            </a:r>
            <a:r>
              <a:rPr lang="tr-TR" dirty="0" smtClean="0"/>
              <a:t> </a:t>
            </a:r>
            <a:r>
              <a:rPr lang="tr-TR" dirty="0"/>
              <a:t>taşımak için kullanılır. Uzaktan algılamada kullanılan </a:t>
            </a:r>
            <a:r>
              <a:rPr lang="tr-TR" dirty="0" err="1"/>
              <a:t>sensörleri</a:t>
            </a:r>
            <a:r>
              <a:rPr lang="tr-TR" dirty="0"/>
              <a:t> taşıyan </a:t>
            </a:r>
            <a:r>
              <a:rPr lang="tr-TR" dirty="0" smtClean="0"/>
              <a:t>araçlar, yerden </a:t>
            </a:r>
            <a:r>
              <a:rPr lang="tr-TR" dirty="0"/>
              <a:t>birkaç santimetre yükseklikte olabildiği gibi uzayda 36000 km uzaklıkta veya </a:t>
            </a:r>
            <a:r>
              <a:rPr lang="tr-TR" dirty="0" smtClean="0"/>
              <a:t>ötesinde olabilmektedir</a:t>
            </a:r>
            <a:r>
              <a:rPr lang="tr-TR" dirty="0"/>
              <a:t>. Dolayısıyla platformları 3 alt başlıkta incelemek mümkündür. Bunlar; </a:t>
            </a:r>
            <a:r>
              <a:rPr lang="tr-TR" dirty="0" smtClean="0"/>
              <a:t>uzay platformları</a:t>
            </a:r>
            <a:r>
              <a:rPr lang="tr-TR" dirty="0"/>
              <a:t>, hava platformları ve yer platformlarıdır (Şekil 5.1).</a:t>
            </a:r>
          </a:p>
        </p:txBody>
      </p:sp>
    </p:spTree>
    <p:extLst>
      <p:ext uri="{BB962C8B-B14F-4D97-AF65-F5344CB8AC3E}">
        <p14:creationId xmlns:p14="http://schemas.microsoft.com/office/powerpoint/2010/main" val="1120729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680" y="776288"/>
            <a:ext cx="3796640" cy="5941230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-148223"/>
            <a:ext cx="10515600" cy="1325563"/>
          </a:xfrm>
        </p:spPr>
        <p:txBody>
          <a:bodyPr/>
          <a:lstStyle/>
          <a:p>
            <a:r>
              <a:rPr lang="tr-TR" b="1" dirty="0"/>
              <a:t>Platform ve Özellikleri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20398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Platform ve Özellikleri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i="1" dirty="0"/>
              <a:t>a) Uzay Platformları: </a:t>
            </a:r>
            <a:r>
              <a:rPr lang="tr-TR" dirty="0"/>
              <a:t>Bu platformlar uzayda bulunurlar ve taşıdıkları </a:t>
            </a:r>
            <a:r>
              <a:rPr lang="tr-TR" dirty="0" err="1" smtClean="0"/>
              <a:t>sensörlerle</a:t>
            </a:r>
            <a:r>
              <a:rPr lang="tr-TR" dirty="0" smtClean="0"/>
              <a:t> uydu </a:t>
            </a:r>
            <a:r>
              <a:rPr lang="tr-TR" dirty="0"/>
              <a:t>görüntüleri elde edilir. Uydular uzaya roketlerle fırlatılır. Dünyayı gözlemleyen </a:t>
            </a:r>
            <a:r>
              <a:rPr lang="tr-TR" dirty="0" smtClean="0"/>
              <a:t>uydular 150 </a:t>
            </a:r>
            <a:r>
              <a:rPr lang="tr-TR" dirty="0"/>
              <a:t>km ile 36000 km arasında değişen bir yüksekliğe sahiptir. Buna bağlı olarak geniş </a:t>
            </a:r>
            <a:r>
              <a:rPr lang="tr-TR" dirty="0" smtClean="0"/>
              <a:t>alanları algılama </a:t>
            </a:r>
            <a:r>
              <a:rPr lang="tr-TR" dirty="0"/>
              <a:t>yapabilirler (Şekil 5.1). Bu platformların yörüngeleri sabit ve süreklidir. </a:t>
            </a:r>
            <a:r>
              <a:rPr lang="tr-TR" dirty="0" smtClean="0"/>
              <a:t>Uydularla elde </a:t>
            </a:r>
            <a:r>
              <a:rPr lang="tr-TR" dirty="0"/>
              <a:t>edilen veriler bantlar üzerine kaydedilir veya telemetri ile yeryüzü </a:t>
            </a:r>
            <a:r>
              <a:rPr lang="tr-TR" dirty="0" smtClean="0"/>
              <a:t>istasyonlarına gönderilir</a:t>
            </a:r>
            <a:r>
              <a:rPr lang="tr-TR" dirty="0"/>
              <a:t>. Uzay platformlarının yörünge seçimi uydunun amacına göre değişiklik </a:t>
            </a:r>
            <a:r>
              <a:rPr lang="tr-TR" dirty="0" smtClean="0"/>
              <a:t>gösterir. Örneğin </a:t>
            </a:r>
            <a:r>
              <a:rPr lang="tr-TR" dirty="0"/>
              <a:t>büyük alanların devalı olarak veya daha küçük alanların detaylı gözetlenmek </a:t>
            </a:r>
            <a:r>
              <a:rPr lang="tr-TR" dirty="0" smtClean="0"/>
              <a:t>istenmesi gibi </a:t>
            </a:r>
            <a:r>
              <a:rPr lang="tr-TR" dirty="0"/>
              <a:t>farklı amaçlar için farklı yörünge seçimi gerçekleştirilir. Son zamanlarda nispeten </a:t>
            </a:r>
            <a:r>
              <a:rPr lang="tr-TR" dirty="0" smtClean="0"/>
              <a:t>küçük ve </a:t>
            </a:r>
            <a:r>
              <a:rPr lang="tr-TR" dirty="0"/>
              <a:t>ağırlığı fazla olmayan (1 – 100 kg) ve aynı zamanda da çok daha düşük maliyetli </a:t>
            </a:r>
            <a:r>
              <a:rPr lang="tr-TR" dirty="0" smtClean="0"/>
              <a:t>uydular geliştirilmiştir.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0578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Platform ve Özellikleri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443789"/>
            <a:ext cx="10515600" cy="50532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i="1" dirty="0"/>
              <a:t>b) Hava Platformları: </a:t>
            </a:r>
            <a:r>
              <a:rPr lang="tr-TR" dirty="0" err="1"/>
              <a:t>Sensörleri</a:t>
            </a:r>
            <a:r>
              <a:rPr lang="tr-TR" dirty="0"/>
              <a:t> taşımak için özel olarak tasarlanmış hava </a:t>
            </a:r>
            <a:r>
              <a:rPr lang="tr-TR" dirty="0" smtClean="0"/>
              <a:t>araçlarıdır. Bir </a:t>
            </a:r>
            <a:r>
              <a:rPr lang="tr-TR" dirty="0"/>
              <a:t>hava aracının algılayıcı veya tarayıcıyı taşıyabilmesi için tabanda bir delik veya </a:t>
            </a:r>
            <a:r>
              <a:rPr lang="tr-TR" dirty="0" smtClean="0"/>
              <a:t>özel uzaktan </a:t>
            </a:r>
            <a:r>
              <a:rPr lang="tr-TR" dirty="0"/>
              <a:t>algılama alanına ihtiyaç duyar. Bu platformlar balon, helikopter ve uçaklardan </a:t>
            </a:r>
            <a:r>
              <a:rPr lang="tr-TR" dirty="0" smtClean="0"/>
              <a:t>oluşur. Platform </a:t>
            </a:r>
            <a:r>
              <a:rPr lang="tr-TR" dirty="0"/>
              <a:t>ve </a:t>
            </a:r>
            <a:r>
              <a:rPr lang="tr-TR" dirty="0" err="1"/>
              <a:t>sensörlere</a:t>
            </a:r>
            <a:r>
              <a:rPr lang="tr-TR" dirty="0"/>
              <a:t> bağlı olarak hava gözlemleri 100 m altından başlayıp 40 km </a:t>
            </a:r>
            <a:r>
              <a:rPr lang="tr-TR" dirty="0" smtClean="0"/>
              <a:t>yukarıya kadar </a:t>
            </a:r>
            <a:r>
              <a:rPr lang="tr-TR" dirty="0"/>
              <a:t>çıkabilir. Böylece farklı ölçek ve çözünürlükte algılama yaparlar. Uydu </a:t>
            </a:r>
            <a:r>
              <a:rPr lang="tr-TR" dirty="0" smtClean="0"/>
              <a:t>platformlarına göre </a:t>
            </a:r>
            <a:r>
              <a:rPr lang="tr-TR" dirty="0"/>
              <a:t>hava platformlarının algılama alanı bulundukları yüksekliklere bağlı olarak daha </a:t>
            </a:r>
            <a:r>
              <a:rPr lang="tr-TR" dirty="0" smtClean="0"/>
              <a:t>küçüktür ve </a:t>
            </a:r>
            <a:r>
              <a:rPr lang="tr-TR" dirty="0"/>
              <a:t>aynı zamanda hava koşullarından etkilenirler (Şekil 5.1). Dolayısıyla hava </a:t>
            </a:r>
            <a:r>
              <a:rPr lang="tr-TR" dirty="0" smtClean="0"/>
              <a:t>araçlarının uçuşuna </a:t>
            </a:r>
            <a:r>
              <a:rPr lang="tr-TR" dirty="0"/>
              <a:t>engel olabilecek hava şartlarında kullanılamazlar. Hava platformlarıyla hava </a:t>
            </a:r>
            <a:r>
              <a:rPr lang="tr-TR" dirty="0" smtClean="0"/>
              <a:t>fotoları elde </a:t>
            </a:r>
            <a:r>
              <a:rPr lang="tr-TR" dirty="0"/>
              <a:t>edilir ve </a:t>
            </a:r>
            <a:r>
              <a:rPr lang="tr-TR" dirty="0" err="1"/>
              <a:t>fotogrametri</a:t>
            </a:r>
            <a:r>
              <a:rPr lang="tr-TR" dirty="0"/>
              <a:t> çalışmaları yapılır.</a:t>
            </a:r>
          </a:p>
          <a:p>
            <a:pPr marL="0" indent="0">
              <a:buNone/>
            </a:pPr>
            <a:r>
              <a:rPr lang="tr-TR" b="1" i="1" dirty="0"/>
              <a:t>c) Yer Platformları: </a:t>
            </a:r>
            <a:r>
              <a:rPr lang="tr-TR" dirty="0"/>
              <a:t>Bu platformlar genellikle yersel doğrulama ve simülasyonlar </a:t>
            </a:r>
            <a:r>
              <a:rPr lang="tr-TR" dirty="0" smtClean="0"/>
              <a:t>için kullanılırlar</a:t>
            </a:r>
            <a:r>
              <a:rPr lang="tr-TR" dirty="0"/>
              <a:t>. Daha detaylı ve güvenilir veri sağlarlar. Algılama alanları bulundukları </a:t>
            </a:r>
            <a:r>
              <a:rPr lang="tr-TR" dirty="0" smtClean="0"/>
              <a:t>konum itibariyle </a:t>
            </a:r>
            <a:r>
              <a:rPr lang="tr-TR" dirty="0"/>
              <a:t>çok daha küçüktür (Şekil 5.1). Yersel radar ve lazer tarayıcılar örnek olarak verilebilir.</a:t>
            </a:r>
          </a:p>
        </p:txBody>
      </p:sp>
    </p:spTree>
    <p:extLst>
      <p:ext uri="{BB962C8B-B14F-4D97-AF65-F5344CB8AC3E}">
        <p14:creationId xmlns:p14="http://schemas.microsoft.com/office/powerpoint/2010/main" val="4030240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Yörünge ve Özellikleri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Uzay uzaktan algılama sistemlerinde, uyduların Dünya etrafında kat ettikleri </a:t>
            </a:r>
            <a:r>
              <a:rPr lang="tr-TR" dirty="0" smtClean="0"/>
              <a:t>yoluna yörünge </a:t>
            </a:r>
            <a:r>
              <a:rPr lang="tr-TR" dirty="0"/>
              <a:t>ismi verilir. Uydular sahip oldukları yörünge özelliklerine göre yeryüzünü </a:t>
            </a:r>
            <a:r>
              <a:rPr lang="tr-TR" dirty="0" smtClean="0"/>
              <a:t>algılama kapasiteleri </a:t>
            </a:r>
            <a:r>
              <a:rPr lang="tr-TR" dirty="0"/>
              <a:t>ve özellikleri değişiklik gösterir. Dolayısıyla dünya üzerinde meteorolojide </a:t>
            </a:r>
            <a:r>
              <a:rPr lang="tr-TR" dirty="0" smtClean="0"/>
              <a:t>olduğu gibi </a:t>
            </a:r>
            <a:r>
              <a:rPr lang="tr-TR" dirty="0"/>
              <a:t>sürekli gözlemlemenin ve arazi örtüsü haritalamasının küresel ölçekte yapılabilmesi </a:t>
            </a:r>
            <a:r>
              <a:rPr lang="tr-TR" dirty="0" smtClean="0"/>
              <a:t>gibi değişik </a:t>
            </a:r>
            <a:r>
              <a:rPr lang="tr-TR" dirty="0"/>
              <a:t>olaylar için değişik yörüngeli uydulara ihtiyaç duyulur. </a:t>
            </a:r>
          </a:p>
        </p:txBody>
      </p:sp>
    </p:spTree>
    <p:extLst>
      <p:ext uri="{BB962C8B-B14F-4D97-AF65-F5344CB8AC3E}">
        <p14:creationId xmlns:p14="http://schemas.microsoft.com/office/powerpoint/2010/main" val="3852069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Yörünge ve Özellikleri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i="1" dirty="0"/>
              <a:t>Yörünge Yüksekliği: </a:t>
            </a:r>
            <a:r>
              <a:rPr lang="tr-TR" dirty="0"/>
              <a:t>Yörünge yüksekliği, uydu ile dünya yüzeyi </a:t>
            </a:r>
            <a:r>
              <a:rPr lang="tr-TR" dirty="0" smtClean="0"/>
              <a:t>arasındaki mesafeyi </a:t>
            </a:r>
            <a:r>
              <a:rPr lang="tr-TR" dirty="0"/>
              <a:t>(km) temsil eder. Farklı yükseklilere bağlı olarak yörünge alçak seviyeli ve </a:t>
            </a:r>
            <a:r>
              <a:rPr lang="tr-TR" dirty="0" smtClean="0"/>
              <a:t>yüksek seviyeli </a:t>
            </a:r>
            <a:r>
              <a:rPr lang="tr-TR" dirty="0"/>
              <a:t>yörünge olmak üzere </a:t>
            </a:r>
            <a:r>
              <a:rPr lang="tr-TR" dirty="0" smtClean="0"/>
              <a:t>ikiye </a:t>
            </a:r>
            <a:r>
              <a:rPr lang="tr-TR" dirty="0"/>
              <a:t>ayrılır. Alçak seviyeli yörüngenin yükselti aralığı </a:t>
            </a:r>
            <a:r>
              <a:rPr lang="tr-TR" dirty="0" smtClean="0"/>
              <a:t>150-1000 km </a:t>
            </a:r>
            <a:r>
              <a:rPr lang="tr-TR" dirty="0"/>
              <a:t>arasında yer alırken, yüksek seviyeli (</a:t>
            </a:r>
            <a:r>
              <a:rPr lang="tr-TR" dirty="0" err="1"/>
              <a:t>Geostationary</a:t>
            </a:r>
            <a:r>
              <a:rPr lang="tr-TR" dirty="0"/>
              <a:t>) yörünge ise yerden 36000 km’de </a:t>
            </a:r>
            <a:r>
              <a:rPr lang="tr-TR" dirty="0" smtClean="0"/>
              <a:t>yer alır</a:t>
            </a:r>
            <a:r>
              <a:rPr lang="tr-TR" dirty="0"/>
              <a:t>. Bu yükseklik farklılığı algılanan alanın genişliğine ve görüntünün çözünürlüğüne etki eder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r>
              <a:rPr lang="tr-TR" b="1" i="1" dirty="0" smtClean="0"/>
              <a:t>Yörünge Eğikliği: </a:t>
            </a:r>
            <a:r>
              <a:rPr lang="tr-TR" dirty="0" smtClean="0"/>
              <a:t>Yörünge çizgisi ile ekvator çizgisi arasındaki derece cinsinden açıya </a:t>
            </a:r>
            <a:r>
              <a:rPr lang="tr-TR" dirty="0"/>
              <a:t>verilen isimdir. Yörünge eğiklik açısı, </a:t>
            </a:r>
            <a:r>
              <a:rPr lang="tr-TR" dirty="0" err="1"/>
              <a:t>sensörün</a:t>
            </a:r>
            <a:r>
              <a:rPr lang="tr-TR" dirty="0"/>
              <a:t> görme alanı ile birlikte hangi </a:t>
            </a:r>
            <a:r>
              <a:rPr lang="tr-TR" dirty="0" smtClean="0"/>
              <a:t>paralele kadar </a:t>
            </a:r>
            <a:r>
              <a:rPr lang="tr-TR" dirty="0"/>
              <a:t>gözlemleyebileceğini belirler. Örneğin yörünge eğiklik açısı 60</a:t>
            </a:r>
            <a:r>
              <a:rPr lang="tr-TR" baseline="30000" dirty="0"/>
              <a:t>o</a:t>
            </a:r>
            <a:r>
              <a:rPr lang="tr-TR" dirty="0"/>
              <a:t> ise, uydu 60</a:t>
            </a:r>
            <a:r>
              <a:rPr lang="tr-TR" baseline="30000" dirty="0"/>
              <a:t>o</a:t>
            </a:r>
            <a:r>
              <a:rPr lang="tr-TR" dirty="0"/>
              <a:t> kuzey </a:t>
            </a:r>
            <a:r>
              <a:rPr lang="tr-TR" dirty="0" smtClean="0"/>
              <a:t>ve 60</a:t>
            </a:r>
            <a:r>
              <a:rPr lang="tr-TR" baseline="30000" dirty="0" smtClean="0"/>
              <a:t>o</a:t>
            </a:r>
            <a:r>
              <a:rPr lang="tr-TR" dirty="0" smtClean="0"/>
              <a:t> </a:t>
            </a:r>
            <a:r>
              <a:rPr lang="tr-TR" dirty="0"/>
              <a:t>güney paralelleri arasında uçar. Bu durumda eğer uydunun yörünge yüksekliği </a:t>
            </a:r>
            <a:r>
              <a:rPr lang="tr-TR" dirty="0" smtClean="0"/>
              <a:t>alçak seviyeli </a:t>
            </a:r>
            <a:r>
              <a:rPr lang="tr-TR" dirty="0"/>
              <a:t>ise 60</a:t>
            </a:r>
            <a:r>
              <a:rPr lang="tr-TR" baseline="30000" dirty="0"/>
              <a:t>o</a:t>
            </a:r>
            <a:r>
              <a:rPr lang="tr-TR" dirty="0"/>
              <a:t> paralellerinin üst paralelindeki alanları gözlemleyemez.</a:t>
            </a:r>
          </a:p>
        </p:txBody>
      </p:sp>
    </p:spTree>
    <p:extLst>
      <p:ext uri="{BB962C8B-B14F-4D97-AF65-F5344CB8AC3E}">
        <p14:creationId xmlns:p14="http://schemas.microsoft.com/office/powerpoint/2010/main" val="278876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Yörünge ve Özellikleri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b="1" i="1" dirty="0"/>
              <a:t>Yörünge Periyodu: </a:t>
            </a:r>
            <a:r>
              <a:rPr lang="tr-TR" dirty="0"/>
              <a:t>Uydunun dakika olarak bir tam yörüngesini </a:t>
            </a:r>
            <a:r>
              <a:rPr lang="tr-TR" dirty="0" smtClean="0"/>
              <a:t>tamamlama zamanıdır</a:t>
            </a:r>
            <a:r>
              <a:rPr lang="tr-TR" dirty="0"/>
              <a:t>. Örneğin, 806 km yüksekliğe sahip kutup yörüngeli bir uydu 101 dk. </a:t>
            </a:r>
            <a:r>
              <a:rPr lang="tr-TR" dirty="0" smtClean="0"/>
              <a:t>Turunu tamamlar</a:t>
            </a:r>
            <a:r>
              <a:rPr lang="tr-TR" dirty="0"/>
              <a:t>. Uydunun hızı ise 23700 km/saattir. Bu hız normal uçak hızı olan 400 km/s </a:t>
            </a:r>
            <a:r>
              <a:rPr lang="tr-TR" dirty="0" smtClean="0"/>
              <a:t>yaklaşık 60 </a:t>
            </a:r>
            <a:r>
              <a:rPr lang="tr-TR" dirty="0"/>
              <a:t>kat daha hızlı demektir. Platformun hızı görüntü tipi üzerinde etkiye sahiptir.</a:t>
            </a:r>
          </a:p>
          <a:p>
            <a:pPr marL="0" indent="0">
              <a:buNone/>
            </a:pPr>
            <a:r>
              <a:rPr lang="tr-TR" b="1" i="1" dirty="0" smtClean="0"/>
              <a:t>Tekrarlama </a:t>
            </a:r>
            <a:r>
              <a:rPr lang="tr-TR" b="1" i="1" dirty="0"/>
              <a:t>Aralığı: </a:t>
            </a:r>
            <a:r>
              <a:rPr lang="tr-TR" dirty="0"/>
              <a:t>Uydunun gün olarak aynı </a:t>
            </a:r>
            <a:r>
              <a:rPr lang="tr-TR" dirty="0" err="1"/>
              <a:t>lokasyonu</a:t>
            </a:r>
            <a:r>
              <a:rPr lang="tr-TR" dirty="0"/>
              <a:t> ikinci kez </a:t>
            </a:r>
            <a:r>
              <a:rPr lang="tr-TR" dirty="0" smtClean="0"/>
              <a:t>çekebilmesi ve </a:t>
            </a:r>
            <a:r>
              <a:rPr lang="tr-TR" dirty="0"/>
              <a:t>aynı yörüngeye gelebilmesi için geçen zamandır. Her uydunun farklı yörünge </a:t>
            </a:r>
            <a:r>
              <a:rPr lang="tr-TR" dirty="0" smtClean="0"/>
              <a:t>özelliklerine bağlı </a:t>
            </a:r>
            <a:r>
              <a:rPr lang="tr-TR" dirty="0"/>
              <a:t>olarak tekrarlama aralığı farklılık gösterir. Örneğin Landsat-7 uydusunun </a:t>
            </a:r>
            <a:r>
              <a:rPr lang="tr-TR" dirty="0" smtClean="0"/>
              <a:t>tekrarlama aralığı </a:t>
            </a:r>
            <a:r>
              <a:rPr lang="tr-TR" dirty="0"/>
              <a:t>16 gündür. Yani Landsat-7 uydusu dünya üzerindeki bir </a:t>
            </a:r>
            <a:r>
              <a:rPr lang="tr-TR" dirty="0" err="1"/>
              <a:t>lokasyonun</a:t>
            </a:r>
            <a:r>
              <a:rPr lang="tr-TR" dirty="0"/>
              <a:t> görüntüsünü </a:t>
            </a:r>
            <a:r>
              <a:rPr lang="tr-TR" dirty="0" smtClean="0"/>
              <a:t>16 günde </a:t>
            </a:r>
            <a:r>
              <a:rPr lang="tr-TR" dirty="0"/>
              <a:t>bir tekrar çeker.</a:t>
            </a:r>
          </a:p>
        </p:txBody>
      </p:sp>
    </p:spTree>
    <p:extLst>
      <p:ext uri="{BB962C8B-B14F-4D97-AF65-F5344CB8AC3E}">
        <p14:creationId xmlns:p14="http://schemas.microsoft.com/office/powerpoint/2010/main" val="3711397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70101"/>
            <a:ext cx="10515600" cy="1325563"/>
          </a:xfrm>
        </p:spPr>
        <p:txBody>
          <a:bodyPr/>
          <a:lstStyle/>
          <a:p>
            <a:r>
              <a:rPr lang="tr-TR" b="1" dirty="0"/>
              <a:t>Yörünge ve Özellikleri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395664"/>
            <a:ext cx="10515600" cy="532597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dirty="0"/>
              <a:t>Uzaktan algılama araçlarında yaygın olarak kullanılan yörünge tipleri aşağıdaki gibidir;</a:t>
            </a:r>
          </a:p>
          <a:p>
            <a:pPr marL="0" indent="0">
              <a:buNone/>
            </a:pPr>
            <a:r>
              <a:rPr lang="tr-TR" b="1" i="1" dirty="0"/>
              <a:t>a) Kutupsal Yörünge: </a:t>
            </a:r>
            <a:r>
              <a:rPr lang="tr-TR" dirty="0"/>
              <a:t>Yörünge eğiklik açısı 80</a:t>
            </a:r>
            <a:r>
              <a:rPr lang="tr-TR" baseline="30000" dirty="0"/>
              <a:t>o</a:t>
            </a:r>
            <a:r>
              <a:rPr lang="tr-TR" dirty="0"/>
              <a:t>-90</a:t>
            </a:r>
            <a:r>
              <a:rPr lang="tr-TR" baseline="30000" dirty="0"/>
              <a:t>o</a:t>
            </a:r>
            <a:r>
              <a:rPr lang="tr-TR" dirty="0"/>
              <a:t> arasında olan </a:t>
            </a:r>
            <a:r>
              <a:rPr lang="tr-TR" dirty="0" smtClean="0"/>
              <a:t>yörüngedir. Yörünge </a:t>
            </a:r>
            <a:r>
              <a:rPr lang="tr-TR" dirty="0"/>
              <a:t>açısının 90</a:t>
            </a:r>
            <a:r>
              <a:rPr lang="tr-TR" baseline="30000" dirty="0"/>
              <a:t>o</a:t>
            </a:r>
            <a:r>
              <a:rPr lang="tr-TR" dirty="0"/>
              <a:t> üstünde olması demek, uydunun hareketinin batı yönünde </a:t>
            </a:r>
            <a:r>
              <a:rPr lang="tr-TR" dirty="0" smtClean="0"/>
              <a:t>olduğunu gösterir</a:t>
            </a:r>
            <a:r>
              <a:rPr lang="tr-TR" dirty="0"/>
              <a:t>. Uydunun hareketinin doğu yönlü olması daha az enerji kullanmasına neden </a:t>
            </a:r>
            <a:r>
              <a:rPr lang="tr-TR" dirty="0" smtClean="0"/>
              <a:t>olur. Bunun </a:t>
            </a:r>
            <a:r>
              <a:rPr lang="tr-TR" dirty="0"/>
              <a:t>sebebi, dünyanın hareketinin doğuya doğru olmasındandır. Kutupsal yörüngeli </a:t>
            </a:r>
            <a:r>
              <a:rPr lang="tr-TR" dirty="0" smtClean="0"/>
              <a:t>uydular 600 </a:t>
            </a:r>
            <a:r>
              <a:rPr lang="tr-TR" dirty="0"/>
              <a:t>– 1000 km yükseklikte olup hemen hemen bütün dünyayı gözlemleyebilirler.</a:t>
            </a:r>
          </a:p>
          <a:p>
            <a:pPr marL="0" indent="0">
              <a:buNone/>
            </a:pPr>
            <a:r>
              <a:rPr lang="tr-TR" b="1" i="1" dirty="0"/>
              <a:t>b) Güneş Eşlemeli Yörünge: </a:t>
            </a:r>
            <a:r>
              <a:rPr lang="tr-TR" dirty="0"/>
              <a:t>Kutuplara yakın yörüngedir. Bunun tercih </a:t>
            </a:r>
            <a:r>
              <a:rPr lang="tr-TR" dirty="0" smtClean="0"/>
              <a:t>nedeni, uydunun </a:t>
            </a:r>
            <a:r>
              <a:rPr lang="tr-TR" dirty="0"/>
              <a:t>her zaman tepe noktasından aynı zamanda geçmesidir. Bunu başarabilmek </a:t>
            </a:r>
            <a:r>
              <a:rPr lang="tr-TR" dirty="0" smtClean="0"/>
              <a:t>için yörünge </a:t>
            </a:r>
            <a:r>
              <a:rPr lang="tr-TR" dirty="0"/>
              <a:t>eğikliğinin 98</a:t>
            </a:r>
            <a:r>
              <a:rPr lang="tr-TR" baseline="30000" dirty="0"/>
              <a:t>o</a:t>
            </a:r>
            <a:r>
              <a:rPr lang="tr-TR" dirty="0"/>
              <a:t> – 99</a:t>
            </a:r>
            <a:r>
              <a:rPr lang="tr-TR" baseline="30000" dirty="0"/>
              <a:t>o</a:t>
            </a:r>
            <a:r>
              <a:rPr lang="tr-TR" dirty="0"/>
              <a:t> arasında iyi ayarlanması gerekmektedir. Bir çok güneş </a:t>
            </a:r>
            <a:r>
              <a:rPr lang="tr-TR" dirty="0" smtClean="0"/>
              <a:t>eşlemeli yörüngeye </a:t>
            </a:r>
            <a:r>
              <a:rPr lang="tr-TR" dirty="0"/>
              <a:t>sahip uydular ekvatoru yerel saate göre 10:30’da geçerler. Bu zamanda </a:t>
            </a:r>
            <a:r>
              <a:rPr lang="tr-TR" dirty="0" smtClean="0"/>
              <a:t>Güneş’in açısı </a:t>
            </a:r>
            <a:r>
              <a:rPr lang="tr-TR" dirty="0"/>
              <a:t>düşük olup oluşan gölgeler arazi rölyefini ortaya çıkarırlar. Ayrıca, bu yörüngeye </a:t>
            </a:r>
            <a:r>
              <a:rPr lang="tr-TR" dirty="0" smtClean="0"/>
              <a:t>sahip uydular </a:t>
            </a:r>
            <a:r>
              <a:rPr lang="tr-TR" dirty="0"/>
              <a:t>dünyanın karanlık yüzünde gece vakti görüntü kaydedebilirler (termal ve radarlar için</a:t>
            </a:r>
            <a:r>
              <a:rPr lang="tr-TR" dirty="0" smtClean="0"/>
              <a:t>). Polar </a:t>
            </a:r>
            <a:r>
              <a:rPr lang="tr-TR" dirty="0"/>
              <a:t>ve güneş eşlemeli uydulara örnek </a:t>
            </a:r>
            <a:r>
              <a:rPr lang="tr-TR" dirty="0" err="1"/>
              <a:t>Landsat</a:t>
            </a:r>
            <a:r>
              <a:rPr lang="tr-TR" dirty="0"/>
              <a:t>, Spot ve IRS verilebilir</a:t>
            </a:r>
          </a:p>
        </p:txBody>
      </p:sp>
    </p:spTree>
    <p:extLst>
      <p:ext uri="{BB962C8B-B14F-4D97-AF65-F5344CB8AC3E}">
        <p14:creationId xmlns:p14="http://schemas.microsoft.com/office/powerpoint/2010/main" val="1432132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Yörünge ve Özellikleri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b="1" i="1" dirty="0"/>
              <a:t>c) </a:t>
            </a:r>
            <a:r>
              <a:rPr lang="tr-TR" b="1" i="1" dirty="0" err="1"/>
              <a:t>Geostationary</a:t>
            </a:r>
            <a:r>
              <a:rPr lang="tr-TR" b="1" i="1" dirty="0"/>
              <a:t> Yörünge: </a:t>
            </a:r>
            <a:r>
              <a:rPr lang="tr-TR" dirty="0"/>
              <a:t>Ekvatorun tam üzerinde konumlanan uydulara </a:t>
            </a:r>
            <a:r>
              <a:rPr lang="tr-TR" dirty="0" smtClean="0"/>
              <a:t>ait yörüngedir</a:t>
            </a:r>
            <a:r>
              <a:rPr lang="tr-TR" dirty="0"/>
              <a:t>. Dolayısıyla yörünge eğikliği 0</a:t>
            </a:r>
            <a:r>
              <a:rPr lang="tr-TR" baseline="30000" dirty="0"/>
              <a:t>o</a:t>
            </a:r>
            <a:r>
              <a:rPr lang="tr-TR" dirty="0"/>
              <a:t> </a:t>
            </a:r>
            <a:r>
              <a:rPr lang="tr-TR" dirty="0" err="1"/>
              <a:t>dir</a:t>
            </a:r>
            <a:r>
              <a:rPr lang="tr-TR" dirty="0"/>
              <a:t>. Yörünge yükseklikleri ise yaklaşık 36000 </a:t>
            </a:r>
            <a:r>
              <a:rPr lang="tr-TR" dirty="0" smtClean="0"/>
              <a:t>km </a:t>
            </a:r>
            <a:r>
              <a:rPr lang="tr-TR" dirty="0" err="1" smtClean="0"/>
              <a:t>dir</a:t>
            </a:r>
            <a:r>
              <a:rPr lang="tr-TR" dirty="0"/>
              <a:t>. Bu uzaklığa bağlı olarak uydunun yörünge periyodu dünyanın dönme periyoduna </a:t>
            </a:r>
            <a:r>
              <a:rPr lang="tr-TR" dirty="0" smtClean="0"/>
              <a:t>eşittir. </a:t>
            </a:r>
            <a:r>
              <a:rPr lang="tr-TR" dirty="0" err="1" smtClean="0"/>
              <a:t>Geostationary</a:t>
            </a:r>
            <a:r>
              <a:rPr lang="tr-TR" dirty="0" smtClean="0"/>
              <a:t> </a:t>
            </a:r>
            <a:r>
              <a:rPr lang="tr-TR" dirty="0"/>
              <a:t>yörüngeleri meteoroloji ve haberleşme uyduları için kullanılır. </a:t>
            </a:r>
            <a:r>
              <a:rPr lang="tr-TR" dirty="0" smtClean="0"/>
              <a:t>Günümüzde meteoroloji </a:t>
            </a:r>
            <a:r>
              <a:rPr lang="tr-TR" dirty="0"/>
              <a:t>uyduları hem </a:t>
            </a:r>
            <a:r>
              <a:rPr lang="tr-TR" dirty="0" err="1"/>
              <a:t>geostationary</a:t>
            </a:r>
            <a:r>
              <a:rPr lang="tr-TR" dirty="0"/>
              <a:t> hem de </a:t>
            </a:r>
            <a:r>
              <a:rPr lang="tr-TR" dirty="0" smtClean="0"/>
              <a:t>kutupsal </a:t>
            </a:r>
            <a:r>
              <a:rPr lang="tr-TR" dirty="0"/>
              <a:t>yörüngeyi kullanırlar. </a:t>
            </a:r>
            <a:r>
              <a:rPr lang="tr-TR" dirty="0" err="1" smtClean="0"/>
              <a:t>Geostationary</a:t>
            </a:r>
            <a:r>
              <a:rPr lang="tr-TR" dirty="0" smtClean="0"/>
              <a:t> uydular </a:t>
            </a:r>
            <a:r>
              <a:rPr lang="tr-TR" dirty="0"/>
              <a:t>dünyanın hemen hemen yarısının sürekli görüntüsünü alırlar, </a:t>
            </a:r>
            <a:r>
              <a:rPr lang="tr-TR" dirty="0" smtClean="0"/>
              <a:t>kutupsal </a:t>
            </a:r>
            <a:r>
              <a:rPr lang="tr-TR" dirty="0"/>
              <a:t>uydular ise </a:t>
            </a:r>
            <a:r>
              <a:rPr lang="tr-TR" dirty="0" smtClean="0"/>
              <a:t>yüksek çözünürlüklü </a:t>
            </a:r>
            <a:r>
              <a:rPr lang="tr-TR" dirty="0"/>
              <a:t>görüntü sunarlar.</a:t>
            </a:r>
          </a:p>
        </p:txBody>
      </p:sp>
    </p:spTree>
    <p:extLst>
      <p:ext uri="{BB962C8B-B14F-4D97-AF65-F5344CB8AC3E}">
        <p14:creationId xmlns:p14="http://schemas.microsoft.com/office/powerpoint/2010/main" val="2098588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Yeryüzü Görüntüleme Sistemleri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Yeryüzü görüntüleme sistemlerini kendi içerisinde 5 grupta toplayabiliriz. Bunlar;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i="1" dirty="0" smtClean="0"/>
              <a:t>Düşük </a:t>
            </a:r>
            <a:r>
              <a:rPr lang="tr-TR" i="1" dirty="0"/>
              <a:t>çözünürlüklü sistemler (çözünürlük 1-5 km arası),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i="1" dirty="0" smtClean="0"/>
              <a:t>Orta </a:t>
            </a:r>
            <a:r>
              <a:rPr lang="tr-TR" i="1" dirty="0"/>
              <a:t>çözünürlüklü sistemler (çözünürlük 10 - 100 m arası),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i="1" dirty="0" smtClean="0"/>
              <a:t>Yüksek </a:t>
            </a:r>
            <a:r>
              <a:rPr lang="tr-TR" i="1" dirty="0"/>
              <a:t>çözünürlüklü sistemler (çözünürlük 10 m altında),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i="1" dirty="0" err="1" smtClean="0"/>
              <a:t>Hiperspektrometre</a:t>
            </a:r>
            <a:r>
              <a:rPr lang="tr-TR" i="1" dirty="0" smtClean="0"/>
              <a:t> </a:t>
            </a:r>
            <a:r>
              <a:rPr lang="tr-TR" i="1" dirty="0"/>
              <a:t>sistemleri (yüksek spektral çözünürlüklü),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i="1" dirty="0" smtClean="0"/>
              <a:t>Radar </a:t>
            </a:r>
            <a:r>
              <a:rPr lang="tr-TR" i="1" dirty="0"/>
              <a:t>sistemleridir</a:t>
            </a:r>
            <a:r>
              <a:rPr lang="tr-TR" i="1" dirty="0" smtClean="0"/>
              <a:t>.</a:t>
            </a:r>
            <a:endParaRPr lang="tr-TR" i="1" dirty="0"/>
          </a:p>
        </p:txBody>
      </p:sp>
    </p:spTree>
    <p:extLst>
      <p:ext uri="{BB962C8B-B14F-4D97-AF65-F5344CB8AC3E}">
        <p14:creationId xmlns:p14="http://schemas.microsoft.com/office/powerpoint/2010/main" val="772526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Düşük Çözünürlüklü Sistemler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err="1"/>
              <a:t>Meteosat</a:t>
            </a:r>
            <a:r>
              <a:rPr lang="tr-TR" b="1" dirty="0"/>
              <a:t>: </a:t>
            </a:r>
            <a:r>
              <a:rPr lang="tr-TR" i="1" dirty="0" err="1"/>
              <a:t>Meteosat</a:t>
            </a:r>
            <a:r>
              <a:rPr lang="tr-TR" i="1" dirty="0"/>
              <a:t> </a:t>
            </a:r>
            <a:r>
              <a:rPr lang="tr-TR" i="1" dirty="0" err="1"/>
              <a:t>Geostationary</a:t>
            </a:r>
            <a:r>
              <a:rPr lang="tr-TR" i="1" dirty="0"/>
              <a:t> bir uydu olup, Dünya Meteoroloji </a:t>
            </a:r>
            <a:r>
              <a:rPr lang="tr-TR" i="1" dirty="0" smtClean="0"/>
              <a:t>Organizasyonuna ait </a:t>
            </a:r>
            <a:r>
              <a:rPr lang="tr-TR" i="1" dirty="0"/>
              <a:t>uzay programı çerçevesinde kullanılmaktadır.</a:t>
            </a:r>
            <a:r>
              <a:rPr lang="tr-TR" dirty="0"/>
              <a:t> Bu programın tamamı 30-40 arası kutupsal </a:t>
            </a:r>
            <a:r>
              <a:rPr lang="tr-TR" dirty="0" smtClean="0"/>
              <a:t>ve </a:t>
            </a:r>
            <a:r>
              <a:rPr lang="tr-TR" dirty="0" err="1" smtClean="0"/>
              <a:t>geostationary</a:t>
            </a:r>
            <a:r>
              <a:rPr lang="tr-TR" dirty="0" smtClean="0"/>
              <a:t> </a:t>
            </a:r>
            <a:r>
              <a:rPr lang="tr-TR" dirty="0"/>
              <a:t>yörüngeye sahip uyduyu kapsamaktadır. </a:t>
            </a:r>
            <a:r>
              <a:rPr lang="tr-TR" dirty="0" err="1"/>
              <a:t>Meteosat</a:t>
            </a:r>
            <a:r>
              <a:rPr lang="tr-TR" dirty="0"/>
              <a:t> uyduları Avrupa </a:t>
            </a:r>
            <a:r>
              <a:rPr lang="tr-TR" dirty="0" smtClean="0"/>
              <a:t>organizasyonu olan </a:t>
            </a:r>
            <a:r>
              <a:rPr lang="tr-TR" dirty="0" err="1"/>
              <a:t>Eumetsat’a</a:t>
            </a:r>
            <a:r>
              <a:rPr lang="tr-TR" dirty="0"/>
              <a:t> aittir. İlk </a:t>
            </a:r>
            <a:r>
              <a:rPr lang="tr-TR" dirty="0" err="1"/>
              <a:t>Meteosat</a:t>
            </a:r>
            <a:r>
              <a:rPr lang="tr-TR" dirty="0"/>
              <a:t> uydusu 1977’de yörüngesine yerleştirilmiştir. </a:t>
            </a:r>
            <a:r>
              <a:rPr lang="tr-TR" dirty="0" err="1"/>
              <a:t>Meteosat</a:t>
            </a:r>
            <a:r>
              <a:rPr lang="tr-TR" dirty="0"/>
              <a:t> </a:t>
            </a:r>
            <a:r>
              <a:rPr lang="tr-TR" dirty="0" smtClean="0"/>
              <a:t>8 ise </a:t>
            </a:r>
            <a:r>
              <a:rPr lang="tr-TR" dirty="0"/>
              <a:t>2002’de uzaya fırlatılmıştır. </a:t>
            </a:r>
            <a:r>
              <a:rPr lang="tr-TR" dirty="0" err="1"/>
              <a:t>Meteosat</a:t>
            </a:r>
            <a:r>
              <a:rPr lang="tr-TR" dirty="0"/>
              <a:t> ikinci jenerasyonun ilk uydusu olması </a:t>
            </a:r>
            <a:r>
              <a:rPr lang="tr-TR" dirty="0" smtClean="0"/>
              <a:t>dolayısıyla spektral</a:t>
            </a:r>
            <a:r>
              <a:rPr lang="tr-TR" dirty="0"/>
              <a:t>, mekânsal, radyometrik ve zamansal çözünürlükleri oldukça gelişmiştir (Tablo 5.1</a:t>
            </a:r>
            <a:r>
              <a:rPr lang="tr-TR" dirty="0" smtClean="0"/>
              <a:t>.). Günümüz </a:t>
            </a:r>
            <a:r>
              <a:rPr lang="tr-TR" dirty="0"/>
              <a:t>itibariyle </a:t>
            </a:r>
            <a:r>
              <a:rPr lang="tr-TR" dirty="0" err="1"/>
              <a:t>Meteosat</a:t>
            </a:r>
            <a:r>
              <a:rPr lang="tr-TR" dirty="0"/>
              <a:t> 9- 10’da aktif durumdadır. </a:t>
            </a:r>
            <a:r>
              <a:rPr lang="tr-TR" i="1" dirty="0"/>
              <a:t>Bu uydularla yağış tahminleri, </a:t>
            </a:r>
            <a:r>
              <a:rPr lang="tr-TR" i="1" dirty="0" smtClean="0"/>
              <a:t>yüzey sıcaklıkları</a:t>
            </a:r>
            <a:r>
              <a:rPr lang="tr-TR" i="1" dirty="0"/>
              <a:t>, deniz yüzeyi sıcaklıkları, orman yangınları, volkanik aktiviteler gibi </a:t>
            </a:r>
            <a:r>
              <a:rPr lang="tr-TR" i="1" dirty="0" smtClean="0"/>
              <a:t>konularda bilgi </a:t>
            </a:r>
            <a:r>
              <a:rPr lang="tr-TR" i="1" dirty="0"/>
              <a:t>elde edilir.</a:t>
            </a:r>
          </a:p>
        </p:txBody>
      </p:sp>
    </p:spTree>
    <p:extLst>
      <p:ext uri="{BB962C8B-B14F-4D97-AF65-F5344CB8AC3E}">
        <p14:creationId xmlns:p14="http://schemas.microsoft.com/office/powerpoint/2010/main" val="3705011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117" y="847057"/>
            <a:ext cx="7310605" cy="6010943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2620" y="0"/>
            <a:ext cx="10515600" cy="1325563"/>
          </a:xfrm>
        </p:spPr>
        <p:txBody>
          <a:bodyPr/>
          <a:lstStyle/>
          <a:p>
            <a:r>
              <a:rPr lang="tr-TR" b="1" dirty="0"/>
              <a:t>Düşük Çözünürlüklü Sistemler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68415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Düşük Çözünürlüklü Sistemler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SEVIRI </a:t>
            </a:r>
            <a:r>
              <a:rPr lang="tr-TR" dirty="0" err="1"/>
              <a:t>sensörüne</a:t>
            </a:r>
            <a:r>
              <a:rPr lang="tr-TR" dirty="0"/>
              <a:t> ait spektral bantlar meteorologlar açısından önemli olan </a:t>
            </a:r>
            <a:r>
              <a:rPr lang="tr-TR" dirty="0" smtClean="0"/>
              <a:t>olayların incelenmesi </a:t>
            </a:r>
            <a:r>
              <a:rPr lang="tr-TR" dirty="0"/>
              <a:t>için tercih edilir. Bu bantlar; </a:t>
            </a:r>
            <a:r>
              <a:rPr lang="tr-TR" dirty="0" err="1"/>
              <a:t>Pankromatik</a:t>
            </a:r>
            <a:r>
              <a:rPr lang="tr-TR" dirty="0"/>
              <a:t> (siyah-beyaz -PAN) bant, </a:t>
            </a:r>
            <a:r>
              <a:rPr lang="tr-TR" dirty="0" smtClean="0"/>
              <a:t>orta-kızılötesi bantları </a:t>
            </a:r>
            <a:r>
              <a:rPr lang="tr-TR" dirty="0"/>
              <a:t>ki bunlar atmosfer içerisindeki su buharı (WV) hakkında bilgi verir ve </a:t>
            </a:r>
            <a:r>
              <a:rPr lang="tr-TR" dirty="0" smtClean="0"/>
              <a:t>Termal bantlardır </a:t>
            </a:r>
            <a:r>
              <a:rPr lang="tr-TR" dirty="0"/>
              <a:t>(TIR). Termal verilerle bulutlu günlerde bulutların üst kısmına ait sıcaklıklar </a:t>
            </a:r>
            <a:r>
              <a:rPr lang="tr-TR" dirty="0" smtClean="0"/>
              <a:t>elde edilir</a:t>
            </a:r>
            <a:r>
              <a:rPr lang="tr-TR" dirty="0"/>
              <a:t>, bu da yağış tahmini için önemlidir. Bulutsuz havalarda termal verilerle kara ve </a:t>
            </a:r>
            <a:r>
              <a:rPr lang="tr-TR" dirty="0" smtClean="0"/>
              <a:t>deniz sıcaklıkları </a:t>
            </a:r>
            <a:r>
              <a:rPr lang="tr-TR" dirty="0"/>
              <a:t>izlenip anomaliler ortaya konabilmektedir.</a:t>
            </a:r>
          </a:p>
        </p:txBody>
      </p:sp>
    </p:spTree>
    <p:extLst>
      <p:ext uri="{BB962C8B-B14F-4D97-AF65-F5344CB8AC3E}">
        <p14:creationId xmlns:p14="http://schemas.microsoft.com/office/powerpoint/2010/main" val="3385612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Düşük Çözünürlüklü Sistemler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443789"/>
            <a:ext cx="10515600" cy="508534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tr-TR" b="1" dirty="0"/>
              <a:t>NOAA: </a:t>
            </a:r>
            <a:r>
              <a:rPr lang="tr-TR" i="1" dirty="0" err="1"/>
              <a:t>NOAA’nın</a:t>
            </a:r>
            <a:r>
              <a:rPr lang="tr-TR" i="1" dirty="0"/>
              <a:t> açılımı </a:t>
            </a:r>
            <a:r>
              <a:rPr lang="tr-TR" i="1" dirty="0" err="1"/>
              <a:t>National</a:t>
            </a:r>
            <a:r>
              <a:rPr lang="tr-TR" i="1" dirty="0"/>
              <a:t> </a:t>
            </a:r>
            <a:r>
              <a:rPr lang="tr-TR" i="1" dirty="0" err="1"/>
              <a:t>Oceanic</a:t>
            </a:r>
            <a:r>
              <a:rPr lang="tr-TR" i="1" dirty="0"/>
              <a:t> </a:t>
            </a:r>
            <a:r>
              <a:rPr lang="tr-TR" i="1" dirty="0" err="1"/>
              <a:t>and</a:t>
            </a:r>
            <a:r>
              <a:rPr lang="tr-TR" i="1" dirty="0"/>
              <a:t> </a:t>
            </a:r>
            <a:r>
              <a:rPr lang="tr-TR" i="1" dirty="0" err="1"/>
              <a:t>Atmospheric</a:t>
            </a:r>
            <a:r>
              <a:rPr lang="tr-TR" i="1" dirty="0"/>
              <a:t> Administration </a:t>
            </a:r>
            <a:r>
              <a:rPr lang="tr-TR" i="1" dirty="0" smtClean="0"/>
              <a:t>olup ABD’ye </a:t>
            </a:r>
            <a:r>
              <a:rPr lang="tr-TR" i="1" dirty="0"/>
              <a:t>ait bir uydudur. NOAA uydusu üzerinde yeryüzünü gözlemlemek için </a:t>
            </a:r>
            <a:r>
              <a:rPr lang="tr-TR" i="1" dirty="0" smtClean="0"/>
              <a:t>AVHRR (Advanced </a:t>
            </a:r>
            <a:r>
              <a:rPr lang="tr-TR" i="1" dirty="0" err="1"/>
              <a:t>Very</a:t>
            </a:r>
            <a:r>
              <a:rPr lang="tr-TR" i="1" dirty="0"/>
              <a:t> High </a:t>
            </a:r>
            <a:r>
              <a:rPr lang="tr-TR" i="1" dirty="0" err="1"/>
              <a:t>Resolution</a:t>
            </a:r>
            <a:r>
              <a:rPr lang="tr-TR" i="1" dirty="0"/>
              <a:t> </a:t>
            </a:r>
            <a:r>
              <a:rPr lang="tr-TR" i="1" dirty="0" err="1"/>
              <a:t>Radiometer</a:t>
            </a:r>
            <a:r>
              <a:rPr lang="tr-TR" i="1" dirty="0"/>
              <a:t>) </a:t>
            </a:r>
            <a:r>
              <a:rPr lang="tr-TR" i="1" dirty="0" err="1"/>
              <a:t>sensörü</a:t>
            </a:r>
            <a:r>
              <a:rPr lang="tr-TR" i="1" dirty="0"/>
              <a:t> mevcuttur. </a:t>
            </a:r>
            <a:r>
              <a:rPr lang="tr-TR" dirty="0"/>
              <a:t>İlk TIROS </a:t>
            </a:r>
            <a:r>
              <a:rPr lang="tr-TR" dirty="0" smtClean="0"/>
              <a:t>uydusuyla başlayan </a:t>
            </a:r>
            <a:r>
              <a:rPr lang="tr-TR" dirty="0"/>
              <a:t>(1978) ve NOAA (1981) serisi ile devam eden uydulardan oluşmaktadır. </a:t>
            </a:r>
            <a:r>
              <a:rPr lang="tr-TR" i="1" dirty="0" smtClean="0"/>
              <a:t>Günümüzde NOAA </a:t>
            </a:r>
            <a:r>
              <a:rPr lang="tr-TR" i="1" dirty="0"/>
              <a:t>serilerinin en sonuncusu NOAA-19 2009 da fırlatılmış ve aktif durumdadır. </a:t>
            </a:r>
            <a:r>
              <a:rPr lang="tr-TR" dirty="0" smtClean="0"/>
              <a:t>Ayrıca NOAA</a:t>
            </a:r>
            <a:r>
              <a:rPr lang="tr-TR" dirty="0"/>
              <a:t>, hem GOES (</a:t>
            </a:r>
            <a:r>
              <a:rPr lang="tr-TR" dirty="0" err="1"/>
              <a:t>Geosataionary</a:t>
            </a:r>
            <a:r>
              <a:rPr lang="tr-TR" dirty="0"/>
              <a:t> </a:t>
            </a:r>
            <a:r>
              <a:rPr lang="tr-TR" dirty="0" err="1"/>
              <a:t>Operational</a:t>
            </a:r>
            <a:r>
              <a:rPr lang="tr-TR" dirty="0"/>
              <a:t> </a:t>
            </a:r>
            <a:r>
              <a:rPr lang="tr-TR" dirty="0" err="1"/>
              <a:t>Environmental</a:t>
            </a:r>
            <a:r>
              <a:rPr lang="tr-TR" dirty="0"/>
              <a:t> </a:t>
            </a:r>
            <a:r>
              <a:rPr lang="tr-TR" dirty="0" err="1"/>
              <a:t>Satellites</a:t>
            </a:r>
            <a:r>
              <a:rPr lang="tr-TR" dirty="0"/>
              <a:t>) hem de POES (</a:t>
            </a:r>
            <a:r>
              <a:rPr lang="tr-TR" dirty="0" smtClean="0"/>
              <a:t>Polar </a:t>
            </a:r>
            <a:r>
              <a:rPr lang="tr-TR" dirty="0" err="1" smtClean="0"/>
              <a:t>Orbiting</a:t>
            </a:r>
            <a:r>
              <a:rPr lang="tr-TR" dirty="0" smtClean="0"/>
              <a:t> </a:t>
            </a:r>
            <a:r>
              <a:rPr lang="tr-TR" dirty="0" err="1"/>
              <a:t>Environmental</a:t>
            </a:r>
            <a:r>
              <a:rPr lang="tr-TR" dirty="0"/>
              <a:t> </a:t>
            </a:r>
            <a:r>
              <a:rPr lang="tr-TR" dirty="0" err="1"/>
              <a:t>Satellites</a:t>
            </a:r>
            <a:r>
              <a:rPr lang="tr-TR" dirty="0"/>
              <a:t>) bünyesinde barındırır. </a:t>
            </a:r>
            <a:r>
              <a:rPr lang="tr-TR" i="1" dirty="0"/>
              <a:t>NOAA uydusunda bulunan </a:t>
            </a:r>
            <a:r>
              <a:rPr lang="tr-TR" i="1" dirty="0" smtClean="0"/>
              <a:t>AVHRR </a:t>
            </a:r>
            <a:r>
              <a:rPr lang="tr-TR" i="1" dirty="0" err="1" smtClean="0"/>
              <a:t>sensörü</a:t>
            </a:r>
            <a:r>
              <a:rPr lang="tr-TR" i="1" dirty="0" smtClean="0"/>
              <a:t> </a:t>
            </a:r>
            <a:r>
              <a:rPr lang="tr-TR" i="1" dirty="0"/>
              <a:t>(Tablo 5.2) geniş görüş açısı ve çizgi tarama tekniğine bağlı olarak bir tarama </a:t>
            </a:r>
            <a:r>
              <a:rPr lang="tr-TR" i="1" dirty="0" smtClean="0"/>
              <a:t>çizgisi üzerindeki </a:t>
            </a:r>
            <a:r>
              <a:rPr lang="tr-TR" i="1" dirty="0"/>
              <a:t>zemin hücrelerinde büyük farklılıklar gibi özelliklere sahiptir. AVHRR </a:t>
            </a:r>
            <a:r>
              <a:rPr lang="tr-TR" i="1" dirty="0" smtClean="0"/>
              <a:t>verisi </a:t>
            </a:r>
            <a:r>
              <a:rPr lang="tr-TR" i="1" dirty="0" err="1" smtClean="0"/>
              <a:t>Meteosat’tan</a:t>
            </a:r>
            <a:r>
              <a:rPr lang="tr-TR" i="1" dirty="0" smtClean="0"/>
              <a:t> </a:t>
            </a:r>
            <a:r>
              <a:rPr lang="tr-TR" i="1" dirty="0"/>
              <a:t>daha detaylı bilgi verdiği için meteorolojik tahminlerde her gün kullanılır. </a:t>
            </a:r>
            <a:r>
              <a:rPr lang="tr-TR" i="1" dirty="0" smtClean="0"/>
              <a:t>Ayrıca deniz </a:t>
            </a:r>
            <a:r>
              <a:rPr lang="tr-TR" i="1" dirty="0"/>
              <a:t>yüzeyi sıcaklıkları ve bitki örtüsü çalışmalarından kullanılmak üzere NDVI </a:t>
            </a:r>
            <a:r>
              <a:rPr lang="tr-TR" i="1" dirty="0" smtClean="0"/>
              <a:t>haritalarının oluşturulmasında </a:t>
            </a:r>
            <a:r>
              <a:rPr lang="tr-TR" i="1" dirty="0"/>
              <a:t>kullanılır.</a:t>
            </a:r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5590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100" y="1216025"/>
            <a:ext cx="8881799" cy="5641975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Düşük Çözünürlüklü Sistemler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39658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Orta Çözünürlüklü Sistemler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b="1" dirty="0" err="1"/>
              <a:t>Landsat</a:t>
            </a:r>
            <a:r>
              <a:rPr lang="tr-TR" b="1" dirty="0"/>
              <a:t>: </a:t>
            </a:r>
            <a:r>
              <a:rPr lang="tr-TR" i="1" dirty="0" err="1"/>
              <a:t>Landsat</a:t>
            </a:r>
            <a:r>
              <a:rPr lang="tr-TR" i="1" dirty="0"/>
              <a:t> programı sivil olarak en eski dünya gözlemleme programıdır.</a:t>
            </a:r>
            <a:r>
              <a:rPr lang="tr-TR" dirty="0"/>
              <a:t> </a:t>
            </a:r>
            <a:r>
              <a:rPr lang="tr-TR" dirty="0" smtClean="0"/>
              <a:t>1972 yılında </a:t>
            </a:r>
            <a:r>
              <a:rPr lang="tr-TR" dirty="0"/>
              <a:t>MSS </a:t>
            </a:r>
            <a:r>
              <a:rPr lang="tr-TR" dirty="0" err="1"/>
              <a:t>sensörü</a:t>
            </a:r>
            <a:r>
              <a:rPr lang="tr-TR" dirty="0"/>
              <a:t> taşıyan Landsat-1 ile başlamış, 1982’de MSS yerine TM (</a:t>
            </a:r>
            <a:r>
              <a:rPr lang="tr-TR" dirty="0" err="1" smtClean="0"/>
              <a:t>Thematic</a:t>
            </a:r>
            <a:r>
              <a:rPr lang="tr-TR" dirty="0" smtClean="0"/>
              <a:t> </a:t>
            </a:r>
            <a:r>
              <a:rPr lang="tr-TR" dirty="0" err="1" smtClean="0"/>
              <a:t>Mapper</a:t>
            </a:r>
            <a:r>
              <a:rPr lang="tr-TR" dirty="0"/>
              <a:t>) </a:t>
            </a:r>
            <a:r>
              <a:rPr lang="tr-TR" dirty="0" err="1"/>
              <a:t>sensörü</a:t>
            </a:r>
            <a:r>
              <a:rPr lang="tr-TR" dirty="0"/>
              <a:t> yerini almıştır. Her iki </a:t>
            </a:r>
            <a:r>
              <a:rPr lang="tr-TR" dirty="0" err="1"/>
              <a:t>sensör</a:t>
            </a:r>
            <a:r>
              <a:rPr lang="tr-TR" dirty="0"/>
              <a:t> de çizgi tarama tekniği ile </a:t>
            </a:r>
            <a:r>
              <a:rPr lang="tr-TR" dirty="0" smtClean="0"/>
              <a:t>taramasını gerçekleştirir</a:t>
            </a:r>
            <a:r>
              <a:rPr lang="tr-TR" dirty="0"/>
              <a:t>. 1999’da ETM+ (</a:t>
            </a:r>
            <a:r>
              <a:rPr lang="tr-TR" dirty="0" err="1"/>
              <a:t>Enhanced</a:t>
            </a:r>
            <a:r>
              <a:rPr lang="tr-TR" dirty="0"/>
              <a:t> </a:t>
            </a:r>
            <a:r>
              <a:rPr lang="tr-TR" dirty="0" err="1"/>
              <a:t>Thametic</a:t>
            </a:r>
            <a:r>
              <a:rPr lang="tr-TR" dirty="0"/>
              <a:t> </a:t>
            </a:r>
            <a:r>
              <a:rPr lang="tr-TR" dirty="0" err="1"/>
              <a:t>Mapper</a:t>
            </a:r>
            <a:r>
              <a:rPr lang="tr-TR" dirty="0"/>
              <a:t>) </a:t>
            </a:r>
            <a:r>
              <a:rPr lang="tr-TR" dirty="0" err="1"/>
              <a:t>sensörünü</a:t>
            </a:r>
            <a:r>
              <a:rPr lang="tr-TR" dirty="0"/>
              <a:t> taşıyan </a:t>
            </a:r>
            <a:r>
              <a:rPr lang="tr-TR" dirty="0" smtClean="0"/>
              <a:t>Landsat-7 fırlatılmış </a:t>
            </a:r>
            <a:r>
              <a:rPr lang="tr-TR" dirty="0"/>
              <a:t>ve halen aktiftir. Ayrıca 2013 yılında Landsat-8 fırlatılmış ve Nisan ayı </a:t>
            </a:r>
            <a:r>
              <a:rPr lang="tr-TR" dirty="0" smtClean="0"/>
              <a:t>itibariyle görüntüler </a:t>
            </a:r>
            <a:r>
              <a:rPr lang="tr-TR" dirty="0"/>
              <a:t>alınmaya başlanmıştır. </a:t>
            </a:r>
            <a:r>
              <a:rPr lang="tr-TR" dirty="0" err="1"/>
              <a:t>Landsat</a:t>
            </a:r>
            <a:r>
              <a:rPr lang="tr-TR" dirty="0"/>
              <a:t> 8, diğer </a:t>
            </a:r>
            <a:r>
              <a:rPr lang="tr-TR" dirty="0" err="1"/>
              <a:t>Landsat</a:t>
            </a:r>
            <a:r>
              <a:rPr lang="tr-TR" dirty="0"/>
              <a:t> serisine göre OLI (</a:t>
            </a:r>
            <a:r>
              <a:rPr lang="tr-TR" dirty="0" err="1"/>
              <a:t>Operational</a:t>
            </a:r>
            <a:r>
              <a:rPr lang="tr-TR" dirty="0"/>
              <a:t> </a:t>
            </a:r>
            <a:r>
              <a:rPr lang="tr-TR" dirty="0" smtClean="0"/>
              <a:t>Land </a:t>
            </a:r>
            <a:r>
              <a:rPr lang="tr-TR" dirty="0" err="1" smtClean="0"/>
              <a:t>Imager</a:t>
            </a:r>
            <a:r>
              <a:rPr lang="tr-TR" dirty="0"/>
              <a:t>) </a:t>
            </a:r>
            <a:r>
              <a:rPr lang="tr-TR" dirty="0" err="1"/>
              <a:t>sensörüne</a:t>
            </a:r>
            <a:r>
              <a:rPr lang="tr-TR" dirty="0"/>
              <a:t> sahiptir ve spektral aralığı ve bant sayısı da arttırılmıştır (11 Bant) (</a:t>
            </a:r>
            <a:r>
              <a:rPr lang="tr-TR" dirty="0" smtClean="0"/>
              <a:t>Tablo 5.3</a:t>
            </a:r>
            <a:r>
              <a:rPr lang="tr-TR" dirty="0"/>
              <a:t>). </a:t>
            </a:r>
            <a:r>
              <a:rPr lang="tr-TR" i="1" dirty="0" err="1"/>
              <a:t>Landsat</a:t>
            </a:r>
            <a:r>
              <a:rPr lang="tr-TR" i="1" dirty="0"/>
              <a:t> TM ve ETM+ verileriyle birçok arazi örtüsü ve kullanımları, toprak </a:t>
            </a:r>
            <a:r>
              <a:rPr lang="tr-TR" i="1" dirty="0" smtClean="0"/>
              <a:t>haritalaması, jeoloji </a:t>
            </a:r>
            <a:r>
              <a:rPr lang="tr-TR" i="1" dirty="0"/>
              <a:t>uygulamaları ve deniz yüzeyi sıcaklıklarının haritalanması gibi birçok </a:t>
            </a:r>
            <a:r>
              <a:rPr lang="tr-TR" i="1" dirty="0" smtClean="0"/>
              <a:t>çalışma yapılmıştır</a:t>
            </a:r>
            <a:r>
              <a:rPr lang="tr-TR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8931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484" y="1272759"/>
            <a:ext cx="5755031" cy="5585241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Orta Çözünürlüklü Sistemler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06837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Orta Çözünürlüklü Sistemler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475874"/>
            <a:ext cx="10515600" cy="4701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err="1"/>
              <a:t>Terra</a:t>
            </a:r>
            <a:r>
              <a:rPr lang="tr-TR" b="1" dirty="0"/>
              <a:t>: </a:t>
            </a:r>
            <a:r>
              <a:rPr lang="tr-TR" dirty="0"/>
              <a:t>EOS (Earth </a:t>
            </a:r>
            <a:r>
              <a:rPr lang="tr-TR" dirty="0" err="1"/>
              <a:t>Observation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), sonradan ismi </a:t>
            </a:r>
            <a:r>
              <a:rPr lang="tr-TR" dirty="0" err="1"/>
              <a:t>Terra</a:t>
            </a:r>
            <a:r>
              <a:rPr lang="tr-TR" dirty="0"/>
              <a:t> olmuştur, </a:t>
            </a:r>
            <a:r>
              <a:rPr lang="tr-TR" dirty="0" smtClean="0"/>
              <a:t>NASA’nın yerbilimleri </a:t>
            </a:r>
            <a:r>
              <a:rPr lang="tr-TR" dirty="0"/>
              <a:t>açısından önemli uydularından birisidir. 1999 yılından uzaya fırlatılmış olan </a:t>
            </a:r>
            <a:r>
              <a:rPr lang="tr-TR" dirty="0" err="1" smtClean="0"/>
              <a:t>Terra</a:t>
            </a:r>
            <a:r>
              <a:rPr lang="tr-TR" dirty="0" smtClean="0"/>
              <a:t> uydusu </a:t>
            </a:r>
            <a:r>
              <a:rPr lang="tr-TR" dirty="0"/>
              <a:t>bünyesinde MODIS (</a:t>
            </a:r>
            <a:r>
              <a:rPr lang="tr-TR" dirty="0" err="1"/>
              <a:t>Moderate</a:t>
            </a:r>
            <a:r>
              <a:rPr lang="tr-TR" dirty="0"/>
              <a:t> </a:t>
            </a:r>
            <a:r>
              <a:rPr lang="tr-TR" dirty="0" err="1"/>
              <a:t>Resoluiton</a:t>
            </a:r>
            <a:r>
              <a:rPr lang="tr-TR" dirty="0"/>
              <a:t> </a:t>
            </a:r>
            <a:r>
              <a:rPr lang="tr-TR" dirty="0" err="1"/>
              <a:t>Imaging</a:t>
            </a:r>
            <a:r>
              <a:rPr lang="tr-TR" dirty="0"/>
              <a:t> </a:t>
            </a:r>
            <a:r>
              <a:rPr lang="tr-TR" dirty="0" err="1"/>
              <a:t>Spectrometer</a:t>
            </a:r>
            <a:r>
              <a:rPr lang="tr-TR" dirty="0"/>
              <a:t>) ve </a:t>
            </a:r>
            <a:r>
              <a:rPr lang="tr-TR" dirty="0" smtClean="0"/>
              <a:t>ASTER </a:t>
            </a:r>
            <a:r>
              <a:rPr lang="en-US" dirty="0" smtClean="0"/>
              <a:t>(Advanced </a:t>
            </a:r>
            <a:r>
              <a:rPr lang="en-US" dirty="0" err="1"/>
              <a:t>Spaceborn</a:t>
            </a:r>
            <a:r>
              <a:rPr lang="en-US" dirty="0"/>
              <a:t> Thermal Emission and Reflectance </a:t>
            </a:r>
            <a:r>
              <a:rPr lang="en-US" dirty="0" err="1"/>
              <a:t>Raidometer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de </a:t>
            </a:r>
            <a:r>
              <a:rPr lang="en-US" dirty="0" err="1"/>
              <a:t>içine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5 </a:t>
            </a:r>
            <a:r>
              <a:rPr lang="en-US" dirty="0" err="1" smtClean="0"/>
              <a:t>uzaktan</a:t>
            </a:r>
            <a:r>
              <a:rPr lang="tr-TR" dirty="0" smtClean="0"/>
              <a:t> algılama </a:t>
            </a:r>
            <a:r>
              <a:rPr lang="tr-TR" dirty="0"/>
              <a:t>enstrümanına sahiptir. ASTER enstrümanında (Tablo 5.4) üç bant 15 </a:t>
            </a:r>
            <a:r>
              <a:rPr lang="tr-TR" dirty="0" smtClean="0"/>
              <a:t>m çözünürlüğünde </a:t>
            </a:r>
            <a:r>
              <a:rPr lang="tr-TR" dirty="0"/>
              <a:t>görünür ve yakın kızılötesi spektral aralığında, 6 bant 30 m </a:t>
            </a:r>
            <a:r>
              <a:rPr lang="tr-TR" dirty="0" smtClean="0"/>
              <a:t>çözünürlüğünde ve </a:t>
            </a:r>
            <a:r>
              <a:rPr lang="tr-TR" dirty="0"/>
              <a:t>kısa dalga kızılötesinde, 5 bant 90 m çözünürlüklü ve termal kızılötesi aralığından </a:t>
            </a:r>
            <a:r>
              <a:rPr lang="tr-TR" dirty="0" smtClean="0"/>
              <a:t>algılama yapar</a:t>
            </a:r>
            <a:r>
              <a:rPr lang="tr-TR" dirty="0"/>
              <a:t>. Ayrıca </a:t>
            </a:r>
            <a:r>
              <a:rPr lang="tr-TR" dirty="0" err="1"/>
              <a:t>ASTER’de</a:t>
            </a:r>
            <a:r>
              <a:rPr lang="tr-TR" dirty="0"/>
              <a:t> yer alan yakın kızılötesi (NIR) bantları (3 Nadir ve 3 </a:t>
            </a:r>
            <a:r>
              <a:rPr lang="tr-TR" dirty="0" err="1"/>
              <a:t>Backward</a:t>
            </a:r>
            <a:r>
              <a:rPr lang="tr-TR" dirty="0"/>
              <a:t>) </a:t>
            </a:r>
            <a:r>
              <a:rPr lang="tr-TR" dirty="0" smtClean="0"/>
              <a:t>27.7</a:t>
            </a:r>
            <a:r>
              <a:rPr lang="tr-TR" baseline="30000" dirty="0" smtClean="0"/>
              <a:t>o</a:t>
            </a:r>
            <a:r>
              <a:rPr lang="tr-TR" dirty="0" smtClean="0"/>
              <a:t> </a:t>
            </a:r>
            <a:r>
              <a:rPr lang="tr-TR" dirty="0" err="1" smtClean="0"/>
              <a:t>lik</a:t>
            </a:r>
            <a:r>
              <a:rPr lang="tr-TR" dirty="0" smtClean="0"/>
              <a:t> </a:t>
            </a:r>
            <a:r>
              <a:rPr lang="tr-TR" dirty="0"/>
              <a:t>bir çakışmaya (</a:t>
            </a:r>
            <a:r>
              <a:rPr lang="tr-TR" dirty="0" err="1"/>
              <a:t>overlay</a:t>
            </a:r>
            <a:r>
              <a:rPr lang="tr-TR" dirty="0"/>
              <a:t>) sahip oldukları için yüksek kalitede SAM (Sayısal Arazi </a:t>
            </a:r>
            <a:r>
              <a:rPr lang="tr-TR" dirty="0" smtClean="0"/>
              <a:t>Modeli) üretmede </a:t>
            </a:r>
            <a:r>
              <a:rPr lang="tr-TR" dirty="0"/>
              <a:t>kullanılırlar.</a:t>
            </a:r>
          </a:p>
        </p:txBody>
      </p:sp>
    </p:spTree>
    <p:extLst>
      <p:ext uri="{BB962C8B-B14F-4D97-AF65-F5344CB8AC3E}">
        <p14:creationId xmlns:p14="http://schemas.microsoft.com/office/powerpoint/2010/main" val="2447461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Orta Çözünürlüklü Sistemler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851" y="1344069"/>
            <a:ext cx="8770297" cy="5513931"/>
          </a:xfrm>
        </p:spPr>
      </p:pic>
    </p:spTree>
    <p:extLst>
      <p:ext uri="{BB962C8B-B14F-4D97-AF65-F5344CB8AC3E}">
        <p14:creationId xmlns:p14="http://schemas.microsoft.com/office/powerpoint/2010/main" val="4066246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Yüksek Çözünürlüklü Sistemler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dirty="0"/>
              <a:t>RASAT: </a:t>
            </a:r>
            <a:r>
              <a:rPr lang="tr-TR" dirty="0"/>
              <a:t>RASAT uydusu, Türkiye’nin ilk yerli yapım uydusudur. 17 Ağustos </a:t>
            </a:r>
            <a:r>
              <a:rPr lang="tr-TR" dirty="0" smtClean="0"/>
              <a:t>2012 tarihinde </a:t>
            </a:r>
            <a:r>
              <a:rPr lang="tr-TR" dirty="0"/>
              <a:t>Rusya’dan uzaya gönderilmiş ve görev süresi 3 yıl olarak tasarlanmıştır. </a:t>
            </a:r>
            <a:r>
              <a:rPr lang="tr-TR" dirty="0" smtClean="0"/>
              <a:t>RASAT uydusunun </a:t>
            </a:r>
            <a:r>
              <a:rPr lang="tr-TR" dirty="0"/>
              <a:t>sistem mühendisliği ve sistem tasarımı Türkiye’de yurtdışından alınmış </a:t>
            </a:r>
            <a:r>
              <a:rPr lang="tr-TR" dirty="0" smtClean="0"/>
              <a:t>herhangi bir </a:t>
            </a:r>
            <a:r>
              <a:rPr lang="tr-TR" dirty="0"/>
              <a:t>danışmanlık olmadan veya yurtdışından mühendislik desteği almadan, </a:t>
            </a:r>
            <a:r>
              <a:rPr lang="tr-TR" dirty="0" smtClean="0"/>
              <a:t>TÜBİTAK </a:t>
            </a:r>
            <a:r>
              <a:rPr lang="tr-TR" dirty="0" err="1" smtClean="0"/>
              <a:t>UZAY’da</a:t>
            </a:r>
            <a:r>
              <a:rPr lang="tr-TR" dirty="0" smtClean="0"/>
              <a:t> </a:t>
            </a:r>
            <a:r>
              <a:rPr lang="tr-TR" dirty="0"/>
              <a:t>görevli Türk mühendisler ve teknisyenler tarafından yapılmış olup tüm </a:t>
            </a:r>
            <a:r>
              <a:rPr lang="tr-TR" dirty="0" smtClean="0"/>
              <a:t>testleri Türkiye’de </a:t>
            </a:r>
            <a:r>
              <a:rPr lang="tr-TR" dirty="0"/>
              <a:t>gerçekleştirilmiştir. </a:t>
            </a:r>
            <a:r>
              <a:rPr lang="tr-TR" dirty="0" err="1"/>
              <a:t>RASAT’tan</a:t>
            </a:r>
            <a:r>
              <a:rPr lang="tr-TR" dirty="0"/>
              <a:t> elde edilen uydu görüntülerinin şehir </a:t>
            </a:r>
            <a:r>
              <a:rPr lang="tr-TR" dirty="0" smtClean="0"/>
              <a:t>bölge planlama</a:t>
            </a:r>
            <a:r>
              <a:rPr lang="tr-TR" dirty="0"/>
              <a:t>, ormancılık, tarım, afet yönetimi ve benzeri amaçlarlar da </a:t>
            </a:r>
            <a:r>
              <a:rPr lang="tr-TR" dirty="0" smtClean="0"/>
              <a:t>kullanılması planlanmaktadır</a:t>
            </a:r>
            <a:r>
              <a:rPr lang="tr-TR" dirty="0"/>
              <a:t>. RASAT uydusunun bazı teknik özellikleri Tablo 5.5. de verilmiştir. Buna </a:t>
            </a:r>
            <a:r>
              <a:rPr lang="tr-TR" dirty="0" smtClean="0"/>
              <a:t>göre RASAT </a:t>
            </a:r>
            <a:r>
              <a:rPr lang="tr-TR" dirty="0"/>
              <a:t>uydusunda kırmızı bandın üstü (kızılötesi) bulunmamaktadır. </a:t>
            </a:r>
            <a:r>
              <a:rPr lang="tr-TR" dirty="0" err="1"/>
              <a:t>MSS’te</a:t>
            </a:r>
            <a:r>
              <a:rPr lang="tr-TR" dirty="0"/>
              <a:t> </a:t>
            </a:r>
            <a:r>
              <a:rPr lang="tr-TR" dirty="0" smtClean="0"/>
              <a:t>15m çözünürlükte </a:t>
            </a:r>
            <a:r>
              <a:rPr lang="tr-TR" dirty="0"/>
              <a:t>olmasına rağmen </a:t>
            </a:r>
            <a:r>
              <a:rPr lang="tr-TR" dirty="0" err="1"/>
              <a:t>pankromatikte</a:t>
            </a:r>
            <a:r>
              <a:rPr lang="tr-TR" dirty="0"/>
              <a:t> 7.5 m olduğu için yüksek çözünürlüklü </a:t>
            </a:r>
            <a:r>
              <a:rPr lang="tr-TR" dirty="0" smtClean="0"/>
              <a:t>sistem altında </a:t>
            </a:r>
            <a:r>
              <a:rPr lang="tr-TR" dirty="0"/>
              <a:t>incelenmiştir.</a:t>
            </a:r>
          </a:p>
        </p:txBody>
      </p:sp>
    </p:spTree>
    <p:extLst>
      <p:ext uri="{BB962C8B-B14F-4D97-AF65-F5344CB8AC3E}">
        <p14:creationId xmlns:p14="http://schemas.microsoft.com/office/powerpoint/2010/main" val="1160000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889" y="1261102"/>
            <a:ext cx="7664221" cy="5596898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Yüksek Çözünürlüklü Sistemler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35915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47" y="1582355"/>
            <a:ext cx="8422106" cy="5275645"/>
          </a:xfrm>
          <a:prstGeom prst="rect">
            <a:avLst/>
          </a:prstGeo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-163264"/>
            <a:ext cx="10515600" cy="1325563"/>
          </a:xfrm>
        </p:spPr>
        <p:txBody>
          <a:bodyPr/>
          <a:lstStyle/>
          <a:p>
            <a:r>
              <a:rPr lang="tr-TR" b="1" dirty="0"/>
              <a:t>Yüksek Çözünürlüklü Sistemler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81497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RASAT uydusu gerek ülkemizden gerekse diğer ülkelere ait ilk görüntülerini </a:t>
            </a:r>
            <a:r>
              <a:rPr lang="tr-TR" dirty="0" smtClean="0"/>
              <a:t>vermiştir (Şekil </a:t>
            </a:r>
            <a:r>
              <a:rPr lang="tr-TR" dirty="0"/>
              <a:t>5</a:t>
            </a:r>
            <a:r>
              <a:rPr lang="tr-TR" dirty="0" smtClean="0"/>
              <a:t>.2</a:t>
            </a:r>
            <a:r>
              <a:rPr lang="tr-TR" dirty="0"/>
              <a:t>).</a:t>
            </a:r>
          </a:p>
        </p:txBody>
      </p:sp>
      <p:sp>
        <p:nvSpPr>
          <p:cNvPr id="6" name="Dikdörtgen 5"/>
          <p:cNvSpPr/>
          <p:nvPr/>
        </p:nvSpPr>
        <p:spPr>
          <a:xfrm>
            <a:off x="4718050" y="6581775"/>
            <a:ext cx="111125" cy="171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4632575" y="6482834"/>
            <a:ext cx="282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18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Yüksek Çözünürlüklü Sistemler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507958"/>
            <a:ext cx="10515600" cy="51013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b="1" dirty="0"/>
              <a:t>GÖKTÜRK-2: </a:t>
            </a:r>
            <a:r>
              <a:rPr lang="tr-TR" dirty="0"/>
              <a:t>TÜBİTAK UZAY tarafından tasarlanıp geliştirilen ve TAI </a:t>
            </a:r>
            <a:r>
              <a:rPr lang="tr-TR" dirty="0" smtClean="0"/>
              <a:t>ile entegrasyonu </a:t>
            </a:r>
            <a:r>
              <a:rPr lang="tr-TR" dirty="0"/>
              <a:t>gerçekleştirilen keşif uydusudur. 18.12.2012 tarihinde Çin’den </a:t>
            </a:r>
            <a:r>
              <a:rPr lang="tr-TR" dirty="0" smtClean="0"/>
              <a:t>uzaya gönderilmiştir</a:t>
            </a:r>
            <a:r>
              <a:rPr lang="tr-TR" dirty="0"/>
              <a:t>. 409 kg ağırlığındaki uydu 2.5 m. çözünürlüğe sahiptir. Göktürk-2 projesi </a:t>
            </a:r>
            <a:r>
              <a:rPr lang="tr-TR" dirty="0" smtClean="0"/>
              <a:t>Milli Savunma </a:t>
            </a:r>
            <a:r>
              <a:rPr lang="tr-TR" dirty="0"/>
              <a:t>Bakanlığı, TÜBİTAK başkanlığı ve TÜBİTAK UZAY-TUSAŞ iş ortaklığı </a:t>
            </a:r>
            <a:r>
              <a:rPr lang="tr-TR" dirty="0" smtClean="0"/>
              <a:t>arasında 13 </a:t>
            </a:r>
            <a:r>
              <a:rPr lang="tr-TR" dirty="0"/>
              <a:t>Nisan 2007’de imzalanmış ve 1 Mayıs 2007’de yürürlüğe girmiştir. TÜBİTAK </a:t>
            </a:r>
            <a:r>
              <a:rPr lang="tr-TR" dirty="0" smtClean="0"/>
              <a:t>UZAY mühendisliğinde </a:t>
            </a:r>
            <a:r>
              <a:rPr lang="tr-TR" dirty="0"/>
              <a:t>ve tüm görev bilgisayarlarının yazılımı ile görev bilgisayarı </a:t>
            </a:r>
            <a:r>
              <a:rPr lang="tr-TR" dirty="0" smtClean="0"/>
              <a:t>tamamen Türkiye’de </a:t>
            </a:r>
            <a:r>
              <a:rPr lang="tr-TR" dirty="0"/>
              <a:t>üretilmiştir. Göktürk-2’nin donanımlarının %80’ni yazılımlarının %100’ü </a:t>
            </a:r>
            <a:r>
              <a:rPr lang="tr-TR" dirty="0" smtClean="0"/>
              <a:t>Türk mühendisleri </a:t>
            </a:r>
            <a:r>
              <a:rPr lang="tr-TR" dirty="0"/>
              <a:t>tarafından yapılmıştır. Göktürk-2 projesi kapsamında uzay ve uydu </a:t>
            </a:r>
            <a:r>
              <a:rPr lang="tr-TR" dirty="0" smtClean="0"/>
              <a:t>sistemlerine yönelik </a:t>
            </a:r>
            <a:r>
              <a:rPr lang="tr-TR" dirty="0"/>
              <a:t>teknoloji, uzman insan gücü ve altyapı geliştirilmesi, kamu kurum ve </a:t>
            </a:r>
            <a:r>
              <a:rPr lang="tr-TR" dirty="0" smtClean="0"/>
              <a:t>kuruluşlarının gözlem </a:t>
            </a:r>
            <a:r>
              <a:rPr lang="tr-TR" dirty="0"/>
              <a:t>ve araştırma ihtiyaçlarının milli imkân ve kabiliyetlerle karşılanması </a:t>
            </a:r>
            <a:r>
              <a:rPr lang="tr-TR" dirty="0" smtClean="0"/>
              <a:t>hedeflenmiştir. </a:t>
            </a:r>
          </a:p>
          <a:p>
            <a:pPr marL="0" indent="0">
              <a:buNone/>
            </a:pPr>
            <a:r>
              <a:rPr lang="tr-TR" dirty="0" smtClean="0"/>
              <a:t>Göktürk-2 </a:t>
            </a:r>
            <a:r>
              <a:rPr lang="tr-TR" dirty="0"/>
              <a:t>uydusu </a:t>
            </a:r>
            <a:r>
              <a:rPr lang="tr-TR" dirty="0" err="1"/>
              <a:t>pankromatikte</a:t>
            </a:r>
            <a:r>
              <a:rPr lang="tr-TR" dirty="0"/>
              <a:t> 2.5 m, renkli de 5 m olacak şekilde yüksek </a:t>
            </a:r>
            <a:r>
              <a:rPr lang="tr-TR" dirty="0" smtClean="0"/>
              <a:t>çözünürlüğe sahiptir</a:t>
            </a:r>
            <a:r>
              <a:rPr lang="tr-TR" dirty="0"/>
              <a:t>. Renkli MSS spektral aralıkları henüz açıklanmamıştır. Göktürk-2’ye ait ilk </a:t>
            </a:r>
            <a:r>
              <a:rPr lang="tr-TR" dirty="0" smtClean="0"/>
              <a:t>görüntüler 2013 </a:t>
            </a:r>
            <a:r>
              <a:rPr lang="tr-TR" dirty="0"/>
              <a:t>Ocak ayında alınmaya başlanmıştır (Şekil 5.3).</a:t>
            </a:r>
          </a:p>
        </p:txBody>
      </p:sp>
    </p:spTree>
    <p:extLst>
      <p:ext uri="{BB962C8B-B14F-4D97-AF65-F5344CB8AC3E}">
        <p14:creationId xmlns:p14="http://schemas.microsoft.com/office/powerpoint/2010/main" val="3547902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Yüksek Çözünürlüklü Sistemler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508" y="1295692"/>
            <a:ext cx="8646984" cy="5409908"/>
          </a:xfrm>
        </p:spPr>
      </p:pic>
    </p:spTree>
    <p:extLst>
      <p:ext uri="{BB962C8B-B14F-4D97-AF65-F5344CB8AC3E}">
        <p14:creationId xmlns:p14="http://schemas.microsoft.com/office/powerpoint/2010/main" val="1137313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Yüksek Çözünürlüklü Sistemler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20" y="1867150"/>
            <a:ext cx="10969959" cy="4597817"/>
          </a:xfrm>
        </p:spPr>
      </p:pic>
    </p:spTree>
    <p:extLst>
      <p:ext uri="{BB962C8B-B14F-4D97-AF65-F5344CB8AC3E}">
        <p14:creationId xmlns:p14="http://schemas.microsoft.com/office/powerpoint/2010/main" val="3528742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Yüksek Çözünürlüklü Sistemler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556084"/>
            <a:ext cx="10515600" cy="46208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b="1" dirty="0"/>
              <a:t>WOLRDVIEW-4: </a:t>
            </a:r>
            <a:r>
              <a:rPr lang="tr-TR" dirty="0" err="1"/>
              <a:t>WolrdView</a:t>
            </a:r>
            <a:r>
              <a:rPr lang="tr-TR" dirty="0"/>
              <a:t> uydusunun şimdiye toplamda 4 serisi </a:t>
            </a:r>
            <a:r>
              <a:rPr lang="tr-TR" dirty="0" smtClean="0"/>
              <a:t>uzaya gönderilmiştir</a:t>
            </a:r>
            <a:r>
              <a:rPr lang="tr-TR" dirty="0"/>
              <a:t>. </a:t>
            </a:r>
            <a:r>
              <a:rPr lang="tr-TR" dirty="0" err="1"/>
              <a:t>WolrdView</a:t>
            </a:r>
            <a:r>
              <a:rPr lang="tr-TR" dirty="0"/>
              <a:t> 1 ve 2 serisi aynı çözünürlüğe (0.46m) sahip olup </a:t>
            </a:r>
            <a:r>
              <a:rPr lang="tr-TR" dirty="0" smtClean="0"/>
              <a:t>spektral farklılıklar </a:t>
            </a:r>
            <a:r>
              <a:rPr lang="tr-TR" dirty="0"/>
              <a:t>içermektedir. </a:t>
            </a:r>
            <a:r>
              <a:rPr lang="tr-TR" dirty="0" err="1"/>
              <a:t>WolrdView</a:t>
            </a:r>
            <a:r>
              <a:rPr lang="tr-TR" dirty="0"/>
              <a:t> 3 ve 4 uydusu da aynı mekânsal çözünürlüğe (</a:t>
            </a:r>
            <a:r>
              <a:rPr lang="tr-TR" dirty="0" smtClean="0"/>
              <a:t>0.31m) sahiptir</a:t>
            </a:r>
            <a:r>
              <a:rPr lang="tr-TR" dirty="0"/>
              <a:t>. WorldView-4 uydusu, 11 Kasım 2016 Cuma günü, </a:t>
            </a:r>
            <a:r>
              <a:rPr lang="tr-TR" dirty="0" err="1"/>
              <a:t>Vandenberg</a:t>
            </a:r>
            <a:r>
              <a:rPr lang="tr-TR" dirty="0"/>
              <a:t> Hava </a:t>
            </a:r>
            <a:r>
              <a:rPr lang="tr-TR" dirty="0" smtClean="0"/>
              <a:t>Üssü, California'dan </a:t>
            </a:r>
            <a:r>
              <a:rPr lang="tr-TR" dirty="0"/>
              <a:t>saat 10: 30’da başarıyla fırlatılmıştır. </a:t>
            </a:r>
            <a:r>
              <a:rPr lang="tr-TR" dirty="0" err="1"/>
              <a:t>DigitalGlobe'a</a:t>
            </a:r>
            <a:r>
              <a:rPr lang="tr-TR" dirty="0"/>
              <a:t> ait </a:t>
            </a:r>
            <a:r>
              <a:rPr lang="tr-TR" dirty="0" smtClean="0"/>
              <a:t>WorldView-4, yeryüzünde </a:t>
            </a:r>
            <a:r>
              <a:rPr lang="tr-TR" dirty="0" err="1"/>
              <a:t>pankromatik</a:t>
            </a:r>
            <a:r>
              <a:rPr lang="tr-TR" dirty="0"/>
              <a:t> olarak </a:t>
            </a:r>
            <a:r>
              <a:rPr lang="tr-TR" dirty="0" smtClean="0"/>
              <a:t>31 cm </a:t>
            </a:r>
            <a:r>
              <a:rPr lang="tr-TR" dirty="0"/>
              <a:t>gibi küçük nesneler belirleyebiliyor ve 1,24 </a:t>
            </a:r>
            <a:r>
              <a:rPr lang="tr-TR" dirty="0" smtClean="0"/>
              <a:t>metrelik çözünürlükte </a:t>
            </a:r>
            <a:r>
              <a:rPr lang="tr-TR" dirty="0"/>
              <a:t>4 bant </a:t>
            </a:r>
            <a:r>
              <a:rPr lang="tr-TR" dirty="0" err="1"/>
              <a:t>multispektral</a:t>
            </a:r>
            <a:r>
              <a:rPr lang="tr-TR" dirty="0"/>
              <a:t> veri toplayabilmektedir (Tablo 5.7).</a:t>
            </a:r>
          </a:p>
          <a:p>
            <a:pPr marL="0" indent="0">
              <a:buNone/>
            </a:pPr>
            <a:r>
              <a:rPr lang="tr-TR" dirty="0"/>
              <a:t>WorldView-4 uydusu istisnai coğrafi konum doğruluğu sunmakta olup; </a:t>
            </a:r>
            <a:r>
              <a:rPr lang="tr-TR" dirty="0" smtClean="0"/>
              <a:t>bu, kullanıcıların </a:t>
            </a:r>
            <a:r>
              <a:rPr lang="tr-TR" dirty="0"/>
              <a:t>doğal ve yapay özellikleri, zemin kontrol noktaları olmaksızın </a:t>
            </a:r>
            <a:r>
              <a:rPr lang="tr-TR" dirty="0" smtClean="0"/>
              <a:t>Dünya yüzeyindeki </a:t>
            </a:r>
            <a:r>
              <a:rPr lang="tr-TR" dirty="0"/>
              <a:t>gerçek konumları 4 m altında daha iyi eşleştirebilecekleri anlamına </a:t>
            </a:r>
            <a:r>
              <a:rPr lang="tr-TR" dirty="0" smtClean="0"/>
              <a:t>geliyor WorlView-4 </a:t>
            </a:r>
            <a:r>
              <a:rPr lang="tr-TR" dirty="0"/>
              <a:t>temel uydu görüntüsü, </a:t>
            </a:r>
            <a:r>
              <a:rPr lang="tr-TR" dirty="0" err="1"/>
              <a:t>jeoreferanslanmış</a:t>
            </a:r>
            <a:r>
              <a:rPr lang="tr-TR" dirty="0"/>
              <a:t> </a:t>
            </a:r>
            <a:r>
              <a:rPr lang="tr-TR" dirty="0" err="1"/>
              <a:t>Geo</a:t>
            </a:r>
            <a:r>
              <a:rPr lang="tr-TR" dirty="0"/>
              <a:t> ürünü, stereo uydu </a:t>
            </a:r>
            <a:r>
              <a:rPr lang="tr-TR" dirty="0" smtClean="0"/>
              <a:t>görüntüsü </a:t>
            </a:r>
            <a:r>
              <a:rPr lang="tr-TR" dirty="0" err="1" smtClean="0"/>
              <a:t>GeoStereo</a:t>
            </a:r>
            <a:r>
              <a:rPr lang="tr-TR" dirty="0" smtClean="0"/>
              <a:t> </a:t>
            </a:r>
            <a:r>
              <a:rPr lang="tr-TR" dirty="0"/>
              <a:t>ürününü ve bunlardan DEM ve DSM ürünleri sunmaktadır.</a:t>
            </a:r>
          </a:p>
        </p:txBody>
      </p:sp>
    </p:spTree>
    <p:extLst>
      <p:ext uri="{BB962C8B-B14F-4D97-AF65-F5344CB8AC3E}">
        <p14:creationId xmlns:p14="http://schemas.microsoft.com/office/powerpoint/2010/main" val="2115754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044" y="1328319"/>
            <a:ext cx="6573911" cy="5529681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Yüksek Çözünürlüklü Sistemler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629389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Hiperspektrometre</a:t>
            </a:r>
            <a:r>
              <a:rPr lang="tr-TR" b="1" dirty="0"/>
              <a:t> ve Radar Sistemler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828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EARTH OBSERVING-1 (EO-1): </a:t>
            </a:r>
            <a:r>
              <a:rPr lang="en-US" dirty="0"/>
              <a:t>Earth Observing-1 (EO-1), </a:t>
            </a:r>
            <a:r>
              <a:rPr lang="en-US" dirty="0" err="1"/>
              <a:t>NASA’nın</a:t>
            </a:r>
            <a:r>
              <a:rPr lang="en-US" dirty="0"/>
              <a:t> </a:t>
            </a:r>
            <a:r>
              <a:rPr lang="en-US" dirty="0" err="1" smtClean="0"/>
              <a:t>Landsat’ın</a:t>
            </a:r>
            <a:r>
              <a:rPr lang="tr-TR" dirty="0"/>
              <a:t> </a:t>
            </a:r>
            <a:r>
              <a:rPr lang="tr-TR" dirty="0" smtClean="0"/>
              <a:t>masraflarını </a:t>
            </a:r>
            <a:r>
              <a:rPr lang="tr-TR" dirty="0"/>
              <a:t>azaltmak için başlatmış olduğu Yeni Milenyum programlarından birisidir. </a:t>
            </a:r>
            <a:r>
              <a:rPr lang="tr-TR" dirty="0" smtClean="0"/>
              <a:t>EO-1 2000 </a:t>
            </a:r>
            <a:r>
              <a:rPr lang="tr-TR" dirty="0"/>
              <a:t>yılından yörüngesine 1 yıllığına oturtulmuş ve daha sonra süre uzatılmıştır. </a:t>
            </a:r>
            <a:r>
              <a:rPr lang="tr-TR" dirty="0" err="1"/>
              <a:t>Landsat</a:t>
            </a:r>
            <a:r>
              <a:rPr lang="tr-TR" dirty="0"/>
              <a:t> 7 </a:t>
            </a:r>
            <a:r>
              <a:rPr lang="tr-TR" dirty="0" smtClean="0"/>
              <a:t>ile aynı </a:t>
            </a:r>
            <a:r>
              <a:rPr lang="tr-TR" dirty="0"/>
              <a:t>yörüngeyi takip ediyor olup 1 </a:t>
            </a:r>
            <a:r>
              <a:rPr lang="tr-TR" dirty="0" err="1"/>
              <a:t>dk</a:t>
            </a:r>
            <a:r>
              <a:rPr lang="tr-TR" dirty="0"/>
              <a:t> gecikmeli olarak çekim yapar. EO-1 üç cihaza </a:t>
            </a:r>
            <a:r>
              <a:rPr lang="tr-TR" dirty="0" smtClean="0"/>
              <a:t>sahiptir. Bunlar</a:t>
            </a:r>
            <a:r>
              <a:rPr lang="tr-TR" dirty="0"/>
              <a:t>; </a:t>
            </a:r>
            <a:r>
              <a:rPr lang="tr-TR" dirty="0" err="1"/>
              <a:t>Hyperion</a:t>
            </a:r>
            <a:r>
              <a:rPr lang="tr-TR" dirty="0"/>
              <a:t>, ALI (</a:t>
            </a:r>
            <a:r>
              <a:rPr lang="tr-TR" dirty="0" err="1"/>
              <a:t>Advance</a:t>
            </a:r>
            <a:r>
              <a:rPr lang="tr-TR" dirty="0"/>
              <a:t> Land </a:t>
            </a:r>
            <a:r>
              <a:rPr lang="tr-TR" dirty="0" err="1"/>
              <a:t>Imager</a:t>
            </a:r>
            <a:r>
              <a:rPr lang="tr-TR" dirty="0"/>
              <a:t>) ve </a:t>
            </a:r>
            <a:r>
              <a:rPr lang="tr-TR" dirty="0" err="1"/>
              <a:t>LAC’tır</a:t>
            </a:r>
            <a:r>
              <a:rPr lang="tr-TR" dirty="0"/>
              <a:t> (LEISA (</a:t>
            </a:r>
            <a:r>
              <a:rPr lang="tr-TR" dirty="0" err="1"/>
              <a:t>Linear</a:t>
            </a:r>
            <a:r>
              <a:rPr lang="tr-TR" dirty="0"/>
              <a:t> Etalon </a:t>
            </a:r>
            <a:r>
              <a:rPr lang="tr-TR" dirty="0" err="1" smtClean="0"/>
              <a:t>Imaging</a:t>
            </a:r>
            <a:r>
              <a:rPr lang="tr-TR" dirty="0" smtClean="0"/>
              <a:t> </a:t>
            </a:r>
            <a:r>
              <a:rPr lang="tr-TR" dirty="0" err="1" smtClean="0"/>
              <a:t>Spectrometer</a:t>
            </a:r>
            <a:r>
              <a:rPr lang="tr-TR" dirty="0" smtClean="0"/>
              <a:t> </a:t>
            </a:r>
            <a:r>
              <a:rPr lang="tr-TR" dirty="0" err="1"/>
              <a:t>Array</a:t>
            </a:r>
            <a:r>
              <a:rPr lang="tr-TR" dirty="0"/>
              <a:t>) </a:t>
            </a:r>
            <a:r>
              <a:rPr lang="tr-TR" dirty="0" err="1"/>
              <a:t>Atmospheric</a:t>
            </a:r>
            <a:r>
              <a:rPr lang="tr-TR" dirty="0"/>
              <a:t> </a:t>
            </a:r>
            <a:r>
              <a:rPr lang="tr-TR" dirty="0" err="1"/>
              <a:t>Corrector</a:t>
            </a:r>
            <a:r>
              <a:rPr lang="tr-TR" dirty="0"/>
              <a:t>). </a:t>
            </a:r>
            <a:r>
              <a:rPr lang="tr-TR" dirty="0" err="1"/>
              <a:t>Hyperion</a:t>
            </a:r>
            <a:r>
              <a:rPr lang="tr-TR" dirty="0"/>
              <a:t>, 220 </a:t>
            </a:r>
            <a:r>
              <a:rPr lang="tr-TR" dirty="0" err="1"/>
              <a:t>bandlık</a:t>
            </a:r>
            <a:r>
              <a:rPr lang="tr-TR" dirty="0"/>
              <a:t> görüntü </a:t>
            </a:r>
            <a:r>
              <a:rPr lang="tr-TR" dirty="0" smtClean="0"/>
              <a:t>spektrometre olup </a:t>
            </a:r>
            <a:r>
              <a:rPr lang="tr-TR" dirty="0"/>
              <a:t>30m çözünürlüklü 7.5 km genişlikte görüntüler üretir (Tablo 5.8). Görüntü aralığı </a:t>
            </a:r>
            <a:r>
              <a:rPr lang="tr-TR" dirty="0" smtClean="0"/>
              <a:t>0.4-2.5 </a:t>
            </a:r>
            <a:r>
              <a:rPr lang="el-GR" dirty="0" smtClean="0"/>
              <a:t>μ</a:t>
            </a:r>
            <a:r>
              <a:rPr lang="tr-TR" dirty="0"/>
              <a:t>m arası olup 10 </a:t>
            </a:r>
            <a:r>
              <a:rPr lang="tr-TR" dirty="0" err="1"/>
              <a:t>nm</a:t>
            </a:r>
            <a:r>
              <a:rPr lang="tr-TR" dirty="0"/>
              <a:t> aralıklarladır. LAC, 0.9-1.6 </a:t>
            </a:r>
            <a:r>
              <a:rPr lang="el-GR" dirty="0"/>
              <a:t>μ</a:t>
            </a:r>
            <a:r>
              <a:rPr lang="tr-TR" dirty="0"/>
              <a:t>m arasını ölçen bir görüntü </a:t>
            </a:r>
            <a:r>
              <a:rPr lang="tr-TR" dirty="0" smtClean="0"/>
              <a:t>spektrometredir. </a:t>
            </a:r>
            <a:r>
              <a:rPr lang="tr-TR" dirty="0" err="1" smtClean="0"/>
              <a:t>Multispektral</a:t>
            </a:r>
            <a:r>
              <a:rPr lang="tr-TR" dirty="0" smtClean="0"/>
              <a:t> </a:t>
            </a:r>
            <a:r>
              <a:rPr lang="tr-TR" dirty="0"/>
              <a:t>görüntüleyicilerdeki Atmosferik etkileri düzeltmek için kullanılmaktadır. ALI </a:t>
            </a:r>
            <a:r>
              <a:rPr lang="tr-TR" dirty="0" smtClean="0"/>
              <a:t>ise doğrulama </a:t>
            </a:r>
            <a:r>
              <a:rPr lang="tr-TR" dirty="0"/>
              <a:t>cihazıdır. ALI </a:t>
            </a:r>
            <a:r>
              <a:rPr lang="tr-TR" dirty="0" err="1"/>
              <a:t>Landsat’taki</a:t>
            </a:r>
            <a:r>
              <a:rPr lang="tr-TR" dirty="0"/>
              <a:t> </a:t>
            </a:r>
            <a:r>
              <a:rPr lang="tr-TR" dirty="0" err="1"/>
              <a:t>pankromatik</a:t>
            </a:r>
            <a:r>
              <a:rPr lang="tr-TR" dirty="0"/>
              <a:t> ve </a:t>
            </a:r>
            <a:r>
              <a:rPr lang="tr-TR" dirty="0" err="1"/>
              <a:t>multispektral</a:t>
            </a:r>
            <a:r>
              <a:rPr lang="tr-TR" dirty="0"/>
              <a:t> </a:t>
            </a:r>
            <a:r>
              <a:rPr lang="tr-TR" dirty="0" err="1"/>
              <a:t>band</a:t>
            </a:r>
            <a:r>
              <a:rPr lang="tr-TR" dirty="0"/>
              <a:t> tarzı görüntü </a:t>
            </a:r>
            <a:r>
              <a:rPr lang="tr-TR" dirty="0" smtClean="0"/>
              <a:t>üretir.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62021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Hiperspektrometre</a:t>
            </a:r>
            <a:r>
              <a:rPr lang="tr-TR" b="1" dirty="0"/>
              <a:t> ve Radar Sistemler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946" y="1332706"/>
            <a:ext cx="6960108" cy="5525294"/>
          </a:xfrm>
        </p:spPr>
      </p:pic>
    </p:spTree>
    <p:extLst>
      <p:ext uri="{BB962C8B-B14F-4D97-AF65-F5344CB8AC3E}">
        <p14:creationId xmlns:p14="http://schemas.microsoft.com/office/powerpoint/2010/main" val="28561313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tr-TR" b="1" dirty="0" err="1"/>
              <a:t>Hiperspektrometre</a:t>
            </a:r>
            <a:r>
              <a:rPr lang="tr-TR" b="1" dirty="0"/>
              <a:t> ve Radar Sistemler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965" y="1280194"/>
            <a:ext cx="7522070" cy="5577806"/>
          </a:xfrm>
        </p:spPr>
      </p:pic>
    </p:spTree>
    <p:extLst>
      <p:ext uri="{BB962C8B-B14F-4D97-AF65-F5344CB8AC3E}">
        <p14:creationId xmlns:p14="http://schemas.microsoft.com/office/powerpoint/2010/main" val="1436781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Hiperspektrometre</a:t>
            </a:r>
            <a:r>
              <a:rPr lang="tr-TR" b="1" dirty="0"/>
              <a:t> ve Radar Sistemler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b="1" dirty="0"/>
              <a:t>ERS</a:t>
            </a:r>
            <a:r>
              <a:rPr lang="tr-TR" b="1" i="1" dirty="0"/>
              <a:t>: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European</a:t>
            </a:r>
            <a:r>
              <a:rPr lang="tr-TR" dirty="0" smtClean="0"/>
              <a:t> Space </a:t>
            </a:r>
            <a:r>
              <a:rPr lang="tr-TR" dirty="0" err="1" smtClean="0"/>
              <a:t>Agency</a:t>
            </a:r>
            <a:r>
              <a:rPr lang="tr-TR" dirty="0" smtClean="0"/>
              <a:t> (</a:t>
            </a:r>
            <a:r>
              <a:rPr lang="tr-TR" dirty="0"/>
              <a:t>ESA) 1991 yılında ilk olarak ERS-1’i </a:t>
            </a:r>
            <a:r>
              <a:rPr lang="tr-TR" dirty="0" smtClean="0"/>
              <a:t>fırlatmıştır. İkinci </a:t>
            </a:r>
            <a:r>
              <a:rPr lang="tr-TR" dirty="0"/>
              <a:t>olarak ERS-2 1995’te fırlatılmıştır. ERS-1 2000 yılında çalışmasını durdurmuş </a:t>
            </a:r>
            <a:r>
              <a:rPr lang="tr-TR" dirty="0" smtClean="0"/>
              <a:t>fakat ERS-2 </a:t>
            </a:r>
            <a:r>
              <a:rPr lang="tr-TR" dirty="0"/>
              <a:t>halen görüntü elde etmeye devam </a:t>
            </a:r>
            <a:r>
              <a:rPr lang="tr-TR" dirty="0" smtClean="0"/>
              <a:t>etmektedir. ESA </a:t>
            </a:r>
            <a:r>
              <a:rPr lang="tr-TR" dirty="0"/>
              <a:t>2002 yılında da </a:t>
            </a:r>
            <a:r>
              <a:rPr lang="tr-TR" dirty="0" err="1"/>
              <a:t>Envisat’ı</a:t>
            </a:r>
            <a:r>
              <a:rPr lang="tr-TR" dirty="0"/>
              <a:t> yörüngeye yerleştirmiştir. Bu uydu </a:t>
            </a:r>
            <a:r>
              <a:rPr lang="tr-TR" dirty="0" smtClean="0"/>
              <a:t>bünyesinde okyanus </a:t>
            </a:r>
            <a:r>
              <a:rPr lang="tr-TR" dirty="0"/>
              <a:t>izleme sistemi olan MERIS ve ileri düzeyde radar </a:t>
            </a:r>
            <a:r>
              <a:rPr lang="tr-TR" dirty="0" smtClean="0"/>
              <a:t>görüntüleme </a:t>
            </a:r>
            <a:r>
              <a:rPr lang="tr-TR" dirty="0"/>
              <a:t>sistemini de </a:t>
            </a:r>
            <a:r>
              <a:rPr lang="tr-TR" dirty="0" smtClean="0"/>
              <a:t>kapsayan birçok </a:t>
            </a:r>
            <a:r>
              <a:rPr lang="tr-TR" dirty="0"/>
              <a:t>cihazı bulundurur. ERS-1 ve 2, değişik ve farklı özellikteki </a:t>
            </a:r>
            <a:r>
              <a:rPr lang="tr-TR" dirty="0" err="1"/>
              <a:t>sensörleri</a:t>
            </a:r>
            <a:r>
              <a:rPr lang="tr-TR" dirty="0"/>
              <a:t> </a:t>
            </a:r>
            <a:r>
              <a:rPr lang="tr-TR" dirty="0" smtClean="0"/>
              <a:t>bünyesinde taşımaktadır</a:t>
            </a:r>
            <a:r>
              <a:rPr lang="tr-TR" dirty="0"/>
              <a:t>. Bunlardan bazıları; </a:t>
            </a:r>
            <a:endParaRPr lang="tr-TR" dirty="0" smtClean="0"/>
          </a:p>
          <a:p>
            <a:pPr marL="514350" indent="-514350">
              <a:buAutoNum type="arabicParenR"/>
            </a:pPr>
            <a:r>
              <a:rPr lang="tr-TR" dirty="0" smtClean="0"/>
              <a:t>C-bant </a:t>
            </a:r>
            <a:r>
              <a:rPr lang="tr-TR" dirty="0"/>
              <a:t>aktif mikrodalga cihazı </a:t>
            </a:r>
            <a:endParaRPr lang="tr-TR" dirty="0" smtClean="0"/>
          </a:p>
          <a:p>
            <a:pPr marL="514350" indent="-514350">
              <a:buAutoNum type="arabicParenR"/>
            </a:pPr>
            <a:r>
              <a:rPr lang="tr-TR" dirty="0" err="1" smtClean="0"/>
              <a:t>Ku</a:t>
            </a:r>
            <a:r>
              <a:rPr lang="tr-TR" dirty="0" smtClean="0"/>
              <a:t>- </a:t>
            </a:r>
            <a:r>
              <a:rPr lang="tr-TR" dirty="0"/>
              <a:t>bant radar </a:t>
            </a:r>
            <a:r>
              <a:rPr lang="tr-TR" dirty="0" smtClean="0"/>
              <a:t>altimetre </a:t>
            </a:r>
          </a:p>
          <a:p>
            <a:pPr marL="514350" indent="-514350">
              <a:buAutoNum type="arabicParenR"/>
            </a:pPr>
            <a:r>
              <a:rPr lang="tr-TR" dirty="0" smtClean="0"/>
              <a:t>İterek </a:t>
            </a:r>
            <a:r>
              <a:rPr lang="tr-TR" dirty="0"/>
              <a:t>tarayan radyometre. 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ERS uydu görüntüleri kullanılarak; okyanus ve buzullar gözlenebilir, rüzgar ve dalga dinamiği, deniz yüzeyi sıcaklığı, global ısınma ve sera etkisi gibi birçok çalışma yapılabilir.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6818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Hiperspektrometre</a:t>
            </a:r>
            <a:r>
              <a:rPr lang="tr-TR" b="1" dirty="0"/>
              <a:t> ve Radar Sistemler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Radar görüntüler daha önceki derslerimizde belirtildiği gibi normal optik </a:t>
            </a:r>
            <a:r>
              <a:rPr lang="tr-TR" dirty="0" smtClean="0"/>
              <a:t>görüntülerden farklılık </a:t>
            </a:r>
            <a:r>
              <a:rPr lang="tr-TR" dirty="0"/>
              <a:t>gösterir. Uzun dalga boylarının kullanılmasından dolayı daha karıncalı olarak </a:t>
            </a:r>
            <a:r>
              <a:rPr lang="tr-TR" dirty="0" smtClean="0"/>
              <a:t>ortaya çıkan </a:t>
            </a:r>
            <a:r>
              <a:rPr lang="tr-TR" dirty="0"/>
              <a:t>bu görüntülerin yorumlaması da bir o kadar zordur. Ancak görüntüler üzerinde </a:t>
            </a:r>
            <a:r>
              <a:rPr lang="tr-TR" dirty="0" smtClean="0"/>
              <a:t>bazı detaylar </a:t>
            </a:r>
            <a:r>
              <a:rPr lang="tr-TR" dirty="0"/>
              <a:t>net bir şekilde ortaya çıkar. Örneğin Şekil 5.5’te verilen ERS SAR görüntüsünde </a:t>
            </a:r>
            <a:r>
              <a:rPr lang="tr-TR" dirty="0" smtClean="0"/>
              <a:t>suyun radar </a:t>
            </a:r>
            <a:r>
              <a:rPr lang="tr-TR" dirty="0"/>
              <a:t>dalgalarını soğurması ve geriye yansıtmaması nedeniyle rengi koyu siyah olarak </a:t>
            </a:r>
            <a:r>
              <a:rPr lang="tr-TR" dirty="0" smtClean="0"/>
              <a:t>gözükür. Yani </a:t>
            </a:r>
            <a:r>
              <a:rPr lang="tr-TR" dirty="0"/>
              <a:t>yansıma yok anlamındadır. Ayrıca koyuluk suyun derinliği ile de alakalıdır. </a:t>
            </a:r>
            <a:r>
              <a:rPr lang="tr-TR" dirty="0" smtClean="0"/>
              <a:t>Akarsu kenarındaki </a:t>
            </a:r>
            <a:r>
              <a:rPr lang="tr-TR" dirty="0"/>
              <a:t>parlaklık ise yerleşmelere ait yapıların radar dalgalarını her yöne </a:t>
            </a:r>
            <a:r>
              <a:rPr lang="tr-TR" dirty="0" smtClean="0"/>
              <a:t>yansıtmasından dolayı </a:t>
            </a:r>
            <a:r>
              <a:rPr lang="tr-TR" dirty="0"/>
              <a:t>geriye yansıma maksimum düzeyde olduğunu gösterir.</a:t>
            </a:r>
          </a:p>
        </p:txBody>
      </p:sp>
    </p:spTree>
    <p:extLst>
      <p:ext uri="{BB962C8B-B14F-4D97-AF65-F5344CB8AC3E}">
        <p14:creationId xmlns:p14="http://schemas.microsoft.com/office/powerpoint/2010/main" val="349760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Hiperspektrometre</a:t>
            </a:r>
            <a:r>
              <a:rPr lang="tr-TR" b="1" dirty="0"/>
              <a:t> ve Radar Sistemler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307" y="1418213"/>
            <a:ext cx="7481386" cy="5439787"/>
          </a:xfrm>
        </p:spPr>
      </p:pic>
    </p:spTree>
    <p:extLst>
      <p:ext uri="{BB962C8B-B14F-4D97-AF65-F5344CB8AC3E}">
        <p14:creationId xmlns:p14="http://schemas.microsoft.com/office/powerpoint/2010/main" val="37084911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Hiperspektrometre</a:t>
            </a:r>
            <a:r>
              <a:rPr lang="tr-TR" b="1" dirty="0"/>
              <a:t> ve Radar Sistemler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362" y="1339056"/>
            <a:ext cx="7401275" cy="5518944"/>
          </a:xfrm>
        </p:spPr>
      </p:pic>
    </p:spTree>
    <p:extLst>
      <p:ext uri="{BB962C8B-B14F-4D97-AF65-F5344CB8AC3E}">
        <p14:creationId xmlns:p14="http://schemas.microsoft.com/office/powerpoint/2010/main" val="87256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Hiperspektrometre</a:t>
            </a:r>
            <a:r>
              <a:rPr lang="tr-TR" b="1" dirty="0"/>
              <a:t> ve Radar Sistemler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RADARSAT: </a:t>
            </a:r>
            <a:r>
              <a:rPr lang="tr-TR" dirty="0"/>
              <a:t>Radarsat-1 1995 te fırlatılmış olup Kanada’nın ilk uydusudur. </a:t>
            </a:r>
            <a:r>
              <a:rPr lang="tr-TR" dirty="0" smtClean="0"/>
              <a:t>Radarsat-2 </a:t>
            </a:r>
            <a:r>
              <a:rPr lang="tr-TR" dirty="0"/>
              <a:t>uydusu da 2007 de fırlatılmıştır. </a:t>
            </a:r>
            <a:r>
              <a:rPr lang="tr-TR" dirty="0" err="1"/>
              <a:t>Radarsat</a:t>
            </a:r>
            <a:r>
              <a:rPr lang="tr-TR" dirty="0"/>
              <a:t> sun-</a:t>
            </a:r>
            <a:r>
              <a:rPr lang="tr-TR" dirty="0" err="1"/>
              <a:t>synchronous</a:t>
            </a:r>
            <a:r>
              <a:rPr lang="tr-TR" dirty="0"/>
              <a:t> yörüngeye sahiptir. </a:t>
            </a:r>
            <a:r>
              <a:rPr lang="tr-TR" dirty="0" smtClean="0"/>
              <a:t>Radarsat-1 tek </a:t>
            </a:r>
            <a:r>
              <a:rPr lang="tr-TR" dirty="0"/>
              <a:t>bir polarizasyona sahipken, Radarsat-2 </a:t>
            </a:r>
            <a:r>
              <a:rPr lang="tr-TR" dirty="0" err="1"/>
              <a:t>multi</a:t>
            </a:r>
            <a:r>
              <a:rPr lang="tr-TR" dirty="0"/>
              <a:t>-polarizasyona </a:t>
            </a:r>
            <a:r>
              <a:rPr lang="tr-TR" dirty="0" smtClean="0"/>
              <a:t>sahiptir. </a:t>
            </a:r>
            <a:r>
              <a:rPr lang="tr-TR" dirty="0" err="1" smtClean="0"/>
              <a:t>Radarsat</a:t>
            </a:r>
            <a:r>
              <a:rPr lang="tr-TR" dirty="0" smtClean="0"/>
              <a:t> </a:t>
            </a:r>
            <a:r>
              <a:rPr lang="tr-TR" dirty="0"/>
              <a:t>görüntülerinin kullanım amacı, </a:t>
            </a:r>
            <a:r>
              <a:rPr lang="tr-TR" dirty="0" smtClean="0"/>
              <a:t>kıyı çalışmaları</a:t>
            </a:r>
            <a:r>
              <a:rPr lang="tr-TR" dirty="0"/>
              <a:t>, arazi örtüsü haritalaması, tarım ve orman gözlemleri, afetlerin izlenmesi (</a:t>
            </a:r>
            <a:r>
              <a:rPr lang="tr-TR" dirty="0" smtClean="0"/>
              <a:t>heyelan belirleme</a:t>
            </a:r>
            <a:r>
              <a:rPr lang="tr-TR" dirty="0"/>
              <a:t>, taşkınları izleme vb.) kar örtüsünü dağılışını haritalama, toprak nemliliğini </a:t>
            </a:r>
            <a:r>
              <a:rPr lang="tr-TR" dirty="0" smtClean="0"/>
              <a:t>belirleme gibi </a:t>
            </a:r>
            <a:r>
              <a:rPr lang="tr-TR" dirty="0"/>
              <a:t>birçok alanı kapsamaktadır.</a:t>
            </a:r>
          </a:p>
        </p:txBody>
      </p:sp>
    </p:spTree>
    <p:extLst>
      <p:ext uri="{BB962C8B-B14F-4D97-AF65-F5344CB8AC3E}">
        <p14:creationId xmlns:p14="http://schemas.microsoft.com/office/powerpoint/2010/main" val="38826807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Hiperspektrometre</a:t>
            </a:r>
            <a:r>
              <a:rPr lang="tr-TR" b="1" dirty="0"/>
              <a:t> ve Radar Sistemler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583" y="1327526"/>
            <a:ext cx="8547869" cy="5435781"/>
          </a:xfrm>
        </p:spPr>
      </p:pic>
    </p:spTree>
    <p:extLst>
      <p:ext uri="{BB962C8B-B14F-4D97-AF65-F5344CB8AC3E}">
        <p14:creationId xmlns:p14="http://schemas.microsoft.com/office/powerpoint/2010/main" val="1550775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DCB7A48CD16EE43B925771B387E1328" ma:contentTypeVersion="4" ma:contentTypeDescription="Yeni belge oluşturun." ma:contentTypeScope="" ma:versionID="8cd08cc54155ef2839875b24107c4d91">
  <xsd:schema xmlns:xsd="http://www.w3.org/2001/XMLSchema" xmlns:xs="http://www.w3.org/2001/XMLSchema" xmlns:p="http://schemas.microsoft.com/office/2006/metadata/properties" xmlns:ns2="cd4edf54-67b3-4910-9de7-59ff84f4ae2e" targetNamespace="http://schemas.microsoft.com/office/2006/metadata/properties" ma:root="true" ma:fieldsID="020b23ac89fbdb1593e8cd77d9d69472" ns2:_="">
    <xsd:import namespace="cd4edf54-67b3-4910-9de7-59ff84f4ae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4edf54-67b3-4910-9de7-59ff84f4ae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D34E4AD-6095-4D82-B07C-F647D1DBC5C3}"/>
</file>

<file path=customXml/itemProps2.xml><?xml version="1.0" encoding="utf-8"?>
<ds:datastoreItem xmlns:ds="http://schemas.openxmlformats.org/officeDocument/2006/customXml" ds:itemID="{F715E6F5-C1D0-4D26-9F04-DEE80818602A}"/>
</file>

<file path=customXml/itemProps3.xml><?xml version="1.0" encoding="utf-8"?>
<ds:datastoreItem xmlns:ds="http://schemas.openxmlformats.org/officeDocument/2006/customXml" ds:itemID="{425BC4FA-20DD-4A4F-A183-790597A32957}"/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2518</Words>
  <Application>Microsoft Office PowerPoint</Application>
  <PresentationFormat>Geniş ekran</PresentationFormat>
  <Paragraphs>86</Paragraphs>
  <Slides>37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Times New Roman</vt:lpstr>
      <vt:lpstr>Wingdings</vt:lpstr>
      <vt:lpstr>Office Teması</vt:lpstr>
      <vt:lpstr>Çukurova Üniversitesi  Karaisalı Meslek Yüksekokulu</vt:lpstr>
      <vt:lpstr>Platform ve Özellikleri</vt:lpstr>
      <vt:lpstr>Platform ve Özellikleri</vt:lpstr>
      <vt:lpstr>Platform ve Özellikleri</vt:lpstr>
      <vt:lpstr>Platform ve Özellikleri</vt:lpstr>
      <vt:lpstr>Yörünge ve Özellikleri</vt:lpstr>
      <vt:lpstr>Yörünge ve Özellikleri</vt:lpstr>
      <vt:lpstr>Yörünge ve Özellikleri</vt:lpstr>
      <vt:lpstr>Yörünge ve Özellikleri</vt:lpstr>
      <vt:lpstr>Yörünge ve Özellikleri</vt:lpstr>
      <vt:lpstr>Yeryüzü Görüntüleme Sistemleri</vt:lpstr>
      <vt:lpstr>Düşük Çözünürlüklü Sistemler</vt:lpstr>
      <vt:lpstr>Düşük Çözünürlüklü Sistemler</vt:lpstr>
      <vt:lpstr>Düşük Çözünürlüklü Sistemler</vt:lpstr>
      <vt:lpstr>Düşük Çözünürlüklü Sistemler</vt:lpstr>
      <vt:lpstr>Düşük Çözünürlüklü Sistemler</vt:lpstr>
      <vt:lpstr>Orta Çözünürlüklü Sistemler</vt:lpstr>
      <vt:lpstr>Orta Çözünürlüklü Sistemler</vt:lpstr>
      <vt:lpstr>Orta Çözünürlüklü Sistemler</vt:lpstr>
      <vt:lpstr>Orta Çözünürlüklü Sistemler</vt:lpstr>
      <vt:lpstr>Yüksek Çözünürlüklü Sistemler</vt:lpstr>
      <vt:lpstr>Yüksek Çözünürlüklü Sistemler</vt:lpstr>
      <vt:lpstr>Yüksek Çözünürlüklü Sistemler</vt:lpstr>
      <vt:lpstr>Yüksek Çözünürlüklü Sistemler</vt:lpstr>
      <vt:lpstr>Yüksek Çözünürlüklü Sistemler</vt:lpstr>
      <vt:lpstr>Yüksek Çözünürlüklü Sistemler</vt:lpstr>
      <vt:lpstr>Yüksek Çözünürlüklü Sistemler</vt:lpstr>
      <vt:lpstr>Yüksek Çözünürlüklü Sistemler</vt:lpstr>
      <vt:lpstr>Hiperspektrometre ve Radar Sistemler</vt:lpstr>
      <vt:lpstr>Hiperspektrometre ve Radar Sistemler</vt:lpstr>
      <vt:lpstr>Hiperspektrometre ve Radar Sistemler</vt:lpstr>
      <vt:lpstr>Hiperspektrometre ve Radar Sistemler</vt:lpstr>
      <vt:lpstr>Hiperspektrometre ve Radar Sistemler</vt:lpstr>
      <vt:lpstr>Hiperspektrometre ve Radar Sistemler</vt:lpstr>
      <vt:lpstr>Hiperspektrometre ve Radar Sistemler</vt:lpstr>
      <vt:lpstr>Hiperspektrometre ve Radar Sistemler</vt:lpstr>
      <vt:lpstr>Hiperspektrometre ve Radar Sistemler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Çukurova Üniversitesi  Karaisalı Meslek Yüksekokulu</dc:title>
  <dc:creator>Buray Karslı</dc:creator>
  <cp:lastModifiedBy>Buray Karslı</cp:lastModifiedBy>
  <cp:revision>98</cp:revision>
  <dcterms:created xsi:type="dcterms:W3CDTF">2024-07-04T08:09:56Z</dcterms:created>
  <dcterms:modified xsi:type="dcterms:W3CDTF">2024-11-15T07:52:11Z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0x010100DDCB7A48CD16EE43B925771B387E1328</vt:lpwstr>
  </property>
</Properties>
</file>