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72" autoAdjust="0"/>
  </p:normalViewPr>
  <p:slideViewPr>
    <p:cSldViewPr snapToGrid="0">
      <p:cViewPr varScale="1">
        <p:scale>
          <a:sx n="108" d="100"/>
          <a:sy n="108" d="100"/>
        </p:scale>
        <p:origin x="6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EBEE3-403F-4C70-A1A1-2BB1B32F48D5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209F0-F6B3-41A2-8C9A-3E39791D5DE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7250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42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921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036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190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355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122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71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242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30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171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474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31E0E-70AA-4C5F-B0F7-EBC0C05F04ED}" type="datetimeFigureOut">
              <a:rPr lang="tr-TR" smtClean="0"/>
              <a:t>30.10.2024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643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009499"/>
            <a:ext cx="5069921" cy="3848500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00554" y="-354745"/>
            <a:ext cx="9144000" cy="2387600"/>
          </a:xfrm>
        </p:spPr>
        <p:txBody>
          <a:bodyPr/>
          <a:lstStyle/>
          <a:p>
            <a:r>
              <a:rPr lang="tr-TR" dirty="0" smtClean="0"/>
              <a:t>Çukurova Üniversitesi </a:t>
            </a:r>
            <a:br>
              <a:rPr lang="tr-TR" dirty="0" smtClean="0"/>
            </a:br>
            <a:r>
              <a:rPr lang="tr-TR" sz="5000" dirty="0" smtClean="0"/>
              <a:t>Karaisalı Meslek Yüksekokulu</a:t>
            </a:r>
            <a:endParaRPr lang="tr-TR" sz="50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075592" y="2592660"/>
            <a:ext cx="10521462" cy="4071438"/>
          </a:xfrm>
        </p:spPr>
        <p:txBody>
          <a:bodyPr>
            <a:normAutofit fontScale="92500" lnSpcReduction="10000"/>
          </a:bodyPr>
          <a:lstStyle/>
          <a:p>
            <a:r>
              <a:rPr lang="tr-TR" sz="3500" dirty="0" smtClean="0"/>
              <a:t>UZAKTAN ALGILAMA</a:t>
            </a:r>
            <a:r>
              <a:rPr lang="tr-TR" dirty="0" smtClean="0"/>
              <a:t> 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pPr algn="r"/>
            <a:endParaRPr lang="tr-TR" sz="3000" dirty="0" smtClean="0"/>
          </a:p>
          <a:p>
            <a:pPr algn="r"/>
            <a:endParaRPr lang="tr-TR" sz="3000" dirty="0"/>
          </a:p>
          <a:p>
            <a:pPr algn="r"/>
            <a:endParaRPr lang="tr-TR" sz="3000" dirty="0" smtClean="0"/>
          </a:p>
          <a:p>
            <a:pPr algn="r"/>
            <a:endParaRPr lang="tr-TR" sz="3000" dirty="0"/>
          </a:p>
          <a:p>
            <a:pPr algn="r"/>
            <a:r>
              <a:rPr lang="tr-TR" sz="3000" dirty="0" err="1" smtClean="0"/>
              <a:t>Öğr</a:t>
            </a:r>
            <a:r>
              <a:rPr lang="tr-TR" sz="3000" dirty="0" smtClean="0"/>
              <a:t>. Gör. Buray KARSLI</a:t>
            </a:r>
            <a:endParaRPr lang="tr-TR" sz="30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4" y="306569"/>
            <a:ext cx="2143125" cy="214312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580" y="205060"/>
            <a:ext cx="2244634" cy="224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5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ALGILAYICILAR (PASİF)</a:t>
            </a:r>
            <a:endParaRPr lang="tr-TR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Elektromanyetik enerjiyi ölçen ve kaydeden alete algılayıcı (</a:t>
            </a:r>
            <a:r>
              <a:rPr lang="tr-TR" dirty="0" err="1"/>
              <a:t>sensör</a:t>
            </a:r>
            <a:r>
              <a:rPr lang="tr-TR" dirty="0"/>
              <a:t>) denir. </a:t>
            </a:r>
            <a:r>
              <a:rPr lang="tr-TR" dirty="0" smtClean="0"/>
              <a:t>Algılayıcılar iki </a:t>
            </a:r>
            <a:r>
              <a:rPr lang="tr-TR" dirty="0"/>
              <a:t>grupta incelenir;</a:t>
            </a:r>
          </a:p>
          <a:p>
            <a:pPr marL="0" indent="0">
              <a:buNone/>
            </a:pPr>
            <a:r>
              <a:rPr lang="tr-TR" b="1" i="1" dirty="0"/>
              <a:t>Pasif Algılayıcılar: </a:t>
            </a:r>
            <a:r>
              <a:rPr lang="tr-TR" dirty="0"/>
              <a:t>Harici bir enerji kaynağına ihtiyaç duyar ve kendileri </a:t>
            </a:r>
            <a:r>
              <a:rPr lang="tr-TR" dirty="0" smtClean="0"/>
              <a:t>enerji üretemezler</a:t>
            </a:r>
            <a:r>
              <a:rPr lang="tr-TR" dirty="0"/>
              <a:t>. Pasif algılayıcıların kullandığı enerji genellikle güneş, bazen de </a:t>
            </a:r>
            <a:r>
              <a:rPr lang="tr-TR" dirty="0" smtClean="0"/>
              <a:t>dünyanın kendisidir</a:t>
            </a:r>
            <a:r>
              <a:rPr lang="tr-TR" dirty="0"/>
              <a:t>. Pasif </a:t>
            </a:r>
            <a:r>
              <a:rPr lang="tr-TR" dirty="0" err="1"/>
              <a:t>senörlerin</a:t>
            </a:r>
            <a:r>
              <a:rPr lang="tr-TR" dirty="0"/>
              <a:t> EM spektrumundaki algıladığı aralık Gama ışınları </a:t>
            </a:r>
            <a:r>
              <a:rPr lang="tr-TR" dirty="0" smtClean="0"/>
              <a:t>ile mikrodalgalara </a:t>
            </a:r>
            <a:r>
              <a:rPr lang="tr-TR" dirty="0"/>
              <a:t>kadarki aralıktır. En eski ve en fazla kullanılan pasif algılayıcı örneği </a:t>
            </a:r>
            <a:r>
              <a:rPr lang="tr-TR" dirty="0" smtClean="0"/>
              <a:t>fotoğraf makinalarıdır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b="1" i="1" dirty="0"/>
              <a:t>Aktif Algılayıcılar: </a:t>
            </a:r>
            <a:r>
              <a:rPr lang="tr-TR" dirty="0"/>
              <a:t>Bu algılayıcılar harici enerjiye ihtiyaç duymayıp kendi </a:t>
            </a:r>
            <a:r>
              <a:rPr lang="tr-TR" dirty="0" smtClean="0"/>
              <a:t>enerjilerine sahiptirler</a:t>
            </a:r>
            <a:r>
              <a:rPr lang="tr-TR" dirty="0"/>
              <a:t>. Pasif </a:t>
            </a:r>
            <a:r>
              <a:rPr lang="tr-TR" dirty="0" err="1"/>
              <a:t>sensörlere</a:t>
            </a:r>
            <a:r>
              <a:rPr lang="tr-TR" dirty="0"/>
              <a:t> kıyasla dış etkenlerden daha az etkilenirler. Aktif algılama </a:t>
            </a:r>
            <a:r>
              <a:rPr lang="tr-TR" dirty="0" smtClean="0"/>
              <a:t>metotları </a:t>
            </a:r>
            <a:r>
              <a:rPr lang="en-US" dirty="0" smtClean="0"/>
              <a:t>Radar </a:t>
            </a:r>
            <a:r>
              <a:rPr lang="en-US" dirty="0"/>
              <a:t>(Radio detection and Ranging), Lidar (Light Detection and Ranging)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Sonar’ı</a:t>
            </a:r>
            <a:r>
              <a:rPr lang="en-US" dirty="0"/>
              <a:t> (</a:t>
            </a:r>
            <a:r>
              <a:rPr lang="en-US" dirty="0" smtClean="0"/>
              <a:t>Sound</a:t>
            </a:r>
            <a:r>
              <a:rPr lang="tr-TR" dirty="0" smtClean="0"/>
              <a:t> </a:t>
            </a:r>
            <a:r>
              <a:rPr lang="tr-TR" dirty="0" err="1" smtClean="0"/>
              <a:t>Navigation</a:t>
            </a:r>
            <a:r>
              <a:rPr lang="tr-TR" dirty="0" smtClean="0"/>
              <a:t> </a:t>
            </a:r>
            <a:r>
              <a:rPr lang="tr-TR" dirty="0" err="1"/>
              <a:t>Ranging</a:t>
            </a:r>
            <a:r>
              <a:rPr lang="tr-TR" dirty="0"/>
              <a:t>) içine alır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2268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213" y="1131371"/>
            <a:ext cx="9208419" cy="5726629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ALGILAYICILAR </a:t>
            </a:r>
            <a:r>
              <a:rPr lang="tr-TR" b="1" dirty="0"/>
              <a:t>(PASİF)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9460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</a:t>
            </a:r>
            <a:r>
              <a:rPr lang="tr-TR" b="1" dirty="0" smtClean="0"/>
              <a:t>Algılayıcılar (</a:t>
            </a:r>
            <a:r>
              <a:rPr lang="tr-TR" b="1" dirty="0"/>
              <a:t>Gama Işını </a:t>
            </a:r>
            <a:r>
              <a:rPr lang="tr-TR" b="1" dirty="0" smtClean="0"/>
              <a:t>Spektrometre)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Gama ışını spektrometresi, toprak veya kayaların yüzeyleri tarafından yayılan </a:t>
            </a:r>
            <a:r>
              <a:rPr lang="tr-TR" dirty="0" smtClean="0"/>
              <a:t>gama ışınlarını </a:t>
            </a:r>
            <a:r>
              <a:rPr lang="tr-TR" dirty="0"/>
              <a:t>ölçer. Böylelikle yüzeydeki belirli mineraller hakkında bilgi sahibi olunur. Bu </a:t>
            </a:r>
            <a:r>
              <a:rPr lang="tr-TR" dirty="0" smtClean="0"/>
              <a:t>nedenle özellikle </a:t>
            </a:r>
            <a:r>
              <a:rPr lang="tr-TR" dirty="0" err="1"/>
              <a:t>mineroloji</a:t>
            </a:r>
            <a:r>
              <a:rPr lang="tr-TR" dirty="0"/>
              <a:t> çalışmalarında büyük önemi vardır. Gama ışınları çok kısa dalga </a:t>
            </a:r>
            <a:r>
              <a:rPr lang="tr-TR" dirty="0" smtClean="0"/>
              <a:t>boylarına sahip </a:t>
            </a:r>
            <a:r>
              <a:rPr lang="tr-TR" dirty="0"/>
              <a:t>olduklarından dolayı atmosferik soğrulmaya çok fazla uğrarlar. Yerden birkaç yüz </a:t>
            </a:r>
            <a:r>
              <a:rPr lang="tr-TR" dirty="0" smtClean="0"/>
              <a:t>metre yukarıda</a:t>
            </a:r>
            <a:r>
              <a:rPr lang="tr-TR" dirty="0"/>
              <a:t>, alçaktan uçan uçaklar ile bu dalga boyları ölçülebilir. </a:t>
            </a:r>
            <a:endParaRPr lang="tr-TR" dirty="0" smtClean="0"/>
          </a:p>
          <a:p>
            <a:r>
              <a:rPr lang="tr-TR" dirty="0" smtClean="0"/>
              <a:t>Gama </a:t>
            </a:r>
            <a:r>
              <a:rPr lang="tr-TR" dirty="0"/>
              <a:t>ışınlarını </a:t>
            </a:r>
            <a:r>
              <a:rPr lang="tr-TR" dirty="0" smtClean="0"/>
              <a:t>yayması bakımından </a:t>
            </a:r>
            <a:r>
              <a:rPr lang="tr-TR" dirty="0"/>
              <a:t>Potasyum (K), Toryum (</a:t>
            </a:r>
            <a:r>
              <a:rPr lang="tr-TR" dirty="0" err="1"/>
              <a:t>Th</a:t>
            </a:r>
            <a:r>
              <a:rPr lang="tr-TR" dirty="0"/>
              <a:t>) ve Uranyum (U) minerallerinin belirlenmesinde </a:t>
            </a:r>
            <a:r>
              <a:rPr lang="tr-TR" dirty="0" smtClean="0"/>
              <a:t>daha çok </a:t>
            </a:r>
            <a:r>
              <a:rPr lang="tr-TR" dirty="0"/>
              <a:t>kullanılırlar. Şekil 3.2’ de Kuzeybatı Avustralya’daki </a:t>
            </a:r>
            <a:r>
              <a:rPr lang="tr-TR" dirty="0" smtClean="0"/>
              <a:t>bir </a:t>
            </a:r>
            <a:r>
              <a:rPr lang="tr-TR" dirty="0"/>
              <a:t>jeolojik alana ait </a:t>
            </a:r>
            <a:r>
              <a:rPr lang="tr-TR" dirty="0" smtClean="0"/>
              <a:t>görüntü mevcuttur</a:t>
            </a:r>
            <a:r>
              <a:rPr lang="tr-TR" dirty="0"/>
              <a:t>. Görüntüde potasyum kırmızı, toryum yeşil ve uranyum mavi renktedir. Şekilde </a:t>
            </a:r>
            <a:r>
              <a:rPr lang="tr-TR" dirty="0" smtClean="0"/>
              <a:t>A metamorfik </a:t>
            </a:r>
            <a:r>
              <a:rPr lang="tr-TR" dirty="0" err="1"/>
              <a:t>domları</a:t>
            </a:r>
            <a:r>
              <a:rPr lang="tr-TR" dirty="0"/>
              <a:t> temsil ederken B ise </a:t>
            </a:r>
            <a:r>
              <a:rPr lang="tr-TR" dirty="0" err="1"/>
              <a:t>senklinal</a:t>
            </a:r>
            <a:r>
              <a:rPr lang="tr-TR" dirty="0"/>
              <a:t> çöküntü alanları göstermektedir.</a:t>
            </a:r>
          </a:p>
        </p:txBody>
      </p:sp>
    </p:spTree>
    <p:extLst>
      <p:ext uri="{BB962C8B-B14F-4D97-AF65-F5344CB8AC3E}">
        <p14:creationId xmlns:p14="http://schemas.microsoft.com/office/powerpoint/2010/main" val="3532480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049" y="1050078"/>
            <a:ext cx="7391901" cy="5807922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tr-TR" b="1" dirty="0"/>
              <a:t>Pasif Algılayıcılar (Gama Işını Spektrometre)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54801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</a:t>
            </a:r>
            <a:r>
              <a:rPr lang="tr-TR" b="1" dirty="0" smtClean="0"/>
              <a:t>Algılayıcılar (</a:t>
            </a:r>
            <a:r>
              <a:rPr lang="tr-TR" b="1" dirty="0"/>
              <a:t>Hava </a:t>
            </a:r>
            <a:r>
              <a:rPr lang="tr-TR" b="1" dirty="0" smtClean="0"/>
              <a:t>Kameraları)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Daha çok uçaklarda bulunan lens ve film gibi dijital kamera sistemleri ile </a:t>
            </a:r>
            <a:r>
              <a:rPr lang="tr-TR" dirty="0" smtClean="0"/>
              <a:t>hava fotolarının </a:t>
            </a:r>
            <a:r>
              <a:rPr lang="tr-TR" dirty="0"/>
              <a:t>çekimi yapılır. Kameralardaki film tiplerinin kaydettikleri </a:t>
            </a:r>
            <a:r>
              <a:rPr lang="tr-TR" dirty="0" smtClean="0"/>
              <a:t>elektromanyetik spektrum </a:t>
            </a:r>
            <a:r>
              <a:rPr lang="tr-TR" dirty="0"/>
              <a:t>aralığı 0.4-0.9 </a:t>
            </a:r>
            <a:r>
              <a:rPr lang="el-GR" dirty="0"/>
              <a:t>μ</a:t>
            </a:r>
            <a:r>
              <a:rPr lang="tr-TR" dirty="0"/>
              <a:t>m arasıdır. Hava fotoları stereo hava fotolarıyla birlikte çok </a:t>
            </a:r>
            <a:r>
              <a:rPr lang="tr-TR" dirty="0" smtClean="0"/>
              <a:t>fazla kullanım </a:t>
            </a:r>
            <a:r>
              <a:rPr lang="tr-TR" dirty="0"/>
              <a:t>alanına sahiptir. Bunlardan en önemlisi, orta ve büyük ölçekli </a:t>
            </a:r>
            <a:r>
              <a:rPr lang="tr-TR" dirty="0" err="1"/>
              <a:t>topografik</a:t>
            </a:r>
            <a:r>
              <a:rPr lang="tr-TR" dirty="0"/>
              <a:t> ve </a:t>
            </a:r>
            <a:r>
              <a:rPr lang="tr-TR" dirty="0" err="1" smtClean="0"/>
              <a:t>kadastral</a:t>
            </a:r>
            <a:r>
              <a:rPr lang="tr-TR" dirty="0" smtClean="0"/>
              <a:t> haritalamalardaki </a:t>
            </a:r>
            <a:r>
              <a:rPr lang="tr-TR" dirty="0"/>
              <a:t>kullanımıdır. </a:t>
            </a:r>
            <a:endParaRPr lang="tr-TR" dirty="0" smtClean="0"/>
          </a:p>
          <a:p>
            <a:r>
              <a:rPr lang="tr-TR" dirty="0" smtClean="0"/>
              <a:t>Hava </a:t>
            </a:r>
            <a:r>
              <a:rPr lang="tr-TR" dirty="0"/>
              <a:t>fotolarının kullanımı 20. yüzyılın başlarına </a:t>
            </a:r>
            <a:r>
              <a:rPr lang="tr-TR" dirty="0" smtClean="0"/>
              <a:t>kadar </a:t>
            </a:r>
            <a:r>
              <a:rPr lang="sv-SE" dirty="0" smtClean="0"/>
              <a:t>gitmektedir</a:t>
            </a:r>
            <a:r>
              <a:rPr lang="sv-SE" dirty="0"/>
              <a:t>. Bundan dolayı uzaktan algılamanın en eski ve halen en yaygın olarak </a:t>
            </a:r>
            <a:r>
              <a:rPr lang="sv-SE" dirty="0" smtClean="0"/>
              <a:t>kullanılan</a:t>
            </a:r>
            <a:r>
              <a:rPr lang="tr-TR" dirty="0" smtClean="0"/>
              <a:t> bir </a:t>
            </a:r>
            <a:r>
              <a:rPr lang="tr-TR" dirty="0"/>
              <a:t>tekniğidir. Hava fotoları ormancılar, jeologlar, jeomorfologlar ve şehir plancıları </a:t>
            </a:r>
            <a:r>
              <a:rPr lang="tr-TR" dirty="0" smtClean="0"/>
              <a:t>için kullanışlı </a:t>
            </a:r>
            <a:r>
              <a:rPr lang="tr-TR" dirty="0"/>
              <a:t>bir kaynaktır. Hava fotoları iki ana kategoriye ayrılmıştır. Bunlar </a:t>
            </a:r>
            <a:r>
              <a:rPr lang="tr-TR" i="1" dirty="0"/>
              <a:t>dikey </a:t>
            </a:r>
            <a:r>
              <a:rPr lang="tr-TR" dirty="0"/>
              <a:t>ve </a:t>
            </a:r>
            <a:r>
              <a:rPr lang="tr-TR" i="1" dirty="0" err="1"/>
              <a:t>oblik</a:t>
            </a:r>
            <a:r>
              <a:rPr lang="tr-TR" i="1" dirty="0"/>
              <a:t> </a:t>
            </a:r>
            <a:r>
              <a:rPr lang="tr-TR" dirty="0" smtClean="0"/>
              <a:t>hava fotolarıdır </a:t>
            </a:r>
            <a:r>
              <a:rPr lang="tr-TR" dirty="0"/>
              <a:t>(Şekil 3.3.).</a:t>
            </a:r>
          </a:p>
        </p:txBody>
      </p:sp>
    </p:spTree>
    <p:extLst>
      <p:ext uri="{BB962C8B-B14F-4D97-AF65-F5344CB8AC3E}">
        <p14:creationId xmlns:p14="http://schemas.microsoft.com/office/powerpoint/2010/main" val="3463209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868" y="1417972"/>
            <a:ext cx="9186488" cy="5046996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Algılayıcılar (Hava Kameraları)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39634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Algılayıcılar (Hava Kameraları)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Haritalama uygulamalarının çoğunda dikey hava fotoları kullanılır. Dikey hava </a:t>
            </a:r>
            <a:r>
              <a:rPr lang="tr-TR" dirty="0" smtClean="0"/>
              <a:t>fotoları bazen </a:t>
            </a:r>
            <a:r>
              <a:rPr lang="tr-TR" dirty="0"/>
              <a:t>iki farklı bakış açısına bağlı olarak ve belirli bir bindirme oranına sahip olan </a:t>
            </a:r>
            <a:r>
              <a:rPr lang="tr-TR" dirty="0" smtClean="0"/>
              <a:t>stereo şeklinde </a:t>
            </a:r>
            <a:r>
              <a:rPr lang="tr-TR" dirty="0"/>
              <a:t>de elde edilir. Bu da algılanan yüzeyin üç boyutlu görüntüsünün elde edilmesi </a:t>
            </a:r>
            <a:r>
              <a:rPr lang="tr-TR" dirty="0" smtClean="0"/>
              <a:t>ve yorumlanmasında </a:t>
            </a:r>
            <a:r>
              <a:rPr lang="tr-TR" dirty="0"/>
              <a:t>kullanılır. Kamera eksenin dikey olmadığı durumlarda ise </a:t>
            </a:r>
            <a:r>
              <a:rPr lang="tr-TR" dirty="0" err="1"/>
              <a:t>oblik</a:t>
            </a:r>
            <a:r>
              <a:rPr lang="tr-TR" dirty="0"/>
              <a:t> </a:t>
            </a:r>
            <a:r>
              <a:rPr lang="tr-TR" dirty="0" smtClean="0"/>
              <a:t>fotolar üretilir</a:t>
            </a:r>
            <a:r>
              <a:rPr lang="tr-TR" dirty="0"/>
              <a:t>. Haritalamada fotoda meydana gelen bozulmadan dolayı kullanılmaz. Ancak </a:t>
            </a:r>
            <a:r>
              <a:rPr lang="tr-TR" dirty="0" err="1" smtClean="0"/>
              <a:t>oblik</a:t>
            </a:r>
            <a:r>
              <a:rPr lang="tr-TR" dirty="0" smtClean="0"/>
              <a:t> fotolar </a:t>
            </a:r>
            <a:r>
              <a:rPr lang="tr-TR" dirty="0"/>
              <a:t>binaların yan yüzeylerinin görülmesinde önemlidirler.</a:t>
            </a:r>
          </a:p>
        </p:txBody>
      </p:sp>
    </p:spTree>
    <p:extLst>
      <p:ext uri="{BB962C8B-B14F-4D97-AF65-F5344CB8AC3E}">
        <p14:creationId xmlns:p14="http://schemas.microsoft.com/office/powerpoint/2010/main" val="3113820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Algılayıcılar </a:t>
            </a:r>
            <a:r>
              <a:rPr lang="tr-TR" b="1" dirty="0" smtClean="0"/>
              <a:t>(</a:t>
            </a:r>
            <a:r>
              <a:rPr lang="tr-TR" b="1" dirty="0"/>
              <a:t>Video Kamera</a:t>
            </a:r>
            <a:r>
              <a:rPr lang="tr-TR" b="1" dirty="0" smtClean="0"/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Video kameralar daha çok verileri kaydetmek için kullanılır. Video </a:t>
            </a:r>
            <a:r>
              <a:rPr lang="tr-TR" dirty="0" smtClean="0"/>
              <a:t>algılayıcılarının birçoğu </a:t>
            </a:r>
            <a:r>
              <a:rPr lang="tr-TR" dirty="0"/>
              <a:t>görünür dalga boylarına duyarlıdır ancak yakın kızılötesini de kaydeden </a:t>
            </a:r>
            <a:r>
              <a:rPr lang="tr-TR" dirty="0" smtClean="0"/>
              <a:t>video kameralar </a:t>
            </a:r>
            <a:r>
              <a:rPr lang="tr-TR" dirty="0"/>
              <a:t>da mevcuttur (Şekil 3.4.). Bunun yanında termal kızılötesini de kaydeden </a:t>
            </a:r>
            <a:r>
              <a:rPr lang="tr-TR" dirty="0" smtClean="0"/>
              <a:t>video kameralar </a:t>
            </a:r>
            <a:r>
              <a:rPr lang="tr-TR" dirty="0"/>
              <a:t>geliştirilmiştir. Geçmişte analog video kameralar yaygın iken günümüzde </a:t>
            </a:r>
            <a:r>
              <a:rPr lang="tr-TR" dirty="0" smtClean="0"/>
              <a:t>dijital video </a:t>
            </a:r>
            <a:r>
              <a:rPr lang="tr-TR" dirty="0"/>
              <a:t>kameralar daha fazla kullanılmaktadır. Video görüntüler diğer </a:t>
            </a:r>
            <a:r>
              <a:rPr lang="tr-TR" dirty="0" err="1"/>
              <a:t>sensörlerin</a:t>
            </a:r>
            <a:r>
              <a:rPr lang="tr-TR" dirty="0"/>
              <a:t> çekim </a:t>
            </a:r>
            <a:r>
              <a:rPr lang="tr-TR" dirty="0" smtClean="0"/>
              <a:t>yaptığı alanlara </a:t>
            </a:r>
            <a:r>
              <a:rPr lang="tr-TR" dirty="0"/>
              <a:t>ait ekstra bilgilerin elde edilmesinde kullanılırlar ve daha ekonomiktirler.</a:t>
            </a:r>
          </a:p>
        </p:txBody>
      </p:sp>
    </p:spTree>
    <p:extLst>
      <p:ext uri="{BB962C8B-B14F-4D97-AF65-F5344CB8AC3E}">
        <p14:creationId xmlns:p14="http://schemas.microsoft.com/office/powerpoint/2010/main" val="4281817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286" y="1080878"/>
            <a:ext cx="7311425" cy="5777122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199" y="140535"/>
            <a:ext cx="10515600" cy="1325563"/>
          </a:xfrm>
        </p:spPr>
        <p:txBody>
          <a:bodyPr/>
          <a:lstStyle/>
          <a:p>
            <a:r>
              <a:rPr lang="tr-TR" b="1" dirty="0"/>
              <a:t>Pasif Algılayıcılar (Video Kamera)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7242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Algılayıcılar </a:t>
            </a:r>
            <a:r>
              <a:rPr lang="tr-TR" b="1" dirty="0" smtClean="0"/>
              <a:t>(</a:t>
            </a:r>
            <a:r>
              <a:rPr lang="tr-TR" b="1" dirty="0"/>
              <a:t>Çok Bantlı Tarayıcılar (MSS)</a:t>
            </a:r>
            <a:r>
              <a:rPr lang="tr-TR" b="1" dirty="0" smtClean="0"/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507958"/>
            <a:ext cx="10515600" cy="5037221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Bu aletler, yerden yansıyan EM spektrumu tarayarak ölçerler. Ölçülen dalga </a:t>
            </a:r>
            <a:r>
              <a:rPr lang="tr-TR" dirty="0" smtClean="0"/>
              <a:t>boyu aralığı </a:t>
            </a:r>
            <a:r>
              <a:rPr lang="tr-TR" dirty="0"/>
              <a:t>görünür ve kızılötesi bölgedir. Bu algılayıcı yüzeyden yansıyan enerjiyi </a:t>
            </a:r>
            <a:r>
              <a:rPr lang="tr-TR" dirty="0" smtClean="0"/>
              <a:t>sistematik olarak </a:t>
            </a:r>
            <a:r>
              <a:rPr lang="tr-TR" dirty="0"/>
              <a:t>ve aynı anda birden çok dalga boyu aralığı şeklinde tarar ve kaydeder. Bundan </a:t>
            </a:r>
            <a:r>
              <a:rPr lang="tr-TR" dirty="0" smtClean="0"/>
              <a:t>dolayı çok </a:t>
            </a:r>
            <a:r>
              <a:rPr lang="tr-TR" dirty="0"/>
              <a:t>bantlı tarayıcı (Multi </a:t>
            </a:r>
            <a:r>
              <a:rPr lang="tr-TR" dirty="0" err="1"/>
              <a:t>Spectral</a:t>
            </a:r>
            <a:r>
              <a:rPr lang="tr-TR" dirty="0"/>
              <a:t> </a:t>
            </a:r>
            <a:r>
              <a:rPr lang="tr-TR" dirty="0" err="1"/>
              <a:t>Scanner</a:t>
            </a:r>
            <a:r>
              <a:rPr lang="tr-TR" dirty="0"/>
              <a:t>-MSS) ismi verilmiştir. Bu algılayıcıda her bir </a:t>
            </a:r>
            <a:r>
              <a:rPr lang="tr-TR" dirty="0" smtClean="0"/>
              <a:t>bant, dalga </a:t>
            </a:r>
            <a:r>
              <a:rPr lang="tr-TR" dirty="0"/>
              <a:t>boyunun belirli bir aralığını içerir ve yeryüzünün farklı karakteristikleri hakkında </a:t>
            </a:r>
            <a:r>
              <a:rPr lang="tr-TR" dirty="0" smtClean="0"/>
              <a:t>bilgi verir </a:t>
            </a:r>
            <a:r>
              <a:rPr lang="tr-TR" dirty="0"/>
              <a:t>(Şekil 3.5). </a:t>
            </a:r>
            <a:endParaRPr lang="tr-TR" dirty="0" smtClean="0"/>
          </a:p>
          <a:p>
            <a:r>
              <a:rPr lang="tr-TR" dirty="0" smtClean="0"/>
              <a:t>Çizgi </a:t>
            </a:r>
            <a:r>
              <a:rPr lang="tr-TR" dirty="0"/>
              <a:t>ve iterek tarama olarak iki türlü MSS vardır. Çizgi taramada </a:t>
            </a:r>
            <a:r>
              <a:rPr lang="tr-TR" dirty="0" smtClean="0"/>
              <a:t>tarama nokta </a:t>
            </a:r>
            <a:r>
              <a:rPr lang="tr-TR" dirty="0" err="1"/>
              <a:t>nokta</a:t>
            </a:r>
            <a:r>
              <a:rPr lang="tr-TR" dirty="0"/>
              <a:t> gerçekleşir ve </a:t>
            </a:r>
            <a:r>
              <a:rPr lang="tr-TR" dirty="0" err="1"/>
              <a:t>sensörün</a:t>
            </a:r>
            <a:r>
              <a:rPr lang="tr-TR" dirty="0"/>
              <a:t> algıladığı aralık bir çizgi olarak tarandıktan sonra </a:t>
            </a:r>
            <a:r>
              <a:rPr lang="tr-TR" dirty="0" smtClean="0"/>
              <a:t>diğer çizgiye </a:t>
            </a:r>
            <a:r>
              <a:rPr lang="tr-TR" dirty="0"/>
              <a:t>geçilir. NOAA, AVHRR, </a:t>
            </a:r>
            <a:r>
              <a:rPr lang="tr-TR" dirty="0" err="1"/>
              <a:t>Landsat</a:t>
            </a:r>
            <a:r>
              <a:rPr lang="tr-TR" dirty="0"/>
              <a:t>-TM algılayıcıları bu şekilde çalışır. İterek </a:t>
            </a:r>
            <a:r>
              <a:rPr lang="tr-TR" dirty="0" smtClean="0"/>
              <a:t>taramada ise </a:t>
            </a:r>
            <a:r>
              <a:rPr lang="tr-TR" dirty="0" err="1"/>
              <a:t>sensörün</a:t>
            </a:r>
            <a:r>
              <a:rPr lang="tr-TR" dirty="0"/>
              <a:t> algıladığı aralıktaki çizgi bütünüyle aynı anda taranır ve diğer çizgiye </a:t>
            </a:r>
            <a:r>
              <a:rPr lang="tr-TR" dirty="0" smtClean="0"/>
              <a:t>geçilir. </a:t>
            </a:r>
            <a:r>
              <a:rPr lang="tr-TR" dirty="0" err="1" smtClean="0"/>
              <a:t>İkonos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dirty="0" err="1"/>
              <a:t>Orbview</a:t>
            </a:r>
            <a:r>
              <a:rPr lang="tr-TR" dirty="0"/>
              <a:t> 3 gibi algılayıcılar bu şekilde tarama yaparlar. Dolayısıyla en </a:t>
            </a:r>
            <a:r>
              <a:rPr lang="tr-TR" dirty="0" smtClean="0"/>
              <a:t>düşük çözünürlükten </a:t>
            </a:r>
            <a:r>
              <a:rPr lang="tr-TR" dirty="0"/>
              <a:t>en yüksek çözünürlüğe kadar MSS görüntüler mevcuttur.</a:t>
            </a:r>
          </a:p>
        </p:txBody>
      </p:sp>
    </p:spTree>
    <p:extLst>
      <p:ext uri="{BB962C8B-B14F-4D97-AF65-F5344CB8AC3E}">
        <p14:creationId xmlns:p14="http://schemas.microsoft.com/office/powerpoint/2010/main" val="2703878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89" y="2091740"/>
            <a:ext cx="11677558" cy="3683417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Algılayıcılar (Çok Bantlı Tarayıcılar (MSS))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2513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Algılayıcılar </a:t>
            </a:r>
            <a:r>
              <a:rPr lang="tr-TR" b="1" dirty="0" smtClean="0"/>
              <a:t>(</a:t>
            </a:r>
            <a:r>
              <a:rPr lang="tr-TR" b="1" dirty="0" err="1"/>
              <a:t>Hiperspektral</a:t>
            </a:r>
            <a:r>
              <a:rPr lang="tr-TR" b="1" dirty="0"/>
              <a:t> Görüntüleyici (Görüntü spektrometre</a:t>
            </a:r>
            <a:r>
              <a:rPr lang="tr-TR" b="1" dirty="0" smtClean="0"/>
              <a:t>))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66785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Bu algılayıcının çalışma şekli MSS ile benzerlik göstermektedir. Tek farklı yanı </a:t>
            </a:r>
            <a:r>
              <a:rPr lang="tr-TR" dirty="0" smtClean="0"/>
              <a:t>birkaç tane </a:t>
            </a:r>
            <a:r>
              <a:rPr lang="tr-TR" dirty="0"/>
              <a:t>bantla sınırlı olmayıp 64-256 bant aralığında ve çok dar spektral aralıkta (5 – 10 </a:t>
            </a:r>
            <a:r>
              <a:rPr lang="tr-TR" dirty="0" err="1"/>
              <a:t>nm</a:t>
            </a:r>
            <a:r>
              <a:rPr lang="tr-TR" dirty="0"/>
              <a:t>) </a:t>
            </a:r>
            <a:r>
              <a:rPr lang="tr-TR" dirty="0" smtClean="0"/>
              <a:t>ölçüm yapar</a:t>
            </a:r>
            <a:r>
              <a:rPr lang="tr-TR" dirty="0"/>
              <a:t>. Örneğin Şekil </a:t>
            </a:r>
            <a:r>
              <a:rPr lang="tr-TR" dirty="0" smtClean="0"/>
              <a:t>3.5 </a:t>
            </a:r>
            <a:r>
              <a:rPr lang="tr-TR" dirty="0"/>
              <a:t>te verilen bant 1, 0.45 – </a:t>
            </a:r>
            <a:r>
              <a:rPr lang="tr-TR" dirty="0" smtClean="0"/>
              <a:t>0.52 </a:t>
            </a:r>
            <a:r>
              <a:rPr lang="el-GR" dirty="0"/>
              <a:t>μ</a:t>
            </a:r>
            <a:r>
              <a:rPr lang="tr-TR" dirty="0"/>
              <a:t>m aralığını kaydetmişken, </a:t>
            </a:r>
            <a:r>
              <a:rPr lang="tr-TR" dirty="0" err="1" smtClean="0"/>
              <a:t>hiperspektral</a:t>
            </a:r>
            <a:r>
              <a:rPr lang="tr-TR" dirty="0" smtClean="0"/>
              <a:t> görüntüleyici </a:t>
            </a:r>
            <a:r>
              <a:rPr lang="tr-TR" dirty="0"/>
              <a:t>bu aralığı 50 bantta gösterir. Böylece neredeyse sürekli bir yansıma </a:t>
            </a:r>
            <a:r>
              <a:rPr lang="tr-TR" dirty="0" smtClean="0"/>
              <a:t>eğrisi üretilmiş </a:t>
            </a:r>
            <a:r>
              <a:rPr lang="tr-TR" dirty="0"/>
              <a:t>ve yüzey cisimlerine ait en küçük yansıma detayları kaydedilmiş olur. Bundan </a:t>
            </a:r>
            <a:r>
              <a:rPr lang="tr-TR" dirty="0" smtClean="0"/>
              <a:t>dolayı kaydedilmiş </a:t>
            </a:r>
            <a:r>
              <a:rPr lang="tr-TR" dirty="0"/>
              <a:t>spektral yansıma eğrisi ölçülen materyalin kimyasal bileşimi ve </a:t>
            </a:r>
            <a:r>
              <a:rPr lang="tr-TR" dirty="0" smtClean="0"/>
              <a:t>mikroskobik yapısına </a:t>
            </a:r>
            <a:r>
              <a:rPr lang="tr-TR" dirty="0"/>
              <a:t>bağlı olarak değişiklik gösterir. </a:t>
            </a:r>
            <a:endParaRPr lang="tr-TR" dirty="0" smtClean="0"/>
          </a:p>
          <a:p>
            <a:r>
              <a:rPr lang="tr-TR" dirty="0" err="1" smtClean="0"/>
              <a:t>Hiperspektral</a:t>
            </a:r>
            <a:r>
              <a:rPr lang="tr-TR" dirty="0" smtClean="0"/>
              <a:t> </a:t>
            </a:r>
            <a:r>
              <a:rPr lang="tr-TR" dirty="0"/>
              <a:t>görüntüleyici verileri yüzeyin </a:t>
            </a:r>
            <a:r>
              <a:rPr lang="tr-TR" dirty="0" smtClean="0"/>
              <a:t>mineral içeriği</a:t>
            </a:r>
            <a:r>
              <a:rPr lang="tr-TR" dirty="0"/>
              <a:t>, yüzey sularının klorofil içeriği veya asılı yük miktarlarının </a:t>
            </a:r>
            <a:r>
              <a:rPr lang="tr-TR" dirty="0" smtClean="0"/>
              <a:t>belirlenmesinde kullanılabilir</a:t>
            </a:r>
            <a:r>
              <a:rPr lang="tr-TR" dirty="0"/>
              <a:t>. Şekil 3.6 Kuzey denizindeki asılı yük miktarını gösterir bir görüntüdür. </a:t>
            </a:r>
            <a:r>
              <a:rPr lang="tr-TR" dirty="0" smtClean="0"/>
              <a:t>Bu görüntüde </a:t>
            </a:r>
            <a:r>
              <a:rPr lang="tr-TR" dirty="0"/>
              <a:t>deniz içerisindeki çok küçük unsurlardan oluşan asılı yükler </a:t>
            </a:r>
            <a:r>
              <a:rPr lang="tr-TR" dirty="0" err="1" smtClean="0"/>
              <a:t>hiperspektrometre</a:t>
            </a:r>
            <a:r>
              <a:rPr lang="tr-TR" dirty="0" smtClean="0"/>
              <a:t> görüntüleyici </a:t>
            </a:r>
            <a:r>
              <a:rPr lang="tr-TR" dirty="0"/>
              <a:t>ile kolay bir şekilde tespit edilebilmektedir. Kırmız renkler asılı yükün </a:t>
            </a:r>
            <a:r>
              <a:rPr lang="tr-TR" dirty="0" smtClean="0"/>
              <a:t>fazla olduğu </a:t>
            </a:r>
            <a:r>
              <a:rPr lang="tr-TR" dirty="0"/>
              <a:t>alanları gösterirken mavi renk asılı yükün olmadığı alanları göstermektedir.</a:t>
            </a:r>
          </a:p>
        </p:txBody>
      </p:sp>
    </p:spTree>
    <p:extLst>
      <p:ext uri="{BB962C8B-B14F-4D97-AF65-F5344CB8AC3E}">
        <p14:creationId xmlns:p14="http://schemas.microsoft.com/office/powerpoint/2010/main" val="2562621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804" y="1690688"/>
            <a:ext cx="6879990" cy="5167312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Algılayıcılar (</a:t>
            </a:r>
            <a:r>
              <a:rPr lang="tr-TR" b="1" dirty="0" err="1"/>
              <a:t>Hiperspektral</a:t>
            </a:r>
            <a:r>
              <a:rPr lang="tr-TR" b="1" dirty="0"/>
              <a:t> Görüntüleyici (Görüntü spektrometre))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33179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Algılayıcılar </a:t>
            </a:r>
            <a:r>
              <a:rPr lang="tr-TR" b="1" dirty="0" smtClean="0"/>
              <a:t>(</a:t>
            </a:r>
            <a:r>
              <a:rPr lang="tr-TR" b="1" dirty="0"/>
              <a:t>Termal </a:t>
            </a:r>
            <a:r>
              <a:rPr lang="tr-TR" b="1" dirty="0" smtClean="0"/>
              <a:t>Tarayıcılar)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540042"/>
            <a:ext cx="10515600" cy="5069305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Bu tarayıcılar 8 – 14 </a:t>
            </a:r>
            <a:r>
              <a:rPr lang="el-GR" dirty="0"/>
              <a:t>μ</a:t>
            </a:r>
            <a:r>
              <a:rPr lang="tr-TR" dirty="0"/>
              <a:t>m aralığındaki termal verileri ölçer. Bu aralıktaki dalga </a:t>
            </a:r>
            <a:r>
              <a:rPr lang="tr-TR" dirty="0" smtClean="0"/>
              <a:t>boyu direkt </a:t>
            </a:r>
            <a:r>
              <a:rPr lang="tr-TR" dirty="0"/>
              <a:t>olarak objelerin sıcaklıkları ile ilişkilidir. Örneğin hava tahminlerinde bulut, kara </a:t>
            </a:r>
            <a:r>
              <a:rPr lang="tr-TR" dirty="0" smtClean="0"/>
              <a:t>ve deniz </a:t>
            </a:r>
            <a:r>
              <a:rPr lang="tr-TR" dirty="0"/>
              <a:t>yüzeyi sıcaklık verilerinin bilinmesi gerekmektedir. Bundan dolayı meteoroloji </a:t>
            </a:r>
            <a:r>
              <a:rPr lang="tr-TR" dirty="0" smtClean="0"/>
              <a:t>için tasarlanmış </a:t>
            </a:r>
            <a:r>
              <a:rPr lang="tr-TR" dirty="0"/>
              <a:t>uzaktan algılama sistemlerinin çoğunda termal tarayıcılar mevcuttur. </a:t>
            </a:r>
            <a:r>
              <a:rPr lang="tr-TR" dirty="0" smtClean="0"/>
              <a:t>Termal tarayıcılar </a:t>
            </a:r>
            <a:r>
              <a:rPr lang="tr-TR" dirty="0"/>
              <a:t>ayrıca tarımsal kuraklık takibi, termik santrallerin soğutma su atıklarına </a:t>
            </a:r>
            <a:r>
              <a:rPr lang="tr-TR" dirty="0" smtClean="0"/>
              <a:t>ait sıcaklıkların </a:t>
            </a:r>
            <a:r>
              <a:rPr lang="tr-TR" dirty="0"/>
              <a:t>takibi veya yeraltı kömür yangınlarının belirlenmesi gibi </a:t>
            </a:r>
            <a:r>
              <a:rPr lang="tr-TR" dirty="0" smtClean="0"/>
              <a:t>çalışmalarda kullanılabilmektedir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 smtClean="0"/>
              <a:t>Şekil </a:t>
            </a:r>
            <a:r>
              <a:rPr lang="tr-TR" dirty="0"/>
              <a:t>3.7 gece vakti yeraltındaki kömür yangılarını göstermektedir. </a:t>
            </a:r>
            <a:r>
              <a:rPr lang="tr-TR" dirty="0" smtClean="0"/>
              <a:t>Siyah olan </a:t>
            </a:r>
            <a:r>
              <a:rPr lang="tr-TR" dirty="0"/>
              <a:t>alanlar soğuk yüzeyleri temsil ederken açık renkler ise sıcak yüzeyleri gösterir. </a:t>
            </a:r>
            <a:r>
              <a:rPr lang="tr-TR" dirty="0" smtClean="0"/>
              <a:t>Beyaz alanların </a:t>
            </a:r>
            <a:r>
              <a:rPr lang="tr-TR" dirty="0"/>
              <a:t>çoğu yeraltındaki kömür yangılarını gösterirken, kırmızı çember içindeki büyük </a:t>
            </a:r>
            <a:r>
              <a:rPr lang="tr-TR" dirty="0" smtClean="0"/>
              <a:t>beyaz alan </a:t>
            </a:r>
            <a:r>
              <a:rPr lang="tr-TR" dirty="0"/>
              <a:t>kömür yangınını göstermez. Bu beyazlık bir göl alanını gösterir. Bunun nedeni de </a:t>
            </a:r>
            <a:r>
              <a:rPr lang="tr-TR" dirty="0" smtClean="0"/>
              <a:t>suyun geceleri </a:t>
            </a:r>
            <a:r>
              <a:rPr lang="tr-TR" dirty="0"/>
              <a:t>karalara göre daha sıcak olmasından kaynaklanır. Dolayısıyla böyle bir </a:t>
            </a:r>
            <a:r>
              <a:rPr lang="tr-TR" dirty="0" smtClean="0"/>
              <a:t>görüntünün doğru </a:t>
            </a:r>
            <a:r>
              <a:rPr lang="tr-TR" dirty="0"/>
              <a:t>yorumlanmasında saha hakkında bilgi sahibi olunmasının büyük önemi vardır.</a:t>
            </a:r>
          </a:p>
        </p:txBody>
      </p:sp>
    </p:spTree>
    <p:extLst>
      <p:ext uri="{BB962C8B-B14F-4D97-AF65-F5344CB8AC3E}">
        <p14:creationId xmlns:p14="http://schemas.microsoft.com/office/powerpoint/2010/main" val="3910947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108" y="1289636"/>
            <a:ext cx="7741783" cy="5367838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Algılayıcılar (Termal Tarayıcılar)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83214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Pasif Algılayıcılar (Mikrodalga Radyometre)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7680"/>
          </a:xfrm>
        </p:spPr>
        <p:txBody>
          <a:bodyPr>
            <a:normAutofit/>
          </a:bodyPr>
          <a:lstStyle/>
          <a:p>
            <a:r>
              <a:rPr lang="tr-TR" dirty="0"/>
              <a:t>Yeryüzündeki obje yüzeylerinden yayılan ve EM spektrumun uzun dalga boyları olan </a:t>
            </a:r>
            <a:r>
              <a:rPr lang="tr-TR" dirty="0" smtClean="0"/>
              <a:t>1– </a:t>
            </a:r>
            <a:r>
              <a:rPr lang="tr-TR" dirty="0"/>
              <a:t>100 cm aralığını kaydeder. 0 Kelvin (-</a:t>
            </a:r>
            <a:r>
              <a:rPr lang="tr-TR" dirty="0" smtClean="0"/>
              <a:t>273</a:t>
            </a:r>
            <a:r>
              <a:rPr lang="tr-TR" baseline="30000" dirty="0" smtClean="0"/>
              <a:t>o</a:t>
            </a:r>
            <a:r>
              <a:rPr lang="tr-TR" dirty="0" smtClean="0"/>
              <a:t> C</a:t>
            </a:r>
            <a:r>
              <a:rPr lang="tr-TR" dirty="0"/>
              <a:t>) üzerindeki ısıya sahip objeler enerji </a:t>
            </a:r>
            <a:r>
              <a:rPr lang="tr-TR" dirty="0" smtClean="0"/>
              <a:t>yayarlar. Bu </a:t>
            </a:r>
            <a:r>
              <a:rPr lang="tr-TR" dirty="0"/>
              <a:t>enerji değeri oldukça az olduğu için geniş alanların ölçümü yapılır ve </a:t>
            </a:r>
            <a:r>
              <a:rPr lang="tr-TR" dirty="0" smtClean="0"/>
              <a:t>dolayısıyla mikrodalga </a:t>
            </a:r>
            <a:r>
              <a:rPr lang="tr-TR" dirty="0"/>
              <a:t>radyometrenin mekânsal çözünürlüğü oldukça düşüktür. Pasif </a:t>
            </a:r>
            <a:r>
              <a:rPr lang="tr-TR" dirty="0" smtClean="0"/>
              <a:t>mikrodalga radyometre </a:t>
            </a:r>
            <a:r>
              <a:rPr lang="tr-TR" dirty="0"/>
              <a:t>mineral çalışmalarında, toprak haritalamalarda, toprak nemliliği </a:t>
            </a:r>
            <a:r>
              <a:rPr lang="tr-TR" dirty="0" smtClean="0"/>
              <a:t>tahminlerinde, </a:t>
            </a:r>
            <a:r>
              <a:rPr lang="tr-TR" dirty="0" smtClean="0"/>
              <a:t>kar </a:t>
            </a:r>
            <a:r>
              <a:rPr lang="tr-TR" dirty="0"/>
              <a:t>ve buzul örtüsü belirlemelerinde kullanılabilir. Şekil 3.8 </a:t>
            </a:r>
            <a:r>
              <a:rPr lang="tr-TR" dirty="0" err="1"/>
              <a:t>İber</a:t>
            </a:r>
            <a:r>
              <a:rPr lang="tr-TR" dirty="0"/>
              <a:t> Yarımadasında, 10 yıllık </a:t>
            </a:r>
            <a:r>
              <a:rPr lang="tr-TR" dirty="0" smtClean="0"/>
              <a:t>süre içerisindeki </a:t>
            </a:r>
            <a:r>
              <a:rPr lang="tr-TR" dirty="0"/>
              <a:t>toprak nemliliği değişim eğilimini göstermektedir. Kırmızı alanlar topraktaki </a:t>
            </a:r>
            <a:r>
              <a:rPr lang="tr-TR" dirty="0" smtClean="0"/>
              <a:t>nem oranını </a:t>
            </a:r>
            <a:r>
              <a:rPr lang="tr-TR" dirty="0"/>
              <a:t>%5-10 arasındaki azalımı göstermektedir. Görüntü çok büyük alanı kapladığı </a:t>
            </a:r>
            <a:r>
              <a:rPr lang="tr-TR" dirty="0" smtClean="0"/>
              <a:t>için çözünürlüğü </a:t>
            </a:r>
            <a:r>
              <a:rPr lang="tr-TR" dirty="0"/>
              <a:t>oldukça düşüktür.</a:t>
            </a:r>
          </a:p>
        </p:txBody>
      </p:sp>
    </p:spTree>
    <p:extLst>
      <p:ext uri="{BB962C8B-B14F-4D97-AF65-F5344CB8AC3E}">
        <p14:creationId xmlns:p14="http://schemas.microsoft.com/office/powerpoint/2010/main" val="3292161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2"/>
          <a:stretch/>
        </p:blipFill>
        <p:spPr>
          <a:xfrm>
            <a:off x="3252293" y="1027906"/>
            <a:ext cx="5687413" cy="5773947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tr-TR" b="1" dirty="0"/>
              <a:t>Pasif Algılayıcılar </a:t>
            </a:r>
            <a:r>
              <a:rPr lang="tr-TR" b="1" dirty="0" smtClean="0"/>
              <a:t>(</a:t>
            </a:r>
            <a:r>
              <a:rPr lang="tr-TR" b="1" dirty="0"/>
              <a:t>Mikrodalga </a:t>
            </a:r>
            <a:r>
              <a:rPr lang="tr-TR" b="1" dirty="0" smtClean="0"/>
              <a:t>Radyometre)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24955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DCB7A48CD16EE43B925771B387E1328" ma:contentTypeVersion="4" ma:contentTypeDescription="Yeni belge oluşturun." ma:contentTypeScope="" ma:versionID="8cd08cc54155ef2839875b24107c4d91">
  <xsd:schema xmlns:xsd="http://www.w3.org/2001/XMLSchema" xmlns:xs="http://www.w3.org/2001/XMLSchema" xmlns:p="http://schemas.microsoft.com/office/2006/metadata/properties" xmlns:ns2="cd4edf54-67b3-4910-9de7-59ff84f4ae2e" targetNamespace="http://schemas.microsoft.com/office/2006/metadata/properties" ma:root="true" ma:fieldsID="020b23ac89fbdb1593e8cd77d9d69472" ns2:_="">
    <xsd:import namespace="cd4edf54-67b3-4910-9de7-59ff84f4ae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4edf54-67b3-4910-9de7-59ff84f4ae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D440F2-B0BC-4587-A120-CC453EE37DFF}"/>
</file>

<file path=customXml/itemProps2.xml><?xml version="1.0" encoding="utf-8"?>
<ds:datastoreItem xmlns:ds="http://schemas.openxmlformats.org/officeDocument/2006/customXml" ds:itemID="{9FD5B4B4-B2E5-4A78-A0DF-F93B7DD24E9C}"/>
</file>

<file path=customXml/itemProps3.xml><?xml version="1.0" encoding="utf-8"?>
<ds:datastoreItem xmlns:ds="http://schemas.openxmlformats.org/officeDocument/2006/customXml" ds:itemID="{91389307-36DD-439F-BB14-E29653AEDB8D}"/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1181</Words>
  <Application>Microsoft Office PowerPoint</Application>
  <PresentationFormat>Geniş ekran</PresentationFormat>
  <Paragraphs>43</Paragraphs>
  <Slides>18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Teması</vt:lpstr>
      <vt:lpstr>Çukurova Üniversitesi  Karaisalı Meslek Yüksekokulu</vt:lpstr>
      <vt:lpstr>ALGILAYICILAR (PASİF)</vt:lpstr>
      <vt:lpstr>ALGILAYICILAR (PASİF)</vt:lpstr>
      <vt:lpstr>Pasif Algılayıcılar (Gama Işını Spektrometre)</vt:lpstr>
      <vt:lpstr>Pasif Algılayıcılar (Gama Işını Spektrometre)</vt:lpstr>
      <vt:lpstr>Pasif Algılayıcılar (Hava Kameraları)</vt:lpstr>
      <vt:lpstr>Pasif Algılayıcılar (Hava Kameraları)</vt:lpstr>
      <vt:lpstr>Pasif Algılayıcılar (Hava Kameraları)</vt:lpstr>
      <vt:lpstr>Pasif Algılayıcılar (Video Kamera)</vt:lpstr>
      <vt:lpstr>Pasif Algılayıcılar (Video Kamera)</vt:lpstr>
      <vt:lpstr>Pasif Algılayıcılar (Çok Bantlı Tarayıcılar (MSS))</vt:lpstr>
      <vt:lpstr>Pasif Algılayıcılar (Çok Bantlı Tarayıcılar (MSS))</vt:lpstr>
      <vt:lpstr>Pasif Algılayıcılar (Hiperspektral Görüntüleyici (Görüntü spektrometre))</vt:lpstr>
      <vt:lpstr>Pasif Algılayıcılar (Hiperspektral Görüntüleyici (Görüntü spektrometre))</vt:lpstr>
      <vt:lpstr>Pasif Algılayıcılar (Termal Tarayıcılar)</vt:lpstr>
      <vt:lpstr>Pasif Algılayıcılar (Termal Tarayıcılar)</vt:lpstr>
      <vt:lpstr>Pasif Algılayıcılar (Mikrodalga Radyometre)</vt:lpstr>
      <vt:lpstr>Pasif Algılayıcılar (Mikrodalga Radyometre)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Çukurova Üniversitesi  Karaisalı Meslek Yüksekokulu</dc:title>
  <dc:creator>Buray Karslı</dc:creator>
  <cp:lastModifiedBy>Buray Karslı</cp:lastModifiedBy>
  <cp:revision>61</cp:revision>
  <dcterms:created xsi:type="dcterms:W3CDTF">2024-07-04T08:09:56Z</dcterms:created>
  <dcterms:modified xsi:type="dcterms:W3CDTF">2024-10-30T06:25:51Z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0x010100DDCB7A48CD16EE43B925771B387E1328</vt:lpwstr>
  </property>
</Properties>
</file>