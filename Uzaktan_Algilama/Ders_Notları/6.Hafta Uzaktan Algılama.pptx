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5.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8" r:id="rId3"/>
    <p:sldId id="259" r:id="rId4"/>
    <p:sldId id="260" r:id="rId5"/>
    <p:sldId id="283" r:id="rId6"/>
    <p:sldId id="261" r:id="rId7"/>
    <p:sldId id="262" r:id="rId8"/>
    <p:sldId id="263" r:id="rId9"/>
    <p:sldId id="264" r:id="rId10"/>
    <p:sldId id="266" r:id="rId11"/>
    <p:sldId id="267" r:id="rId12"/>
    <p:sldId id="265"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72" autoAdjust="0"/>
  </p:normalViewPr>
  <p:slideViewPr>
    <p:cSldViewPr snapToGrid="0">
      <p:cViewPr varScale="1">
        <p:scale>
          <a:sx n="108" d="100"/>
          <a:sy n="108" d="100"/>
        </p:scale>
        <p:origin x="678"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openxmlformats.org/officeDocument/2006/relationships/customXml" Target="../customXml/item2.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0EBEE3-403F-4C70-A1A1-2BB1B32F48D5}" type="datetimeFigureOut">
              <a:rPr lang="tr-TR" smtClean="0"/>
              <a:t>29.11.2024</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D209F0-F6B3-41A2-8C9A-3E39791D5DED}" type="slidenum">
              <a:rPr lang="tr-TR" smtClean="0"/>
              <a:t>‹#›</a:t>
            </a:fld>
            <a:endParaRPr lang="tr-TR"/>
          </a:p>
        </p:txBody>
      </p:sp>
    </p:spTree>
    <p:extLst>
      <p:ext uri="{BB962C8B-B14F-4D97-AF65-F5344CB8AC3E}">
        <p14:creationId xmlns:p14="http://schemas.microsoft.com/office/powerpoint/2010/main" val="2417250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smtClean="0"/>
              <a:t>Asıl başlık stili için tıklatın</a:t>
            </a:r>
            <a:endParaRPr lang="tr-T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tıklayın</a:t>
            </a:r>
            <a:endParaRPr lang="tr-TR"/>
          </a:p>
        </p:txBody>
      </p:sp>
      <p:sp>
        <p:nvSpPr>
          <p:cNvPr id="4" name="Veri Yer Tutucusu 3"/>
          <p:cNvSpPr>
            <a:spLocks noGrp="1"/>
          </p:cNvSpPr>
          <p:nvPr>
            <p:ph type="dt" sz="half" idx="10"/>
          </p:nvPr>
        </p:nvSpPr>
        <p:spPr/>
        <p:txBody>
          <a:bodyPr/>
          <a:lstStyle/>
          <a:p>
            <a:fld id="{91431E0E-70AA-4C5F-B0F7-EBC0C05F04ED}" type="datetimeFigureOut">
              <a:rPr lang="tr-TR" smtClean="0"/>
              <a:t>29.11.2024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EE745DBF-774D-44C2-AD8F-D2B9FF9FBA48}" type="slidenum">
              <a:rPr lang="tr-TR" smtClean="0"/>
              <a:t>‹#›</a:t>
            </a:fld>
            <a:endParaRPr lang="tr-TR"/>
          </a:p>
        </p:txBody>
      </p:sp>
    </p:spTree>
    <p:extLst>
      <p:ext uri="{BB962C8B-B14F-4D97-AF65-F5344CB8AC3E}">
        <p14:creationId xmlns:p14="http://schemas.microsoft.com/office/powerpoint/2010/main" val="254425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1431E0E-70AA-4C5F-B0F7-EBC0C05F04ED}" type="datetimeFigureOut">
              <a:rPr lang="tr-TR" smtClean="0"/>
              <a:t>29.11.2024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EE745DBF-774D-44C2-AD8F-D2B9FF9FBA48}" type="slidenum">
              <a:rPr lang="tr-TR" smtClean="0"/>
              <a:t>‹#›</a:t>
            </a:fld>
            <a:endParaRPr lang="tr-TR"/>
          </a:p>
        </p:txBody>
      </p:sp>
    </p:spTree>
    <p:extLst>
      <p:ext uri="{BB962C8B-B14F-4D97-AF65-F5344CB8AC3E}">
        <p14:creationId xmlns:p14="http://schemas.microsoft.com/office/powerpoint/2010/main" val="2069213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smtClean="0"/>
              <a:t>Asıl başlık stili için tıklatın</a:t>
            </a:r>
            <a:endParaRPr lang="tr-T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a:t>
            </a:r>
          </a:p>
        </p:txBody>
      </p:sp>
      <p:sp>
        <p:nvSpPr>
          <p:cNvPr id="4" name="Veri Yer Tutucusu 3"/>
          <p:cNvSpPr>
            <a:spLocks noGrp="1"/>
          </p:cNvSpPr>
          <p:nvPr>
            <p:ph type="dt" sz="half" idx="10"/>
          </p:nvPr>
        </p:nvSpPr>
        <p:spPr/>
        <p:txBody>
          <a:bodyPr/>
          <a:lstStyle/>
          <a:p>
            <a:fld id="{91431E0E-70AA-4C5F-B0F7-EBC0C05F04ED}" type="datetimeFigureOut">
              <a:rPr lang="tr-TR" smtClean="0"/>
              <a:t>29.11.2024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EE745DBF-774D-44C2-AD8F-D2B9FF9FBA48}" type="slidenum">
              <a:rPr lang="tr-TR" smtClean="0"/>
              <a:t>‹#›</a:t>
            </a:fld>
            <a:endParaRPr lang="tr-TR"/>
          </a:p>
        </p:txBody>
      </p:sp>
    </p:spTree>
    <p:extLst>
      <p:ext uri="{BB962C8B-B14F-4D97-AF65-F5344CB8AC3E}">
        <p14:creationId xmlns:p14="http://schemas.microsoft.com/office/powerpoint/2010/main" val="4090366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838200" y="1825625"/>
            <a:ext cx="51816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6172200" y="1825625"/>
            <a:ext cx="51816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91431E0E-70AA-4C5F-B0F7-EBC0C05F04ED}" type="datetimeFigureOut">
              <a:rPr lang="tr-TR" smtClean="0"/>
              <a:t>29.11.2024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EE745DBF-774D-44C2-AD8F-D2B9FF9FBA48}" type="slidenum">
              <a:rPr lang="tr-TR" smtClean="0"/>
              <a:t>‹#›</a:t>
            </a:fld>
            <a:endParaRPr lang="tr-TR"/>
          </a:p>
        </p:txBody>
      </p:sp>
    </p:spTree>
    <p:extLst>
      <p:ext uri="{BB962C8B-B14F-4D97-AF65-F5344CB8AC3E}">
        <p14:creationId xmlns:p14="http://schemas.microsoft.com/office/powerpoint/2010/main" val="1981907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smtClean="0"/>
              <a:t>Asıl başlık stili için tıklatın</a:t>
            </a:r>
            <a:endParaRPr lang="tr-T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İçerik Yer Tutucusu 3"/>
          <p:cNvSpPr>
            <a:spLocks noGrp="1"/>
          </p:cNvSpPr>
          <p:nvPr>
            <p:ph sz="half" idx="2"/>
          </p:nvPr>
        </p:nvSpPr>
        <p:spPr>
          <a:xfrm>
            <a:off x="839788" y="2505075"/>
            <a:ext cx="5157787"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İçerik Yer Tutucusu 5"/>
          <p:cNvSpPr>
            <a:spLocks noGrp="1"/>
          </p:cNvSpPr>
          <p:nvPr>
            <p:ph sz="quarter" idx="4"/>
          </p:nvPr>
        </p:nvSpPr>
        <p:spPr>
          <a:xfrm>
            <a:off x="6172200" y="2505075"/>
            <a:ext cx="5183188"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91431E0E-70AA-4C5F-B0F7-EBC0C05F04ED}" type="datetimeFigureOut">
              <a:rPr lang="tr-TR" smtClean="0"/>
              <a:t>29.11.2024</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EE745DBF-774D-44C2-AD8F-D2B9FF9FBA48}" type="slidenum">
              <a:rPr lang="tr-TR" smtClean="0"/>
              <a:t>‹#›</a:t>
            </a:fld>
            <a:endParaRPr lang="tr-TR"/>
          </a:p>
        </p:txBody>
      </p:sp>
    </p:spTree>
    <p:extLst>
      <p:ext uri="{BB962C8B-B14F-4D97-AF65-F5344CB8AC3E}">
        <p14:creationId xmlns:p14="http://schemas.microsoft.com/office/powerpoint/2010/main" val="1503557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91431E0E-70AA-4C5F-B0F7-EBC0C05F04ED}" type="datetimeFigureOut">
              <a:rPr lang="tr-TR" smtClean="0"/>
              <a:t>29.11.2024</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EE745DBF-774D-44C2-AD8F-D2B9FF9FBA48}" type="slidenum">
              <a:rPr lang="tr-TR" smtClean="0"/>
              <a:t>‹#›</a:t>
            </a:fld>
            <a:endParaRPr lang="tr-TR"/>
          </a:p>
        </p:txBody>
      </p:sp>
    </p:spTree>
    <p:extLst>
      <p:ext uri="{BB962C8B-B14F-4D97-AF65-F5344CB8AC3E}">
        <p14:creationId xmlns:p14="http://schemas.microsoft.com/office/powerpoint/2010/main" val="321122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91431E0E-70AA-4C5F-B0F7-EBC0C05F04ED}" type="datetimeFigureOut">
              <a:rPr lang="tr-TR" smtClean="0"/>
              <a:t>29.11.2024</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EE745DBF-774D-44C2-AD8F-D2B9FF9FBA48}" type="slidenum">
              <a:rPr lang="tr-TR" smtClean="0"/>
              <a:t>‹#›</a:t>
            </a:fld>
            <a:endParaRPr lang="tr-TR"/>
          </a:p>
        </p:txBody>
      </p:sp>
    </p:spTree>
    <p:extLst>
      <p:ext uri="{BB962C8B-B14F-4D97-AF65-F5344CB8AC3E}">
        <p14:creationId xmlns:p14="http://schemas.microsoft.com/office/powerpoint/2010/main" val="115715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Veri Yer Tutucusu 4"/>
          <p:cNvSpPr>
            <a:spLocks noGrp="1"/>
          </p:cNvSpPr>
          <p:nvPr>
            <p:ph type="dt" sz="half" idx="10"/>
          </p:nvPr>
        </p:nvSpPr>
        <p:spPr/>
        <p:txBody>
          <a:bodyPr/>
          <a:lstStyle/>
          <a:p>
            <a:fld id="{91431E0E-70AA-4C5F-B0F7-EBC0C05F04ED}" type="datetimeFigureOut">
              <a:rPr lang="tr-TR" smtClean="0"/>
              <a:t>29.11.2024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EE745DBF-774D-44C2-AD8F-D2B9FF9FBA48}" type="slidenum">
              <a:rPr lang="tr-TR" smtClean="0"/>
              <a:t>‹#›</a:t>
            </a:fld>
            <a:endParaRPr lang="tr-TR"/>
          </a:p>
        </p:txBody>
      </p:sp>
    </p:spTree>
    <p:extLst>
      <p:ext uri="{BB962C8B-B14F-4D97-AF65-F5344CB8AC3E}">
        <p14:creationId xmlns:p14="http://schemas.microsoft.com/office/powerpoint/2010/main" val="1822426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Veri Yer Tutucusu 4"/>
          <p:cNvSpPr>
            <a:spLocks noGrp="1"/>
          </p:cNvSpPr>
          <p:nvPr>
            <p:ph type="dt" sz="half" idx="10"/>
          </p:nvPr>
        </p:nvSpPr>
        <p:spPr/>
        <p:txBody>
          <a:bodyPr/>
          <a:lstStyle/>
          <a:p>
            <a:fld id="{91431E0E-70AA-4C5F-B0F7-EBC0C05F04ED}" type="datetimeFigureOut">
              <a:rPr lang="tr-TR" smtClean="0"/>
              <a:t>29.11.2024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EE745DBF-774D-44C2-AD8F-D2B9FF9FBA48}" type="slidenum">
              <a:rPr lang="tr-TR" smtClean="0"/>
              <a:t>‹#›</a:t>
            </a:fld>
            <a:endParaRPr lang="tr-TR"/>
          </a:p>
        </p:txBody>
      </p:sp>
    </p:spTree>
    <p:extLst>
      <p:ext uri="{BB962C8B-B14F-4D97-AF65-F5344CB8AC3E}">
        <p14:creationId xmlns:p14="http://schemas.microsoft.com/office/powerpoint/2010/main" val="44301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1431E0E-70AA-4C5F-B0F7-EBC0C05F04ED}" type="datetimeFigureOut">
              <a:rPr lang="tr-TR" smtClean="0"/>
              <a:t>29.11.2024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EE745DBF-774D-44C2-AD8F-D2B9FF9FBA48}" type="slidenum">
              <a:rPr lang="tr-TR" smtClean="0"/>
              <a:t>‹#›</a:t>
            </a:fld>
            <a:endParaRPr lang="tr-TR"/>
          </a:p>
        </p:txBody>
      </p:sp>
    </p:spTree>
    <p:extLst>
      <p:ext uri="{BB962C8B-B14F-4D97-AF65-F5344CB8AC3E}">
        <p14:creationId xmlns:p14="http://schemas.microsoft.com/office/powerpoint/2010/main" val="3721719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1431E0E-70AA-4C5F-B0F7-EBC0C05F04ED}" type="datetimeFigureOut">
              <a:rPr lang="tr-TR" smtClean="0"/>
              <a:t>29.11.2024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EE745DBF-774D-44C2-AD8F-D2B9FF9FBA48}" type="slidenum">
              <a:rPr lang="tr-TR" smtClean="0"/>
              <a:t>‹#›</a:t>
            </a:fld>
            <a:endParaRPr lang="tr-TR"/>
          </a:p>
        </p:txBody>
      </p:sp>
    </p:spTree>
    <p:extLst>
      <p:ext uri="{BB962C8B-B14F-4D97-AF65-F5344CB8AC3E}">
        <p14:creationId xmlns:p14="http://schemas.microsoft.com/office/powerpoint/2010/main" val="2954747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431E0E-70AA-4C5F-B0F7-EBC0C05F04ED}" type="datetimeFigureOut">
              <a:rPr lang="tr-TR" smtClean="0"/>
              <a:t>29.11.2024</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745DBF-774D-44C2-AD8F-D2B9FF9FBA48}" type="slidenum">
              <a:rPr lang="tr-TR" smtClean="0"/>
              <a:t>‹#›</a:t>
            </a:fld>
            <a:endParaRPr lang="tr-TR"/>
          </a:p>
        </p:txBody>
      </p:sp>
    </p:spTree>
    <p:extLst>
      <p:ext uri="{BB962C8B-B14F-4D97-AF65-F5344CB8AC3E}">
        <p14:creationId xmlns:p14="http://schemas.microsoft.com/office/powerpoint/2010/main" val="2906435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Resim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3009499"/>
            <a:ext cx="5069921" cy="3848500"/>
          </a:xfrm>
          <a:prstGeom prst="rect">
            <a:avLst/>
          </a:prstGeom>
        </p:spPr>
      </p:pic>
      <p:sp>
        <p:nvSpPr>
          <p:cNvPr id="2" name="Unvan 1"/>
          <p:cNvSpPr>
            <a:spLocks noGrp="1"/>
          </p:cNvSpPr>
          <p:nvPr>
            <p:ph type="ctrTitle"/>
          </p:nvPr>
        </p:nvSpPr>
        <p:spPr>
          <a:xfrm>
            <a:off x="1500554" y="-354745"/>
            <a:ext cx="9144000" cy="2387600"/>
          </a:xfrm>
        </p:spPr>
        <p:txBody>
          <a:bodyPr/>
          <a:lstStyle/>
          <a:p>
            <a:r>
              <a:rPr lang="tr-TR" dirty="0" smtClean="0"/>
              <a:t>Çukurova Üniversitesi </a:t>
            </a:r>
            <a:br>
              <a:rPr lang="tr-TR" dirty="0" smtClean="0"/>
            </a:br>
            <a:r>
              <a:rPr lang="tr-TR" sz="5000" dirty="0" smtClean="0"/>
              <a:t>Karaisalı Meslek Yüksekokulu</a:t>
            </a:r>
            <a:endParaRPr lang="tr-TR" sz="5000" dirty="0"/>
          </a:p>
        </p:txBody>
      </p:sp>
      <p:sp>
        <p:nvSpPr>
          <p:cNvPr id="3" name="Alt Başlık 2"/>
          <p:cNvSpPr>
            <a:spLocks noGrp="1"/>
          </p:cNvSpPr>
          <p:nvPr>
            <p:ph type="subTitle" idx="1"/>
          </p:nvPr>
        </p:nvSpPr>
        <p:spPr>
          <a:xfrm>
            <a:off x="1075592" y="2592660"/>
            <a:ext cx="10521462" cy="4071438"/>
          </a:xfrm>
        </p:spPr>
        <p:txBody>
          <a:bodyPr>
            <a:normAutofit fontScale="92500" lnSpcReduction="10000"/>
          </a:bodyPr>
          <a:lstStyle/>
          <a:p>
            <a:r>
              <a:rPr lang="tr-TR" sz="3500" dirty="0" smtClean="0"/>
              <a:t>UZAKTAN ALGILAMA</a:t>
            </a:r>
            <a:r>
              <a:rPr lang="tr-TR" dirty="0" smtClean="0"/>
              <a:t> </a:t>
            </a:r>
          </a:p>
          <a:p>
            <a:endParaRPr lang="tr-TR" dirty="0"/>
          </a:p>
          <a:p>
            <a:endParaRPr lang="tr-TR" dirty="0" smtClean="0"/>
          </a:p>
          <a:p>
            <a:endParaRPr lang="tr-TR" dirty="0" smtClean="0"/>
          </a:p>
          <a:p>
            <a:pPr algn="r"/>
            <a:endParaRPr lang="tr-TR" sz="3000" dirty="0" smtClean="0"/>
          </a:p>
          <a:p>
            <a:pPr algn="r"/>
            <a:endParaRPr lang="tr-TR" sz="3000" dirty="0"/>
          </a:p>
          <a:p>
            <a:pPr algn="r"/>
            <a:endParaRPr lang="tr-TR" sz="3000" dirty="0" smtClean="0"/>
          </a:p>
          <a:p>
            <a:pPr algn="r"/>
            <a:endParaRPr lang="tr-TR" sz="3000" dirty="0"/>
          </a:p>
          <a:p>
            <a:pPr algn="r"/>
            <a:r>
              <a:rPr lang="tr-TR" sz="3000" dirty="0" err="1" smtClean="0"/>
              <a:t>Öğr</a:t>
            </a:r>
            <a:r>
              <a:rPr lang="tr-TR" sz="3000" dirty="0" smtClean="0"/>
              <a:t>. Gör. Buray KARSLI</a:t>
            </a:r>
            <a:endParaRPr lang="tr-TR" sz="3000" dirty="0"/>
          </a:p>
        </p:txBody>
      </p:sp>
      <p:pic>
        <p:nvPicPr>
          <p:cNvPr id="4" name="Resim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024" y="306569"/>
            <a:ext cx="2143125" cy="2143125"/>
          </a:xfrm>
          <a:prstGeom prst="rect">
            <a:avLst/>
          </a:prstGeom>
        </p:spPr>
      </p:pic>
      <p:pic>
        <p:nvPicPr>
          <p:cNvPr id="5" name="Resim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72580" y="205060"/>
            <a:ext cx="2244634" cy="2244634"/>
          </a:xfrm>
          <a:prstGeom prst="rect">
            <a:avLst/>
          </a:prstGeom>
        </p:spPr>
      </p:pic>
    </p:spTree>
    <p:extLst>
      <p:ext uri="{BB962C8B-B14F-4D97-AF65-F5344CB8AC3E}">
        <p14:creationId xmlns:p14="http://schemas.microsoft.com/office/powerpoint/2010/main" val="1814154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VE ÖZELLİKLERİ</a:t>
            </a:r>
            <a:endParaRPr lang="tr-TR" dirty="0"/>
          </a:p>
        </p:txBody>
      </p:sp>
      <p:sp>
        <p:nvSpPr>
          <p:cNvPr id="3" name="İçerik Yer Tutucusu 2"/>
          <p:cNvSpPr>
            <a:spLocks noGrp="1"/>
          </p:cNvSpPr>
          <p:nvPr>
            <p:ph idx="1"/>
          </p:nvPr>
        </p:nvSpPr>
        <p:spPr/>
        <p:txBody>
          <a:bodyPr>
            <a:normAutofit lnSpcReduction="10000"/>
          </a:bodyPr>
          <a:lstStyle/>
          <a:p>
            <a:r>
              <a:rPr lang="tr-TR" dirty="0"/>
              <a:t>Uzaktan Algılamada fotoğraf ile görüntü ayırt edilmelidir. Fotoğraf, 0.3-0.9 </a:t>
            </a:r>
            <a:r>
              <a:rPr lang="el-GR" dirty="0"/>
              <a:t>μ</a:t>
            </a:r>
            <a:r>
              <a:rPr lang="tr-TR" dirty="0"/>
              <a:t>m </a:t>
            </a:r>
            <a:r>
              <a:rPr lang="tr-TR" dirty="0" smtClean="0"/>
              <a:t>dalga boylarında</a:t>
            </a:r>
            <a:r>
              <a:rPr lang="tr-TR" dirty="0"/>
              <a:t>, görünen ve yakın kızıl ötesi bölgelerindeki elektromanyetik enerjinin bir </a:t>
            </a:r>
            <a:r>
              <a:rPr lang="tr-TR" dirty="0" smtClean="0"/>
              <a:t>fotoğraf filminin </a:t>
            </a:r>
            <a:r>
              <a:rPr lang="tr-TR" dirty="0"/>
              <a:t>üzerine kaydedilmesidir. Görüntü ise, dalga boyu veya elektromanyetik </a:t>
            </a:r>
            <a:r>
              <a:rPr lang="tr-TR" dirty="0" smtClean="0"/>
              <a:t>enerjiyi kaydeden </a:t>
            </a:r>
            <a:r>
              <a:rPr lang="tr-TR" dirty="0"/>
              <a:t>algılayıcı cihaz ne olursa olsun, resimsel sunumların hepsini </a:t>
            </a:r>
            <a:r>
              <a:rPr lang="tr-TR" dirty="0" smtClean="0"/>
              <a:t>içermektedir. Dolayısıyla </a:t>
            </a:r>
            <a:r>
              <a:rPr lang="tr-TR" dirty="0"/>
              <a:t>her fotoğraf görüntüdür, fakat her görüntü fotoğraf değildir. Uzaktan </a:t>
            </a:r>
            <a:r>
              <a:rPr lang="tr-TR" dirty="0" smtClean="0"/>
              <a:t>algılama açısından </a:t>
            </a:r>
            <a:r>
              <a:rPr lang="tr-TR" dirty="0"/>
              <a:t>görüntü, coğrafi bir sahayı temsil eden, sütun (</a:t>
            </a:r>
            <a:r>
              <a:rPr lang="tr-TR" i="1" dirty="0" err="1"/>
              <a:t>column</a:t>
            </a:r>
            <a:r>
              <a:rPr lang="tr-TR" dirty="0"/>
              <a:t>) ve satırların (</a:t>
            </a:r>
            <a:r>
              <a:rPr lang="tr-TR" i="1" dirty="0" err="1"/>
              <a:t>row</a:t>
            </a:r>
            <a:r>
              <a:rPr lang="tr-TR" dirty="0"/>
              <a:t>) </a:t>
            </a:r>
            <a:r>
              <a:rPr lang="tr-TR" dirty="0" err="1"/>
              <a:t>grid</a:t>
            </a:r>
            <a:r>
              <a:rPr lang="tr-TR" dirty="0"/>
              <a:t> </a:t>
            </a:r>
            <a:r>
              <a:rPr lang="tr-TR" dirty="0" smtClean="0"/>
              <a:t>tarzı düzenlenmesinden </a:t>
            </a:r>
            <a:r>
              <a:rPr lang="tr-TR" dirty="0"/>
              <a:t>oluşan bir veridir (Şekil 6.1). Şekilde 9 sütun ve 5 satırdan meydana </a:t>
            </a:r>
            <a:r>
              <a:rPr lang="tr-TR" dirty="0" smtClean="0"/>
              <a:t>gelmiş bir </a:t>
            </a:r>
            <a:r>
              <a:rPr lang="tr-TR" dirty="0"/>
              <a:t>bandı görmekteyiz. Görüntülerdeki bu satır ve sütunların büyüklükleri </a:t>
            </a:r>
            <a:r>
              <a:rPr lang="tr-TR" dirty="0" smtClean="0"/>
              <a:t>Uydulardaki </a:t>
            </a:r>
            <a:r>
              <a:rPr lang="tr-TR" dirty="0" err="1" smtClean="0"/>
              <a:t>sensörlerin</a:t>
            </a:r>
            <a:r>
              <a:rPr lang="tr-TR" dirty="0" smtClean="0"/>
              <a:t> </a:t>
            </a:r>
            <a:r>
              <a:rPr lang="tr-TR" dirty="0"/>
              <a:t>çözünürlükleri ile ilgilidir.</a:t>
            </a:r>
          </a:p>
        </p:txBody>
      </p:sp>
    </p:spTree>
    <p:extLst>
      <p:ext uri="{BB962C8B-B14F-4D97-AF65-F5344CB8AC3E}">
        <p14:creationId xmlns:p14="http://schemas.microsoft.com/office/powerpoint/2010/main" val="4288501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VE ÖZELLİKLERİ</a:t>
            </a:r>
            <a:endParaRPr lang="tr-TR" dirty="0"/>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4478" y="1419267"/>
            <a:ext cx="9983043" cy="5109870"/>
          </a:xfrm>
        </p:spPr>
      </p:pic>
    </p:spTree>
    <p:extLst>
      <p:ext uri="{BB962C8B-B14F-4D97-AF65-F5344CB8AC3E}">
        <p14:creationId xmlns:p14="http://schemas.microsoft.com/office/powerpoint/2010/main" val="1340011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VE ÖZELLİKLERİ</a:t>
            </a:r>
            <a:endParaRPr lang="tr-TR" dirty="0"/>
          </a:p>
        </p:txBody>
      </p:sp>
      <p:sp>
        <p:nvSpPr>
          <p:cNvPr id="3" name="İçerik Yer Tutucusu 2"/>
          <p:cNvSpPr>
            <a:spLocks noGrp="1"/>
          </p:cNvSpPr>
          <p:nvPr>
            <p:ph idx="1"/>
          </p:nvPr>
        </p:nvSpPr>
        <p:spPr>
          <a:xfrm>
            <a:off x="838200" y="1347536"/>
            <a:ext cx="10515600" cy="5229727"/>
          </a:xfrm>
        </p:spPr>
        <p:txBody>
          <a:bodyPr>
            <a:normAutofit/>
          </a:bodyPr>
          <a:lstStyle/>
          <a:p>
            <a:r>
              <a:rPr lang="tr-TR" dirty="0" err="1"/>
              <a:t>Gridlerde</a:t>
            </a:r>
            <a:r>
              <a:rPr lang="tr-TR" dirty="0"/>
              <a:t> yer alan her piksel belirli bir konumdaki yeryüzü bölgesinden </a:t>
            </a:r>
            <a:r>
              <a:rPr lang="tr-TR" dirty="0" smtClean="0"/>
              <a:t>yansıyan elektromanyetik </a:t>
            </a:r>
            <a:r>
              <a:rPr lang="tr-TR" dirty="0"/>
              <a:t>enerji değerini içerir. Bu değerler Dijital Numara (</a:t>
            </a:r>
            <a:r>
              <a:rPr lang="tr-TR" dirty="0" err="1"/>
              <a:t>Digital</a:t>
            </a:r>
            <a:r>
              <a:rPr lang="tr-TR" dirty="0"/>
              <a:t> </a:t>
            </a:r>
            <a:r>
              <a:rPr lang="tr-TR" dirty="0" err="1"/>
              <a:t>Number</a:t>
            </a:r>
            <a:r>
              <a:rPr lang="tr-TR" dirty="0"/>
              <a:t>- DN) </a:t>
            </a:r>
            <a:r>
              <a:rPr lang="tr-TR" dirty="0" smtClean="0"/>
              <a:t>olarak pikselde </a:t>
            </a:r>
            <a:r>
              <a:rPr lang="tr-TR" dirty="0"/>
              <a:t>depolanır. Örneğin Şekil </a:t>
            </a:r>
            <a:r>
              <a:rPr lang="tr-TR" dirty="0" smtClean="0"/>
              <a:t>6.1 </a:t>
            </a:r>
            <a:r>
              <a:rPr lang="tr-TR" dirty="0"/>
              <a:t>de sağ alt köşede verilen numaralar her bir pikselin </a:t>
            </a:r>
            <a:r>
              <a:rPr lang="tr-TR" dirty="0" smtClean="0"/>
              <a:t>sahip olduğu </a:t>
            </a:r>
            <a:r>
              <a:rPr lang="tr-TR" dirty="0"/>
              <a:t>değeri gösterir. Rakam değerinin artması, yansımanın daha fazla </a:t>
            </a:r>
            <a:r>
              <a:rPr lang="tr-TR" dirty="0" smtClean="0"/>
              <a:t>kaydedildiğini, azalması </a:t>
            </a:r>
            <a:r>
              <a:rPr lang="tr-TR" dirty="0"/>
              <a:t>da daha az kaydedildiğini gösterir. Mesela 81 değeri maksimum yansımayı </a:t>
            </a:r>
            <a:r>
              <a:rPr lang="tr-TR" dirty="0" smtClean="0"/>
              <a:t>verirken, 26 </a:t>
            </a:r>
            <a:r>
              <a:rPr lang="tr-TR" dirty="0"/>
              <a:t>değeri en az yansımayı verir. </a:t>
            </a:r>
          </a:p>
        </p:txBody>
      </p:sp>
    </p:spTree>
    <p:extLst>
      <p:ext uri="{BB962C8B-B14F-4D97-AF65-F5344CB8AC3E}">
        <p14:creationId xmlns:p14="http://schemas.microsoft.com/office/powerpoint/2010/main" val="1918539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VE ÖZELLİKLERİ</a:t>
            </a:r>
            <a:endParaRPr lang="tr-TR" dirty="0"/>
          </a:p>
        </p:txBody>
      </p:sp>
      <p:sp>
        <p:nvSpPr>
          <p:cNvPr id="3" name="İçerik Yer Tutucusu 2"/>
          <p:cNvSpPr>
            <a:spLocks noGrp="1"/>
          </p:cNvSpPr>
          <p:nvPr>
            <p:ph idx="1"/>
          </p:nvPr>
        </p:nvSpPr>
        <p:spPr/>
        <p:txBody>
          <a:bodyPr>
            <a:normAutofit lnSpcReduction="10000"/>
          </a:bodyPr>
          <a:lstStyle/>
          <a:p>
            <a:r>
              <a:rPr lang="tr-TR" dirty="0"/>
              <a:t>Her bir dalga boyu aralığı ise piksellerin bir araya gelmesiyle oluşan bantlarda kaydedilir. Şekil 6.2 de bir banttaki küçük bir kısmın kayıt özelliklerini göstermektedir. Değerler 0 ile 255 arasında değişmektedir. 0 en düşük yansıma değerini (hatta hiç yansıma yok) verir ve siyah renkle görüntü üzerinde temsil edilir. 255 ise maksimum yansıma değerini verir ve beyaz renkle görüntü üzerinde temsil edilir. 0-255 arasındaki değerler ise siyah ve beyaza yaklaşan ara renklerle bant üzerinde temsil edilirler. Sonuç olarak bir banttaki siyah-beyaz ve ara renklerin her birisinin arkasında rakamsal bir ifade yer alır. Uzaktan algılamada bu rakamsal ifadeler kullanılarak bir takım analizler gerçekleştirilir. Bantların bir araya gelmesiyle de görüntüler oluşur (görünür veya yalancı renkli görüntüler gibi).</a:t>
            </a:r>
          </a:p>
          <a:p>
            <a:endParaRPr lang="tr-TR" dirty="0"/>
          </a:p>
        </p:txBody>
      </p:sp>
    </p:spTree>
    <p:extLst>
      <p:ext uri="{BB962C8B-B14F-4D97-AF65-F5344CB8AC3E}">
        <p14:creationId xmlns:p14="http://schemas.microsoft.com/office/powerpoint/2010/main" val="1461799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62567" y="1299703"/>
            <a:ext cx="6866865" cy="5558297"/>
          </a:xfrm>
        </p:spPr>
      </p:pic>
      <p:sp>
        <p:nvSpPr>
          <p:cNvPr id="2" name="Unvan 1"/>
          <p:cNvSpPr>
            <a:spLocks noGrp="1"/>
          </p:cNvSpPr>
          <p:nvPr>
            <p:ph type="title"/>
          </p:nvPr>
        </p:nvSpPr>
        <p:spPr/>
        <p:txBody>
          <a:bodyPr/>
          <a:lstStyle/>
          <a:p>
            <a:r>
              <a:rPr lang="tr-TR" b="1" dirty="0"/>
              <a:t>GÖRÜNTÜ VE ÖZELLİKLERİ</a:t>
            </a:r>
            <a:endParaRPr lang="tr-TR" dirty="0"/>
          </a:p>
        </p:txBody>
      </p:sp>
    </p:spTree>
    <p:extLst>
      <p:ext uri="{BB962C8B-B14F-4D97-AF65-F5344CB8AC3E}">
        <p14:creationId xmlns:p14="http://schemas.microsoft.com/office/powerpoint/2010/main" val="405273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VE ÖZELLİKLERİ</a:t>
            </a:r>
            <a:endParaRPr lang="tr-TR" dirty="0"/>
          </a:p>
        </p:txBody>
      </p:sp>
      <p:sp>
        <p:nvSpPr>
          <p:cNvPr id="3" name="İçerik Yer Tutucusu 2"/>
          <p:cNvSpPr>
            <a:spLocks noGrp="1"/>
          </p:cNvSpPr>
          <p:nvPr>
            <p:ph idx="1"/>
          </p:nvPr>
        </p:nvSpPr>
        <p:spPr/>
        <p:txBody>
          <a:bodyPr/>
          <a:lstStyle/>
          <a:p>
            <a:r>
              <a:rPr lang="tr-TR" dirty="0"/>
              <a:t>Tarama (Bant) genişliği, dünya üzerindeki yörüngelerini takip ederek uçan </a:t>
            </a:r>
            <a:r>
              <a:rPr lang="tr-TR" dirty="0" smtClean="0"/>
              <a:t>uydu </a:t>
            </a:r>
            <a:r>
              <a:rPr lang="tr-TR" dirty="0" err="1" smtClean="0"/>
              <a:t>sensörlerinin</a:t>
            </a:r>
            <a:r>
              <a:rPr lang="tr-TR" dirty="0"/>
              <a:t>, yeryüzünde gördüğü ve algıladığı sahanın tam genişliğini ifade eder. </a:t>
            </a:r>
            <a:r>
              <a:rPr lang="tr-TR" dirty="0" smtClean="0"/>
              <a:t>Uyduların yörünge </a:t>
            </a:r>
            <a:r>
              <a:rPr lang="tr-TR" dirty="0"/>
              <a:t>irtifaları farklı olduğu için yeryüzündeki kapladıkları genişliklerde farklıdır. </a:t>
            </a:r>
            <a:r>
              <a:rPr lang="tr-TR" dirty="0" err="1" smtClean="0"/>
              <a:t>Landsat</a:t>
            </a:r>
            <a:r>
              <a:rPr lang="tr-TR" dirty="0" smtClean="0"/>
              <a:t> TM </a:t>
            </a:r>
            <a:r>
              <a:rPr lang="tr-TR" dirty="0"/>
              <a:t>de 185 x170 km, Spot ta ise 60x60 km olduğu gibi.</a:t>
            </a:r>
          </a:p>
        </p:txBody>
      </p:sp>
    </p:spTree>
    <p:extLst>
      <p:ext uri="{BB962C8B-B14F-4D97-AF65-F5344CB8AC3E}">
        <p14:creationId xmlns:p14="http://schemas.microsoft.com/office/powerpoint/2010/main" val="2292322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Çözünürlük</a:t>
            </a:r>
            <a:endParaRPr lang="tr-TR" dirty="0"/>
          </a:p>
        </p:txBody>
      </p:sp>
      <p:sp>
        <p:nvSpPr>
          <p:cNvPr id="3" name="İçerik Yer Tutucusu 2"/>
          <p:cNvSpPr>
            <a:spLocks noGrp="1"/>
          </p:cNvSpPr>
          <p:nvPr>
            <p:ph idx="1"/>
          </p:nvPr>
        </p:nvSpPr>
        <p:spPr/>
        <p:txBody>
          <a:bodyPr/>
          <a:lstStyle/>
          <a:p>
            <a:pPr marL="0" indent="0">
              <a:buNone/>
            </a:pPr>
            <a:r>
              <a:rPr lang="tr-TR" dirty="0"/>
              <a:t>Ekranda görünen piksel sayısını veya görüntüdeki bir pikselin yeryüzündeki </a:t>
            </a:r>
            <a:r>
              <a:rPr lang="tr-TR" dirty="0" smtClean="0"/>
              <a:t>karşılığını ifade </a:t>
            </a:r>
            <a:r>
              <a:rPr lang="tr-TR" dirty="0"/>
              <a:t>eder. Uzaktan Algılamada 4 farklı çözünürlük tipi vardır:</a:t>
            </a:r>
          </a:p>
          <a:p>
            <a:pPr>
              <a:buFont typeface="Wingdings" panose="05000000000000000000" pitchFamily="2" charset="2"/>
              <a:buChar char="ü"/>
            </a:pPr>
            <a:r>
              <a:rPr lang="tr-TR" dirty="0" smtClean="0"/>
              <a:t> </a:t>
            </a:r>
            <a:r>
              <a:rPr lang="tr-TR" dirty="0"/>
              <a:t>Spektral Çözünürlük,</a:t>
            </a:r>
          </a:p>
          <a:p>
            <a:pPr>
              <a:buFont typeface="Wingdings" panose="05000000000000000000" pitchFamily="2" charset="2"/>
              <a:buChar char="ü"/>
            </a:pPr>
            <a:r>
              <a:rPr lang="tr-TR" dirty="0" smtClean="0"/>
              <a:t> </a:t>
            </a:r>
            <a:r>
              <a:rPr lang="tr-TR" dirty="0"/>
              <a:t>Radyometrik Çözünürlük,</a:t>
            </a:r>
          </a:p>
          <a:p>
            <a:pPr>
              <a:buFont typeface="Wingdings" panose="05000000000000000000" pitchFamily="2" charset="2"/>
              <a:buChar char="ü"/>
            </a:pPr>
            <a:r>
              <a:rPr lang="tr-TR" dirty="0" smtClean="0"/>
              <a:t> </a:t>
            </a:r>
            <a:r>
              <a:rPr lang="tr-TR" dirty="0"/>
              <a:t>Mekânsal Çözünürlük,</a:t>
            </a:r>
          </a:p>
          <a:p>
            <a:pPr>
              <a:buFont typeface="Wingdings" panose="05000000000000000000" pitchFamily="2" charset="2"/>
              <a:buChar char="ü"/>
            </a:pPr>
            <a:r>
              <a:rPr lang="tr-TR" dirty="0" smtClean="0"/>
              <a:t> </a:t>
            </a:r>
            <a:r>
              <a:rPr lang="tr-TR" dirty="0"/>
              <a:t>Zamansal Çözünürlük.</a:t>
            </a:r>
          </a:p>
        </p:txBody>
      </p:sp>
    </p:spTree>
    <p:extLst>
      <p:ext uri="{BB962C8B-B14F-4D97-AF65-F5344CB8AC3E}">
        <p14:creationId xmlns:p14="http://schemas.microsoft.com/office/powerpoint/2010/main" val="4145547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Spektral Çözünürlük</a:t>
            </a:r>
            <a:endParaRPr lang="tr-TR" dirty="0"/>
          </a:p>
        </p:txBody>
      </p:sp>
      <p:sp>
        <p:nvSpPr>
          <p:cNvPr id="3" name="İçerik Yer Tutucusu 2"/>
          <p:cNvSpPr>
            <a:spLocks noGrp="1"/>
          </p:cNvSpPr>
          <p:nvPr>
            <p:ph idx="1"/>
          </p:nvPr>
        </p:nvSpPr>
        <p:spPr/>
        <p:txBody>
          <a:bodyPr>
            <a:normAutofit/>
          </a:bodyPr>
          <a:lstStyle/>
          <a:p>
            <a:r>
              <a:rPr lang="tr-TR" dirty="0"/>
              <a:t>Algılayıcının kaydedebileceği elektromanyetik spektrumun belirli dalga aralığını </a:t>
            </a:r>
            <a:r>
              <a:rPr lang="tr-TR" dirty="0" smtClean="0"/>
              <a:t>ifade eder</a:t>
            </a:r>
            <a:r>
              <a:rPr lang="tr-TR" dirty="0"/>
              <a:t>. Bu özellik her bir uydu ve/ya </a:t>
            </a:r>
            <a:r>
              <a:rPr lang="tr-TR" dirty="0" err="1"/>
              <a:t>sensör</a:t>
            </a:r>
            <a:r>
              <a:rPr lang="tr-TR" dirty="0"/>
              <a:t> için farklılık gösterir. Örneğin, </a:t>
            </a:r>
            <a:r>
              <a:rPr lang="tr-TR" dirty="0" err="1"/>
              <a:t>Landsat</a:t>
            </a:r>
            <a:r>
              <a:rPr lang="tr-TR" dirty="0"/>
              <a:t> </a:t>
            </a:r>
            <a:r>
              <a:rPr lang="tr-TR" dirty="0" smtClean="0"/>
              <a:t>TM </a:t>
            </a:r>
            <a:r>
              <a:rPr lang="tr-TR" dirty="0" err="1" smtClean="0"/>
              <a:t>sensöründe</a:t>
            </a:r>
            <a:r>
              <a:rPr lang="tr-TR" dirty="0" smtClean="0"/>
              <a:t> </a:t>
            </a:r>
            <a:r>
              <a:rPr lang="tr-TR" dirty="0"/>
              <a:t>1. Banttan 7. Banda </a:t>
            </a:r>
            <a:r>
              <a:rPr lang="tr-TR" dirty="0" smtClean="0"/>
              <a:t>kadarki </a:t>
            </a:r>
            <a:r>
              <a:rPr lang="tr-TR" dirty="0"/>
              <a:t>aralıkta her bir bant Şekil 6.3 te verildiği gibi </a:t>
            </a:r>
            <a:r>
              <a:rPr lang="tr-TR" dirty="0" smtClean="0"/>
              <a:t>değişik spektral </a:t>
            </a:r>
            <a:r>
              <a:rPr lang="tr-TR" dirty="0"/>
              <a:t>aralıkları kaydeder. Hatırlanacağı üzere </a:t>
            </a:r>
            <a:r>
              <a:rPr lang="tr-TR" dirty="0" err="1"/>
              <a:t>hiperspektral</a:t>
            </a:r>
            <a:r>
              <a:rPr lang="tr-TR" dirty="0"/>
              <a:t> sistemlerde bant sayısı </a:t>
            </a:r>
            <a:r>
              <a:rPr lang="tr-TR" dirty="0" smtClean="0"/>
              <a:t>fazla olduğu </a:t>
            </a:r>
            <a:r>
              <a:rPr lang="tr-TR" dirty="0"/>
              <a:t>için spektral çözünürlükler daha fazla olarak karşımıza çıkar. </a:t>
            </a:r>
            <a:r>
              <a:rPr lang="tr-TR" dirty="0" err="1"/>
              <a:t>Landsat</a:t>
            </a:r>
            <a:r>
              <a:rPr lang="tr-TR" dirty="0"/>
              <a:t> TM de </a:t>
            </a:r>
            <a:r>
              <a:rPr lang="tr-TR" dirty="0" smtClean="0"/>
              <a:t>0.45-0.52 </a:t>
            </a:r>
            <a:r>
              <a:rPr lang="el-GR" dirty="0" smtClean="0"/>
              <a:t>μ</a:t>
            </a:r>
            <a:r>
              <a:rPr lang="tr-TR" dirty="0"/>
              <a:t>m arası tek bir bantta gösterilirken, bu aralık </a:t>
            </a:r>
            <a:r>
              <a:rPr lang="tr-TR" dirty="0" err="1"/>
              <a:t>hiperspektral</a:t>
            </a:r>
            <a:r>
              <a:rPr lang="tr-TR" dirty="0"/>
              <a:t> sistemde 10 veya 20 </a:t>
            </a:r>
            <a:r>
              <a:rPr lang="tr-TR" dirty="0" smtClean="0"/>
              <a:t>bantta gösterilebilmektedir</a:t>
            </a:r>
            <a:r>
              <a:rPr lang="tr-TR" dirty="0"/>
              <a:t>.</a:t>
            </a:r>
          </a:p>
        </p:txBody>
      </p:sp>
    </p:spTree>
    <p:extLst>
      <p:ext uri="{BB962C8B-B14F-4D97-AF65-F5344CB8AC3E}">
        <p14:creationId xmlns:p14="http://schemas.microsoft.com/office/powerpoint/2010/main" val="3341931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Spektral Çözünürlük</a:t>
            </a:r>
            <a:endParaRPr lang="tr-TR" dirty="0"/>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3427" y="1980238"/>
            <a:ext cx="11645145" cy="3698666"/>
          </a:xfrm>
        </p:spPr>
      </p:pic>
    </p:spTree>
    <p:extLst>
      <p:ext uri="{BB962C8B-B14F-4D97-AF65-F5344CB8AC3E}">
        <p14:creationId xmlns:p14="http://schemas.microsoft.com/office/powerpoint/2010/main" val="1589266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Radyometrik Çözünürlük</a:t>
            </a:r>
            <a:endParaRPr lang="tr-TR" dirty="0"/>
          </a:p>
        </p:txBody>
      </p:sp>
      <p:sp>
        <p:nvSpPr>
          <p:cNvPr id="3" name="İçerik Yer Tutucusu 2"/>
          <p:cNvSpPr>
            <a:spLocks noGrp="1"/>
          </p:cNvSpPr>
          <p:nvPr>
            <p:ph idx="1"/>
          </p:nvPr>
        </p:nvSpPr>
        <p:spPr/>
        <p:txBody>
          <a:bodyPr>
            <a:normAutofit fontScale="85000" lnSpcReduction="20000"/>
          </a:bodyPr>
          <a:lstStyle/>
          <a:p>
            <a:r>
              <a:rPr lang="tr-TR" dirty="0"/>
              <a:t>Radyometrik çözünürlük, her bir banttaki toplam olabilecek veri değerini ifade </a:t>
            </a:r>
            <a:r>
              <a:rPr lang="tr-TR" dirty="0" smtClean="0"/>
              <a:t>eder. Her </a:t>
            </a:r>
            <a:r>
              <a:rPr lang="tr-TR" dirty="0"/>
              <a:t>bir pikseldeki ışımanın şiddetine bağlı olarak derecelendirilir. Bu da kaydedilen </a:t>
            </a:r>
            <a:r>
              <a:rPr lang="tr-TR" dirty="0" smtClean="0"/>
              <a:t>enerjinin bölünebileceği </a:t>
            </a:r>
            <a:r>
              <a:rPr lang="tr-TR" dirty="0"/>
              <a:t>bit sayısıyla gösterilir. En karanlığa yani en düşük sinyal seviyesi “0” en </a:t>
            </a:r>
            <a:r>
              <a:rPr lang="tr-TR" dirty="0" smtClean="0"/>
              <a:t>parlak olan </a:t>
            </a:r>
            <a:r>
              <a:rPr lang="tr-TR" dirty="0"/>
              <a:t>ise bit sayısına bağlı olarak (127, 255) değişir. Bit sayısı arttıkça ayrıntı artar. Örneğin </a:t>
            </a:r>
            <a:r>
              <a:rPr lang="tr-TR" dirty="0" smtClean="0"/>
              <a:t>8 bitlik </a:t>
            </a:r>
            <a:r>
              <a:rPr lang="tr-TR" dirty="0"/>
              <a:t>bir veride, her bir piksel 0'dan 255'e kadar ( 2</a:t>
            </a:r>
            <a:r>
              <a:rPr lang="tr-TR" baseline="30000" dirty="0"/>
              <a:t>8</a:t>
            </a:r>
            <a:r>
              <a:rPr lang="tr-TR" dirty="0"/>
              <a:t>) değişen 256 veri değeri alabilir. </a:t>
            </a:r>
            <a:r>
              <a:rPr lang="tr-TR" dirty="0" smtClean="0"/>
              <a:t>Bu çözünürlük </a:t>
            </a:r>
            <a:r>
              <a:rPr lang="tr-TR" dirty="0"/>
              <a:t>7 bitlik veri için 0'dan 127'ye (2</a:t>
            </a:r>
            <a:r>
              <a:rPr lang="tr-TR" baseline="30000" dirty="0"/>
              <a:t>7</a:t>
            </a:r>
            <a:r>
              <a:rPr lang="tr-TR" dirty="0"/>
              <a:t>) 128’ kadar, 11 bitlik için (2</a:t>
            </a:r>
            <a:r>
              <a:rPr lang="tr-TR" baseline="30000" dirty="0"/>
              <a:t>11</a:t>
            </a:r>
            <a:r>
              <a:rPr lang="tr-TR" dirty="0"/>
              <a:t>) 0-2047’ye </a:t>
            </a:r>
            <a:r>
              <a:rPr lang="tr-TR" dirty="0" smtClean="0"/>
              <a:t>2048 gri </a:t>
            </a:r>
            <a:r>
              <a:rPr lang="tr-TR" dirty="0"/>
              <a:t>ton mevcuttur.</a:t>
            </a:r>
          </a:p>
          <a:p>
            <a:r>
              <a:rPr lang="tr-TR" dirty="0"/>
              <a:t>Örneğin şekil 6.4’te aynı yerin farklı radyometrik çözünürlüğe sahip iki </a:t>
            </a:r>
            <a:r>
              <a:rPr lang="tr-TR" dirty="0" smtClean="0"/>
              <a:t>görüntüsü verilmektedir</a:t>
            </a:r>
            <a:r>
              <a:rPr lang="tr-TR" dirty="0"/>
              <a:t>. Bunlardan 8 bitlik (2</a:t>
            </a:r>
            <a:r>
              <a:rPr lang="tr-TR" baseline="30000" dirty="0"/>
              <a:t>8</a:t>
            </a:r>
            <a:r>
              <a:rPr lang="tr-TR" dirty="0"/>
              <a:t>) görüntüde 0 ve 255 renkleri dâhil toplamda 256 renk </a:t>
            </a:r>
            <a:r>
              <a:rPr lang="tr-TR" dirty="0" smtClean="0"/>
              <a:t>tonu kullanılmıştır</a:t>
            </a:r>
            <a:r>
              <a:rPr lang="tr-TR" dirty="0"/>
              <a:t>. Dolayısıyla görüntü üzerinde daha fazla detay ayırt edilebilmektedir. 1 bitlik (</a:t>
            </a:r>
            <a:r>
              <a:rPr lang="tr-TR" dirty="0" smtClean="0"/>
              <a:t>2</a:t>
            </a:r>
            <a:r>
              <a:rPr lang="tr-TR" baseline="30000" dirty="0" smtClean="0"/>
              <a:t>1</a:t>
            </a:r>
            <a:r>
              <a:rPr lang="tr-TR" dirty="0" smtClean="0"/>
              <a:t>) görüntüde </a:t>
            </a:r>
            <a:r>
              <a:rPr lang="tr-TR" dirty="0"/>
              <a:t>ise 0-2 arasında toplam 3 renk kullanılmıştır. Yani siyah (0) – gri (1) ve beyaz (2</a:t>
            </a:r>
            <a:r>
              <a:rPr lang="tr-TR" dirty="0" smtClean="0"/>
              <a:t>). Bundan </a:t>
            </a:r>
            <a:r>
              <a:rPr lang="tr-TR" dirty="0"/>
              <a:t>dolayı görüntünün yüzeyi temsil kabiliyeti oldukça düşüktür ve yüzeydeki detaylar </a:t>
            </a:r>
            <a:r>
              <a:rPr lang="tr-TR" dirty="0" smtClean="0"/>
              <a:t>net bir </a:t>
            </a:r>
            <a:r>
              <a:rPr lang="tr-TR" dirty="0"/>
              <a:t>şekilde ayırt edilememektedir.</a:t>
            </a:r>
          </a:p>
        </p:txBody>
      </p:sp>
    </p:spTree>
    <p:extLst>
      <p:ext uri="{BB962C8B-B14F-4D97-AF65-F5344CB8AC3E}">
        <p14:creationId xmlns:p14="http://schemas.microsoft.com/office/powerpoint/2010/main" val="1777343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Radyometrik Çözünürlük</a:t>
            </a:r>
            <a:endParaRPr lang="tr-TR" dirty="0"/>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2031" y="1373397"/>
            <a:ext cx="8327937" cy="5484603"/>
          </a:xfrm>
        </p:spPr>
      </p:pic>
    </p:spTree>
    <p:extLst>
      <p:ext uri="{BB962C8B-B14F-4D97-AF65-F5344CB8AC3E}">
        <p14:creationId xmlns:p14="http://schemas.microsoft.com/office/powerpoint/2010/main" val="2713042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Mekânsal Çözünürlük</a:t>
            </a:r>
            <a:endParaRPr lang="tr-TR" dirty="0"/>
          </a:p>
        </p:txBody>
      </p:sp>
      <p:sp>
        <p:nvSpPr>
          <p:cNvPr id="3" name="İçerik Yer Tutucusu 2"/>
          <p:cNvSpPr>
            <a:spLocks noGrp="1"/>
          </p:cNvSpPr>
          <p:nvPr>
            <p:ph idx="1"/>
          </p:nvPr>
        </p:nvSpPr>
        <p:spPr/>
        <p:txBody>
          <a:bodyPr>
            <a:normAutofit fontScale="92500" lnSpcReduction="20000"/>
          </a:bodyPr>
          <a:lstStyle/>
          <a:p>
            <a:r>
              <a:rPr lang="tr-TR" dirty="0"/>
              <a:t>Mekânsal çözünürlük, her bir pikselin temsil ettiği arazideki alanı veya </a:t>
            </a:r>
            <a:r>
              <a:rPr lang="tr-TR" dirty="0" smtClean="0"/>
              <a:t>algılayıcının kaydedebileceği </a:t>
            </a:r>
            <a:r>
              <a:rPr lang="tr-TR" dirty="0"/>
              <a:t>en küçük objenin ölçüsünü ifade eder. Mekânsal çözünürlüğe bağlı </a:t>
            </a:r>
            <a:r>
              <a:rPr lang="tr-TR" dirty="0" smtClean="0"/>
              <a:t>olarak görüntü </a:t>
            </a:r>
            <a:r>
              <a:rPr lang="tr-TR" dirty="0"/>
              <a:t>üzerindeki objelerin algılanma düzeyleri de değişiklik gösterir. Düşük </a:t>
            </a:r>
            <a:r>
              <a:rPr lang="tr-TR" dirty="0" smtClean="0"/>
              <a:t>çözünürlüklü görüntülerde </a:t>
            </a:r>
            <a:r>
              <a:rPr lang="tr-TR" dirty="0"/>
              <a:t>yüzey üzerindeki nesneler net bir şekilde algılanmazken, yüksek </a:t>
            </a:r>
            <a:r>
              <a:rPr lang="tr-TR" dirty="0" smtClean="0"/>
              <a:t>çözünürlüklü görüntülerde </a:t>
            </a:r>
            <a:r>
              <a:rPr lang="tr-TR" dirty="0"/>
              <a:t>en ince detaylar bile görüntü üzerinde algılanabilir ve yorumlanabilir. Şekil </a:t>
            </a:r>
            <a:r>
              <a:rPr lang="tr-TR" dirty="0" smtClean="0"/>
              <a:t>6.5. mekânsal </a:t>
            </a:r>
            <a:r>
              <a:rPr lang="tr-TR" dirty="0"/>
              <a:t>çözünürlük ile görüntülerdeki detaylar arasındaki ilişkiyi net bir </a:t>
            </a:r>
            <a:r>
              <a:rPr lang="tr-TR" dirty="0" smtClean="0"/>
              <a:t>şekilde göstermektedir</a:t>
            </a:r>
            <a:r>
              <a:rPr lang="tr-TR" dirty="0"/>
              <a:t>. Buna göre 0.5 m çözünürlüklü bir görüntüde evler, ana ve tali yollar, </a:t>
            </a:r>
            <a:r>
              <a:rPr lang="tr-TR" dirty="0" smtClean="0"/>
              <a:t>evlerin gölgeleri</a:t>
            </a:r>
            <a:r>
              <a:rPr lang="tr-TR" dirty="0"/>
              <a:t>, ağaçlar vb. detaylar net bir şekilde ayırt edilebiliyorken, çözünürlük düştükçe </a:t>
            </a:r>
            <a:r>
              <a:rPr lang="tr-TR" dirty="0" smtClean="0"/>
              <a:t>bu detayların </a:t>
            </a:r>
            <a:r>
              <a:rPr lang="tr-TR" dirty="0"/>
              <a:t>ayırt edilebilme oranları azalmaktadır. En nihayetinde mekânsal çözünürlüğün 80 </a:t>
            </a:r>
            <a:r>
              <a:rPr lang="tr-TR" dirty="0" smtClean="0"/>
              <a:t>m olduğu </a:t>
            </a:r>
            <a:r>
              <a:rPr lang="tr-TR" dirty="0"/>
              <a:t>görüntüde hiçbir detay kalmamaktadır. Ancak unutulmamalıdır ki 80 m ve daha </a:t>
            </a:r>
            <a:r>
              <a:rPr lang="tr-TR" dirty="0" smtClean="0"/>
              <a:t>düşük çözünürlüklü </a:t>
            </a:r>
            <a:r>
              <a:rPr lang="tr-TR" dirty="0"/>
              <a:t>görüntüler, çok küçük alanlar için değil daha büyük alanların (ülke, kıta ve </a:t>
            </a:r>
            <a:r>
              <a:rPr lang="tr-TR" dirty="0" smtClean="0"/>
              <a:t>dünya ölçeğinde</a:t>
            </a:r>
            <a:r>
              <a:rPr lang="tr-TR" dirty="0"/>
              <a:t>) çalışılmasında kullanışlı olmaktadır.</a:t>
            </a:r>
          </a:p>
        </p:txBody>
      </p:sp>
    </p:spTree>
    <p:extLst>
      <p:ext uri="{BB962C8B-B14F-4D97-AF65-F5344CB8AC3E}">
        <p14:creationId xmlns:p14="http://schemas.microsoft.com/office/powerpoint/2010/main" val="2923711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6189" y="991932"/>
            <a:ext cx="5176442" cy="5866068"/>
          </a:xfrm>
        </p:spPr>
      </p:pic>
      <p:sp>
        <p:nvSpPr>
          <p:cNvPr id="2" name="Unvan 1"/>
          <p:cNvSpPr>
            <a:spLocks noGrp="1"/>
          </p:cNvSpPr>
          <p:nvPr>
            <p:ph type="title"/>
          </p:nvPr>
        </p:nvSpPr>
        <p:spPr>
          <a:xfrm>
            <a:off x="776610" y="-45369"/>
            <a:ext cx="10515600" cy="1325563"/>
          </a:xfrm>
        </p:spPr>
        <p:txBody>
          <a:bodyPr/>
          <a:lstStyle/>
          <a:p>
            <a:r>
              <a:rPr lang="tr-TR" b="1" dirty="0"/>
              <a:t>Mekânsal Çözünürlük</a:t>
            </a:r>
            <a:endParaRPr lang="tr-TR" dirty="0"/>
          </a:p>
        </p:txBody>
      </p:sp>
    </p:spTree>
    <p:extLst>
      <p:ext uri="{BB962C8B-B14F-4D97-AF65-F5344CB8AC3E}">
        <p14:creationId xmlns:p14="http://schemas.microsoft.com/office/powerpoint/2010/main" val="7803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Zamansal Çözünürlük</a:t>
            </a:r>
            <a:endParaRPr lang="tr-TR" dirty="0"/>
          </a:p>
        </p:txBody>
      </p:sp>
      <p:sp>
        <p:nvSpPr>
          <p:cNvPr id="3" name="İçerik Yer Tutucusu 2"/>
          <p:cNvSpPr>
            <a:spLocks noGrp="1"/>
          </p:cNvSpPr>
          <p:nvPr>
            <p:ph idx="1"/>
          </p:nvPr>
        </p:nvSpPr>
        <p:spPr/>
        <p:txBody>
          <a:bodyPr>
            <a:normAutofit lnSpcReduction="10000"/>
          </a:bodyPr>
          <a:lstStyle/>
          <a:p>
            <a:r>
              <a:rPr lang="tr-TR" dirty="0"/>
              <a:t>Zamansal çözünürlük belirli bir bölgenin hangi sıklıkta algılanacağını ifade </a:t>
            </a:r>
            <a:r>
              <a:rPr lang="tr-TR" dirty="0" smtClean="0"/>
              <a:t>eder. Zamansal </a:t>
            </a:r>
            <a:r>
              <a:rPr lang="tr-TR" dirty="0"/>
              <a:t>çözünürlük uyduların yüksekliklerine ve yörünge eğikliklerine bağlı olarak </a:t>
            </a:r>
            <a:r>
              <a:rPr lang="tr-TR" dirty="0" smtClean="0"/>
              <a:t>değişiklik gösterir</a:t>
            </a:r>
            <a:r>
              <a:rPr lang="tr-TR" dirty="0"/>
              <a:t>. Örneğin </a:t>
            </a:r>
            <a:r>
              <a:rPr lang="tr-TR" dirty="0" err="1"/>
              <a:t>Landsat</a:t>
            </a:r>
            <a:r>
              <a:rPr lang="tr-TR" dirty="0"/>
              <a:t> uyduları aynı bölgeyi 16 günde, Spot 26 günde, NOAA uydusu </a:t>
            </a:r>
            <a:r>
              <a:rPr lang="tr-TR" dirty="0" smtClean="0"/>
              <a:t>12 saatte </a:t>
            </a:r>
            <a:r>
              <a:rPr lang="tr-TR" dirty="0"/>
              <a:t>algılayabilir. Uyduların yörünge özelliklerine bağlı olarak dünyada herhangi bir </a:t>
            </a:r>
            <a:r>
              <a:rPr lang="tr-TR" dirty="0" smtClean="0"/>
              <a:t>yer üzerinden </a:t>
            </a:r>
            <a:r>
              <a:rPr lang="tr-TR" dirty="0"/>
              <a:t>ne zaman geçeceği bellidir. Dolayısıyla bir bölgedeki coğrafi olay veya </a:t>
            </a:r>
            <a:r>
              <a:rPr lang="tr-TR" dirty="0" smtClean="0"/>
              <a:t>olaylarla ilgili </a:t>
            </a:r>
            <a:r>
              <a:rPr lang="tr-TR" dirty="0"/>
              <a:t>olarak zaman içerisindeki değişimler uydulara ait zamansal çözünürlüklerine bağlı </a:t>
            </a:r>
            <a:r>
              <a:rPr lang="tr-TR" dirty="0" smtClean="0"/>
              <a:t>olarak çalışılabilir</a:t>
            </a:r>
            <a:r>
              <a:rPr lang="tr-TR" dirty="0"/>
              <a:t>. Ayrıca her bir uydunun zamansal çözünürlüğü farklılık gösterdiği için bir uydu </a:t>
            </a:r>
            <a:r>
              <a:rPr lang="tr-TR" dirty="0" smtClean="0"/>
              <a:t>ile yakalanamayan </a:t>
            </a:r>
            <a:r>
              <a:rPr lang="tr-TR" dirty="0"/>
              <a:t>coğrafi olay diğer bir uydu ile yakalanabilir ve gerçek zamanlı veri </a:t>
            </a:r>
            <a:r>
              <a:rPr lang="tr-TR" dirty="0" smtClean="0"/>
              <a:t>uydu görüntülerinden </a:t>
            </a:r>
            <a:r>
              <a:rPr lang="tr-TR" dirty="0"/>
              <a:t>elde edilebilir.</a:t>
            </a:r>
          </a:p>
        </p:txBody>
      </p:sp>
    </p:spTree>
    <p:extLst>
      <p:ext uri="{BB962C8B-B14F-4D97-AF65-F5344CB8AC3E}">
        <p14:creationId xmlns:p14="http://schemas.microsoft.com/office/powerpoint/2010/main" val="1169597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Türleri ve Özellikleri</a:t>
            </a:r>
            <a:endParaRPr lang="tr-TR" dirty="0"/>
          </a:p>
        </p:txBody>
      </p:sp>
      <p:sp>
        <p:nvSpPr>
          <p:cNvPr id="3" name="İçerik Yer Tutucusu 2"/>
          <p:cNvSpPr>
            <a:spLocks noGrp="1"/>
          </p:cNvSpPr>
          <p:nvPr>
            <p:ph idx="1"/>
          </p:nvPr>
        </p:nvSpPr>
        <p:spPr>
          <a:xfrm>
            <a:off x="838200" y="1299411"/>
            <a:ext cx="10515600" cy="4877552"/>
          </a:xfrm>
        </p:spPr>
        <p:txBody>
          <a:bodyPr>
            <a:normAutofit fontScale="92500" lnSpcReduction="20000"/>
          </a:bodyPr>
          <a:lstStyle/>
          <a:p>
            <a:r>
              <a:rPr lang="tr-TR" dirty="0"/>
              <a:t>Uzaktan algılamada ham uydu görüntüleri, sürekli alan veri özelliği gösterir ve </a:t>
            </a:r>
            <a:r>
              <a:rPr lang="tr-TR" dirty="0" smtClean="0"/>
              <a:t>hücre verilerden </a:t>
            </a:r>
            <a:r>
              <a:rPr lang="tr-TR" dirty="0"/>
              <a:t>oluşur. Yani hücreler arası boşluk ve süreksizlik mevcut değildir. Bu tür veriler </a:t>
            </a:r>
            <a:r>
              <a:rPr lang="tr-TR" dirty="0" smtClean="0"/>
              <a:t>de </a:t>
            </a:r>
            <a:r>
              <a:rPr lang="tr-TR" dirty="0" err="1" smtClean="0"/>
              <a:t>pankromatik</a:t>
            </a:r>
            <a:r>
              <a:rPr lang="tr-TR" dirty="0" smtClean="0"/>
              <a:t> </a:t>
            </a:r>
            <a:r>
              <a:rPr lang="tr-TR" dirty="0"/>
              <a:t>(siyah-beyaz) tek bantlı olabildiği gibi çok bantlı (</a:t>
            </a:r>
            <a:r>
              <a:rPr lang="tr-TR" dirty="0" err="1"/>
              <a:t>multi</a:t>
            </a:r>
            <a:r>
              <a:rPr lang="tr-TR" dirty="0"/>
              <a:t>-spektral) </a:t>
            </a:r>
            <a:r>
              <a:rPr lang="tr-TR" dirty="0" smtClean="0"/>
              <a:t>da olabilmektedir</a:t>
            </a:r>
            <a:r>
              <a:rPr lang="tr-TR" dirty="0"/>
              <a:t>. Çok bantlı görüntüler, eğer 0.4-0.7 </a:t>
            </a:r>
            <a:r>
              <a:rPr lang="el-GR" dirty="0"/>
              <a:t>μ</a:t>
            </a:r>
            <a:r>
              <a:rPr lang="tr-TR" dirty="0"/>
              <a:t>m aralığındaki bantlar </a:t>
            </a:r>
            <a:r>
              <a:rPr lang="tr-TR" dirty="0" smtClean="0"/>
              <a:t>R-G-B kombinasyonuna </a:t>
            </a:r>
            <a:r>
              <a:rPr lang="tr-TR" dirty="0"/>
              <a:t>alınırlarsa normal renkler, 0.4 altı ve 0.7 üstü spektral aralıktaki bantlar ile </a:t>
            </a:r>
            <a:r>
              <a:rPr lang="tr-TR" dirty="0" smtClean="0"/>
              <a:t>RG-B </a:t>
            </a:r>
            <a:r>
              <a:rPr lang="tr-TR" dirty="0"/>
              <a:t>kombinasyonu alınırsa yüzeydeki objeler gerçekten farklı renklerde görülür ki </a:t>
            </a:r>
            <a:r>
              <a:rPr lang="tr-TR" dirty="0" smtClean="0"/>
              <a:t>buna yalancı </a:t>
            </a:r>
            <a:r>
              <a:rPr lang="tr-TR" dirty="0"/>
              <a:t>renkli görüntü ismi verilir. Buna bir örnek Şekil 6.6’da verilmiştir. Şekilde </a:t>
            </a:r>
            <a:r>
              <a:rPr lang="tr-TR" dirty="0" smtClean="0"/>
              <a:t>İstanbul boğazı </a:t>
            </a:r>
            <a:r>
              <a:rPr lang="tr-TR" dirty="0"/>
              <a:t>ve çevresini gösteren tek bantlı görüntü siyah beyaz olup </a:t>
            </a:r>
            <a:r>
              <a:rPr lang="tr-TR" dirty="0" err="1"/>
              <a:t>pankromatik</a:t>
            </a:r>
            <a:r>
              <a:rPr lang="tr-TR" dirty="0"/>
              <a:t> bir </a:t>
            </a:r>
            <a:r>
              <a:rPr lang="tr-TR" dirty="0" smtClean="0"/>
              <a:t>görüntü özelliği </a:t>
            </a:r>
            <a:r>
              <a:rPr lang="tr-TR" dirty="0"/>
              <a:t>gösterir. Dolayısıyla bant hangi spektral aralığı temsil ediyorsa o spektral </a:t>
            </a:r>
            <a:r>
              <a:rPr lang="tr-TR" dirty="0" smtClean="0"/>
              <a:t>aralıktaki yüzey </a:t>
            </a:r>
            <a:r>
              <a:rPr lang="tr-TR" dirty="0"/>
              <a:t>detaylarına biraz daha net bir şekilde görüntü üzerinde seçilebilir. Çok bantlı </a:t>
            </a:r>
            <a:r>
              <a:rPr lang="tr-TR" dirty="0" smtClean="0"/>
              <a:t>görüntüler ise </a:t>
            </a:r>
            <a:r>
              <a:rPr lang="tr-TR" dirty="0"/>
              <a:t>iki türlü olarak karşımıza çıkar. Bunlar; görünür dalga boyları (0.4-0.7 </a:t>
            </a:r>
            <a:r>
              <a:rPr lang="el-GR" dirty="0"/>
              <a:t>μ</a:t>
            </a:r>
            <a:r>
              <a:rPr lang="tr-TR" dirty="0"/>
              <a:t>m) </a:t>
            </a:r>
            <a:r>
              <a:rPr lang="tr-TR" dirty="0" smtClean="0"/>
              <a:t>kullanılarak oluşturulan </a:t>
            </a:r>
            <a:r>
              <a:rPr lang="tr-TR" dirty="0"/>
              <a:t>normal renkler ve görünür dalga boyları dışında kalan dalga </a:t>
            </a:r>
            <a:r>
              <a:rPr lang="tr-TR" dirty="0" smtClean="0"/>
              <a:t>boylarının kullanılmasıyla </a:t>
            </a:r>
            <a:r>
              <a:rPr lang="tr-TR" dirty="0"/>
              <a:t>oluşturulan yalancı renklerden oluşan görüntüdür. Örneğin gerçekte </a:t>
            </a:r>
            <a:r>
              <a:rPr lang="tr-TR" dirty="0" smtClean="0"/>
              <a:t>orman örtüsü </a:t>
            </a:r>
            <a:r>
              <a:rPr lang="tr-TR" dirty="0"/>
              <a:t>yeşil olması gerekirken yalancı renklerde orman kırmızı olarak gösterilmiştir.</a:t>
            </a:r>
          </a:p>
        </p:txBody>
      </p:sp>
    </p:spTree>
    <p:extLst>
      <p:ext uri="{BB962C8B-B14F-4D97-AF65-F5344CB8AC3E}">
        <p14:creationId xmlns:p14="http://schemas.microsoft.com/office/powerpoint/2010/main" val="3373355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3963" y="1417362"/>
            <a:ext cx="10124073" cy="5440638"/>
          </a:xfrm>
        </p:spPr>
      </p:pic>
      <p:sp>
        <p:nvSpPr>
          <p:cNvPr id="2" name="Unvan 1"/>
          <p:cNvSpPr>
            <a:spLocks noGrp="1"/>
          </p:cNvSpPr>
          <p:nvPr>
            <p:ph type="title"/>
          </p:nvPr>
        </p:nvSpPr>
        <p:spPr/>
        <p:txBody>
          <a:bodyPr/>
          <a:lstStyle/>
          <a:p>
            <a:r>
              <a:rPr lang="tr-TR" b="1" dirty="0"/>
              <a:t>Görüntü Türleri ve Özellikleri</a:t>
            </a:r>
            <a:endParaRPr lang="tr-TR" dirty="0"/>
          </a:p>
        </p:txBody>
      </p:sp>
    </p:spTree>
    <p:extLst>
      <p:ext uri="{BB962C8B-B14F-4D97-AF65-F5344CB8AC3E}">
        <p14:creationId xmlns:p14="http://schemas.microsoft.com/office/powerpoint/2010/main" val="3608743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Türleri ve Özellikleri</a:t>
            </a:r>
            <a:endParaRPr lang="tr-TR" dirty="0"/>
          </a:p>
        </p:txBody>
      </p:sp>
      <p:sp>
        <p:nvSpPr>
          <p:cNvPr id="3" name="İçerik Yer Tutucusu 2"/>
          <p:cNvSpPr>
            <a:spLocks noGrp="1"/>
          </p:cNvSpPr>
          <p:nvPr>
            <p:ph idx="1"/>
          </p:nvPr>
        </p:nvSpPr>
        <p:spPr/>
        <p:txBody>
          <a:bodyPr>
            <a:normAutofit fontScale="92500" lnSpcReduction="10000"/>
          </a:bodyPr>
          <a:lstStyle/>
          <a:p>
            <a:r>
              <a:rPr lang="tr-TR" dirty="0"/>
              <a:t>Uzaktan algılamanın ham görüntüsü amaca yönelik olarak eğer bir takım </a:t>
            </a:r>
            <a:r>
              <a:rPr lang="tr-TR" dirty="0" smtClean="0"/>
              <a:t>proseslerden geçer </a:t>
            </a:r>
            <a:r>
              <a:rPr lang="tr-TR" dirty="0"/>
              <a:t>ve işlenirse sınıflandırılmış (Tematik) görüntü ismini alır. Sınıflandırılmış </a:t>
            </a:r>
            <a:r>
              <a:rPr lang="tr-TR" dirty="0" smtClean="0"/>
              <a:t>görüntüde pikseller </a:t>
            </a:r>
            <a:r>
              <a:rPr lang="tr-TR" dirty="0"/>
              <a:t>artık yüzeyden yansıyan enerjinin değerini göstermez, bazı analizler sonucunda </a:t>
            </a:r>
            <a:r>
              <a:rPr lang="tr-TR" dirty="0" smtClean="0"/>
              <a:t>benzer piksellere </a:t>
            </a:r>
            <a:r>
              <a:rPr lang="tr-TR" dirty="0"/>
              <a:t>atanan sınıf türünü yansıtırlar. Dolayısıyla artık görüntü olmaktan çıkmış </a:t>
            </a:r>
            <a:r>
              <a:rPr lang="tr-TR" dirty="0" smtClean="0"/>
              <a:t>tematik haritaya </a:t>
            </a:r>
            <a:r>
              <a:rPr lang="tr-TR" dirty="0"/>
              <a:t>dönüşmüş olur. Şekil 6.7 de bir alana ait görüntünün sınıflandırılması sonucunda </a:t>
            </a:r>
            <a:r>
              <a:rPr lang="tr-TR" dirty="0" smtClean="0"/>
              <a:t>ortaya çıkan </a:t>
            </a:r>
            <a:r>
              <a:rPr lang="tr-TR" dirty="0"/>
              <a:t>sonuç tematik harita verilmiştir. Bu haritada artık yeşil renkler, sağlıklı yeşil </a:t>
            </a:r>
            <a:r>
              <a:rPr lang="tr-TR" dirty="0" smtClean="0"/>
              <a:t>bitkileri, mavi </a:t>
            </a:r>
            <a:r>
              <a:rPr lang="tr-TR" dirty="0"/>
              <a:t>renkler kurumuş bitkileri ve çıplak zeminleri (yaklaşık aynı yansıma değerlere </a:t>
            </a:r>
            <a:r>
              <a:rPr lang="tr-TR" dirty="0" smtClean="0"/>
              <a:t>sahip oldukları </a:t>
            </a:r>
            <a:r>
              <a:rPr lang="tr-TR" dirty="0"/>
              <a:t>için) ve son olarak da kırmızı renk sağlıklı olmayan hastalıklı bitkileri </a:t>
            </a:r>
            <a:r>
              <a:rPr lang="tr-TR" dirty="0" smtClean="0"/>
              <a:t>göstermektedir. Bu </a:t>
            </a:r>
            <a:r>
              <a:rPr lang="tr-TR" dirty="0"/>
              <a:t>tematik haritada piksellerin değerleri normal yansıma değerlerinden ziyade bu üç </a:t>
            </a:r>
            <a:r>
              <a:rPr lang="tr-TR" dirty="0" smtClean="0"/>
              <a:t>sınıftan birisini </a:t>
            </a:r>
            <a:r>
              <a:rPr lang="tr-TR" dirty="0"/>
              <a:t>temsil eder.</a:t>
            </a:r>
          </a:p>
        </p:txBody>
      </p:sp>
    </p:spTree>
    <p:extLst>
      <p:ext uri="{BB962C8B-B14F-4D97-AF65-F5344CB8AC3E}">
        <p14:creationId xmlns:p14="http://schemas.microsoft.com/office/powerpoint/2010/main" val="2566204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Türleri ve Özellikleri</a:t>
            </a:r>
            <a:endParaRPr lang="tr-TR" dirty="0"/>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5062" y="1215482"/>
            <a:ext cx="8581876" cy="5642518"/>
          </a:xfrm>
        </p:spPr>
      </p:pic>
    </p:spTree>
    <p:extLst>
      <p:ext uri="{BB962C8B-B14F-4D97-AF65-F5344CB8AC3E}">
        <p14:creationId xmlns:p14="http://schemas.microsoft.com/office/powerpoint/2010/main" val="506696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Türleri ve Özellikleri</a:t>
            </a:r>
            <a:endParaRPr lang="tr-TR" dirty="0"/>
          </a:p>
        </p:txBody>
      </p:sp>
      <p:sp>
        <p:nvSpPr>
          <p:cNvPr id="3" name="İçerik Yer Tutucusu 2"/>
          <p:cNvSpPr>
            <a:spLocks noGrp="1"/>
          </p:cNvSpPr>
          <p:nvPr>
            <p:ph idx="1"/>
          </p:nvPr>
        </p:nvSpPr>
        <p:spPr/>
        <p:txBody>
          <a:bodyPr>
            <a:normAutofit fontScale="92500" lnSpcReduction="10000"/>
          </a:bodyPr>
          <a:lstStyle/>
          <a:p>
            <a:r>
              <a:rPr lang="tr-TR" dirty="0"/>
              <a:t>Uydu görüntüleri ham veya sınıflandırılmış olsun, iki şekilde bulundurulurlar. </a:t>
            </a:r>
            <a:r>
              <a:rPr lang="tr-TR" dirty="0" smtClean="0"/>
              <a:t>Bunlar; analog </a:t>
            </a:r>
            <a:r>
              <a:rPr lang="tr-TR" dirty="0"/>
              <a:t>ve dijital görüntü şeklindedir. Kâğıt ortamındaki bütün görüntülere Analog görüntü </a:t>
            </a:r>
            <a:r>
              <a:rPr lang="tr-TR" dirty="0" smtClean="0"/>
              <a:t>ismi verilir</a:t>
            </a:r>
            <a:r>
              <a:rPr lang="tr-TR" dirty="0"/>
              <a:t>. Bu görüntülerin yeryüzündeki objeleri gösterim zenginliği sınırlı olup, sadece </a:t>
            </a:r>
            <a:r>
              <a:rPr lang="tr-TR" dirty="0" smtClean="0"/>
              <a:t>kâğıt ortamına </a:t>
            </a:r>
            <a:r>
              <a:rPr lang="tr-TR" dirty="0"/>
              <a:t>aktarıldığı dalga boylarını gösterebilirler. Dijital görüntü ise boyutları istenilen </a:t>
            </a:r>
            <a:r>
              <a:rPr lang="tr-TR" dirty="0" smtClean="0"/>
              <a:t>ölçüde </a:t>
            </a:r>
            <a:r>
              <a:rPr lang="nn-NO" dirty="0" smtClean="0"/>
              <a:t>olabilen</a:t>
            </a:r>
            <a:r>
              <a:rPr lang="nn-NO" dirty="0"/>
              <a:t>, hücrelerden meydana gelmiş, her hücrenin bir sayısal ifadesi olan ve ortalama </a:t>
            </a:r>
            <a:r>
              <a:rPr lang="nn-NO" dirty="0" smtClean="0"/>
              <a:t>bir</a:t>
            </a:r>
            <a:r>
              <a:rPr lang="tr-TR" dirty="0" smtClean="0"/>
              <a:t> karakteristik </a:t>
            </a:r>
            <a:r>
              <a:rPr lang="tr-TR" dirty="0"/>
              <a:t>özellikle tanımlanan ve hücrelerin bir araya gelmesiyle oluşmuş </a:t>
            </a:r>
            <a:r>
              <a:rPr lang="tr-TR" dirty="0" smtClean="0"/>
              <a:t>görüntülerdir. Dijital </a:t>
            </a:r>
            <a:r>
              <a:rPr lang="tr-TR" dirty="0"/>
              <a:t>görüntüler, analog görüntülerin tersine bütün dalga boylarını bünyelerinde barındırır </a:t>
            </a:r>
            <a:r>
              <a:rPr lang="tr-TR" dirty="0" smtClean="0"/>
              <a:t>ve istenilen </a:t>
            </a:r>
            <a:r>
              <a:rPr lang="tr-TR" dirty="0"/>
              <a:t>bant kombinasyonu yapılarak istenen detayların ortaya çıkartılması sağlanır. </a:t>
            </a:r>
            <a:r>
              <a:rPr lang="tr-TR" dirty="0" smtClean="0"/>
              <a:t>Ayrıca dijital </a:t>
            </a:r>
            <a:r>
              <a:rPr lang="tr-TR" dirty="0"/>
              <a:t>görüntülerin bir kimlik kartı (</a:t>
            </a:r>
            <a:r>
              <a:rPr lang="tr-TR" dirty="0" err="1"/>
              <a:t>metadata</a:t>
            </a:r>
            <a:r>
              <a:rPr lang="tr-TR" dirty="0"/>
              <a:t>) vardır. Bu kimlik kartında görüntü ile ilgili </a:t>
            </a:r>
            <a:r>
              <a:rPr lang="tr-TR" dirty="0" smtClean="0"/>
              <a:t>bütün bilgileri </a:t>
            </a:r>
            <a:r>
              <a:rPr lang="tr-TR" dirty="0"/>
              <a:t>(koordinat bilgisi, </a:t>
            </a:r>
            <a:r>
              <a:rPr lang="tr-TR" dirty="0" err="1"/>
              <a:t>sensör</a:t>
            </a:r>
            <a:r>
              <a:rPr lang="tr-TR" dirty="0"/>
              <a:t>, bant özellikleri, görüntünün çekildiği gün vb.) </a:t>
            </a:r>
            <a:r>
              <a:rPr lang="tr-TR" dirty="0" smtClean="0"/>
              <a:t>bulmak mümkündür</a:t>
            </a:r>
            <a:r>
              <a:rPr lang="tr-TR" dirty="0"/>
              <a:t>.</a:t>
            </a:r>
          </a:p>
        </p:txBody>
      </p:sp>
    </p:spTree>
    <p:extLst>
      <p:ext uri="{BB962C8B-B14F-4D97-AF65-F5344CB8AC3E}">
        <p14:creationId xmlns:p14="http://schemas.microsoft.com/office/powerpoint/2010/main" val="498018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Türleri ve Özellikleri</a:t>
            </a:r>
            <a:endParaRPr lang="tr-TR" dirty="0"/>
          </a:p>
        </p:txBody>
      </p:sp>
      <p:sp>
        <p:nvSpPr>
          <p:cNvPr id="3" name="İçerik Yer Tutucusu 2"/>
          <p:cNvSpPr>
            <a:spLocks noGrp="1"/>
          </p:cNvSpPr>
          <p:nvPr>
            <p:ph idx="1"/>
          </p:nvPr>
        </p:nvSpPr>
        <p:spPr/>
        <p:txBody>
          <a:bodyPr>
            <a:normAutofit fontScale="92500" lnSpcReduction="20000"/>
          </a:bodyPr>
          <a:lstStyle/>
          <a:p>
            <a:r>
              <a:rPr lang="tr-TR" dirty="0"/>
              <a:t>Aşağıda bazı uydu görüntülerine ait örnekler verilmiştir. Bunlardan Şekil 6.8’de </a:t>
            </a:r>
            <a:r>
              <a:rPr lang="tr-TR" dirty="0" smtClean="0"/>
              <a:t>Havran ilçesi </a:t>
            </a:r>
            <a:r>
              <a:rPr lang="tr-TR" dirty="0"/>
              <a:t>(Balıkesir) ve çevresine ait farklı uydu görüntüleri gösterilmektedir. Bunlardan 6.8a </a:t>
            </a:r>
            <a:r>
              <a:rPr lang="tr-TR" dirty="0" err="1" smtClean="0"/>
              <a:t>daki</a:t>
            </a:r>
            <a:r>
              <a:rPr lang="tr-TR" dirty="0" smtClean="0"/>
              <a:t> uydu </a:t>
            </a:r>
            <a:r>
              <a:rPr lang="tr-TR" dirty="0"/>
              <a:t>görüntüsü normal renklerde </a:t>
            </a:r>
            <a:r>
              <a:rPr lang="tr-TR" dirty="0" err="1"/>
              <a:t>Quickbird</a:t>
            </a:r>
            <a:r>
              <a:rPr lang="tr-TR" dirty="0"/>
              <a:t> uydusundan elde edilmiş yüksek </a:t>
            </a:r>
            <a:r>
              <a:rPr lang="tr-TR" dirty="0" smtClean="0"/>
              <a:t>çözünürlüklü (0.60 </a:t>
            </a:r>
            <a:r>
              <a:rPr lang="tr-TR" dirty="0"/>
              <a:t>m) bir uydu görüntüsüdür. Görüntü yaklaştırıldığı takdirde tarlaları, tarlalar arası </a:t>
            </a:r>
            <a:r>
              <a:rPr lang="tr-TR" dirty="0" smtClean="0"/>
              <a:t>sınırlar, yerleşme </a:t>
            </a:r>
            <a:r>
              <a:rPr lang="tr-TR" dirty="0"/>
              <a:t>arasındaki sokak ve caddelerini ve hatta ağaçları görmek mümkündür. </a:t>
            </a:r>
            <a:r>
              <a:rPr lang="tr-TR" dirty="0" smtClean="0"/>
              <a:t>Dolayısıyla objelerin </a:t>
            </a:r>
            <a:r>
              <a:rPr lang="tr-TR" dirty="0"/>
              <a:t>birbirinden ayırt edilebilmesi oldukça kolaydır. Şekil 6.8b de ise Spot XS </a:t>
            </a:r>
            <a:r>
              <a:rPr lang="tr-TR" dirty="0" smtClean="0"/>
              <a:t>uydu görüntüsü </a:t>
            </a:r>
            <a:r>
              <a:rPr lang="tr-TR" dirty="0"/>
              <a:t>yer almaktadır. Bu görüntünün çözünürlüğü 20 m olup yalancı renkli bir </a:t>
            </a:r>
            <a:r>
              <a:rPr lang="tr-TR" dirty="0" smtClean="0"/>
              <a:t>görüntüdür. Daha </a:t>
            </a:r>
            <a:r>
              <a:rPr lang="tr-TR" dirty="0"/>
              <a:t>önceki derslerimizde değinildiği üzere, Spot uydusunda mavi bant (0.4-0.5 </a:t>
            </a:r>
            <a:r>
              <a:rPr lang="el-GR" dirty="0"/>
              <a:t>μ</a:t>
            </a:r>
            <a:r>
              <a:rPr lang="tr-TR" dirty="0" smtClean="0"/>
              <a:t>m) bulunmadığı </a:t>
            </a:r>
            <a:r>
              <a:rPr lang="tr-TR" dirty="0"/>
              <a:t>için 3-2-1 bant kombinasyonuyla normal renkler değil yalancı renkler </a:t>
            </a:r>
            <a:r>
              <a:rPr lang="tr-TR" dirty="0" smtClean="0"/>
              <a:t>elde edilmektedir</a:t>
            </a:r>
            <a:r>
              <a:rPr lang="tr-TR" dirty="0"/>
              <a:t>. Bu görüntüde (a) görüntüsü gibi olmasa da yerleşme, tarım alanları, Havran </a:t>
            </a:r>
            <a:r>
              <a:rPr lang="tr-TR" dirty="0" smtClean="0"/>
              <a:t>çayı ve </a:t>
            </a:r>
            <a:r>
              <a:rPr lang="tr-TR" dirty="0"/>
              <a:t>yatağı ve ağaçlık-ormanlık alanlar net bir şekilde görülebilmektedir.</a:t>
            </a:r>
          </a:p>
        </p:txBody>
      </p:sp>
    </p:spTree>
    <p:extLst>
      <p:ext uri="{BB962C8B-B14F-4D97-AF65-F5344CB8AC3E}">
        <p14:creationId xmlns:p14="http://schemas.microsoft.com/office/powerpoint/2010/main" val="1514591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Türleri ve Özellikleri</a:t>
            </a:r>
            <a:endParaRPr lang="tr-TR" dirty="0"/>
          </a:p>
        </p:txBody>
      </p:sp>
      <p:sp>
        <p:nvSpPr>
          <p:cNvPr id="3" name="İçerik Yer Tutucusu 2"/>
          <p:cNvSpPr>
            <a:spLocks noGrp="1"/>
          </p:cNvSpPr>
          <p:nvPr>
            <p:ph idx="1"/>
          </p:nvPr>
        </p:nvSpPr>
        <p:spPr/>
        <p:txBody>
          <a:bodyPr>
            <a:normAutofit fontScale="85000" lnSpcReduction="20000"/>
          </a:bodyPr>
          <a:lstStyle/>
          <a:p>
            <a:r>
              <a:rPr lang="tr-TR" dirty="0"/>
              <a:t>Dolayısıyla (</a:t>
            </a:r>
            <a:r>
              <a:rPr lang="tr-TR" dirty="0" smtClean="0"/>
              <a:t>b) görüntüsünde </a:t>
            </a:r>
            <a:r>
              <a:rPr lang="tr-TR" dirty="0"/>
              <a:t>(a) görüntüsüne göre detayların biraz daha azaldığı net bir şekilde </a:t>
            </a:r>
            <a:r>
              <a:rPr lang="tr-TR" dirty="0" smtClean="0"/>
              <a:t>ortaya çıkmaktadır</a:t>
            </a:r>
            <a:r>
              <a:rPr lang="tr-TR" dirty="0"/>
              <a:t>. Şekil 6.8c’de ise </a:t>
            </a:r>
            <a:r>
              <a:rPr lang="tr-TR" dirty="0" err="1"/>
              <a:t>Landsat</a:t>
            </a:r>
            <a:r>
              <a:rPr lang="tr-TR" dirty="0"/>
              <a:t> TM görüntüsü yer almaktadır. 30 m çözünürlüklü </a:t>
            </a:r>
            <a:r>
              <a:rPr lang="tr-TR" dirty="0" smtClean="0"/>
              <a:t>bu görüntü </a:t>
            </a:r>
            <a:r>
              <a:rPr lang="tr-TR" dirty="0"/>
              <a:t>normal renklidir. (a) ve (b) görüntülerine göre çözünürlüğü iyice düşük olan </a:t>
            </a:r>
            <a:r>
              <a:rPr lang="tr-TR" dirty="0" smtClean="0"/>
              <a:t>bu görüntüde </a:t>
            </a:r>
            <a:r>
              <a:rPr lang="tr-TR" dirty="0"/>
              <a:t>yerleşme, Havran çayı ve yatağı, yollar, tarım alanları ve ormanlık alanları </a:t>
            </a:r>
            <a:r>
              <a:rPr lang="tr-TR" dirty="0" smtClean="0"/>
              <a:t>belirli olmakla </a:t>
            </a:r>
            <a:r>
              <a:rPr lang="tr-TR" dirty="0"/>
              <a:t>birlikte ayırt edilebilirlikleri iyice azalmıştır. Uydu görüntüsünün çekim tarihi </a:t>
            </a:r>
            <a:r>
              <a:rPr lang="tr-TR" dirty="0" smtClean="0"/>
              <a:t>olan 1987 </a:t>
            </a:r>
            <a:r>
              <a:rPr lang="tr-TR" dirty="0"/>
              <a:t>yılı dikkate alındığında (a) ve (b) görüntülerinde doğu-batı istikametindeki yol </a:t>
            </a:r>
            <a:r>
              <a:rPr lang="tr-TR" dirty="0" smtClean="0"/>
              <a:t>üzerindeki açık </a:t>
            </a:r>
            <a:r>
              <a:rPr lang="tr-TR" dirty="0"/>
              <a:t>alan (sanayi alanı) mevcut değildir. Ayrıca yerleşme alanının sınır özelliklerinin de </a:t>
            </a:r>
            <a:r>
              <a:rPr lang="tr-TR" dirty="0" smtClean="0"/>
              <a:t>kısmen daha </a:t>
            </a:r>
            <a:r>
              <a:rPr lang="tr-TR" dirty="0"/>
              <a:t>küçük bir alanda olduğu dikkat çekmektedir. Şekil 6.8d ise </a:t>
            </a:r>
            <a:r>
              <a:rPr lang="tr-TR" dirty="0" err="1"/>
              <a:t>Landsat</a:t>
            </a:r>
            <a:r>
              <a:rPr lang="tr-TR" dirty="0"/>
              <a:t> MSS görüntüsü </a:t>
            </a:r>
            <a:r>
              <a:rPr lang="tr-TR" dirty="0" smtClean="0"/>
              <a:t>olup 60 </a:t>
            </a:r>
            <a:r>
              <a:rPr lang="tr-TR" dirty="0"/>
              <a:t>m çözünürlüklü ve yalancı renkli bir görüntüdür. </a:t>
            </a:r>
            <a:r>
              <a:rPr lang="tr-TR" dirty="0" err="1"/>
              <a:t>Landsat</a:t>
            </a:r>
            <a:r>
              <a:rPr lang="tr-TR" dirty="0"/>
              <a:t> </a:t>
            </a:r>
            <a:r>
              <a:rPr lang="tr-TR" dirty="0" err="1"/>
              <a:t>MSS’te</a:t>
            </a:r>
            <a:r>
              <a:rPr lang="tr-TR" dirty="0"/>
              <a:t> mavi bant </a:t>
            </a:r>
            <a:r>
              <a:rPr lang="tr-TR" dirty="0" smtClean="0"/>
              <a:t>bulunmadığı için </a:t>
            </a:r>
            <a:r>
              <a:rPr lang="tr-TR" dirty="0"/>
              <a:t>normal renkli görünüm elde edilememektedir. Bu görüntü de önceki 3 görüntüden </a:t>
            </a:r>
            <a:r>
              <a:rPr lang="tr-TR" dirty="0" smtClean="0"/>
              <a:t>farklı olarak </a:t>
            </a:r>
            <a:r>
              <a:rPr lang="tr-TR" dirty="0"/>
              <a:t>ayrıntılar iyi azalmış ve objelerin ayırt edilebilirliği neredeyse kaybolmuştur. </a:t>
            </a:r>
            <a:r>
              <a:rPr lang="tr-TR" dirty="0" smtClean="0"/>
              <a:t>Buna rağmen </a:t>
            </a:r>
            <a:r>
              <a:rPr lang="tr-TR" dirty="0"/>
              <a:t>yerleşme, akarsu yatağı ve ormanlık ve tarım alanı temel objeler olarak </a:t>
            </a:r>
            <a:r>
              <a:rPr lang="tr-TR" dirty="0" smtClean="0"/>
              <a:t>ayırt edilebilmektedir</a:t>
            </a:r>
            <a:r>
              <a:rPr lang="tr-TR" dirty="0"/>
              <a:t>.</a:t>
            </a:r>
          </a:p>
        </p:txBody>
      </p:sp>
    </p:spTree>
    <p:extLst>
      <p:ext uri="{BB962C8B-B14F-4D97-AF65-F5344CB8AC3E}">
        <p14:creationId xmlns:p14="http://schemas.microsoft.com/office/powerpoint/2010/main" val="52479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703729" y="2756"/>
            <a:ext cx="10515600" cy="1325563"/>
          </a:xfrm>
        </p:spPr>
        <p:txBody>
          <a:bodyPr/>
          <a:lstStyle/>
          <a:p>
            <a:r>
              <a:rPr lang="tr-TR" b="1" dirty="0"/>
              <a:t>Görüntü Türleri ve Özellikleri</a:t>
            </a:r>
            <a:endParaRPr lang="tr-TR" dirty="0"/>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6056" y="975393"/>
            <a:ext cx="7010946" cy="5730207"/>
          </a:xfrm>
        </p:spPr>
      </p:pic>
    </p:spTree>
    <p:extLst>
      <p:ext uri="{BB962C8B-B14F-4D97-AF65-F5344CB8AC3E}">
        <p14:creationId xmlns:p14="http://schemas.microsoft.com/office/powerpoint/2010/main" val="1661959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Türleri ve Özellikleri</a:t>
            </a:r>
            <a:endParaRPr lang="tr-TR" dirty="0"/>
          </a:p>
        </p:txBody>
      </p:sp>
      <p:sp>
        <p:nvSpPr>
          <p:cNvPr id="3" name="İçerik Yer Tutucusu 2"/>
          <p:cNvSpPr>
            <a:spLocks noGrp="1"/>
          </p:cNvSpPr>
          <p:nvPr>
            <p:ph idx="1"/>
          </p:nvPr>
        </p:nvSpPr>
        <p:spPr/>
        <p:txBody>
          <a:bodyPr>
            <a:normAutofit/>
          </a:bodyPr>
          <a:lstStyle/>
          <a:p>
            <a:r>
              <a:rPr lang="tr-TR" dirty="0"/>
              <a:t>Şekil 6.9’da Havran Çayı (Balıkesir) Edremit körfezine döküldüğü mansap kısmına </a:t>
            </a:r>
            <a:r>
              <a:rPr lang="tr-TR" dirty="0" smtClean="0"/>
              <a:t>ait iki </a:t>
            </a:r>
            <a:r>
              <a:rPr lang="tr-TR" dirty="0"/>
              <a:t>farklı görüntü verilmiştir. Bunlardan Şekil 6.9a 1976 yılına ait bir hava fotosu olup </a:t>
            </a:r>
            <a:r>
              <a:rPr lang="tr-TR" dirty="0" smtClean="0"/>
              <a:t>1:35000 ölçeklidir</a:t>
            </a:r>
            <a:r>
              <a:rPr lang="tr-TR" dirty="0"/>
              <a:t>. </a:t>
            </a:r>
            <a:r>
              <a:rPr lang="tr-TR" dirty="0" err="1"/>
              <a:t>Pankromatik</a:t>
            </a:r>
            <a:r>
              <a:rPr lang="tr-TR" dirty="0"/>
              <a:t> ve dikey olan hava fotosunda Havran Çayı’nın mansap </a:t>
            </a:r>
            <a:r>
              <a:rPr lang="tr-TR" dirty="0" smtClean="0"/>
              <a:t>kısmındaki arazi </a:t>
            </a:r>
            <a:r>
              <a:rPr lang="tr-TR" dirty="0"/>
              <a:t>kullanım özellikleri (tarım alanları ve sınırları, boş alanlar) net bir şekilde </a:t>
            </a:r>
            <a:r>
              <a:rPr lang="tr-TR" dirty="0" smtClean="0"/>
              <a:t>ayırt edilebilmektedir</a:t>
            </a:r>
            <a:r>
              <a:rPr lang="tr-TR" dirty="0"/>
              <a:t>. Şekil </a:t>
            </a:r>
            <a:r>
              <a:rPr lang="tr-TR" dirty="0" smtClean="0"/>
              <a:t>6.9b’de </a:t>
            </a:r>
            <a:r>
              <a:rPr lang="tr-TR" dirty="0"/>
              <a:t>ise aynı alana ait yüksek çözünürlüklü (0.60m) </a:t>
            </a:r>
            <a:r>
              <a:rPr lang="tr-TR" dirty="0" err="1"/>
              <a:t>Quickbird</a:t>
            </a:r>
            <a:r>
              <a:rPr lang="tr-TR" dirty="0"/>
              <a:t> </a:t>
            </a:r>
            <a:r>
              <a:rPr lang="tr-TR" dirty="0" smtClean="0"/>
              <a:t>uydu görüntüsü </a:t>
            </a:r>
            <a:r>
              <a:rPr lang="tr-TR" dirty="0"/>
              <a:t>verilmiştir. Normal renkli bu görüntüde özellikle çayın mansap kısmındaki </a:t>
            </a:r>
            <a:r>
              <a:rPr lang="tr-TR" dirty="0" smtClean="0"/>
              <a:t>yerleşme artışını </a:t>
            </a:r>
            <a:r>
              <a:rPr lang="tr-TR" dirty="0"/>
              <a:t>görmek mümkündür. Aynı zamanda tarım alanı sınırları daha ayrıntılı </a:t>
            </a:r>
            <a:r>
              <a:rPr lang="tr-TR" dirty="0" smtClean="0"/>
              <a:t>olarak görülebilmekte </a:t>
            </a:r>
            <a:r>
              <a:rPr lang="tr-TR" dirty="0"/>
              <a:t>olup tarlalardaki ürün farklılıkları net bir şekilde ortaya çıkmaktadır.</a:t>
            </a:r>
          </a:p>
        </p:txBody>
      </p:sp>
    </p:spTree>
    <p:extLst>
      <p:ext uri="{BB962C8B-B14F-4D97-AF65-F5344CB8AC3E}">
        <p14:creationId xmlns:p14="http://schemas.microsoft.com/office/powerpoint/2010/main" val="3606067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Türleri ve Özellikleri</a:t>
            </a:r>
            <a:endParaRPr lang="tr-TR" dirty="0"/>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9739" y="1457868"/>
            <a:ext cx="10752522" cy="4894805"/>
          </a:xfrm>
        </p:spPr>
      </p:pic>
    </p:spTree>
    <p:extLst>
      <p:ext uri="{BB962C8B-B14F-4D97-AF65-F5344CB8AC3E}">
        <p14:creationId xmlns:p14="http://schemas.microsoft.com/office/powerpoint/2010/main" val="646012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Türleri ve Özellikleri</a:t>
            </a:r>
            <a:endParaRPr lang="tr-TR" dirty="0"/>
          </a:p>
        </p:txBody>
      </p:sp>
      <p:sp>
        <p:nvSpPr>
          <p:cNvPr id="3" name="İçerik Yer Tutucusu 2"/>
          <p:cNvSpPr>
            <a:spLocks noGrp="1"/>
          </p:cNvSpPr>
          <p:nvPr>
            <p:ph idx="1"/>
          </p:nvPr>
        </p:nvSpPr>
        <p:spPr/>
        <p:txBody>
          <a:bodyPr>
            <a:normAutofit fontScale="92500" lnSpcReduction="10000"/>
          </a:bodyPr>
          <a:lstStyle/>
          <a:p>
            <a:r>
              <a:rPr lang="tr-TR" dirty="0"/>
              <a:t>Şekil 6.10’da ise Bartın ili ve çevresine ait uydu görüntüleri verilmiştir. </a:t>
            </a:r>
            <a:r>
              <a:rPr lang="tr-TR" dirty="0" smtClean="0"/>
              <a:t>Bunlardan 6.10a’da </a:t>
            </a:r>
            <a:r>
              <a:rPr lang="tr-TR" dirty="0" err="1"/>
              <a:t>Landsat</a:t>
            </a:r>
            <a:r>
              <a:rPr lang="tr-TR" dirty="0"/>
              <a:t> ETM+ uydu görüntüsü olup normal renkler kullanılmıştır. Çözünürlüğü </a:t>
            </a:r>
            <a:r>
              <a:rPr lang="tr-TR" dirty="0" smtClean="0"/>
              <a:t>30m olan </a:t>
            </a:r>
            <a:r>
              <a:rPr lang="tr-TR" dirty="0"/>
              <a:t>bu uydu görüntüsünde deniz, ormanlık alan, yerleşme, Bartın Çayı ve kısmen tarım </a:t>
            </a:r>
            <a:r>
              <a:rPr lang="tr-TR" dirty="0" smtClean="0"/>
              <a:t>alanları görülebilmektedir</a:t>
            </a:r>
            <a:r>
              <a:rPr lang="tr-TR" dirty="0"/>
              <a:t>. Şekil 6.10b’de ise </a:t>
            </a:r>
            <a:r>
              <a:rPr lang="tr-TR" dirty="0" err="1"/>
              <a:t>Ikonos</a:t>
            </a:r>
            <a:r>
              <a:rPr lang="tr-TR" dirty="0"/>
              <a:t> uydu görüntüsü verilmiştir ve normal </a:t>
            </a:r>
            <a:r>
              <a:rPr lang="tr-TR" dirty="0" smtClean="0"/>
              <a:t>renkler kullanılmıştır</a:t>
            </a:r>
            <a:r>
              <a:rPr lang="tr-TR" dirty="0"/>
              <a:t>. 1 m çözünürlüklü bu uydu görüntüsünde Bartın il merkezi ve çevresindeki </a:t>
            </a:r>
            <a:r>
              <a:rPr lang="tr-TR" dirty="0" smtClean="0"/>
              <a:t>arazi kullanım </a:t>
            </a:r>
            <a:r>
              <a:rPr lang="tr-TR" dirty="0"/>
              <a:t>özellikleri net bir şekilde ayırt edilebilmektedir. Ayrıca Bartın Çayı’nın </a:t>
            </a:r>
            <a:r>
              <a:rPr lang="tr-TR" dirty="0" err="1" smtClean="0"/>
              <a:t>menderesli</a:t>
            </a:r>
            <a:r>
              <a:rPr lang="tr-TR" dirty="0" smtClean="0"/>
              <a:t> yatağı </a:t>
            </a:r>
            <a:r>
              <a:rPr lang="tr-TR" dirty="0"/>
              <a:t>da gözlemlenebilen özellikler arasında yer alır. Dolayısıyla yüksek ve orta </a:t>
            </a:r>
            <a:r>
              <a:rPr lang="tr-TR" dirty="0" smtClean="0"/>
              <a:t>çözünürlüklü görüntülerdeki </a:t>
            </a:r>
            <a:r>
              <a:rPr lang="tr-TR" dirty="0"/>
              <a:t>detay farkları ve bu görüntülerden çıkartılabilecek özellikler hakkında </a:t>
            </a:r>
            <a:r>
              <a:rPr lang="tr-TR" dirty="0" smtClean="0"/>
              <a:t>bu örnekler </a:t>
            </a:r>
            <a:r>
              <a:rPr lang="tr-TR" dirty="0"/>
              <a:t>bize detaylı bilgi vermektedirler.</a:t>
            </a:r>
          </a:p>
        </p:txBody>
      </p:sp>
    </p:spTree>
    <p:extLst>
      <p:ext uri="{BB962C8B-B14F-4D97-AF65-F5344CB8AC3E}">
        <p14:creationId xmlns:p14="http://schemas.microsoft.com/office/powerpoint/2010/main" val="18109598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Görüntü Türleri ve Özellikleri</a:t>
            </a:r>
            <a:endParaRPr lang="tr-TR" dirty="0"/>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9631" y="1435810"/>
            <a:ext cx="10472738" cy="4944143"/>
          </a:xfrm>
        </p:spPr>
      </p:pic>
    </p:spTree>
    <p:extLst>
      <p:ext uri="{BB962C8B-B14F-4D97-AF65-F5344CB8AC3E}">
        <p14:creationId xmlns:p14="http://schemas.microsoft.com/office/powerpoint/2010/main" val="62953766"/>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DDCB7A48CD16EE43B925771B387E1328" ma:contentTypeVersion="4" ma:contentTypeDescription="Yeni belge oluşturun." ma:contentTypeScope="" ma:versionID="8cd08cc54155ef2839875b24107c4d91">
  <xsd:schema xmlns:xsd="http://www.w3.org/2001/XMLSchema" xmlns:xs="http://www.w3.org/2001/XMLSchema" xmlns:p="http://schemas.microsoft.com/office/2006/metadata/properties" xmlns:ns2="cd4edf54-67b3-4910-9de7-59ff84f4ae2e" targetNamespace="http://schemas.microsoft.com/office/2006/metadata/properties" ma:root="true" ma:fieldsID="020b23ac89fbdb1593e8cd77d9d69472" ns2:_="">
    <xsd:import namespace="cd4edf54-67b3-4910-9de7-59ff84f4ae2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4edf54-67b3-4910-9de7-59ff84f4ae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1EA4D7C-5C7B-4971-A244-1AF3997FFB3D}"/>
</file>

<file path=customXml/itemProps2.xml><?xml version="1.0" encoding="utf-8"?>
<ds:datastoreItem xmlns:ds="http://schemas.openxmlformats.org/officeDocument/2006/customXml" ds:itemID="{4EF43A18-BFF8-46FE-815B-75D2A1472766}"/>
</file>

<file path=customXml/itemProps3.xml><?xml version="1.0" encoding="utf-8"?>
<ds:datastoreItem xmlns:ds="http://schemas.openxmlformats.org/officeDocument/2006/customXml" ds:itemID="{DD370244-6995-43C2-8CC3-209E4EAF2EA9}"/>
</file>

<file path=docProps/app.xml><?xml version="1.0" encoding="utf-8"?>
<Properties xmlns="http://schemas.openxmlformats.org/officeDocument/2006/extended-properties" xmlns:vt="http://schemas.openxmlformats.org/officeDocument/2006/docPropsVTypes">
  <TotalTime>1256</TotalTime>
  <Words>2024</Words>
  <Application>Microsoft Office PowerPoint</Application>
  <PresentationFormat>Geniş ekran</PresentationFormat>
  <Paragraphs>57</Paragraphs>
  <Slides>27</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27</vt:i4>
      </vt:variant>
    </vt:vector>
  </HeadingPairs>
  <TitlesOfParts>
    <vt:vector size="32" baseType="lpstr">
      <vt:lpstr>Arial</vt:lpstr>
      <vt:lpstr>Calibri</vt:lpstr>
      <vt:lpstr>Calibri Light</vt:lpstr>
      <vt:lpstr>Wingdings</vt:lpstr>
      <vt:lpstr>Office Teması</vt:lpstr>
      <vt:lpstr>Çukurova Üniversitesi  Karaisalı Meslek Yüksekokulu</vt:lpstr>
      <vt:lpstr>GÖRÜNTÜ VE ÖZELLİKLERİ</vt:lpstr>
      <vt:lpstr>GÖRÜNTÜ VE ÖZELLİKLERİ</vt:lpstr>
      <vt:lpstr>GÖRÜNTÜ VE ÖZELLİKLERİ</vt:lpstr>
      <vt:lpstr>GÖRÜNTÜ VE ÖZELLİKLERİ</vt:lpstr>
      <vt:lpstr>GÖRÜNTÜ VE ÖZELLİKLERİ</vt:lpstr>
      <vt:lpstr>GÖRÜNTÜ VE ÖZELLİKLERİ</vt:lpstr>
      <vt:lpstr>Çözünürlük</vt:lpstr>
      <vt:lpstr>Spektral Çözünürlük</vt:lpstr>
      <vt:lpstr>Spektral Çözünürlük</vt:lpstr>
      <vt:lpstr>Radyometrik Çözünürlük</vt:lpstr>
      <vt:lpstr>Radyometrik Çözünürlük</vt:lpstr>
      <vt:lpstr>Mekânsal Çözünürlük</vt:lpstr>
      <vt:lpstr>Mekânsal Çözünürlük</vt:lpstr>
      <vt:lpstr>Zamansal Çözünürlük</vt:lpstr>
      <vt:lpstr>Görüntü Türleri ve Özellikleri</vt:lpstr>
      <vt:lpstr>Görüntü Türleri ve Özellikleri</vt:lpstr>
      <vt:lpstr>Görüntü Türleri ve Özellikleri</vt:lpstr>
      <vt:lpstr>Görüntü Türleri ve Özellikleri</vt:lpstr>
      <vt:lpstr>Görüntü Türleri ve Özellikleri</vt:lpstr>
      <vt:lpstr>Görüntü Türleri ve Özellikleri</vt:lpstr>
      <vt:lpstr>Görüntü Türleri ve Özellikleri</vt:lpstr>
      <vt:lpstr>Görüntü Türleri ve Özellikleri</vt:lpstr>
      <vt:lpstr>Görüntü Türleri ve Özellikleri</vt:lpstr>
      <vt:lpstr>Görüntü Türleri ve Özellikleri</vt:lpstr>
      <vt:lpstr>Görüntü Türleri ve Özellikleri</vt:lpstr>
      <vt:lpstr>Görüntü Türleri ve Özellikleri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Çukurova Üniversitesi  Karaisalı Meslek Yüksekokulu</dc:title>
  <dc:creator>Buray Karslı</dc:creator>
  <cp:lastModifiedBy>Buray Karslı</cp:lastModifiedBy>
  <cp:revision>106</cp:revision>
  <dcterms:created xsi:type="dcterms:W3CDTF">2024-07-04T08:09:56Z</dcterms:created>
  <dcterms:modified xsi:type="dcterms:W3CDTF">2024-11-29T11:55:07Z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0x010100DDCB7A48CD16EE43B925771B387E1328</vt:lpwstr>
  </property>
</Properties>
</file>