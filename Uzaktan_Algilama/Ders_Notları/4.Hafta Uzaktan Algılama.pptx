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72" autoAdjust="0"/>
  </p:normalViewPr>
  <p:slideViewPr>
    <p:cSldViewPr snapToGrid="0">
      <p:cViewPr varScale="1">
        <p:scale>
          <a:sx n="108" d="100"/>
          <a:sy n="108" d="100"/>
        </p:scale>
        <p:origin x="6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EBEE3-403F-4C70-A1A1-2BB1B32F48D5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209F0-F6B3-41A2-8C9A-3E39791D5DE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725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2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92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36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190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355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122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71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242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0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171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74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31E0E-70AA-4C5F-B0F7-EBC0C05F04ED}" type="datetimeFigureOut">
              <a:rPr lang="tr-TR" smtClean="0"/>
              <a:t>7.11.2024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3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09499"/>
            <a:ext cx="5069921" cy="3848500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00554" y="-354745"/>
            <a:ext cx="9144000" cy="2387600"/>
          </a:xfrm>
        </p:spPr>
        <p:txBody>
          <a:bodyPr/>
          <a:lstStyle/>
          <a:p>
            <a:r>
              <a:rPr lang="tr-TR" dirty="0" smtClean="0"/>
              <a:t>Çukurova Üniversitesi </a:t>
            </a:r>
            <a:br>
              <a:rPr lang="tr-TR" dirty="0" smtClean="0"/>
            </a:br>
            <a:r>
              <a:rPr lang="tr-TR" sz="5000" dirty="0" smtClean="0"/>
              <a:t>Karaisalı Meslek Yüksekokulu</a:t>
            </a:r>
            <a:endParaRPr lang="tr-TR" sz="50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075592" y="2592660"/>
            <a:ext cx="10521462" cy="4071438"/>
          </a:xfrm>
        </p:spPr>
        <p:txBody>
          <a:bodyPr>
            <a:normAutofit fontScale="92500" lnSpcReduction="10000"/>
          </a:bodyPr>
          <a:lstStyle/>
          <a:p>
            <a:r>
              <a:rPr lang="tr-TR" sz="3500" dirty="0" smtClean="0"/>
              <a:t>UZAKTAN ALGILAMA</a:t>
            </a:r>
            <a:r>
              <a:rPr lang="tr-TR" dirty="0" smtClean="0"/>
              <a:t>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r>
              <a:rPr lang="tr-TR" sz="3000" dirty="0" err="1" smtClean="0"/>
              <a:t>Öğr</a:t>
            </a:r>
            <a:r>
              <a:rPr lang="tr-TR" sz="3000" dirty="0" smtClean="0"/>
              <a:t>. Gör. Buray KARSLI</a:t>
            </a:r>
            <a:endParaRPr lang="tr-TR" sz="3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4" y="306569"/>
            <a:ext cx="2143125" cy="21431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580" y="205060"/>
            <a:ext cx="2244634" cy="22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5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ALGILAYICILAR (AKTİF)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Bu bölümde uzaktan algılamada kullanılan algılayıcı </a:t>
            </a:r>
            <a:r>
              <a:rPr lang="tr-TR" dirty="0" err="1"/>
              <a:t>türlerindan</a:t>
            </a:r>
            <a:r>
              <a:rPr lang="tr-TR" dirty="0"/>
              <a:t> aktif </a:t>
            </a:r>
            <a:r>
              <a:rPr lang="tr-TR" dirty="0" smtClean="0"/>
              <a:t>algılayıcılardan lazer </a:t>
            </a:r>
            <a:r>
              <a:rPr lang="tr-TR" dirty="0"/>
              <a:t>tarayıcılar, radarlar, radar altimetre ve sonarlar incelenecektir. Bir önceki </a:t>
            </a:r>
            <a:r>
              <a:rPr lang="tr-TR" dirty="0" smtClean="0"/>
              <a:t>bölümde değinildiği </a:t>
            </a:r>
            <a:r>
              <a:rPr lang="tr-TR" dirty="0"/>
              <a:t>üzere, aktif </a:t>
            </a:r>
            <a:r>
              <a:rPr lang="tr-TR" dirty="0" err="1"/>
              <a:t>sensörler</a:t>
            </a:r>
            <a:r>
              <a:rPr lang="tr-TR" dirty="0"/>
              <a:t> dış bir kaynaktan enerjiye ihtiyaç duymazlar. </a:t>
            </a:r>
            <a:r>
              <a:rPr lang="tr-TR" dirty="0" smtClean="0"/>
              <a:t>Kendi enerjilerini </a:t>
            </a:r>
            <a:r>
              <a:rPr lang="tr-TR" dirty="0"/>
              <a:t>kendileri üretirler. Bu nedenle bu bölüm altında </a:t>
            </a:r>
            <a:r>
              <a:rPr lang="tr-TR" dirty="0" smtClean="0"/>
              <a:t>incelenecek </a:t>
            </a:r>
            <a:r>
              <a:rPr lang="tr-TR" dirty="0"/>
              <a:t>olan </a:t>
            </a:r>
            <a:r>
              <a:rPr lang="tr-TR" dirty="0" err="1" smtClean="0"/>
              <a:t>sensörlerin</a:t>
            </a:r>
            <a:r>
              <a:rPr lang="tr-TR" dirty="0" smtClean="0"/>
              <a:t> tamamı </a:t>
            </a:r>
            <a:r>
              <a:rPr lang="tr-TR" dirty="0"/>
              <a:t>kendi enerjilerini kendileri üretmektedir. </a:t>
            </a:r>
            <a:r>
              <a:rPr lang="tr-TR" dirty="0" smtClean="0"/>
              <a:t>Dolayısıyla </a:t>
            </a:r>
            <a:r>
              <a:rPr lang="tr-TR" dirty="0"/>
              <a:t>hava şartlarından </a:t>
            </a:r>
            <a:r>
              <a:rPr lang="tr-TR" dirty="0" smtClean="0"/>
              <a:t>minimum derecede </a:t>
            </a:r>
            <a:r>
              <a:rPr lang="tr-TR" dirty="0"/>
              <a:t>etkilenmektedirler. Gece-gündüz algılama yapabilme kapasiteleri vardır. Bu </a:t>
            </a:r>
            <a:r>
              <a:rPr lang="tr-TR" dirty="0" smtClean="0"/>
              <a:t>nedenler pasif </a:t>
            </a:r>
            <a:r>
              <a:rPr lang="tr-TR" dirty="0"/>
              <a:t>algılayıcıların yanında bu algılayıcıların da öğrenilmesinde yarar vardır.</a:t>
            </a:r>
          </a:p>
        </p:txBody>
      </p:sp>
    </p:spTree>
    <p:extLst>
      <p:ext uri="{BB962C8B-B14F-4D97-AF65-F5344CB8AC3E}">
        <p14:creationId xmlns:p14="http://schemas.microsoft.com/office/powerpoint/2010/main" val="52268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</a:t>
            </a:r>
            <a:r>
              <a:rPr lang="tr-TR" b="1" dirty="0" smtClean="0"/>
              <a:t>Algılayıcılar (</a:t>
            </a:r>
            <a:r>
              <a:rPr lang="tr-TR" b="1" dirty="0"/>
              <a:t>Lazer </a:t>
            </a:r>
            <a:r>
              <a:rPr lang="tr-TR" b="1" dirty="0" smtClean="0"/>
              <a:t>Tarayıcılar)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379621"/>
            <a:ext cx="10515600" cy="5197642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Bazı yönlerden radara benzeyen farklı bir aktif </a:t>
            </a:r>
            <a:r>
              <a:rPr lang="tr-TR" dirty="0" err="1"/>
              <a:t>sensördür</a:t>
            </a:r>
            <a:r>
              <a:rPr lang="tr-TR" dirty="0"/>
              <a:t> en güzel örneği </a:t>
            </a:r>
            <a:r>
              <a:rPr lang="tr-TR" dirty="0" err="1" smtClean="0"/>
              <a:t>Lidar’dır</a:t>
            </a:r>
            <a:r>
              <a:rPr lang="tr-TR" dirty="0" smtClean="0"/>
              <a:t> (</a:t>
            </a:r>
            <a:r>
              <a:rPr lang="tr-TR" dirty="0" err="1" smtClean="0"/>
              <a:t>Light</a:t>
            </a:r>
            <a:r>
              <a:rPr lang="tr-TR" dirty="0" smtClean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Ranging</a:t>
            </a:r>
            <a:r>
              <a:rPr lang="tr-TR" dirty="0"/>
              <a:t>). </a:t>
            </a:r>
            <a:r>
              <a:rPr lang="tr-TR" dirty="0" err="1"/>
              <a:t>Lidar</a:t>
            </a:r>
            <a:r>
              <a:rPr lang="tr-TR" dirty="0"/>
              <a:t> görünür ve yakın kızılötesi dalga boylarındaki </a:t>
            </a:r>
            <a:r>
              <a:rPr lang="tr-TR" dirty="0" smtClean="0"/>
              <a:t>lazer ışınlarını </a:t>
            </a:r>
            <a:r>
              <a:rPr lang="tr-TR" dirty="0"/>
              <a:t>saniyede binlerce olacak şekilde yüzeye gönderir. Bu ışınlardan bazıları geri </a:t>
            </a:r>
            <a:r>
              <a:rPr lang="tr-TR" dirty="0" smtClean="0"/>
              <a:t>yansır. Geri </a:t>
            </a:r>
            <a:r>
              <a:rPr lang="tr-TR" dirty="0"/>
              <a:t>yansıyan ışınların geri dönüş zamanları ve yoğunlukları ölçüm parametresi </a:t>
            </a:r>
            <a:r>
              <a:rPr lang="tr-TR" dirty="0" smtClean="0"/>
              <a:t>olarak kullanılır</a:t>
            </a:r>
            <a:r>
              <a:rPr lang="tr-TR" dirty="0"/>
              <a:t>. </a:t>
            </a:r>
            <a:r>
              <a:rPr lang="tr-TR" dirty="0" err="1"/>
              <a:t>Lidar</a:t>
            </a:r>
            <a:r>
              <a:rPr lang="tr-TR" dirty="0"/>
              <a:t> aleti uzay ve hava platformlarında kullanılır ve gece ve gündüz </a:t>
            </a:r>
            <a:r>
              <a:rPr lang="tr-TR" dirty="0" smtClean="0"/>
              <a:t>çalışabilir. </a:t>
            </a:r>
            <a:r>
              <a:rPr lang="tr-TR" dirty="0" err="1" smtClean="0"/>
              <a:t>Lidar</a:t>
            </a:r>
            <a:r>
              <a:rPr lang="tr-TR" dirty="0" smtClean="0"/>
              <a:t> </a:t>
            </a:r>
            <a:r>
              <a:rPr lang="tr-TR" dirty="0"/>
              <a:t>ile yükseklik belirlenebilir, hedeflerin içine nüfuz etmesiyle ağaç yükseklikleri, dış </a:t>
            </a:r>
            <a:r>
              <a:rPr lang="tr-TR" dirty="0" smtClean="0"/>
              <a:t>yüzey özellikleri </a:t>
            </a:r>
            <a:r>
              <a:rPr lang="tr-TR" dirty="0"/>
              <a:t>ve fazla derin olmayan suların derinlikleri belirlenebilir. </a:t>
            </a:r>
            <a:endParaRPr lang="tr-TR" dirty="0" smtClean="0"/>
          </a:p>
          <a:p>
            <a:r>
              <a:rPr lang="tr-TR" dirty="0" smtClean="0"/>
              <a:t>Lazer </a:t>
            </a:r>
            <a:r>
              <a:rPr lang="tr-TR" dirty="0"/>
              <a:t>tarayıcılar, </a:t>
            </a:r>
            <a:r>
              <a:rPr lang="tr-TR" dirty="0" smtClean="0"/>
              <a:t>genel olarak </a:t>
            </a:r>
            <a:r>
              <a:rPr lang="tr-TR" dirty="0"/>
              <a:t>uçak ve helikoptere monte edilir ve </a:t>
            </a:r>
            <a:r>
              <a:rPr lang="tr-TR" dirty="0" err="1"/>
              <a:t>sensör</a:t>
            </a:r>
            <a:r>
              <a:rPr lang="tr-TR" dirty="0"/>
              <a:t> ile zemin arasındaki mesafeyi ölçmek </a:t>
            </a:r>
            <a:r>
              <a:rPr lang="tr-TR" dirty="0" smtClean="0"/>
              <a:t>amaçlı olarak </a:t>
            </a:r>
            <a:r>
              <a:rPr lang="tr-TR" dirty="0"/>
              <a:t>lazer ışınları kullanılır. Bu mesafe ölçümü daha sonra uydu sistemleri </a:t>
            </a:r>
            <a:r>
              <a:rPr lang="tr-TR" dirty="0" smtClean="0"/>
              <a:t>kullanılarak </a:t>
            </a:r>
            <a:r>
              <a:rPr lang="tr-TR" dirty="0" err="1" smtClean="0"/>
              <a:t>sensörün</a:t>
            </a:r>
            <a:r>
              <a:rPr lang="tr-TR" dirty="0" smtClean="0"/>
              <a:t> </a:t>
            </a:r>
            <a:r>
              <a:rPr lang="tr-TR" dirty="0"/>
              <a:t>gerçek konumu ile birlikte değerlendirilir ve böylece arazinin yüksekliği </a:t>
            </a:r>
            <a:r>
              <a:rPr lang="tr-TR" dirty="0" smtClean="0"/>
              <a:t>hesaplanmış olur </a:t>
            </a:r>
            <a:r>
              <a:rPr lang="tr-TR" dirty="0"/>
              <a:t>(Şekil 4.1). Lazer tarayıcılar ile çok yüksek çözünürlükte Sayısal Arazi Modelleri (</a:t>
            </a:r>
            <a:r>
              <a:rPr lang="tr-TR" dirty="0" smtClean="0"/>
              <a:t>SAM) ve </a:t>
            </a:r>
            <a:r>
              <a:rPr lang="tr-TR" dirty="0"/>
              <a:t>3 boyutlu şehir modelleri üretilebilmektedir (Şekil 4.2). Lazer tarayıcıların taşınabilir </a:t>
            </a:r>
            <a:r>
              <a:rPr lang="tr-TR" dirty="0" smtClean="0"/>
              <a:t>olan yersel </a:t>
            </a:r>
            <a:r>
              <a:rPr lang="tr-TR" dirty="0"/>
              <a:t>lazer tarayıcıları da araçlara veya zemine monte edilerek </a:t>
            </a:r>
            <a:r>
              <a:rPr lang="tr-TR" dirty="0" err="1"/>
              <a:t>oblik</a:t>
            </a:r>
            <a:r>
              <a:rPr lang="tr-TR" dirty="0"/>
              <a:t> ve enine </a:t>
            </a:r>
            <a:r>
              <a:rPr lang="tr-TR" dirty="0" smtClean="0"/>
              <a:t>ölçümler yapılabilmektedir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1563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805" y="1549274"/>
            <a:ext cx="7236390" cy="5308726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(Lazer Tarayıcılar)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467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43" y="1690688"/>
            <a:ext cx="10584345" cy="4616576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(Lazer Tarayıcılar)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4635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</a:t>
            </a:r>
            <a:r>
              <a:rPr lang="tr-TR" b="1" dirty="0" smtClean="0"/>
              <a:t>Algılayıcılar (</a:t>
            </a:r>
            <a:r>
              <a:rPr lang="en-US" b="1" dirty="0"/>
              <a:t>Radar (Radio Detection and Ranging</a:t>
            </a:r>
            <a:r>
              <a:rPr lang="en-US" b="1" dirty="0" smtClean="0"/>
              <a:t>)</a:t>
            </a:r>
            <a:r>
              <a:rPr lang="tr-TR" b="1" dirty="0" smtClean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Radar enstrümanları 1 – 100cm aralığındaki dalga boylarıyla çalışırlar. Farklı </a:t>
            </a:r>
            <a:r>
              <a:rPr lang="tr-TR" dirty="0" smtClean="0"/>
              <a:t>dalga boyu </a:t>
            </a:r>
            <a:r>
              <a:rPr lang="tr-TR" dirty="0"/>
              <a:t>bantlarının kullanılması yüzeyin farklı fiziksel karakteristiklere sahip </a:t>
            </a:r>
            <a:r>
              <a:rPr lang="tr-TR" dirty="0" smtClean="0"/>
              <a:t>olmasından dolayıdır</a:t>
            </a:r>
            <a:r>
              <a:rPr lang="tr-TR" dirty="0"/>
              <a:t>. Radar, aktif algılayıcı sistem olduğu için kullanılan dalga boyları bulutları </a:t>
            </a:r>
            <a:r>
              <a:rPr lang="tr-TR" dirty="0" smtClean="0"/>
              <a:t>geçebilir ve </a:t>
            </a:r>
            <a:r>
              <a:rPr lang="tr-TR" dirty="0"/>
              <a:t>gece – gündüz ve bütün hava şartlarında görüntü alımı yapabilir. Radarların </a:t>
            </a:r>
            <a:r>
              <a:rPr lang="tr-TR" dirty="0" smtClean="0"/>
              <a:t>çalışma prensipleri </a:t>
            </a:r>
            <a:r>
              <a:rPr lang="tr-TR" dirty="0"/>
              <a:t>lazer tarayıcılara benzer ve </a:t>
            </a:r>
            <a:r>
              <a:rPr lang="tr-TR" dirty="0" err="1"/>
              <a:t>sensörden</a:t>
            </a:r>
            <a:r>
              <a:rPr lang="tr-TR" dirty="0"/>
              <a:t> gönderilen dalgaların yeryüzündeki </a:t>
            </a:r>
            <a:r>
              <a:rPr lang="tr-TR" dirty="0" smtClean="0"/>
              <a:t>objelere çarptıktan </a:t>
            </a:r>
            <a:r>
              <a:rPr lang="tr-TR" dirty="0"/>
              <a:t>sonra geri dönüş yoğunluğu ve zamanına bağlı olarak görüntüler elde edilir. </a:t>
            </a:r>
            <a:r>
              <a:rPr lang="tr-TR" dirty="0" smtClean="0"/>
              <a:t>Radar algılayıcılarının </a:t>
            </a:r>
            <a:r>
              <a:rPr lang="tr-TR" dirty="0"/>
              <a:t>ürettiği görüntüler pasif algılayıcılarına pek benzerlik göstermez. </a:t>
            </a:r>
            <a:r>
              <a:rPr lang="tr-TR" dirty="0" smtClean="0"/>
              <a:t>Bu görüntülerde </a:t>
            </a:r>
            <a:r>
              <a:rPr lang="tr-TR" dirty="0"/>
              <a:t>her bir bant siyah ile beyaz arasında gri tonlarda ve daha pürüzlü </a:t>
            </a:r>
            <a:r>
              <a:rPr lang="tr-TR" dirty="0" smtClean="0"/>
              <a:t>olarak gözükmektedir </a:t>
            </a:r>
            <a:r>
              <a:rPr lang="tr-TR" dirty="0"/>
              <a:t>(Şekil 4.3). Radar görüntülerde su ve yerleşmeler diğer arazi örtülerine </a:t>
            </a:r>
            <a:r>
              <a:rPr lang="tr-TR" dirty="0" smtClean="0"/>
              <a:t>göre daha </a:t>
            </a:r>
            <a:r>
              <a:rPr lang="tr-TR" dirty="0"/>
              <a:t>kolay ayırt edilebilirler.</a:t>
            </a:r>
          </a:p>
        </p:txBody>
      </p:sp>
    </p:spTree>
    <p:extLst>
      <p:ext uri="{BB962C8B-B14F-4D97-AF65-F5344CB8AC3E}">
        <p14:creationId xmlns:p14="http://schemas.microsoft.com/office/powerpoint/2010/main" val="120110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443" y="1690688"/>
            <a:ext cx="6663114" cy="5047456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</a:t>
            </a:r>
            <a:r>
              <a:rPr lang="en-US" b="1" dirty="0"/>
              <a:t>Radar (Radio Detection and Ranging)</a:t>
            </a:r>
            <a:r>
              <a:rPr lang="tr-TR" b="1" dirty="0"/>
              <a:t>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2960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</a:t>
            </a:r>
            <a:r>
              <a:rPr lang="en-US" b="1" dirty="0"/>
              <a:t>Radar (Radio Detection and Ranging)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Şekil 4.3: </a:t>
            </a:r>
            <a:r>
              <a:rPr lang="tr-TR" dirty="0"/>
              <a:t>incelendiğinde su radar dalgalarını soğurduğu ve geriye sinyal göndermediği </a:t>
            </a:r>
            <a:r>
              <a:rPr lang="tr-TR" dirty="0" smtClean="0"/>
              <a:t>için siyah </a:t>
            </a:r>
            <a:r>
              <a:rPr lang="tr-TR" dirty="0"/>
              <a:t>renkte, yerleşmeler de yapısal özelliklerine bağlı olarak gelen dalgaların her </a:t>
            </a:r>
            <a:r>
              <a:rPr lang="tr-TR" dirty="0" smtClean="0"/>
              <a:t>yöne saçılması </a:t>
            </a:r>
            <a:r>
              <a:rPr lang="tr-TR" dirty="0"/>
              <a:t>ve yüksek miktarda geri sinyal dönüşünden dolayı beyaz olarak görülür. </a:t>
            </a:r>
            <a:r>
              <a:rPr lang="tr-TR" dirty="0" smtClean="0"/>
              <a:t>Günümüzde iki </a:t>
            </a:r>
            <a:r>
              <a:rPr lang="tr-TR" dirty="0"/>
              <a:t>türlü Radar sistemi vardır. Bunlar;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r-TR" i="1" dirty="0" smtClean="0"/>
              <a:t>RAR </a:t>
            </a:r>
            <a:r>
              <a:rPr lang="tr-TR" i="1" dirty="0"/>
              <a:t>(Real </a:t>
            </a:r>
            <a:r>
              <a:rPr lang="tr-TR" i="1" dirty="0" err="1"/>
              <a:t>Aparture</a:t>
            </a:r>
            <a:r>
              <a:rPr lang="tr-TR" i="1" dirty="0"/>
              <a:t> Radar) Sistemleri: </a:t>
            </a:r>
            <a:r>
              <a:rPr lang="tr-TR" dirty="0"/>
              <a:t>Sinyalleri gönderen ve kaydeden </a:t>
            </a:r>
            <a:r>
              <a:rPr lang="tr-TR" dirty="0" smtClean="0"/>
              <a:t>anten uzunluğu </a:t>
            </a:r>
            <a:r>
              <a:rPr lang="tr-TR" dirty="0"/>
              <a:t>azdır ve buna bağlı olarak çözünürlük düşüktür.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r-TR" i="1" dirty="0" smtClean="0"/>
              <a:t>SAR </a:t>
            </a:r>
            <a:r>
              <a:rPr lang="tr-TR" i="1" dirty="0"/>
              <a:t>(</a:t>
            </a:r>
            <a:r>
              <a:rPr lang="tr-TR" i="1" dirty="0" err="1"/>
              <a:t>Synthetic</a:t>
            </a:r>
            <a:r>
              <a:rPr lang="tr-TR" i="1" dirty="0"/>
              <a:t> </a:t>
            </a:r>
            <a:r>
              <a:rPr lang="tr-TR" i="1" dirty="0" err="1"/>
              <a:t>Aparture</a:t>
            </a:r>
            <a:r>
              <a:rPr lang="tr-TR" i="1" dirty="0"/>
              <a:t> Radar) Sistemleri: </a:t>
            </a:r>
            <a:r>
              <a:rPr lang="tr-TR" dirty="0"/>
              <a:t>Anten uzunluğu fazladır buna </a:t>
            </a:r>
            <a:r>
              <a:rPr lang="tr-TR" dirty="0" smtClean="0"/>
              <a:t>bağlı olarak </a:t>
            </a:r>
            <a:r>
              <a:rPr lang="tr-TR" dirty="0"/>
              <a:t>da çözünürlüğü yüksektir. Günümüzde birçok hava ve uzay radar sistemleri bu tip </a:t>
            </a:r>
            <a:r>
              <a:rPr lang="tr-TR" dirty="0" smtClean="0"/>
              <a:t>radarı kullanmaktadır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719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</a:t>
            </a:r>
            <a:r>
              <a:rPr lang="en-US" b="1" dirty="0"/>
              <a:t>Radar (Radio Detection and Ranging)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Radarlar meteoroloji, hidroloji ve oşinografi çalışmalarında yoğun olarak </a:t>
            </a:r>
            <a:r>
              <a:rPr lang="tr-TR" dirty="0" smtClean="0"/>
              <a:t>kullanılırlar. Radarlar </a:t>
            </a:r>
            <a:r>
              <a:rPr lang="tr-TR" dirty="0"/>
              <a:t>aktif sistemler oldukları için iki önemli avantajı vardır. </a:t>
            </a:r>
            <a:r>
              <a:rPr lang="tr-TR" dirty="0" smtClean="0"/>
              <a:t>Bunlar;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tr-TR" dirty="0" smtClean="0"/>
              <a:t>Veri </a:t>
            </a:r>
            <a:r>
              <a:rPr lang="tr-TR" dirty="0"/>
              <a:t>elde etme herhangi bir zamanda (gece dâhil) mümkündür.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 smtClean="0"/>
              <a:t>Dalga </a:t>
            </a:r>
            <a:r>
              <a:rPr lang="tr-TR" dirty="0"/>
              <a:t>boyları aktif olarak üretildiği için sinyal karakterleri (dalga </a:t>
            </a:r>
            <a:r>
              <a:rPr lang="tr-TR" dirty="0" smtClean="0"/>
              <a:t>boyu, polarizasyon</a:t>
            </a:r>
            <a:r>
              <a:rPr lang="tr-TR" dirty="0"/>
              <a:t>, geliş açısı vb.) tamamen kontrol edilebilmektedir.</a:t>
            </a:r>
          </a:p>
          <a:p>
            <a:r>
              <a:rPr lang="tr-TR" dirty="0"/>
              <a:t>Radarlar optik uzaktan algılama gibi bir veya birden fazla bantla çalışır. Bu </a:t>
            </a:r>
            <a:r>
              <a:rPr lang="tr-TR" dirty="0" smtClean="0"/>
              <a:t>bantlar harflerle </a:t>
            </a:r>
            <a:r>
              <a:rPr lang="tr-TR" dirty="0"/>
              <a:t>ifade edilir (Şekil 4.4). Multi spektral bantlar gibi farklı radar bantları da </a:t>
            </a:r>
            <a:r>
              <a:rPr lang="tr-TR" dirty="0" smtClean="0"/>
              <a:t>objelerin farklı </a:t>
            </a:r>
            <a:r>
              <a:rPr lang="tr-TR" dirty="0"/>
              <a:t>karakterleri hakkında bilgi verir.</a:t>
            </a:r>
          </a:p>
        </p:txBody>
      </p:sp>
    </p:spTree>
    <p:extLst>
      <p:ext uri="{BB962C8B-B14F-4D97-AF65-F5344CB8AC3E}">
        <p14:creationId xmlns:p14="http://schemas.microsoft.com/office/powerpoint/2010/main" val="98920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471512" cy="4822407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</a:t>
            </a:r>
            <a:r>
              <a:rPr lang="en-US" b="1" dirty="0"/>
              <a:t>Radar (Radio Detection and Ranging)</a:t>
            </a:r>
            <a:r>
              <a:rPr lang="tr-TR" b="1" dirty="0"/>
              <a:t>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5085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</a:t>
            </a:r>
            <a:r>
              <a:rPr lang="en-US" b="1" dirty="0"/>
              <a:t>Radar (Radio Detection and Ranging)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Radar uzaktan algılamada önemli olan konulardan birisi de Polarizasyon dur. </a:t>
            </a:r>
            <a:r>
              <a:rPr lang="tr-TR" dirty="0" smtClean="0"/>
              <a:t>Radarların dalga </a:t>
            </a:r>
            <a:r>
              <a:rPr lang="tr-TR" dirty="0"/>
              <a:t>boyunu gönderme ve alma şeklindeki farklılıklar, farklı görüntülerin oluşmasını </a:t>
            </a:r>
            <a:r>
              <a:rPr lang="tr-TR" dirty="0" smtClean="0"/>
              <a:t>ve değişik </a:t>
            </a:r>
            <a:r>
              <a:rPr lang="tr-TR" dirty="0"/>
              <a:t>bilgilerin elde edilmesini sağlar. Gönderilen ve alınan dalgalar dikey (</a:t>
            </a:r>
            <a:r>
              <a:rPr lang="tr-TR" dirty="0" err="1"/>
              <a:t>vertical</a:t>
            </a:r>
            <a:r>
              <a:rPr lang="tr-TR" dirty="0"/>
              <a:t>) </a:t>
            </a:r>
            <a:r>
              <a:rPr lang="tr-TR" dirty="0" smtClean="0"/>
              <a:t>veya yatay </a:t>
            </a:r>
            <a:r>
              <a:rPr lang="tr-TR" dirty="0"/>
              <a:t>(</a:t>
            </a:r>
            <a:r>
              <a:rPr lang="tr-TR" dirty="0" err="1"/>
              <a:t>horizontal</a:t>
            </a:r>
            <a:r>
              <a:rPr lang="tr-TR" dirty="0"/>
              <a:t>) yada bunların kombinasyonu şeklinde olabilmektedir (Şekil 4.5). </a:t>
            </a:r>
            <a:endParaRPr lang="tr-TR" dirty="0" smtClean="0"/>
          </a:p>
          <a:p>
            <a:r>
              <a:rPr lang="tr-TR" dirty="0" smtClean="0"/>
              <a:t>Buna </a:t>
            </a:r>
            <a:r>
              <a:rPr lang="tr-TR" dirty="0" smtClean="0"/>
              <a:t>bağlı olarak </a:t>
            </a:r>
            <a:r>
              <a:rPr lang="tr-TR" dirty="0"/>
              <a:t>dört şekil polarizasyon </a:t>
            </a:r>
            <a:r>
              <a:rPr lang="tr-TR" dirty="0" smtClean="0"/>
              <a:t>ortaya </a:t>
            </a:r>
            <a:r>
              <a:rPr lang="tr-TR" dirty="0"/>
              <a:t>çıkar. VV (</a:t>
            </a:r>
            <a:r>
              <a:rPr lang="tr-TR" dirty="0" err="1"/>
              <a:t>vertical-vertical</a:t>
            </a:r>
            <a:r>
              <a:rPr lang="tr-TR" dirty="0"/>
              <a:t>), dikey dalgayı </a:t>
            </a:r>
            <a:r>
              <a:rPr lang="tr-TR" dirty="0" smtClean="0"/>
              <a:t>gönderip dikey </a:t>
            </a:r>
            <a:r>
              <a:rPr lang="tr-TR" dirty="0"/>
              <a:t>geri alır; VH (</a:t>
            </a:r>
            <a:r>
              <a:rPr lang="tr-TR" dirty="0" err="1"/>
              <a:t>vertical-horizontal</a:t>
            </a:r>
            <a:r>
              <a:rPr lang="tr-TR" dirty="0"/>
              <a:t>), dikey gönderip yatay geri alır; HV (</a:t>
            </a:r>
            <a:r>
              <a:rPr lang="tr-TR" dirty="0" err="1" smtClean="0"/>
              <a:t>horizontal-vertical</a:t>
            </a:r>
            <a:r>
              <a:rPr lang="tr-TR" dirty="0" smtClean="0"/>
              <a:t>), yatay </a:t>
            </a:r>
            <a:r>
              <a:rPr lang="tr-TR" dirty="0"/>
              <a:t>gönderip dikey geri alır; HH (</a:t>
            </a:r>
            <a:r>
              <a:rPr lang="tr-TR" dirty="0" err="1"/>
              <a:t>horizontal-horizontal</a:t>
            </a:r>
            <a:r>
              <a:rPr lang="tr-TR" dirty="0"/>
              <a:t>), yatay gönderip yatay </a:t>
            </a:r>
            <a:r>
              <a:rPr lang="tr-TR" dirty="0" smtClean="0"/>
              <a:t>geri alır</a:t>
            </a:r>
            <a:r>
              <a:rPr lang="tr-TR" dirty="0"/>
              <a:t>. Farklı </a:t>
            </a:r>
            <a:r>
              <a:rPr lang="tr-TR" dirty="0" err="1"/>
              <a:t>polarizasyonlu</a:t>
            </a:r>
            <a:r>
              <a:rPr lang="tr-TR" dirty="0"/>
              <a:t> ve farklı </a:t>
            </a:r>
            <a:r>
              <a:rPr lang="tr-TR" dirty="0" err="1"/>
              <a:t>bandların</a:t>
            </a:r>
            <a:r>
              <a:rPr lang="tr-TR" dirty="0"/>
              <a:t> kullanımıyla değişik ve spesifik </a:t>
            </a:r>
            <a:r>
              <a:rPr lang="tr-TR" dirty="0" smtClean="0"/>
              <a:t>konularda uygulamalar </a:t>
            </a:r>
            <a:r>
              <a:rPr lang="tr-TR" dirty="0"/>
              <a:t>yapılabilmektedir. Örneğin tarım alanlarını sınıflamak gibi.</a:t>
            </a:r>
          </a:p>
        </p:txBody>
      </p:sp>
    </p:spTree>
    <p:extLst>
      <p:ext uri="{BB962C8B-B14F-4D97-AF65-F5344CB8AC3E}">
        <p14:creationId xmlns:p14="http://schemas.microsoft.com/office/powerpoint/2010/main" val="4107727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542" y="1690688"/>
            <a:ext cx="10369746" cy="5017127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</a:t>
            </a:r>
            <a:r>
              <a:rPr lang="en-US" b="1" dirty="0"/>
              <a:t>Radar (Radio Detection and Ranging)</a:t>
            </a:r>
            <a:r>
              <a:rPr lang="tr-TR" b="1" dirty="0"/>
              <a:t>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9681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</a:t>
            </a:r>
            <a:r>
              <a:rPr lang="en-US" b="1" dirty="0"/>
              <a:t>Radar (Radio Detection and Ranging)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Radarlar yan bakış (</a:t>
            </a:r>
            <a:r>
              <a:rPr lang="tr-TR" dirty="0" err="1"/>
              <a:t>side</a:t>
            </a:r>
            <a:r>
              <a:rPr lang="tr-TR" dirty="0"/>
              <a:t> </a:t>
            </a:r>
            <a:r>
              <a:rPr lang="tr-TR" dirty="0" err="1"/>
              <a:t>looking</a:t>
            </a:r>
            <a:r>
              <a:rPr lang="tr-TR" dirty="0"/>
              <a:t>) geometriye sahip olduklarından radar </a:t>
            </a:r>
            <a:r>
              <a:rPr lang="tr-TR" dirty="0" smtClean="0"/>
              <a:t>görüntüleri birçok </a:t>
            </a:r>
            <a:r>
              <a:rPr lang="tr-TR" dirty="0"/>
              <a:t>geometrik ve radyometrik bozulmalara maruz kalır. Arazinin yükseltisine bağlı </a:t>
            </a:r>
            <a:r>
              <a:rPr lang="tr-TR" dirty="0" smtClean="0"/>
              <a:t>olarak </a:t>
            </a:r>
            <a:r>
              <a:rPr lang="tr-TR" dirty="0" err="1" smtClean="0"/>
              <a:t>foreshortening</a:t>
            </a:r>
            <a:r>
              <a:rPr lang="tr-TR" dirty="0"/>
              <a:t>, </a:t>
            </a:r>
            <a:r>
              <a:rPr lang="tr-TR" dirty="0" err="1"/>
              <a:t>layover</a:t>
            </a:r>
            <a:r>
              <a:rPr lang="tr-TR" dirty="0"/>
              <a:t> ve </a:t>
            </a:r>
            <a:r>
              <a:rPr lang="tr-TR" dirty="0" err="1"/>
              <a:t>shadow</a:t>
            </a:r>
            <a:r>
              <a:rPr lang="tr-TR" dirty="0"/>
              <a:t> problemleriyle karşılaşılır. Bunun yanında aynı alanın </a:t>
            </a:r>
            <a:r>
              <a:rPr lang="tr-TR" dirty="0" smtClean="0"/>
              <a:t>iki stereo </a:t>
            </a:r>
            <a:r>
              <a:rPr lang="tr-TR" dirty="0"/>
              <a:t>radar görüntüsüyle arazi yükseklik verisi elde edilebilir. Benzer şekilde </a:t>
            </a:r>
            <a:r>
              <a:rPr lang="tr-TR" dirty="0" smtClean="0"/>
              <a:t>SAR </a:t>
            </a:r>
            <a:r>
              <a:rPr lang="tr-TR" dirty="0" err="1" smtClean="0"/>
              <a:t>Interferometri</a:t>
            </a:r>
            <a:r>
              <a:rPr lang="tr-TR" dirty="0" smtClean="0"/>
              <a:t> </a:t>
            </a:r>
            <a:r>
              <a:rPr lang="tr-TR" dirty="0"/>
              <a:t>(INSAR) hemen hemen aynı yerin iki görüntüsünü elde eder. Çalışması, </a:t>
            </a:r>
            <a:r>
              <a:rPr lang="tr-TR" dirty="0" smtClean="0"/>
              <a:t>farklı zamanda </a:t>
            </a:r>
            <a:r>
              <a:rPr lang="tr-TR" dirty="0"/>
              <a:t>aynı yerin görüntüsü şeklinde veya aynı anda iki farklı </a:t>
            </a:r>
            <a:r>
              <a:rPr lang="tr-TR" dirty="0" err="1"/>
              <a:t>sensörün</a:t>
            </a:r>
            <a:r>
              <a:rPr lang="tr-TR" dirty="0"/>
              <a:t> görüntü elde </a:t>
            </a:r>
            <a:r>
              <a:rPr lang="tr-TR" dirty="0" smtClean="0"/>
              <a:t>etmesi esasına </a:t>
            </a:r>
            <a:r>
              <a:rPr lang="tr-TR" dirty="0"/>
              <a:t>dayanır. Böylelikle yüzeyin yükseltisi, yüzeydeki deformasyonların hassas olarak (5 </a:t>
            </a:r>
            <a:r>
              <a:rPr lang="tr-TR" dirty="0" smtClean="0"/>
              <a:t>cm ve </a:t>
            </a:r>
            <a:r>
              <a:rPr lang="tr-TR" dirty="0"/>
              <a:t>altı) belirlenmesinde 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378129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</a:t>
            </a:r>
            <a:r>
              <a:rPr lang="tr-TR" b="1" dirty="0" smtClean="0"/>
              <a:t>Algılayıcılar (</a:t>
            </a:r>
            <a:r>
              <a:rPr lang="tr-TR" b="1" dirty="0"/>
              <a:t>Radar </a:t>
            </a:r>
            <a:r>
              <a:rPr lang="tr-TR" b="1" dirty="0" smtClean="0"/>
              <a:t>Altimetre)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Radar altimetre, uydu yörüngesine paralel olarak </a:t>
            </a:r>
            <a:r>
              <a:rPr lang="tr-TR" dirty="0" err="1"/>
              <a:t>topografik</a:t>
            </a:r>
            <a:r>
              <a:rPr lang="tr-TR" dirty="0"/>
              <a:t> profil üretmede </a:t>
            </a:r>
            <a:r>
              <a:rPr lang="tr-TR" dirty="0" smtClean="0"/>
              <a:t>kullanılır. Profiller </a:t>
            </a:r>
            <a:r>
              <a:rPr lang="tr-TR" dirty="0"/>
              <a:t>görüntü şeklinden ziyade tekbir çizgi ölçümü şeklindedirler. Radar altimetreler 1 – </a:t>
            </a:r>
            <a:r>
              <a:rPr lang="tr-TR" dirty="0" smtClean="0"/>
              <a:t>6 cm </a:t>
            </a:r>
            <a:r>
              <a:rPr lang="tr-TR" dirty="0"/>
              <a:t>dalga boylarıyla çalışır ve 2 – 5 cm hassasiyette yükseklik verisi üretirler. Radar </a:t>
            </a:r>
            <a:r>
              <a:rPr lang="tr-TR" dirty="0" smtClean="0"/>
              <a:t>altimetreler okyanus </a:t>
            </a:r>
            <a:r>
              <a:rPr lang="tr-TR" dirty="0"/>
              <a:t>yüzeyi gibi daha pürüzsüz yüzeyleri (Şekil 4.6) ve kıtasal arazi modellerinin </a:t>
            </a:r>
            <a:r>
              <a:rPr lang="tr-TR" dirty="0" smtClean="0"/>
              <a:t>küresel ölçekli </a:t>
            </a:r>
            <a:r>
              <a:rPr lang="tr-TR" dirty="0"/>
              <a:t>haritalanmasında kullanışlıdır.</a:t>
            </a:r>
          </a:p>
        </p:txBody>
      </p:sp>
    </p:spTree>
    <p:extLst>
      <p:ext uri="{BB962C8B-B14F-4D97-AF65-F5344CB8AC3E}">
        <p14:creationId xmlns:p14="http://schemas.microsoft.com/office/powerpoint/2010/main" val="2280916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339" y="1366629"/>
            <a:ext cx="7689321" cy="5242719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(Radar Altimetre)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23630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Aktif </a:t>
            </a:r>
            <a:r>
              <a:rPr lang="tr-TR" b="1" dirty="0" smtClean="0"/>
              <a:t>Algılayıcılar (</a:t>
            </a:r>
            <a:r>
              <a:rPr lang="tr-TR" b="1" dirty="0"/>
              <a:t>Sonar (Sound </a:t>
            </a:r>
            <a:r>
              <a:rPr lang="tr-TR" b="1" dirty="0" err="1"/>
              <a:t>Navigation</a:t>
            </a:r>
            <a:r>
              <a:rPr lang="tr-TR" b="1" dirty="0"/>
              <a:t> </a:t>
            </a:r>
            <a:r>
              <a:rPr lang="tr-TR" b="1" dirty="0" err="1"/>
              <a:t>Ranging</a:t>
            </a:r>
            <a:r>
              <a:rPr lang="tr-TR" b="1" dirty="0" smtClean="0"/>
              <a:t>))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Sonarlar aktif sistemler oldukları için bu kısım altında değinilmiştir. Bu sistemler, </a:t>
            </a:r>
            <a:r>
              <a:rPr lang="tr-TR" dirty="0" smtClean="0"/>
              <a:t>deniz tabanı </a:t>
            </a:r>
            <a:r>
              <a:rPr lang="tr-TR" dirty="0"/>
              <a:t>topografyasını haritalamada ve su altındaki bazı pürüzlülükleri belirlemede </a:t>
            </a:r>
            <a:r>
              <a:rPr lang="tr-TR" dirty="0" smtClean="0"/>
              <a:t>kullanılır (Şekil </a:t>
            </a:r>
            <a:r>
              <a:rPr lang="tr-TR" dirty="0"/>
              <a:t>4.7). Sonar gemiden gönderilen ses dalgalarıyla çalışır. Bu dalgalar deniz tabanına </a:t>
            </a:r>
            <a:r>
              <a:rPr lang="tr-TR" dirty="0" smtClean="0"/>
              <a:t>değer ve </a:t>
            </a:r>
            <a:r>
              <a:rPr lang="tr-TR" dirty="0"/>
              <a:t>geri yansırlar. Geçen zamanın değerlendirilmesiyle su derinliği ve deniz dibi </a:t>
            </a:r>
            <a:r>
              <a:rPr lang="tr-TR" dirty="0" smtClean="0"/>
              <a:t>topografyasının çıkartılmasını </a:t>
            </a:r>
            <a:r>
              <a:rPr lang="tr-TR" dirty="0"/>
              <a:t>sağlar. Daha gelişmiş sistemlerde gönderilen sinyallerin geri dönme sıklığı ile </a:t>
            </a:r>
            <a:r>
              <a:rPr lang="tr-TR" dirty="0" smtClean="0"/>
              <a:t>de deniz </a:t>
            </a:r>
            <a:r>
              <a:rPr lang="tr-TR" dirty="0"/>
              <a:t>dibindeki materyal hakkında bilgi edinilmesi sağlanır.</a:t>
            </a:r>
          </a:p>
        </p:txBody>
      </p:sp>
    </p:spTree>
    <p:extLst>
      <p:ext uri="{BB962C8B-B14F-4D97-AF65-F5344CB8AC3E}">
        <p14:creationId xmlns:p14="http://schemas.microsoft.com/office/powerpoint/2010/main" val="1363043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(Sonar (Sound </a:t>
            </a:r>
            <a:r>
              <a:rPr lang="tr-TR" b="1" dirty="0" err="1"/>
              <a:t>Navigation</a:t>
            </a:r>
            <a:r>
              <a:rPr lang="tr-TR" b="1" dirty="0"/>
              <a:t> </a:t>
            </a:r>
            <a:r>
              <a:rPr lang="tr-TR" b="1" dirty="0" err="1"/>
              <a:t>Ranging</a:t>
            </a:r>
            <a:r>
              <a:rPr lang="tr-TR" b="1" dirty="0"/>
              <a:t>))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En basit şekliyle gemiye monte edilmiş sonar düz bir şekilde deniz dibine bakar ve </a:t>
            </a:r>
            <a:r>
              <a:rPr lang="tr-TR" dirty="0" smtClean="0"/>
              <a:t>radar altimetre </a:t>
            </a:r>
            <a:r>
              <a:rPr lang="tr-TR" dirty="0"/>
              <a:t>gibi çalışır. Deniz tabanını tarayan ve görüntü veren Yan Taramalı Sonar (Side </a:t>
            </a:r>
            <a:r>
              <a:rPr lang="tr-TR" dirty="0" err="1" smtClean="0"/>
              <a:t>Scan</a:t>
            </a:r>
            <a:r>
              <a:rPr lang="tr-TR" dirty="0" smtClean="0"/>
              <a:t> Sonar</a:t>
            </a:r>
            <a:r>
              <a:rPr lang="tr-TR" dirty="0"/>
              <a:t>) ve Çok Dalgalı </a:t>
            </a:r>
            <a:r>
              <a:rPr lang="tr-TR" dirty="0" err="1"/>
              <a:t>Ekosounder</a:t>
            </a:r>
            <a:r>
              <a:rPr lang="tr-TR" dirty="0"/>
              <a:t> (Multi-</a:t>
            </a:r>
            <a:r>
              <a:rPr lang="tr-TR" dirty="0" err="1"/>
              <a:t>beam</a:t>
            </a:r>
            <a:r>
              <a:rPr lang="tr-TR" dirty="0"/>
              <a:t> </a:t>
            </a:r>
            <a:r>
              <a:rPr lang="tr-TR" dirty="0" err="1"/>
              <a:t>Ecosounder</a:t>
            </a:r>
            <a:r>
              <a:rPr lang="tr-TR" dirty="0"/>
              <a:t>) olmak üzere iki türlü </a:t>
            </a:r>
            <a:r>
              <a:rPr lang="tr-TR" dirty="0" smtClean="0"/>
              <a:t>sonar mevcuttur</a:t>
            </a:r>
            <a:r>
              <a:rPr lang="tr-TR" dirty="0"/>
              <a:t>. Okyanus tabanlarının geniş alanlarını en doğru şekliyle görüntüye </a:t>
            </a:r>
            <a:r>
              <a:rPr lang="tr-TR" dirty="0" smtClean="0"/>
              <a:t>dönüştüren sistem </a:t>
            </a:r>
            <a:r>
              <a:rPr lang="tr-TR" dirty="0"/>
              <a:t>yan taramalı sonarlardır. Bu doğruluklarına bağlı olarak 1 cm altındaki küçük </a:t>
            </a:r>
            <a:r>
              <a:rPr lang="tr-TR" dirty="0" smtClean="0"/>
              <a:t>objelerin belirlenmesi </a:t>
            </a:r>
            <a:r>
              <a:rPr lang="tr-TR" dirty="0"/>
              <a:t>bile bu sistemle mümkündür. Yan taramada dalganın şekli sonuç </a:t>
            </a:r>
            <a:r>
              <a:rPr lang="tr-TR" dirty="0" smtClean="0"/>
              <a:t>görüntünün oluşturulmasında </a:t>
            </a:r>
            <a:r>
              <a:rPr lang="tr-TR" dirty="0"/>
              <a:t>esastır. Temelde, yan taramalı sonarda akustik dalga yatay yönde çok </a:t>
            </a:r>
            <a:r>
              <a:rPr lang="tr-TR" dirty="0" smtClean="0"/>
              <a:t>küçük (yaklaşık </a:t>
            </a:r>
            <a:r>
              <a:rPr lang="tr-TR" dirty="0"/>
              <a:t>0.1 derece), dikey yönde ise çok geniştir (40-60 derece</a:t>
            </a:r>
            <a:r>
              <a:rPr lang="tr-TR" dirty="0" smtClean="0"/>
              <a:t>). Sonar </a:t>
            </a:r>
            <a:r>
              <a:rPr lang="tr-TR" dirty="0"/>
              <a:t>verileri kullanılarak su kütlelerinin tabanlarını </a:t>
            </a:r>
            <a:r>
              <a:rPr lang="tr-TR" dirty="0" smtClean="0"/>
              <a:t>eş derinlik </a:t>
            </a:r>
            <a:r>
              <a:rPr lang="tr-TR" dirty="0"/>
              <a:t>haritaları </a:t>
            </a:r>
            <a:r>
              <a:rPr lang="tr-TR" dirty="0" smtClean="0"/>
              <a:t>üretilebilir. Böylelikle </a:t>
            </a:r>
            <a:r>
              <a:rPr lang="tr-TR" dirty="0" err="1"/>
              <a:t>batimetri</a:t>
            </a:r>
            <a:r>
              <a:rPr lang="tr-TR" dirty="0"/>
              <a:t> haritaları üretilmiş olur.</a:t>
            </a:r>
          </a:p>
        </p:txBody>
      </p:sp>
    </p:spTree>
    <p:extLst>
      <p:ext uri="{BB962C8B-B14F-4D97-AF65-F5344CB8AC3E}">
        <p14:creationId xmlns:p14="http://schemas.microsoft.com/office/powerpoint/2010/main" val="4061394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91" y="1690688"/>
            <a:ext cx="7168378" cy="5167312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Aktif Algılayıcılar (Sonar (Sound </a:t>
            </a:r>
            <a:r>
              <a:rPr lang="tr-TR" b="1" dirty="0" err="1"/>
              <a:t>Navigation</a:t>
            </a:r>
            <a:r>
              <a:rPr lang="tr-TR" b="1" dirty="0"/>
              <a:t> </a:t>
            </a:r>
            <a:r>
              <a:rPr lang="tr-TR" b="1" dirty="0" err="1"/>
              <a:t>Ranging</a:t>
            </a:r>
            <a:r>
              <a:rPr lang="tr-TR" b="1" dirty="0"/>
              <a:t>))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97609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DCB7A48CD16EE43B925771B387E1328" ma:contentTypeVersion="4" ma:contentTypeDescription="Yeni belge oluşturun." ma:contentTypeScope="" ma:versionID="8cd08cc54155ef2839875b24107c4d91">
  <xsd:schema xmlns:xsd="http://www.w3.org/2001/XMLSchema" xmlns:xs="http://www.w3.org/2001/XMLSchema" xmlns:p="http://schemas.microsoft.com/office/2006/metadata/properties" xmlns:ns2="cd4edf54-67b3-4910-9de7-59ff84f4ae2e" targetNamespace="http://schemas.microsoft.com/office/2006/metadata/properties" ma:root="true" ma:fieldsID="020b23ac89fbdb1593e8cd77d9d69472" ns2:_="">
    <xsd:import namespace="cd4edf54-67b3-4910-9de7-59ff84f4ae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4edf54-67b3-4910-9de7-59ff84f4a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46C248-AD17-4D44-BA8C-BA2102C82D2D}"/>
</file>

<file path=customXml/itemProps2.xml><?xml version="1.0" encoding="utf-8"?>
<ds:datastoreItem xmlns:ds="http://schemas.openxmlformats.org/officeDocument/2006/customXml" ds:itemID="{250198C9-2463-4E0E-A3DC-052865A7A5D2}"/>
</file>

<file path=customXml/itemProps3.xml><?xml version="1.0" encoding="utf-8"?>
<ds:datastoreItem xmlns:ds="http://schemas.openxmlformats.org/officeDocument/2006/customXml" ds:itemID="{94BF3F2B-1134-4F07-9580-7DBBB32C7172}"/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1206</Words>
  <Application>Microsoft Office PowerPoint</Application>
  <PresentationFormat>Geniş ekran</PresentationFormat>
  <Paragraphs>44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Teması</vt:lpstr>
      <vt:lpstr>Çukurova Üniversitesi  Karaisalı Meslek Yüksekokulu</vt:lpstr>
      <vt:lpstr>ALGILAYICILAR (AKTİF)</vt:lpstr>
      <vt:lpstr>Aktif Algılayıcılar (Lazer Tarayıcılar)</vt:lpstr>
      <vt:lpstr>Aktif Algılayıcılar (Lazer Tarayıcılar)</vt:lpstr>
      <vt:lpstr>Aktif Algılayıcılar (Lazer Tarayıcılar)</vt:lpstr>
      <vt:lpstr>Aktif Algılayıcılar (Radar (Radio Detection and Ranging))</vt:lpstr>
      <vt:lpstr>Aktif Algılayıcılar (Radar (Radio Detection and Ranging))</vt:lpstr>
      <vt:lpstr>Aktif Algılayıcılar (Radar (Radio Detection and Ranging))</vt:lpstr>
      <vt:lpstr>Aktif Algılayıcılar (Radar (Radio Detection and Ranging))</vt:lpstr>
      <vt:lpstr>Aktif Algılayıcılar (Radar (Radio Detection and Ranging))</vt:lpstr>
      <vt:lpstr>Aktif Algılayıcılar (Radar (Radio Detection and Ranging))</vt:lpstr>
      <vt:lpstr>Aktif Algılayıcılar (Radar (Radio Detection and Ranging))</vt:lpstr>
      <vt:lpstr>Aktif Algılayıcılar (Radar (Radio Detection and Ranging))</vt:lpstr>
      <vt:lpstr>Aktif Algılayıcılar (Radar Altimetre)</vt:lpstr>
      <vt:lpstr>Aktif Algılayıcılar (Radar Altimetre)</vt:lpstr>
      <vt:lpstr>Aktif Algılayıcılar (Sonar (Sound Navigation Ranging))</vt:lpstr>
      <vt:lpstr>Aktif Algılayıcılar (Sonar (Sound Navigation Ranging))</vt:lpstr>
      <vt:lpstr>Aktif Algılayıcılar (Sonar (Sound Navigation Ranging))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Çukurova Üniversitesi  Karaisalı Meslek Yüksekokulu</dc:title>
  <dc:creator>Buray Karslı</dc:creator>
  <cp:lastModifiedBy>Buray Karslı</cp:lastModifiedBy>
  <cp:revision>67</cp:revision>
  <dcterms:created xsi:type="dcterms:W3CDTF">2024-07-04T08:09:56Z</dcterms:created>
  <dcterms:modified xsi:type="dcterms:W3CDTF">2024-11-07T09:42:45Z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0x010100DDCB7A48CD16EE43B925771B387E1328</vt:lpwstr>
  </property>
</Properties>
</file>