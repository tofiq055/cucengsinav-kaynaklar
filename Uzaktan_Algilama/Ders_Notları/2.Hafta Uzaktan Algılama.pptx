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30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6" r:id="rId30"/>
    <p:sldId id="284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72" autoAdjust="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EBEE3-403F-4C70-A1A1-2BB1B32F48D5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209F0-F6B3-41A2-8C9A-3E39791D5DE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7250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2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921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36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190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355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122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71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242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0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171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474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31E0E-70AA-4C5F-B0F7-EBC0C05F04ED}" type="datetimeFigureOut">
              <a:rPr lang="tr-TR" smtClean="0"/>
              <a:t>1.11.2024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45DBF-774D-44C2-AD8F-D2B9FF9FBA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6435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009499"/>
            <a:ext cx="5069921" cy="3848500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00554" y="-354745"/>
            <a:ext cx="9144000" cy="2387600"/>
          </a:xfrm>
        </p:spPr>
        <p:txBody>
          <a:bodyPr/>
          <a:lstStyle/>
          <a:p>
            <a:r>
              <a:rPr lang="tr-TR" dirty="0" smtClean="0"/>
              <a:t>Çukurova Üniversitesi </a:t>
            </a:r>
            <a:br>
              <a:rPr lang="tr-TR" dirty="0" smtClean="0"/>
            </a:br>
            <a:r>
              <a:rPr lang="tr-TR" sz="5000" dirty="0" smtClean="0"/>
              <a:t>Karaisalı Meslek Yüksekokulu</a:t>
            </a:r>
            <a:endParaRPr lang="tr-TR" sz="50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075592" y="2592660"/>
            <a:ext cx="10521462" cy="4071438"/>
          </a:xfrm>
        </p:spPr>
        <p:txBody>
          <a:bodyPr>
            <a:normAutofit fontScale="92500" lnSpcReduction="10000"/>
          </a:bodyPr>
          <a:lstStyle/>
          <a:p>
            <a:r>
              <a:rPr lang="tr-TR" sz="3500" dirty="0" smtClean="0"/>
              <a:t>UZAKTAN ALGILAMA</a:t>
            </a:r>
            <a:r>
              <a:rPr lang="tr-TR" dirty="0" smtClean="0"/>
              <a:t> 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endParaRPr lang="tr-TR" sz="3000" dirty="0" smtClean="0"/>
          </a:p>
          <a:p>
            <a:pPr algn="r"/>
            <a:endParaRPr lang="tr-TR" sz="3000" dirty="0"/>
          </a:p>
          <a:p>
            <a:pPr algn="r"/>
            <a:r>
              <a:rPr lang="tr-TR" sz="3000" dirty="0" err="1" smtClean="0"/>
              <a:t>Öğr</a:t>
            </a:r>
            <a:r>
              <a:rPr lang="tr-TR" sz="3000" dirty="0" smtClean="0"/>
              <a:t>. Gör. Buray KARSLI</a:t>
            </a:r>
            <a:endParaRPr lang="tr-TR" sz="3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4" y="306569"/>
            <a:ext cx="2143125" cy="21431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580" y="205060"/>
            <a:ext cx="2244634" cy="22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5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ELEKTROMANYETİK ENERJİ VE UZAL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Birinci haftadaki uzaktan algılama tanımının içeriğini tekrar hatırlayacak </a:t>
            </a:r>
            <a:r>
              <a:rPr lang="tr-TR" dirty="0" smtClean="0"/>
              <a:t>olursak, yeryüzü </a:t>
            </a:r>
            <a:r>
              <a:rPr lang="tr-TR" dirty="0"/>
              <a:t>üzerindeki coğrafi olaylarla fiziksel bir temas olmaksızın onlar hakkında bilgi </a:t>
            </a:r>
            <a:r>
              <a:rPr lang="tr-TR" dirty="0" smtClean="0"/>
              <a:t>sahibi olma </a:t>
            </a:r>
            <a:r>
              <a:rPr lang="tr-TR" dirty="0"/>
              <a:t>özelliğine sahipti. Bunun mümkün olabilmesi için coğrafi olayları olduğu </a:t>
            </a:r>
            <a:r>
              <a:rPr lang="tr-TR" dirty="0" smtClean="0"/>
              <a:t>şekliyle algılayan </a:t>
            </a:r>
            <a:r>
              <a:rPr lang="tr-TR" dirty="0"/>
              <a:t>bir nesnenin ve bu nesnenin olayları algılayabilmesi için de olayların </a:t>
            </a:r>
            <a:r>
              <a:rPr lang="tr-TR" dirty="0" smtClean="0"/>
              <a:t>görülebilir olması </a:t>
            </a:r>
            <a:r>
              <a:rPr lang="tr-TR" dirty="0"/>
              <a:t>gerekmektedir. </a:t>
            </a:r>
            <a:endParaRPr lang="tr-TR" dirty="0" smtClean="0"/>
          </a:p>
          <a:p>
            <a:r>
              <a:rPr lang="tr-TR" dirty="0" smtClean="0"/>
              <a:t>İşte </a:t>
            </a:r>
            <a:r>
              <a:rPr lang="tr-TR" dirty="0"/>
              <a:t>bu </a:t>
            </a:r>
            <a:r>
              <a:rPr lang="tr-TR" dirty="0" err="1"/>
              <a:t>görülebilirliği</a:t>
            </a:r>
            <a:r>
              <a:rPr lang="tr-TR" dirty="0"/>
              <a:t> sağlayan en büyük enerji kaynağı </a:t>
            </a:r>
            <a:r>
              <a:rPr lang="tr-TR" dirty="0" smtClean="0"/>
              <a:t>güneştir. Güneşten </a:t>
            </a:r>
            <a:r>
              <a:rPr lang="tr-TR" dirty="0"/>
              <a:t>gelen elektromanyetik (EM) enerji ile algılayıcılar yeryüzünde meydana </a:t>
            </a:r>
            <a:r>
              <a:rPr lang="tr-TR" dirty="0" smtClean="0"/>
              <a:t>gelen coğrafi </a:t>
            </a:r>
            <a:r>
              <a:rPr lang="tr-TR" dirty="0"/>
              <a:t>olayları kolay bir şekilde algılar ve kaydederler. Tıpkı insan olarak bizlerin </a:t>
            </a:r>
            <a:r>
              <a:rPr lang="tr-TR" dirty="0" smtClean="0"/>
              <a:t>gündüzleri çevremizi </a:t>
            </a:r>
            <a:r>
              <a:rPr lang="tr-TR" dirty="0"/>
              <a:t>kolay algılamamız ve geceleri algılayamamamız gibi. Uzaktan algılama işte bu </a:t>
            </a:r>
            <a:r>
              <a:rPr lang="tr-TR" dirty="0" smtClean="0"/>
              <a:t>EM enerjinin </a:t>
            </a:r>
            <a:r>
              <a:rPr lang="tr-TR" dirty="0"/>
              <a:t>ölçülmesi ve analiz edilmesi üzerine çalışır.</a:t>
            </a:r>
          </a:p>
        </p:txBody>
      </p:sp>
    </p:spTree>
    <p:extLst>
      <p:ext uri="{BB962C8B-B14F-4D97-AF65-F5344CB8AC3E}">
        <p14:creationId xmlns:p14="http://schemas.microsoft.com/office/powerpoint/2010/main" val="8770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tr-TR" b="1" dirty="0"/>
              <a:t>ELEKTROMANYETİK ENERJİ VE UZAL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151855"/>
            <a:ext cx="5177589" cy="5377281"/>
          </a:xfrm>
        </p:spPr>
        <p:txBody>
          <a:bodyPr>
            <a:normAutofit/>
          </a:bodyPr>
          <a:lstStyle/>
          <a:p>
            <a:r>
              <a:rPr lang="tr-TR" dirty="0"/>
              <a:t>En büyük enerji kaynağı güneş, görünür ışıkları, hissedebildiğimiz ısıyı ve cildimiz </a:t>
            </a:r>
            <a:r>
              <a:rPr lang="tr-TR" dirty="0" smtClean="0"/>
              <a:t>için zararlı </a:t>
            </a:r>
            <a:r>
              <a:rPr lang="tr-TR" dirty="0"/>
              <a:t>olan ultraviyole ışınları üretir. Algılayıcıların birçoğu (pasif algılayıcılar) güneşten </a:t>
            </a:r>
            <a:r>
              <a:rPr lang="tr-TR" dirty="0" smtClean="0"/>
              <a:t>gelen ve </a:t>
            </a:r>
            <a:r>
              <a:rPr lang="tr-TR" dirty="0"/>
              <a:t>yüzeyden yansıyan ışınları kullanır. Bu algılayıcılardan bazıları dünyanın </a:t>
            </a:r>
            <a:r>
              <a:rPr lang="tr-TR" dirty="0" smtClean="0"/>
              <a:t>kendisinin dışarıya </a:t>
            </a:r>
            <a:r>
              <a:rPr lang="tr-TR" dirty="0"/>
              <a:t>yaydığı enerjiyi algılar, bazıları da kendi enerjisini kendisi üretir (aktif algılayıcı) </a:t>
            </a:r>
            <a:r>
              <a:rPr lang="tr-TR" dirty="0" smtClean="0"/>
              <a:t>ve kaydeder </a:t>
            </a:r>
            <a:r>
              <a:rPr lang="tr-TR" dirty="0"/>
              <a:t>(Şekil 2.1).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867" y="1325563"/>
            <a:ext cx="6084133" cy="430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6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Dalga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Elektromanyetik (EM) enerji, dalga ve foton olmak üzere iki şekilde </a:t>
            </a:r>
            <a:r>
              <a:rPr lang="tr-TR" dirty="0" smtClean="0"/>
              <a:t>modellenebilir. Dalga </a:t>
            </a:r>
            <a:r>
              <a:rPr lang="tr-TR" dirty="0"/>
              <a:t>modelinde, </a:t>
            </a:r>
            <a:r>
              <a:rPr lang="tr-TR" dirty="0" smtClean="0"/>
              <a:t>EM </a:t>
            </a:r>
            <a:r>
              <a:rPr lang="tr-TR" dirty="0"/>
              <a:t>enerji uzayda sinüs </a:t>
            </a:r>
            <a:r>
              <a:rPr lang="tr-TR" dirty="0" smtClean="0"/>
              <a:t>dalgası formunu </a:t>
            </a:r>
            <a:r>
              <a:rPr lang="tr-TR" dirty="0"/>
              <a:t>verir. Bu dalga birbirine dik olan elektrik (E) ve manyetik (M) alandan oluşur (</a:t>
            </a:r>
            <a:r>
              <a:rPr lang="tr-TR" dirty="0" smtClean="0"/>
              <a:t>Şekil 2.2</a:t>
            </a:r>
            <a:r>
              <a:rPr lang="tr-TR" dirty="0"/>
              <a:t>). Bu nedenle </a:t>
            </a:r>
            <a:r>
              <a:rPr lang="tr-TR" i="1" dirty="0"/>
              <a:t>elektromanyetik </a:t>
            </a:r>
            <a:r>
              <a:rPr lang="tr-TR" dirty="0"/>
              <a:t>ismi kullanılır. İki alanın hareketi, dalganın hareket ettiği </a:t>
            </a:r>
            <a:r>
              <a:rPr lang="tr-TR" dirty="0" smtClean="0"/>
              <a:t>yöne diktir</a:t>
            </a:r>
            <a:r>
              <a:rPr lang="tr-TR" dirty="0"/>
              <a:t>. İki alan uzayda yaklaşık 299.790.000 m/s (~3.10</a:t>
            </a:r>
            <a:r>
              <a:rPr lang="tr-TR" baseline="30000" dirty="0"/>
              <a:t>8</a:t>
            </a:r>
            <a:r>
              <a:rPr lang="tr-TR" dirty="0"/>
              <a:t>) olan ışık hızını (c) üretir.</a:t>
            </a:r>
          </a:p>
        </p:txBody>
      </p:sp>
    </p:spTree>
    <p:extLst>
      <p:ext uri="{BB962C8B-B14F-4D97-AF65-F5344CB8AC3E}">
        <p14:creationId xmlns:p14="http://schemas.microsoft.com/office/powerpoint/2010/main" val="185719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Dalga ve Özellikleri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53" y="1690688"/>
            <a:ext cx="9202693" cy="4280695"/>
          </a:xfrm>
        </p:spPr>
      </p:pic>
    </p:spTree>
    <p:extLst>
      <p:ext uri="{BB962C8B-B14F-4D97-AF65-F5344CB8AC3E}">
        <p14:creationId xmlns:p14="http://schemas.microsoft.com/office/powerpoint/2010/main" val="213530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Dalga ve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EM dalganın bir karakteristiği olan Dalga Boyu (</a:t>
            </a:r>
            <a:r>
              <a:rPr lang="el-GR" dirty="0"/>
              <a:t>λ) </a:t>
            </a:r>
            <a:r>
              <a:rPr lang="tr-TR" dirty="0"/>
              <a:t>uzaktan algılamanın </a:t>
            </a:r>
            <a:r>
              <a:rPr lang="tr-TR" dirty="0" smtClean="0"/>
              <a:t>anlaşılmasında büyük </a:t>
            </a:r>
            <a:r>
              <a:rPr lang="tr-TR" dirty="0"/>
              <a:t>önem arz eder. Dalga boyu, iki dalga tepesi arasındaki mesafeyi ifade </a:t>
            </a:r>
            <a:r>
              <a:rPr lang="tr-TR" dirty="0" smtClean="0"/>
              <a:t>eder. Dalga </a:t>
            </a:r>
            <a:r>
              <a:rPr lang="tr-TR" dirty="0"/>
              <a:t>boyu birim olarak metre (m), mikrometre (</a:t>
            </a:r>
            <a:r>
              <a:rPr lang="el-GR" dirty="0"/>
              <a:t>μ</a:t>
            </a:r>
            <a:r>
              <a:rPr lang="tr-TR" dirty="0"/>
              <a:t>m= 10</a:t>
            </a:r>
            <a:r>
              <a:rPr lang="tr-TR" baseline="30000" dirty="0"/>
              <a:t>-6</a:t>
            </a:r>
            <a:r>
              <a:rPr lang="tr-TR" dirty="0"/>
              <a:t>) veya nanometre (</a:t>
            </a:r>
            <a:r>
              <a:rPr lang="tr-TR" dirty="0" err="1"/>
              <a:t>nm</a:t>
            </a:r>
            <a:r>
              <a:rPr lang="tr-TR" dirty="0"/>
              <a:t>=10</a:t>
            </a:r>
            <a:r>
              <a:rPr lang="tr-TR" baseline="30000" dirty="0"/>
              <a:t>-9</a:t>
            </a:r>
            <a:r>
              <a:rPr lang="tr-TR" dirty="0"/>
              <a:t>) ile </a:t>
            </a:r>
            <a:r>
              <a:rPr lang="tr-TR" dirty="0" smtClean="0"/>
              <a:t>ifade edilir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/>
              <a:t>F</a:t>
            </a:r>
            <a:r>
              <a:rPr lang="tr-TR" dirty="0" smtClean="0"/>
              <a:t>rekans </a:t>
            </a:r>
            <a:r>
              <a:rPr lang="tr-TR" dirty="0"/>
              <a:t>(</a:t>
            </a:r>
            <a:r>
              <a:rPr lang="tr-TR" i="1" dirty="0"/>
              <a:t>v</a:t>
            </a:r>
            <a:r>
              <a:rPr lang="tr-TR" dirty="0"/>
              <a:t>) ise belirli bir zaman periyodunda bir noktadan geçen dalga sayısıdır ve </a:t>
            </a:r>
            <a:r>
              <a:rPr lang="tr-TR" dirty="0" smtClean="0"/>
              <a:t>Hertz (Hz</a:t>
            </a:r>
            <a:r>
              <a:rPr lang="tr-TR" dirty="0"/>
              <a:t>) ile ifade edilir. Dolayısıyla ışık hızı (c) dalga boyu (</a:t>
            </a:r>
            <a:r>
              <a:rPr lang="el-GR" dirty="0"/>
              <a:t>λ) </a:t>
            </a:r>
            <a:r>
              <a:rPr lang="tr-TR" dirty="0"/>
              <a:t>ile frekansının (v) çarpına </a:t>
            </a:r>
            <a:r>
              <a:rPr lang="tr-TR" dirty="0" smtClean="0"/>
              <a:t>eşittir. Burada </a:t>
            </a:r>
            <a:r>
              <a:rPr lang="tr-TR" dirty="0"/>
              <a:t>ışık hızı yaklaşık bir değer olarak 3.10</a:t>
            </a:r>
            <a:r>
              <a:rPr lang="tr-TR" baseline="30000" dirty="0"/>
              <a:t>8</a:t>
            </a:r>
            <a:r>
              <a:rPr lang="tr-TR" dirty="0"/>
              <a:t> m/s eşitken dalga boyu ile frekans arasında </a:t>
            </a:r>
            <a:r>
              <a:rPr lang="tr-TR" dirty="0" smtClean="0"/>
              <a:t>ters bir </a:t>
            </a:r>
            <a:r>
              <a:rPr lang="tr-TR" dirty="0"/>
              <a:t>ilişki söz konusudur. Çünkü kısa dalga boylarının frekansları daha yüksek iken uzun </a:t>
            </a:r>
            <a:r>
              <a:rPr lang="tr-TR" dirty="0" smtClean="0"/>
              <a:t>dalga boylarının </a:t>
            </a:r>
            <a:r>
              <a:rPr lang="tr-TR" dirty="0"/>
              <a:t>frekansları daha düşüktür (Şekil 2.3).</a:t>
            </a:r>
          </a:p>
        </p:txBody>
      </p:sp>
    </p:spTree>
    <p:extLst>
      <p:ext uri="{BB962C8B-B14F-4D97-AF65-F5344CB8AC3E}">
        <p14:creationId xmlns:p14="http://schemas.microsoft.com/office/powerpoint/2010/main" val="4180614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Dalga ve Özellikleri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6" y="1915279"/>
            <a:ext cx="11267947" cy="3266322"/>
          </a:xfrm>
        </p:spPr>
      </p:pic>
    </p:spTree>
    <p:extLst>
      <p:ext uri="{BB962C8B-B14F-4D97-AF65-F5344CB8AC3E}">
        <p14:creationId xmlns:p14="http://schemas.microsoft.com/office/powerpoint/2010/main" val="277217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Elekromanyetik</a:t>
            </a:r>
            <a:r>
              <a:rPr lang="tr-TR" b="1" dirty="0"/>
              <a:t> Enerjinin Kaynağı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Elektromanyetik enerjinin temel kaynağı güneştir. Bunun yanında bütün mutlak </a:t>
            </a:r>
            <a:r>
              <a:rPr lang="tr-TR" dirty="0" smtClean="0"/>
              <a:t>sıfır üstü </a:t>
            </a:r>
            <a:r>
              <a:rPr lang="tr-TR" dirty="0"/>
              <a:t>sıcaklığa </a:t>
            </a:r>
            <a:r>
              <a:rPr lang="tr-TR" dirty="0" smtClean="0"/>
              <a:t>sahip maddeler </a:t>
            </a:r>
            <a:r>
              <a:rPr lang="tr-TR" dirty="0"/>
              <a:t>içlerindeki moleküllerin </a:t>
            </a:r>
            <a:r>
              <a:rPr lang="tr-TR" dirty="0" smtClean="0"/>
              <a:t>hareketlerinden dolayı </a:t>
            </a:r>
            <a:r>
              <a:rPr lang="tr-TR" dirty="0"/>
              <a:t>enerji yayarlar. Bu tür bütün dalga boylarındaki elektromanyetik enerjiyi </a:t>
            </a:r>
            <a:r>
              <a:rPr lang="tr-TR" dirty="0" err="1" smtClean="0"/>
              <a:t>absorbe</a:t>
            </a:r>
            <a:r>
              <a:rPr lang="tr-TR" dirty="0" smtClean="0"/>
              <a:t> edebilen </a:t>
            </a:r>
            <a:r>
              <a:rPr lang="tr-TR" dirty="0"/>
              <a:t>ve yayabilen maddeler “Kara Cisim” (</a:t>
            </a:r>
            <a:r>
              <a:rPr lang="tr-TR" dirty="0" err="1"/>
              <a:t>black</a:t>
            </a:r>
            <a:r>
              <a:rPr lang="tr-TR" dirty="0"/>
              <a:t> body) olarak nitelendirilir. </a:t>
            </a:r>
            <a:endParaRPr lang="tr-TR" dirty="0" smtClean="0"/>
          </a:p>
          <a:p>
            <a:r>
              <a:rPr lang="tr-TR" dirty="0" smtClean="0"/>
              <a:t>Farklı sıcaklıklarda </a:t>
            </a:r>
            <a:r>
              <a:rPr lang="tr-TR" dirty="0"/>
              <a:t>bulunan güneş ve dünyanın yaymış olduğu enerji miktarları da </a:t>
            </a:r>
            <a:r>
              <a:rPr lang="tr-TR" dirty="0" smtClean="0"/>
              <a:t>farklılık göstermektedir</a:t>
            </a:r>
            <a:r>
              <a:rPr lang="tr-TR" dirty="0"/>
              <a:t>. Güneşten gelen görünür dalga boylarındaki enerji miktarı diğer dalga </a:t>
            </a:r>
            <a:r>
              <a:rPr lang="tr-TR" dirty="0" smtClean="0"/>
              <a:t>boylarına göre </a:t>
            </a:r>
            <a:r>
              <a:rPr lang="tr-TR" dirty="0"/>
              <a:t>daha fazladır. </a:t>
            </a:r>
            <a:endParaRPr lang="tr-TR" dirty="0" smtClean="0"/>
          </a:p>
          <a:p>
            <a:r>
              <a:rPr lang="tr-TR" dirty="0" smtClean="0"/>
              <a:t>Maddelerin </a:t>
            </a:r>
            <a:r>
              <a:rPr lang="tr-TR" dirty="0"/>
              <a:t>ne kadar enerji yaydıklarını bulmak için değişik kanunlar </a:t>
            </a:r>
            <a:r>
              <a:rPr lang="tr-TR" dirty="0" smtClean="0"/>
              <a:t>ortaya atılmıştır</a:t>
            </a:r>
            <a:r>
              <a:rPr lang="tr-TR" dirty="0"/>
              <a:t>. Bunlar; Stefan-Boltzmann Kanunu, Wien Kanunu ve Planck Kanunu dur. Bu </a:t>
            </a:r>
            <a:r>
              <a:rPr lang="tr-TR" dirty="0" smtClean="0"/>
              <a:t>ders kapsamında </a:t>
            </a:r>
            <a:r>
              <a:rPr lang="tr-TR" dirty="0"/>
              <a:t>bu kanunların detayına girilmeyecektir, </a:t>
            </a:r>
            <a:r>
              <a:rPr lang="tr-TR" dirty="0" smtClean="0"/>
              <a:t>ayrıntılı </a:t>
            </a:r>
            <a:r>
              <a:rPr lang="tr-TR" dirty="0"/>
              <a:t>bilgilere </a:t>
            </a:r>
            <a:r>
              <a:rPr lang="tr-TR" dirty="0" err="1"/>
              <a:t>Lillesand</a:t>
            </a:r>
            <a:r>
              <a:rPr lang="tr-TR" dirty="0"/>
              <a:t> vd. (2004) </a:t>
            </a:r>
            <a:r>
              <a:rPr lang="tr-TR" dirty="0" smtClean="0"/>
              <a:t>ve </a:t>
            </a:r>
            <a:r>
              <a:rPr lang="tr-TR" dirty="0" err="1" smtClean="0"/>
              <a:t>Campbell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/>
              <a:t>Wynne</a:t>
            </a:r>
            <a:r>
              <a:rPr lang="tr-TR" dirty="0"/>
              <a:t> (2011) den ulaşılabilir.</a:t>
            </a:r>
          </a:p>
        </p:txBody>
      </p:sp>
    </p:spTree>
    <p:extLst>
      <p:ext uri="{BB962C8B-B14F-4D97-AF65-F5344CB8AC3E}">
        <p14:creationId xmlns:p14="http://schemas.microsoft.com/office/powerpoint/2010/main" val="322542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Elekromanyetik</a:t>
            </a:r>
            <a:r>
              <a:rPr lang="tr-TR" b="1" dirty="0"/>
              <a:t> Enerjinin Kaynağı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Enerjinin </a:t>
            </a:r>
            <a:r>
              <a:rPr lang="tr-TR" dirty="0"/>
              <a:t>kaynağı güneş veya cisimlerin kendisi </a:t>
            </a:r>
            <a:r>
              <a:rPr lang="tr-TR" dirty="0" smtClean="0"/>
              <a:t>olduğunda algılayıcılar </a:t>
            </a:r>
            <a:r>
              <a:rPr lang="tr-TR" dirty="0"/>
              <a:t>mevcut olan bu enerjileri kullanırlar. Bundan dolayı bu tür algılayıcılara </a:t>
            </a:r>
            <a:r>
              <a:rPr lang="tr-TR" b="1" dirty="0" smtClean="0"/>
              <a:t>pasif algılayıcılar </a:t>
            </a:r>
            <a:r>
              <a:rPr lang="tr-TR" dirty="0"/>
              <a:t>ismi verilir. Enerji kaynağı güneş olan pasif algılayıcılar sadece gün </a:t>
            </a:r>
            <a:r>
              <a:rPr lang="tr-TR" dirty="0" smtClean="0"/>
              <a:t>içinde algılama </a:t>
            </a:r>
            <a:r>
              <a:rPr lang="tr-TR" dirty="0"/>
              <a:t>yapabilirler. Enerji kaynağı daha uzun dalga boylarıyla dünyanın yaydığı ısı olan </a:t>
            </a:r>
            <a:r>
              <a:rPr lang="tr-TR" dirty="0" smtClean="0"/>
              <a:t>pasif algılayıcılar </a:t>
            </a:r>
            <a:r>
              <a:rPr lang="tr-TR" dirty="0"/>
              <a:t>güneşe bağlı olmaksızın günün bütün saatinde algılama yapabilirler. </a:t>
            </a:r>
            <a:endParaRPr lang="tr-TR" dirty="0" smtClean="0"/>
          </a:p>
          <a:p>
            <a:r>
              <a:rPr lang="tr-TR" dirty="0" smtClean="0"/>
              <a:t>Radar </a:t>
            </a:r>
            <a:r>
              <a:rPr lang="tr-TR" dirty="0"/>
              <a:t>ve </a:t>
            </a:r>
            <a:r>
              <a:rPr lang="tr-TR" dirty="0" smtClean="0"/>
              <a:t>lazer gibi </a:t>
            </a:r>
            <a:r>
              <a:rPr lang="tr-TR" dirty="0"/>
              <a:t>bazı algılayıcılar kendi enerjilerini kendileri üretirler ve </a:t>
            </a:r>
            <a:r>
              <a:rPr lang="tr-TR" b="1" dirty="0"/>
              <a:t>aktif sistem </a:t>
            </a:r>
            <a:r>
              <a:rPr lang="tr-TR" dirty="0" smtClean="0"/>
              <a:t>olarak isimlendirilirler</a:t>
            </a:r>
            <a:r>
              <a:rPr lang="tr-TR" dirty="0"/>
              <a:t>. Enerji kaynakları kendileri oldukları için gece-gündüz bütün hava </a:t>
            </a:r>
            <a:r>
              <a:rPr lang="tr-TR" dirty="0" smtClean="0"/>
              <a:t>koşullarında algılama </a:t>
            </a:r>
            <a:r>
              <a:rPr lang="tr-TR" dirty="0"/>
              <a:t>yapabilirler.</a:t>
            </a:r>
          </a:p>
        </p:txBody>
      </p:sp>
    </p:spTree>
    <p:extLst>
      <p:ext uri="{BB962C8B-B14F-4D97-AF65-F5344CB8AC3E}">
        <p14:creationId xmlns:p14="http://schemas.microsoft.com/office/powerpoint/2010/main" val="426259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Elektromanyetik (EM) Spektrum (Tayf)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Mutlak sıfırın üstünden sıcaklığa sahip olan bütün maddeler, değişik dalga </a:t>
            </a:r>
            <a:r>
              <a:rPr lang="tr-TR" dirty="0" smtClean="0"/>
              <a:t>boylarında elektromanyetik </a:t>
            </a:r>
            <a:r>
              <a:rPr lang="tr-TR" dirty="0"/>
              <a:t>dalga üretirler. Bu dalga boylarının aralığı da elektromanyetik spektrum </a:t>
            </a:r>
            <a:r>
              <a:rPr lang="tr-TR" dirty="0" smtClean="0"/>
              <a:t>olarak tanımlanır</a:t>
            </a:r>
            <a:r>
              <a:rPr lang="tr-TR" dirty="0"/>
              <a:t>. Bu aralığın sınırlarını gama ışınlarından radyo dalgaları oluşturur. En büyük </a:t>
            </a:r>
            <a:r>
              <a:rPr lang="tr-TR" dirty="0" smtClean="0"/>
              <a:t>EM spektrum </a:t>
            </a:r>
            <a:r>
              <a:rPr lang="tr-TR" dirty="0"/>
              <a:t>kaynağı olan güneş, gama ışınlarından radyo dalgalarına kadarki aralıkta </a:t>
            </a:r>
            <a:r>
              <a:rPr lang="tr-TR" dirty="0" smtClean="0"/>
              <a:t>enerji spektrumları </a:t>
            </a:r>
            <a:r>
              <a:rPr lang="tr-TR" dirty="0"/>
              <a:t>üretir.</a:t>
            </a:r>
          </a:p>
        </p:txBody>
      </p:sp>
    </p:spTree>
    <p:extLst>
      <p:ext uri="{BB962C8B-B14F-4D97-AF65-F5344CB8AC3E}">
        <p14:creationId xmlns:p14="http://schemas.microsoft.com/office/powerpoint/2010/main" val="703015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Elektromanyetik (EM) Spektrum (Tayf)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Uzaktan algılama EM spektrumun birkaç bölgesinde çalışır. EM spektrumun </a:t>
            </a:r>
            <a:r>
              <a:rPr lang="tr-TR" dirty="0" smtClean="0"/>
              <a:t>optik kısmı </a:t>
            </a:r>
            <a:r>
              <a:rPr lang="tr-TR" dirty="0"/>
              <a:t>X-ışınından (0.02 </a:t>
            </a:r>
            <a:r>
              <a:rPr lang="el-GR" dirty="0"/>
              <a:t>μ</a:t>
            </a:r>
            <a:r>
              <a:rPr lang="tr-TR" dirty="0"/>
              <a:t>m) başlar, görünür dalga boylarını da içine alarak termal </a:t>
            </a:r>
            <a:r>
              <a:rPr lang="tr-TR" dirty="0" smtClean="0"/>
              <a:t>kızılötesinin sonuna </a:t>
            </a:r>
            <a:r>
              <a:rPr lang="tr-TR" dirty="0"/>
              <a:t>kadar devam </a:t>
            </a:r>
            <a:r>
              <a:rPr lang="tr-TR" dirty="0" smtClean="0"/>
              <a:t>eder. </a:t>
            </a:r>
          </a:p>
          <a:p>
            <a:r>
              <a:rPr lang="tr-TR" dirty="0" smtClean="0"/>
              <a:t>Optik </a:t>
            </a:r>
            <a:r>
              <a:rPr lang="tr-TR" dirty="0"/>
              <a:t>bölge arasında kalan kısımlardan birincisi </a:t>
            </a:r>
            <a:r>
              <a:rPr lang="tr-TR" dirty="0" smtClean="0"/>
              <a:t>Ultraviyole ışınlarını </a:t>
            </a:r>
            <a:r>
              <a:rPr lang="tr-TR" dirty="0"/>
              <a:t>içeren kısımdır. Bu ışınlar en kısa dalga boylarına sahip ışınlardır ve </a:t>
            </a:r>
            <a:r>
              <a:rPr lang="tr-TR" dirty="0" smtClean="0"/>
              <a:t>uzaktan algılamada </a:t>
            </a:r>
            <a:r>
              <a:rPr lang="tr-TR" dirty="0"/>
              <a:t>kullanırlar. Ultraviyole ışınlardan sonra spektrumun görünür (</a:t>
            </a:r>
            <a:r>
              <a:rPr lang="tr-TR" dirty="0" err="1"/>
              <a:t>visible</a:t>
            </a:r>
            <a:r>
              <a:rPr lang="tr-TR" dirty="0"/>
              <a:t>) bölgesi 0.4 </a:t>
            </a:r>
            <a:r>
              <a:rPr lang="tr-TR" dirty="0" smtClean="0"/>
              <a:t>– </a:t>
            </a:r>
            <a:r>
              <a:rPr lang="el-GR" dirty="0" smtClean="0"/>
              <a:t>0.7 </a:t>
            </a:r>
            <a:r>
              <a:rPr lang="el-GR" dirty="0"/>
              <a:t>μ</a:t>
            </a:r>
            <a:r>
              <a:rPr lang="tr-TR" dirty="0"/>
              <a:t>m arasında yer alır ve genellikle “ışık” olarak bilinir. Bu aralık renklerin oluştuğu </a:t>
            </a:r>
            <a:r>
              <a:rPr lang="tr-TR" dirty="0" smtClean="0"/>
              <a:t>tek aralık </a:t>
            </a:r>
            <a:r>
              <a:rPr lang="tr-TR" dirty="0"/>
              <a:t>olup dünya üzerindeki bütün renkleri bu spektrum aralığı ile algılarız. </a:t>
            </a:r>
            <a:endParaRPr lang="tr-TR" dirty="0" smtClean="0"/>
          </a:p>
          <a:p>
            <a:r>
              <a:rPr lang="tr-TR" dirty="0" smtClean="0"/>
              <a:t>Temel renkler olarak </a:t>
            </a:r>
            <a:r>
              <a:rPr lang="tr-TR" dirty="0"/>
              <a:t>bilinen mavi, yeşil, kırmızı renkler bu aralıkta yer alır. 0.4-0.5 </a:t>
            </a:r>
            <a:r>
              <a:rPr lang="el-GR" dirty="0"/>
              <a:t>μ</a:t>
            </a:r>
            <a:r>
              <a:rPr lang="tr-TR" dirty="0"/>
              <a:t>m arası mavi, </a:t>
            </a:r>
            <a:r>
              <a:rPr lang="tr-TR" dirty="0" smtClean="0"/>
              <a:t>0.5-0.6 </a:t>
            </a:r>
            <a:r>
              <a:rPr lang="el-GR" dirty="0" smtClean="0"/>
              <a:t>μ</a:t>
            </a:r>
            <a:r>
              <a:rPr lang="tr-TR" dirty="0"/>
              <a:t>m arası yeşil ve 0.6-0.7 </a:t>
            </a:r>
            <a:r>
              <a:rPr lang="el-GR" dirty="0"/>
              <a:t>μ</a:t>
            </a:r>
            <a:r>
              <a:rPr lang="tr-TR" dirty="0"/>
              <a:t>m arası kırmızı dalga boylarından meydana gelir (Şekil 2.4). </a:t>
            </a:r>
            <a:r>
              <a:rPr lang="tr-TR" dirty="0" smtClean="0"/>
              <a:t>Diğer bütün </a:t>
            </a:r>
            <a:r>
              <a:rPr lang="tr-TR" dirty="0"/>
              <a:t>renkler de bu üç rengin ve tonlarının kombinasyonu ile oluşmaktadır. Görünür </a:t>
            </a:r>
            <a:r>
              <a:rPr lang="tr-TR" dirty="0" smtClean="0"/>
              <a:t>dalga boylarından </a:t>
            </a:r>
            <a:r>
              <a:rPr lang="tr-TR" dirty="0"/>
              <a:t>sonra da kızılötesi bölgeye geçilir. Bu bölge kendi arasında yakın, orta ve </a:t>
            </a:r>
            <a:r>
              <a:rPr lang="tr-TR" dirty="0" smtClean="0"/>
              <a:t>termal kızılötesi </a:t>
            </a:r>
            <a:r>
              <a:rPr lang="tr-TR" dirty="0"/>
              <a:t>olarak üç gruba ayrılır ve 0.7 – 15 </a:t>
            </a:r>
            <a:r>
              <a:rPr lang="el-GR" dirty="0"/>
              <a:t>μ</a:t>
            </a:r>
            <a:r>
              <a:rPr lang="tr-TR" dirty="0"/>
              <a:t>m arasındaki dalga boylarını kapsar. </a:t>
            </a:r>
            <a:r>
              <a:rPr lang="tr-TR" dirty="0" smtClean="0"/>
              <a:t>Termal kızılötesi </a:t>
            </a:r>
            <a:r>
              <a:rPr lang="tr-TR" dirty="0"/>
              <a:t>yüzey sıcaklıkları hakkında bilgi verir. Yüzey sıcaklıkları da kayaçların </a:t>
            </a:r>
            <a:r>
              <a:rPr lang="tr-TR" dirty="0" smtClean="0"/>
              <a:t>mineral özellikleri </a:t>
            </a:r>
            <a:r>
              <a:rPr lang="tr-TR" dirty="0"/>
              <a:t>ve bitki şartlarıyla ilgili olabilir.</a:t>
            </a:r>
          </a:p>
        </p:txBody>
      </p:sp>
    </p:spTree>
    <p:extLst>
      <p:ext uri="{BB962C8B-B14F-4D97-AF65-F5344CB8AC3E}">
        <p14:creationId xmlns:p14="http://schemas.microsoft.com/office/powerpoint/2010/main" val="1597509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427"/>
          <a:stretch/>
        </p:blipFill>
        <p:spPr>
          <a:xfrm>
            <a:off x="4924927" y="777923"/>
            <a:ext cx="6428874" cy="6138021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tr-TR" b="1" dirty="0"/>
              <a:t>Elektromanyetik (EM) Spektrum (Tayf)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3236495" cy="435133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Optik bölgeden sonra daha uzun dalga boylarına geçilir ve bunlar mikrodalga ve </a:t>
            </a:r>
            <a:r>
              <a:rPr lang="tr-TR" dirty="0" smtClean="0"/>
              <a:t>radyo dalgalarıdır</a:t>
            </a:r>
            <a:r>
              <a:rPr lang="tr-TR" dirty="0"/>
              <a:t>. Mikrodalgalar yüzey pürüzlülüğü ve yüzeyin su içeriği hakkında bilgi </a:t>
            </a:r>
            <a:r>
              <a:rPr lang="tr-TR" dirty="0" smtClean="0"/>
              <a:t>sahibi olmayı </a:t>
            </a:r>
            <a:r>
              <a:rPr lang="tr-TR" dirty="0"/>
              <a:t>sağlar.</a:t>
            </a:r>
          </a:p>
        </p:txBody>
      </p:sp>
    </p:spTree>
    <p:extLst>
      <p:ext uri="{BB962C8B-B14F-4D97-AF65-F5344CB8AC3E}">
        <p14:creationId xmlns:p14="http://schemas.microsoft.com/office/powerpoint/2010/main" val="475936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Elektromanyetik (EM) Spektrum (Tayf)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27748"/>
            <a:ext cx="10515600" cy="5277852"/>
          </a:xfrm>
        </p:spPr>
        <p:txBody>
          <a:bodyPr>
            <a:normAutofit fontScale="85000" lnSpcReduction="10000"/>
          </a:bodyPr>
          <a:lstStyle/>
          <a:p>
            <a:r>
              <a:rPr lang="tr-TR" dirty="0"/>
              <a:t>Optik aralıkta çalışan algılayıcılar, yerden yansıyan ışınları belirli dalga boyu </a:t>
            </a:r>
            <a:r>
              <a:rPr lang="tr-TR" dirty="0" smtClean="0"/>
              <a:t>aralığında kaydeder</a:t>
            </a:r>
            <a:r>
              <a:rPr lang="tr-TR" dirty="0"/>
              <a:t>. Burada kayıt işlemi, her bir pikselin dalga boylarının yerden yansıma </a:t>
            </a:r>
            <a:r>
              <a:rPr lang="tr-TR" dirty="0" smtClean="0"/>
              <a:t>değerlerine bağlı </a:t>
            </a:r>
            <a:r>
              <a:rPr lang="tr-TR" dirty="0"/>
              <a:t>olarak rakamsal değer atamasıyla gerçekleştirilir. </a:t>
            </a:r>
            <a:endParaRPr lang="tr-TR" dirty="0" smtClean="0"/>
          </a:p>
          <a:p>
            <a:r>
              <a:rPr lang="tr-TR" dirty="0" smtClean="0"/>
              <a:t>Örneğin </a:t>
            </a:r>
            <a:r>
              <a:rPr lang="tr-TR" dirty="0"/>
              <a:t>8 bitlik (2</a:t>
            </a:r>
            <a:r>
              <a:rPr lang="tr-TR" baseline="30000" dirty="0"/>
              <a:t>8</a:t>
            </a:r>
            <a:r>
              <a:rPr lang="tr-TR" dirty="0"/>
              <a:t>) bir görüntüde </a:t>
            </a:r>
            <a:r>
              <a:rPr lang="tr-TR" dirty="0" smtClean="0"/>
              <a:t>256 gri </a:t>
            </a:r>
            <a:r>
              <a:rPr lang="tr-TR" dirty="0"/>
              <a:t>renk tonu kullanılır. Bu renk tonlarında kaydedilen dalga boyu aralıkları R-G-B (</a:t>
            </a:r>
            <a:r>
              <a:rPr lang="tr-TR" dirty="0" err="1" smtClean="0"/>
              <a:t>Red</a:t>
            </a:r>
            <a:r>
              <a:rPr lang="tr-TR" dirty="0" smtClean="0"/>
              <a:t>-</a:t>
            </a:r>
            <a:r>
              <a:rPr lang="tr-TR" dirty="0" err="1" smtClean="0"/>
              <a:t>Green</a:t>
            </a:r>
            <a:r>
              <a:rPr lang="tr-TR" dirty="0" smtClean="0"/>
              <a:t>-Blue</a:t>
            </a:r>
            <a:r>
              <a:rPr lang="tr-TR" dirty="0"/>
              <a:t>, Kırmız-Yeşil-Mavi) kombinasyonuna getirildiğinde gri renkten anlamlı </a:t>
            </a:r>
            <a:r>
              <a:rPr lang="tr-TR" dirty="0" smtClean="0"/>
              <a:t>renklere dönüşürler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Şekil </a:t>
            </a:r>
            <a:r>
              <a:rPr lang="tr-TR" dirty="0"/>
              <a:t>10’da buna ait örnek verilmiştir. Görünür dalga boyları olan 0.4-0.5 </a:t>
            </a:r>
            <a:r>
              <a:rPr lang="el-GR" dirty="0"/>
              <a:t>μ</a:t>
            </a:r>
            <a:r>
              <a:rPr lang="tr-TR" dirty="0"/>
              <a:t>m </a:t>
            </a:r>
            <a:r>
              <a:rPr lang="tr-TR" dirty="0" smtClean="0"/>
              <a:t>mavi, </a:t>
            </a:r>
            <a:r>
              <a:rPr lang="el-GR" dirty="0" smtClean="0"/>
              <a:t>0.5-0.6 </a:t>
            </a:r>
            <a:r>
              <a:rPr lang="el-GR" dirty="0"/>
              <a:t>μ</a:t>
            </a:r>
            <a:r>
              <a:rPr lang="tr-TR" dirty="0"/>
              <a:t>m yeşil ve 0.6-0.7 </a:t>
            </a:r>
            <a:r>
              <a:rPr lang="el-GR" dirty="0"/>
              <a:t>μ</a:t>
            </a:r>
            <a:r>
              <a:rPr lang="tr-TR" dirty="0"/>
              <a:t>m kırmızı, R-G-B kombinasyonuna alındığında görünür </a:t>
            </a:r>
            <a:r>
              <a:rPr lang="tr-TR" dirty="0" smtClean="0"/>
              <a:t>normal renkler oluşur. </a:t>
            </a:r>
            <a:r>
              <a:rPr lang="tr-TR" dirty="0"/>
              <a:t>Görünür dalga boyları dışında kalan kızılötesi dalga boyları da </a:t>
            </a:r>
            <a:r>
              <a:rPr lang="tr-TR" dirty="0" smtClean="0"/>
              <a:t>R-GB kombinasyonuna </a:t>
            </a:r>
            <a:r>
              <a:rPr lang="tr-TR" dirty="0"/>
              <a:t>alındıklarında yüzeydeki cisimlerin dalga boylarını yansıtma </a:t>
            </a:r>
            <a:r>
              <a:rPr lang="tr-TR" dirty="0" smtClean="0"/>
              <a:t>özelliklerine bağlı </a:t>
            </a:r>
            <a:r>
              <a:rPr lang="tr-TR" dirty="0"/>
              <a:t>olarak anlamlı renkler haline dönüşürler. </a:t>
            </a:r>
            <a:endParaRPr lang="tr-TR" dirty="0" smtClean="0"/>
          </a:p>
          <a:p>
            <a:r>
              <a:rPr lang="tr-TR" dirty="0" smtClean="0"/>
              <a:t>Şekil </a:t>
            </a:r>
            <a:r>
              <a:rPr lang="tr-TR" dirty="0"/>
              <a:t>2.5’te yakın kızıl ötesi, kırmızı ve </a:t>
            </a:r>
            <a:r>
              <a:rPr lang="tr-TR" dirty="0" smtClean="0"/>
              <a:t>yeşil dalga </a:t>
            </a:r>
            <a:r>
              <a:rPr lang="tr-TR" dirty="0"/>
              <a:t>boyları R-G-B kombinasyonuna alındığında yalancı renklerin oluştuğu görülür. </a:t>
            </a:r>
            <a:r>
              <a:rPr lang="tr-TR" dirty="0" smtClean="0"/>
              <a:t>Yalancı denmesinin </a:t>
            </a:r>
            <a:r>
              <a:rPr lang="tr-TR" dirty="0"/>
              <a:t>nedeni, gerçek görünen renklerinden farklı görülmesidir. Örnekte orman </a:t>
            </a:r>
            <a:r>
              <a:rPr lang="tr-TR" dirty="0" smtClean="0"/>
              <a:t>alanları yeşil </a:t>
            </a:r>
            <a:r>
              <a:rPr lang="tr-TR" dirty="0"/>
              <a:t>olması gerekirken kırmızı olarak gözükmektedir. Bunun gerçekte nedeni </a:t>
            </a:r>
            <a:r>
              <a:rPr lang="tr-TR" dirty="0" smtClean="0"/>
              <a:t>bitkilerin kızılötesi </a:t>
            </a:r>
            <a:r>
              <a:rPr lang="tr-TR" dirty="0"/>
              <a:t>ışınları daha fazla yansıtmasındandır. </a:t>
            </a:r>
          </a:p>
        </p:txBody>
      </p:sp>
    </p:spTree>
    <p:extLst>
      <p:ext uri="{BB962C8B-B14F-4D97-AF65-F5344CB8AC3E}">
        <p14:creationId xmlns:p14="http://schemas.microsoft.com/office/powerpoint/2010/main" val="3639464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121" y="942297"/>
            <a:ext cx="7840738" cy="5915703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02690" y="0"/>
            <a:ext cx="10515600" cy="1325563"/>
          </a:xfrm>
        </p:spPr>
        <p:txBody>
          <a:bodyPr/>
          <a:lstStyle/>
          <a:p>
            <a:r>
              <a:rPr lang="tr-TR" b="1" dirty="0"/>
              <a:t>Elektromanyetik (EM) Spektrum (Tayf)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998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664" y="733671"/>
            <a:ext cx="7440413" cy="6039991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-105391"/>
            <a:ext cx="10515600" cy="1325563"/>
          </a:xfrm>
        </p:spPr>
        <p:txBody>
          <a:bodyPr/>
          <a:lstStyle/>
          <a:p>
            <a:r>
              <a:rPr lang="tr-TR" b="1" dirty="0"/>
              <a:t>Elektromanyetik (EM) Spektrum (Tayf)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58444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En önemli enerji kaynağı Güneş’tir. Güneş ışınları algılayıcılara ulaşıncaya </a:t>
            </a:r>
            <a:r>
              <a:rPr lang="tr-TR" dirty="0" smtClean="0"/>
              <a:t>kadar atmosferi </a:t>
            </a:r>
            <a:r>
              <a:rPr lang="tr-TR" dirty="0"/>
              <a:t>iki kez kat etmek zorundadırlar. Bunlardan ilki güneşten yeryüzüne ulaşıncaya </a:t>
            </a:r>
            <a:r>
              <a:rPr lang="tr-TR" dirty="0" smtClean="0"/>
              <a:t>kadar atmosferi kat etmesi, </a:t>
            </a:r>
            <a:r>
              <a:rPr lang="tr-TR" dirty="0"/>
              <a:t>diğeri yüzeyden yansıdıktan sonra atmosferi kat ederek </a:t>
            </a:r>
            <a:r>
              <a:rPr lang="tr-TR" dirty="0" smtClean="0"/>
              <a:t>algılayıcılara ulaşmasıdır</a:t>
            </a:r>
            <a:r>
              <a:rPr lang="tr-TR" dirty="0"/>
              <a:t>. Bunun yanında dünyanın yaymış olduğu termal dalga boylarını </a:t>
            </a:r>
            <a:r>
              <a:rPr lang="tr-TR" dirty="0" smtClean="0"/>
              <a:t>kaydeden algılayıcılara </a:t>
            </a:r>
            <a:r>
              <a:rPr lang="tr-TR" dirty="0"/>
              <a:t>ulaşan dalgalar, atmosferi sadece </a:t>
            </a:r>
            <a:r>
              <a:rPr lang="tr-TR" dirty="0" smtClean="0"/>
              <a:t>bir kez </a:t>
            </a:r>
            <a:r>
              <a:rPr lang="tr-TR" dirty="0"/>
              <a:t>geçtikleri için güneşten gelenlere </a:t>
            </a:r>
            <a:r>
              <a:rPr lang="tr-TR" dirty="0" smtClean="0"/>
              <a:t>göre daha </a:t>
            </a:r>
            <a:r>
              <a:rPr lang="tr-TR" dirty="0"/>
              <a:t>az kayba uğrarlar. Güneş enerjisi atmosferi kat ederken üç önemli etkileşime uğrar;</a:t>
            </a:r>
          </a:p>
        </p:txBody>
      </p:sp>
    </p:spTree>
    <p:extLst>
      <p:ext uri="{BB962C8B-B14F-4D97-AF65-F5344CB8AC3E}">
        <p14:creationId xmlns:p14="http://schemas.microsoft.com/office/powerpoint/2010/main" val="75691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tr-TR" dirty="0" smtClean="0"/>
              <a:t> </a:t>
            </a:r>
            <a:r>
              <a:rPr lang="tr-TR" dirty="0"/>
              <a:t>Emilme-soğrulma,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 smtClean="0"/>
              <a:t> </a:t>
            </a:r>
            <a:r>
              <a:rPr lang="tr-TR" dirty="0"/>
              <a:t>İletme,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dirty="0" smtClean="0"/>
              <a:t>Yayılma-dağılma </a:t>
            </a:r>
            <a:r>
              <a:rPr lang="tr-TR" dirty="0"/>
              <a:t>şeklindedir (Şekil 2.6</a:t>
            </a:r>
            <a:r>
              <a:rPr lang="tr-TR" dirty="0" smtClean="0"/>
              <a:t>).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Bütün bu etkileşimler, atmosferin sahip olduğu özelliklere, EM </a:t>
            </a:r>
            <a:r>
              <a:rPr lang="tr-TR" dirty="0" smtClean="0"/>
              <a:t>spektrumun özelliklerine </a:t>
            </a:r>
            <a:r>
              <a:rPr lang="tr-TR" dirty="0"/>
              <a:t>ve dünyanın özelliklerine bağlı olarak değişiklik gösterir.</a:t>
            </a:r>
          </a:p>
        </p:txBody>
      </p:sp>
    </p:spTree>
    <p:extLst>
      <p:ext uri="{BB962C8B-B14F-4D97-AF65-F5344CB8AC3E}">
        <p14:creationId xmlns:p14="http://schemas.microsoft.com/office/powerpoint/2010/main" val="417062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763" y="1172285"/>
            <a:ext cx="9422474" cy="5565399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79242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i="1" dirty="0"/>
              <a:t>a) Soğrulma: </a:t>
            </a:r>
            <a:r>
              <a:rPr lang="tr-TR" dirty="0"/>
              <a:t>EM enerji atmosfer içerisinden geçerken, birtakım </a:t>
            </a:r>
            <a:r>
              <a:rPr lang="tr-TR" dirty="0" smtClean="0"/>
              <a:t>moleküller tarafından </a:t>
            </a:r>
            <a:r>
              <a:rPr lang="tr-TR" dirty="0"/>
              <a:t>kısmen soğrulur. Atmosferde güneş ışığını soğuranlar ozon (O</a:t>
            </a:r>
            <a:r>
              <a:rPr lang="tr-TR" baseline="-25000" dirty="0"/>
              <a:t>3</a:t>
            </a:r>
            <a:r>
              <a:rPr lang="tr-TR" dirty="0"/>
              <a:t>), su buharı (H</a:t>
            </a:r>
            <a:r>
              <a:rPr lang="tr-TR" baseline="-25000" dirty="0"/>
              <a:t>2</a:t>
            </a:r>
            <a:r>
              <a:rPr lang="tr-TR" dirty="0"/>
              <a:t>O) </a:t>
            </a:r>
            <a:r>
              <a:rPr lang="tr-TR" dirty="0" smtClean="0"/>
              <a:t>ve karbondioksittir </a:t>
            </a:r>
            <a:r>
              <a:rPr lang="tr-TR" dirty="0"/>
              <a:t>(CO</a:t>
            </a:r>
            <a:r>
              <a:rPr lang="tr-TR" baseline="-25000" dirty="0"/>
              <a:t>2</a:t>
            </a:r>
            <a:r>
              <a:rPr lang="tr-TR" dirty="0"/>
              <a:t>). Şekil 2.7 güneş spektrumlarının güneş, atmosfer üstü ve </a:t>
            </a:r>
            <a:r>
              <a:rPr lang="tr-TR" dirty="0" smtClean="0"/>
              <a:t>yeryüzündeki yansıma </a:t>
            </a:r>
            <a:r>
              <a:rPr lang="tr-TR" dirty="0"/>
              <a:t>grafiklerini göstermektedir. Güneşten ilk çıkan spektrum ile atmosferi geçtikten </a:t>
            </a:r>
            <a:r>
              <a:rPr lang="tr-TR" dirty="0" smtClean="0"/>
              <a:t>sonra yeryüzünde </a:t>
            </a:r>
            <a:r>
              <a:rPr lang="tr-TR" dirty="0"/>
              <a:t>yansıyan spektrum grafiği arasındaki fark, atmosfer içerisindeki </a:t>
            </a:r>
            <a:r>
              <a:rPr lang="tr-TR" dirty="0" smtClean="0"/>
              <a:t>moleküllerden kaynaklanmaktadır</a:t>
            </a:r>
            <a:r>
              <a:rPr lang="tr-TR" dirty="0"/>
              <a:t>. Burada ozonun daha kısa dalga boylarına, su buharının orta dalga </a:t>
            </a:r>
            <a:r>
              <a:rPr lang="tr-TR" dirty="0" smtClean="0"/>
              <a:t>boylarına ve </a:t>
            </a:r>
            <a:r>
              <a:rPr lang="tr-TR" dirty="0"/>
              <a:t>karbondioksitin de uzun dalga boylarını soğurduğu görülmektedir.</a:t>
            </a:r>
          </a:p>
        </p:txBody>
      </p:sp>
    </p:spTree>
    <p:extLst>
      <p:ext uri="{BB962C8B-B14F-4D97-AF65-F5344CB8AC3E}">
        <p14:creationId xmlns:p14="http://schemas.microsoft.com/office/powerpoint/2010/main" val="2327357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26" y="1204368"/>
            <a:ext cx="10882135" cy="5517273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220746"/>
            <a:ext cx="10515600" cy="1325563"/>
          </a:xfrm>
        </p:spPr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45870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i="1" dirty="0"/>
              <a:t>b) İletme: </a:t>
            </a:r>
            <a:r>
              <a:rPr lang="tr-TR" dirty="0"/>
              <a:t>0-22 </a:t>
            </a:r>
            <a:r>
              <a:rPr lang="el-GR" dirty="0"/>
              <a:t>μ</a:t>
            </a:r>
            <a:r>
              <a:rPr lang="tr-TR" dirty="0"/>
              <a:t>m aralığındaki EM spektrumun hemen hemen yarısı dünya </a:t>
            </a:r>
            <a:r>
              <a:rPr lang="tr-TR" dirty="0" smtClean="0"/>
              <a:t>yüzeyinin uzaktan </a:t>
            </a:r>
            <a:r>
              <a:rPr lang="tr-TR" dirty="0"/>
              <a:t>algılaması için kullanışsızdır. Çünkü spektrumun büyük bir kısmı atmosferi </a:t>
            </a:r>
            <a:r>
              <a:rPr lang="tr-TR" dirty="0" smtClean="0"/>
              <a:t>geçemez. Sadece </a:t>
            </a:r>
            <a:r>
              <a:rPr lang="tr-TR" dirty="0"/>
              <a:t>atmosferik gazların soğurmasının mümkün olmadığı bölgelerden geçen dalga </a:t>
            </a:r>
            <a:r>
              <a:rPr lang="tr-TR" dirty="0" smtClean="0"/>
              <a:t>boyları uzaktan </a:t>
            </a:r>
            <a:r>
              <a:rPr lang="tr-TR" dirty="0"/>
              <a:t>algılamada kullanılır. Bu bölgelere “Atmosferik Pencere” ismi verilir. Bu </a:t>
            </a:r>
            <a:r>
              <a:rPr lang="tr-TR" dirty="0" smtClean="0"/>
              <a:t>pencereler (Şekil </a:t>
            </a:r>
            <a:r>
              <a:rPr lang="tr-TR" dirty="0"/>
              <a:t>2.8); optik algılayıcıların da kullandığı görünür ve kızılötesi bölgede 0.4-2 </a:t>
            </a:r>
            <a:r>
              <a:rPr lang="el-GR" dirty="0"/>
              <a:t>μ</a:t>
            </a:r>
            <a:r>
              <a:rPr lang="tr-TR" dirty="0"/>
              <a:t>m arası </a:t>
            </a:r>
            <a:r>
              <a:rPr lang="tr-TR" dirty="0" smtClean="0"/>
              <a:t>ve termal </a:t>
            </a:r>
            <a:r>
              <a:rPr lang="tr-TR" dirty="0"/>
              <a:t>kızılötesi bölgesinde 3-5 </a:t>
            </a:r>
            <a:r>
              <a:rPr lang="el-GR" dirty="0"/>
              <a:t>μ</a:t>
            </a:r>
            <a:r>
              <a:rPr lang="tr-TR" dirty="0"/>
              <a:t>m ve 8-14 </a:t>
            </a:r>
            <a:r>
              <a:rPr lang="el-GR" dirty="0"/>
              <a:t>μ</a:t>
            </a:r>
            <a:r>
              <a:rPr lang="tr-TR" dirty="0"/>
              <a:t>m arası bölgede yer alırlar. Atmosferin </a:t>
            </a:r>
            <a:r>
              <a:rPr lang="tr-TR" dirty="0" smtClean="0"/>
              <a:t>nem içeriğinden </a:t>
            </a:r>
            <a:r>
              <a:rPr lang="tr-TR" dirty="0"/>
              <a:t>dolayı çok uzun dalga boyları yüksek derecede soğrulamaya maruz kalırlar ve </a:t>
            </a:r>
            <a:r>
              <a:rPr lang="tr-TR" dirty="0" smtClean="0"/>
              <a:t>hatta </a:t>
            </a:r>
            <a:r>
              <a:rPr lang="el-GR" dirty="0" smtClean="0"/>
              <a:t>22 </a:t>
            </a:r>
            <a:r>
              <a:rPr lang="el-GR" dirty="0"/>
              <a:t>μ</a:t>
            </a:r>
            <a:r>
              <a:rPr lang="tr-TR" dirty="0"/>
              <a:t>m ile 1 mm arası enerji iletimi yok gibidir.</a:t>
            </a:r>
          </a:p>
        </p:txBody>
      </p:sp>
    </p:spTree>
    <p:extLst>
      <p:ext uri="{BB962C8B-B14F-4D97-AF65-F5344CB8AC3E}">
        <p14:creationId xmlns:p14="http://schemas.microsoft.com/office/powerpoint/2010/main" val="3279637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16" y="1572166"/>
            <a:ext cx="11755167" cy="4732381"/>
          </a:xfrm>
        </p:spPr>
      </p:pic>
    </p:spTree>
    <p:extLst>
      <p:ext uri="{BB962C8B-B14F-4D97-AF65-F5344CB8AC3E}">
        <p14:creationId xmlns:p14="http://schemas.microsoft.com/office/powerpoint/2010/main" val="1274945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i="1" dirty="0"/>
              <a:t>c) Dağılma: </a:t>
            </a:r>
            <a:r>
              <a:rPr lang="tr-TR" dirty="0"/>
              <a:t>Atmosfer içerisindeki partikül ve gaz moleküllerinin EM </a:t>
            </a:r>
            <a:r>
              <a:rPr lang="tr-TR" dirty="0" smtClean="0"/>
              <a:t>dalgaların gerçek </a:t>
            </a:r>
            <a:r>
              <a:rPr lang="tr-TR" dirty="0"/>
              <a:t>istikametlerinden saptırmalarıyla oluşur. Dağılma miktarı dalga boyuna, </a:t>
            </a:r>
            <a:r>
              <a:rPr lang="tr-TR" dirty="0" smtClean="0"/>
              <a:t>atmosferdeki gaz </a:t>
            </a:r>
            <a:r>
              <a:rPr lang="tr-TR" dirty="0"/>
              <a:t>ve partikül miktarına ve ışığın atmosferdeki kat ettiği mesafeye bağlı olarak </a:t>
            </a:r>
            <a:r>
              <a:rPr lang="tr-TR" dirty="0" smtClean="0"/>
              <a:t>değişiklik gösterir</a:t>
            </a:r>
            <a:r>
              <a:rPr lang="tr-TR" dirty="0"/>
              <a:t>. Üç tür dağılma vardır; </a:t>
            </a:r>
            <a:r>
              <a:rPr lang="tr-TR" dirty="0" err="1"/>
              <a:t>Rayleigh</a:t>
            </a:r>
            <a:r>
              <a:rPr lang="tr-TR" dirty="0"/>
              <a:t>, </a:t>
            </a:r>
            <a:r>
              <a:rPr lang="tr-TR" dirty="0" err="1"/>
              <a:t>Mie</a:t>
            </a:r>
            <a:r>
              <a:rPr lang="tr-TR" dirty="0"/>
              <a:t> ve </a:t>
            </a:r>
            <a:r>
              <a:rPr lang="tr-TR" dirty="0" err="1"/>
              <a:t>Non-selective</a:t>
            </a:r>
            <a:r>
              <a:rPr lang="tr-TR" dirty="0"/>
              <a:t> dağılmadır.</a:t>
            </a:r>
          </a:p>
        </p:txBody>
      </p:sp>
    </p:spTree>
    <p:extLst>
      <p:ext uri="{BB962C8B-B14F-4D97-AF65-F5344CB8AC3E}">
        <p14:creationId xmlns:p14="http://schemas.microsoft.com/office/powerpoint/2010/main" val="2553761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i="1" dirty="0" err="1"/>
              <a:t>Rayleigh</a:t>
            </a:r>
            <a:r>
              <a:rPr lang="tr-TR" b="1" i="1" dirty="0"/>
              <a:t> Dağılma: </a:t>
            </a:r>
            <a:r>
              <a:rPr lang="tr-TR" dirty="0"/>
              <a:t>Bu dağılma partiküllerin dalga boylarından küçük </a:t>
            </a:r>
            <a:r>
              <a:rPr lang="tr-TR" dirty="0" smtClean="0"/>
              <a:t>olduğu yerlerde </a:t>
            </a:r>
            <a:r>
              <a:rPr lang="tr-TR" dirty="0"/>
              <a:t>meydana gelir. Bu partiküllere toz lekeleri, nitrojen ve oksijen molekülleri örnek </a:t>
            </a:r>
            <a:r>
              <a:rPr lang="tr-TR" dirty="0" smtClean="0"/>
              <a:t>olarak verilebilir</a:t>
            </a:r>
            <a:r>
              <a:rPr lang="tr-TR" dirty="0"/>
              <a:t>. </a:t>
            </a:r>
            <a:r>
              <a:rPr lang="tr-TR" dirty="0" err="1"/>
              <a:t>Rayleigh</a:t>
            </a:r>
            <a:r>
              <a:rPr lang="tr-TR" dirty="0"/>
              <a:t> dağılmada kısa dalga boyları uzun dalga boylarına göre daha </a:t>
            </a:r>
            <a:r>
              <a:rPr lang="tr-TR" dirty="0" smtClean="0"/>
              <a:t>fazla dağılmaya </a:t>
            </a:r>
            <a:r>
              <a:rPr lang="tr-TR" dirty="0"/>
              <a:t>uğrar (Şekil 2.9).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Atmosferdeki </a:t>
            </a:r>
            <a:r>
              <a:rPr lang="tr-TR" dirty="0"/>
              <a:t>partiküllerin ve dolayısıyla dağılmanın </a:t>
            </a:r>
            <a:r>
              <a:rPr lang="tr-TR" dirty="0" smtClean="0"/>
              <a:t>olmaması durumunda </a:t>
            </a:r>
            <a:r>
              <a:rPr lang="tr-TR" dirty="0"/>
              <a:t>gökyüzü tamamen siyah görünürdü. Gün içinde güneş ışınları geliş açılarına </a:t>
            </a:r>
            <a:r>
              <a:rPr lang="tr-TR" dirty="0" smtClean="0"/>
              <a:t>bağlı olarak </a:t>
            </a:r>
            <a:r>
              <a:rPr lang="tr-TR" dirty="0"/>
              <a:t>atmosferi daha kısa mesafede kat eder. Mavi ışığın diğer uzun dalgalı ışınlara </a:t>
            </a:r>
            <a:r>
              <a:rPr lang="tr-TR" dirty="0" smtClean="0"/>
              <a:t>kıyasla daha </a:t>
            </a:r>
            <a:r>
              <a:rPr lang="tr-TR" dirty="0"/>
              <a:t>fazla dağılmaya uğramasından dolayı gökyüzü mavi renkte görülür. Gün doğumu </a:t>
            </a:r>
            <a:r>
              <a:rPr lang="tr-TR" dirty="0" smtClean="0"/>
              <a:t>ve batımında </a:t>
            </a:r>
            <a:r>
              <a:rPr lang="tr-TR" dirty="0"/>
              <a:t>ise yine güneş ışınlarının geliş açısına bağlı olarak atmosferde kat edilen mesafe </a:t>
            </a:r>
            <a:r>
              <a:rPr lang="tr-TR" dirty="0" smtClean="0"/>
              <a:t>fazla olduğundan </a:t>
            </a:r>
            <a:r>
              <a:rPr lang="tr-TR" dirty="0"/>
              <a:t>kısa dalgalar kayba uğrar ve ancak uzun dalgalar yeryüzüne ulaşır ve </a:t>
            </a:r>
            <a:r>
              <a:rPr lang="tr-TR" dirty="0" smtClean="0"/>
              <a:t>gökyüzü kırmızı </a:t>
            </a:r>
            <a:r>
              <a:rPr lang="tr-TR" dirty="0"/>
              <a:t>ve turuncu renklerde görülür.</a:t>
            </a:r>
          </a:p>
        </p:txBody>
      </p:sp>
    </p:spTree>
    <p:extLst>
      <p:ext uri="{BB962C8B-B14F-4D97-AF65-F5344CB8AC3E}">
        <p14:creationId xmlns:p14="http://schemas.microsoft.com/office/powerpoint/2010/main" val="1259637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8" y="2335671"/>
            <a:ext cx="11402682" cy="2669465"/>
          </a:xfrm>
        </p:spPr>
      </p:pic>
    </p:spTree>
    <p:extLst>
      <p:ext uri="{BB962C8B-B14F-4D97-AF65-F5344CB8AC3E}">
        <p14:creationId xmlns:p14="http://schemas.microsoft.com/office/powerpoint/2010/main" val="2412139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i="1" dirty="0" err="1"/>
              <a:t>Mie</a:t>
            </a:r>
            <a:r>
              <a:rPr lang="tr-TR" b="1" i="1" dirty="0"/>
              <a:t> Dağılma: </a:t>
            </a:r>
            <a:r>
              <a:rPr lang="tr-TR" dirty="0"/>
              <a:t>Bu dağılma dalga boylarının büyüklüğü ile </a:t>
            </a:r>
            <a:r>
              <a:rPr lang="tr-TR" dirty="0" smtClean="0"/>
              <a:t>partiküllerin büyüklüklerinin </a:t>
            </a:r>
            <a:r>
              <a:rPr lang="tr-TR" dirty="0"/>
              <a:t>eşit olduğu durumlarda gerçekleşir. </a:t>
            </a:r>
            <a:r>
              <a:rPr lang="tr-TR" dirty="0" err="1"/>
              <a:t>Mie</a:t>
            </a:r>
            <a:r>
              <a:rPr lang="tr-TR" dirty="0"/>
              <a:t> dağılımın en nedeni, </a:t>
            </a:r>
            <a:r>
              <a:rPr lang="tr-TR" dirty="0" smtClean="0"/>
              <a:t>atmosferdeki gaz</a:t>
            </a:r>
            <a:r>
              <a:rPr lang="tr-TR" dirty="0"/>
              <a:t>, su buharı ve toz karışımından oluşan </a:t>
            </a:r>
            <a:r>
              <a:rPr lang="tr-TR" dirty="0" err="1"/>
              <a:t>aerosollerdir</a:t>
            </a:r>
            <a:r>
              <a:rPr lang="tr-TR" dirty="0"/>
              <a:t>. </a:t>
            </a:r>
            <a:r>
              <a:rPr lang="tr-TR" dirty="0" err="1"/>
              <a:t>Mie</a:t>
            </a:r>
            <a:r>
              <a:rPr lang="tr-TR" dirty="0"/>
              <a:t> dağılma, yakın </a:t>
            </a:r>
            <a:r>
              <a:rPr lang="tr-TR" dirty="0" smtClean="0"/>
              <a:t>morötesinden başlayıp </a:t>
            </a:r>
            <a:r>
              <a:rPr lang="tr-TR" dirty="0"/>
              <a:t>kızılötesine kadarki hemen hemen bütün spektral bölgeleri etkiler. Uzun </a:t>
            </a:r>
            <a:r>
              <a:rPr lang="tr-TR" dirty="0" smtClean="0"/>
              <a:t>dalga boylarına </a:t>
            </a:r>
            <a:r>
              <a:rPr lang="tr-TR" dirty="0"/>
              <a:t>etkisi ise </a:t>
            </a:r>
            <a:r>
              <a:rPr lang="tr-TR" dirty="0" err="1"/>
              <a:t>Rayleigh</a:t>
            </a:r>
            <a:r>
              <a:rPr lang="tr-TR" dirty="0"/>
              <a:t> dağılıma göre daha fazladır.</a:t>
            </a:r>
          </a:p>
        </p:txBody>
      </p:sp>
    </p:spTree>
    <p:extLst>
      <p:ext uri="{BB962C8B-B14F-4D97-AF65-F5344CB8AC3E}">
        <p14:creationId xmlns:p14="http://schemas.microsoft.com/office/powerpoint/2010/main" val="1489150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i="1" dirty="0" err="1"/>
              <a:t>Non-selective</a:t>
            </a:r>
            <a:r>
              <a:rPr lang="tr-TR" b="1" i="1" dirty="0"/>
              <a:t> (Seçici Olmayan) Dağılma: </a:t>
            </a:r>
            <a:r>
              <a:rPr lang="tr-TR" dirty="0"/>
              <a:t>Seçici olmayan bu </a:t>
            </a:r>
            <a:r>
              <a:rPr lang="tr-TR" dirty="0" smtClean="0"/>
              <a:t>dağılma, atmosferdeki </a:t>
            </a:r>
            <a:r>
              <a:rPr lang="tr-TR" dirty="0"/>
              <a:t>partiküllerin büyüklükleri dalga boylarından çok daha büyük olduğu </a:t>
            </a:r>
            <a:r>
              <a:rPr lang="tr-TR" dirty="0" smtClean="0"/>
              <a:t>durumlarda meydana </a:t>
            </a:r>
            <a:r>
              <a:rPr lang="tr-TR" dirty="0"/>
              <a:t>gelir. Bu dağılıma su damlacıkları ve çok büyük toz parçacıkları neden olur.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Adından da </a:t>
            </a:r>
            <a:r>
              <a:rPr lang="tr-TR" dirty="0"/>
              <a:t>anlaşılacağı üzere seçici olmayan bu dağılım da dalga boyları uzun veya </a:t>
            </a:r>
            <a:r>
              <a:rPr lang="tr-TR" dirty="0" smtClean="0"/>
              <a:t>kısalığına bakılmaksızın </a:t>
            </a:r>
            <a:r>
              <a:rPr lang="tr-TR" dirty="0"/>
              <a:t>eşit düzeyde dağılıma maruz kalır. Bunun en güzel örneğini bulutların </a:t>
            </a:r>
            <a:r>
              <a:rPr lang="tr-TR" dirty="0" smtClean="0"/>
              <a:t>etkisi ortaya </a:t>
            </a:r>
            <a:r>
              <a:rPr lang="tr-TR" dirty="0"/>
              <a:t>koyar. Bulutlar bilindiği üzere su damlacıklarından oluşurlar. Bulut, bütün </a:t>
            </a:r>
            <a:r>
              <a:rPr lang="tr-TR" dirty="0" smtClean="0"/>
              <a:t>dalga boylarını </a:t>
            </a:r>
            <a:r>
              <a:rPr lang="tr-TR" dirty="0"/>
              <a:t>eşit miktarda dağıttığı için rengi beyaz gözükür. Bundan dolayı optik uzaktan </a:t>
            </a:r>
            <a:r>
              <a:rPr lang="tr-TR" dirty="0" smtClean="0"/>
              <a:t>algılama bulutlara </a:t>
            </a:r>
            <a:r>
              <a:rPr lang="tr-TR" dirty="0"/>
              <a:t>nüfuz edemez. Ayrıca bulutlar dünya yüzeyi üzerinde gölgelerinin oluşmasıyla </a:t>
            </a:r>
            <a:r>
              <a:rPr lang="tr-TR" dirty="0" smtClean="0"/>
              <a:t>ikincil etkiye </a:t>
            </a:r>
            <a:r>
              <a:rPr lang="tr-TR" dirty="0"/>
              <a:t>de sahiptirler (Şekil 2.10).</a:t>
            </a:r>
          </a:p>
        </p:txBody>
      </p:sp>
    </p:spTree>
    <p:extLst>
      <p:ext uri="{BB962C8B-B14F-4D97-AF65-F5344CB8AC3E}">
        <p14:creationId xmlns:p14="http://schemas.microsoft.com/office/powerpoint/2010/main" val="41564075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884" y="887162"/>
            <a:ext cx="7634231" cy="5970838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tr-TR" b="1" dirty="0"/>
              <a:t>Atmosferle Etkileşim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02131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Atmosferi geçen güneş ışınları yüzeye ulaştıklarında yüzeyle üç şekilde </a:t>
            </a:r>
            <a:r>
              <a:rPr lang="tr-TR" dirty="0" smtClean="0"/>
              <a:t>etkileşime girerler</a:t>
            </a:r>
            <a:r>
              <a:rPr lang="tr-TR" dirty="0"/>
              <a:t>. Bunlar; yansıma, soğrulma ve iletmedir. Uzaktan algılamada, arazi ve </a:t>
            </a:r>
            <a:r>
              <a:rPr lang="tr-TR" dirty="0" smtClean="0"/>
              <a:t>su uygulamalarında </a:t>
            </a:r>
            <a:r>
              <a:rPr lang="tr-TR" dirty="0"/>
              <a:t>en çok üzerinde durulan konu yüzey karakteristikleri hakkında bilgi </a:t>
            </a:r>
            <a:r>
              <a:rPr lang="tr-TR" dirty="0" smtClean="0"/>
              <a:t>vermesi bakımından </a:t>
            </a:r>
            <a:r>
              <a:rPr lang="tr-TR" dirty="0"/>
              <a:t>yansıyan ışındır. Dolayısıyla burada yüzeye ulaşan ışının soğrulması </a:t>
            </a:r>
            <a:r>
              <a:rPr lang="tr-TR" dirty="0" smtClean="0"/>
              <a:t>ve iletilmesinden </a:t>
            </a:r>
            <a:r>
              <a:rPr lang="tr-TR" dirty="0"/>
              <a:t>çok yansıma özellikleri üzerinde </a:t>
            </a:r>
            <a:r>
              <a:rPr lang="tr-TR" dirty="0" smtClean="0"/>
              <a:t>durulacaktır. Işınların </a:t>
            </a:r>
            <a:r>
              <a:rPr lang="tr-TR" dirty="0"/>
              <a:t>yüzeye ulaştıktan sonra hedefin ışınların yansıtması genel olarak iki </a:t>
            </a:r>
            <a:r>
              <a:rPr lang="tr-TR" dirty="0" smtClean="0"/>
              <a:t>şekilde gerçekleşir</a:t>
            </a:r>
            <a:r>
              <a:rPr lang="tr-TR" dirty="0"/>
              <a:t>. Bunlar;</a:t>
            </a:r>
          </a:p>
        </p:txBody>
      </p:sp>
    </p:spTree>
    <p:extLst>
      <p:ext uri="{BB962C8B-B14F-4D97-AF65-F5344CB8AC3E}">
        <p14:creationId xmlns:p14="http://schemas.microsoft.com/office/powerpoint/2010/main" val="216344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i="1" dirty="0"/>
              <a:t>a) Düzgün Yansıma: </a:t>
            </a:r>
            <a:r>
              <a:rPr lang="tr-TR" dirty="0"/>
              <a:t>Işınların ulaştığı yüzey pürüzsüz ve dolayısıyla gelen </a:t>
            </a:r>
            <a:r>
              <a:rPr lang="tr-TR" dirty="0" smtClean="0"/>
              <a:t>enerji direkt </a:t>
            </a:r>
            <a:r>
              <a:rPr lang="tr-TR" dirty="0"/>
              <a:t>olarak tek yönde yansırsa meydana gelir. Bu yansıma daha çok güneş </a:t>
            </a:r>
            <a:r>
              <a:rPr lang="tr-TR" dirty="0" smtClean="0"/>
              <a:t>gökyüzünde yükseldiğinde </a:t>
            </a:r>
            <a:r>
              <a:rPr lang="tr-TR" dirty="0"/>
              <a:t>öğle vakitlerinde meydana gelir (Şekil 2.11).</a:t>
            </a:r>
          </a:p>
          <a:p>
            <a:pPr marL="0" indent="0">
              <a:buNone/>
            </a:pPr>
            <a:r>
              <a:rPr lang="tr-TR" b="1" i="1" dirty="0"/>
              <a:t>b) Dağınık Yansıma: </a:t>
            </a:r>
            <a:r>
              <a:rPr lang="tr-TR" dirty="0"/>
              <a:t>Işınların ulaştığı yüzey pürüzlü-engebeli ise ışınlar </a:t>
            </a:r>
            <a:r>
              <a:rPr lang="tr-TR" dirty="0" smtClean="0"/>
              <a:t>bütün yönlere </a:t>
            </a:r>
            <a:r>
              <a:rPr lang="tr-TR" dirty="0"/>
              <a:t>doğru dağılırlar (Şekil 2.11). Bu tür yansıma dağınık yansıma olarak adlandırılır.</a:t>
            </a:r>
          </a:p>
        </p:txBody>
      </p:sp>
    </p:spTree>
    <p:extLst>
      <p:ext uri="{BB962C8B-B14F-4D97-AF65-F5344CB8AC3E}">
        <p14:creationId xmlns:p14="http://schemas.microsoft.com/office/powerpoint/2010/main" val="3792803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3" y="1690688"/>
            <a:ext cx="11776793" cy="4661986"/>
          </a:xfrm>
        </p:spPr>
      </p:pic>
    </p:spTree>
    <p:extLst>
      <p:ext uri="{BB962C8B-B14F-4D97-AF65-F5344CB8AC3E}">
        <p14:creationId xmlns:p14="http://schemas.microsoft.com/office/powerpoint/2010/main" val="948008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Yeryüzündeki cisimlerin tür ve özellikleri değişiklik göstermektedir. Bu farklı </a:t>
            </a:r>
            <a:r>
              <a:rPr lang="tr-TR" dirty="0" smtClean="0"/>
              <a:t>türdeki cisimlerin </a:t>
            </a:r>
            <a:r>
              <a:rPr lang="tr-TR" dirty="0"/>
              <a:t>yüzeylerine gelen ışınlarının yansıma özellikleri gösterir spektral yansıma </a:t>
            </a:r>
            <a:r>
              <a:rPr lang="tr-TR" dirty="0" smtClean="0"/>
              <a:t>eğrileri üretilebilir</a:t>
            </a:r>
            <a:r>
              <a:rPr lang="tr-TR" dirty="0"/>
              <a:t>. Şekil 2.12’de genel </a:t>
            </a:r>
            <a:r>
              <a:rPr lang="tr-TR" dirty="0" smtClean="0"/>
              <a:t>arazi </a:t>
            </a:r>
            <a:r>
              <a:rPr lang="tr-TR" dirty="0"/>
              <a:t>örtüleri olan toprak, bitki ve suyun spektral </a:t>
            </a:r>
            <a:r>
              <a:rPr lang="tr-TR" dirty="0" smtClean="0"/>
              <a:t>yansıma özellikleri </a:t>
            </a:r>
            <a:r>
              <a:rPr lang="tr-TR" dirty="0"/>
              <a:t>verilmiştir. Bunlar laboratuvar ortamlarında veya arazide </a:t>
            </a:r>
            <a:r>
              <a:rPr lang="tr-TR" dirty="0" smtClean="0"/>
              <a:t>spektrometrelerle üretilmiştir</a:t>
            </a:r>
            <a:r>
              <a:rPr lang="tr-TR" dirty="0"/>
              <a:t>. Güneş ışınlarının yüzeyle etkileşimini genel arazi örtüleri olan bitki, toprak ve </a:t>
            </a:r>
            <a:r>
              <a:rPr lang="tr-TR" dirty="0" smtClean="0"/>
              <a:t>su üzerinde </a:t>
            </a:r>
            <a:r>
              <a:rPr lang="tr-TR" dirty="0"/>
              <a:t>açıklanacaktır.</a:t>
            </a:r>
          </a:p>
        </p:txBody>
      </p:sp>
    </p:spTree>
    <p:extLst>
      <p:ext uri="{BB962C8B-B14F-4D97-AF65-F5344CB8AC3E}">
        <p14:creationId xmlns:p14="http://schemas.microsoft.com/office/powerpoint/2010/main" val="4114606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918" y="984797"/>
            <a:ext cx="8123071" cy="5873203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06116" y="0"/>
            <a:ext cx="10515600" cy="1325563"/>
          </a:xfrm>
        </p:spPr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511455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i="1" dirty="0"/>
              <a:t>Bitki: </a:t>
            </a:r>
            <a:r>
              <a:rPr lang="tr-TR" dirty="0"/>
              <a:t>Bitkilerdeki yansıma karakteristiği, bitki yapraklarının özelliklerine </a:t>
            </a:r>
            <a:r>
              <a:rPr lang="tr-TR" dirty="0" smtClean="0"/>
              <a:t>bağlı olarak </a:t>
            </a:r>
            <a:r>
              <a:rPr lang="tr-TR" dirty="0"/>
              <a:t>değişiklik gösterir. Farklı spektrumlardaki yansıyan ışının oranını, yaprak </a:t>
            </a:r>
            <a:r>
              <a:rPr lang="tr-TR" dirty="0" smtClean="0"/>
              <a:t>pigmentleri, kalınlığı </a:t>
            </a:r>
            <a:r>
              <a:rPr lang="tr-TR" dirty="0"/>
              <a:t>hücre yapısı gibi özellikler belirler. Şekil 2.13’te sağlıklı bir bitkinin yansıma </a:t>
            </a:r>
            <a:r>
              <a:rPr lang="tr-TR" dirty="0" smtClean="0"/>
              <a:t>eğrisini göstermektedir</a:t>
            </a:r>
            <a:r>
              <a:rPr lang="tr-TR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Bitkilerdeki </a:t>
            </a:r>
            <a:r>
              <a:rPr lang="tr-TR" dirty="0"/>
              <a:t>klorofil görünür dalga boylarından mavi ve kırmızı dalga </a:t>
            </a:r>
            <a:r>
              <a:rPr lang="tr-TR" dirty="0" smtClean="0"/>
              <a:t>boyunu yeşil </a:t>
            </a:r>
            <a:r>
              <a:rPr lang="tr-TR" dirty="0"/>
              <a:t>dalga boyuna göre daha fazla </a:t>
            </a:r>
            <a:r>
              <a:rPr lang="tr-TR" dirty="0" err="1"/>
              <a:t>absorbe</a:t>
            </a:r>
            <a:r>
              <a:rPr lang="tr-TR" dirty="0"/>
              <a:t> ettiği (soğurduğu) için bitkilerin renklerini </a:t>
            </a:r>
            <a:r>
              <a:rPr lang="tr-TR" dirty="0" smtClean="0"/>
              <a:t>yeşil olarak </a:t>
            </a:r>
            <a:r>
              <a:rPr lang="tr-TR" dirty="0"/>
              <a:t>görürüz. Yakın kızılötesi dalga boyunu ise bitkiler daha fazla yansıtırlar. Ancak bu </a:t>
            </a:r>
            <a:r>
              <a:rPr lang="tr-TR" dirty="0" smtClean="0"/>
              <a:t>dalga boyları </a:t>
            </a:r>
            <a:r>
              <a:rPr lang="tr-TR" dirty="0"/>
              <a:t>insanın görebildiği aralığın dışında olduğu için bitkileri </a:t>
            </a:r>
            <a:r>
              <a:rPr lang="tr-TR" dirty="0" smtClean="0"/>
              <a:t>kırmızı </a:t>
            </a:r>
            <a:r>
              <a:rPr lang="tr-TR" dirty="0"/>
              <a:t>renkte </a:t>
            </a:r>
            <a:r>
              <a:rPr lang="tr-TR" dirty="0" smtClean="0"/>
              <a:t>görmeyiz. </a:t>
            </a:r>
          </a:p>
          <a:p>
            <a:pPr marL="0" indent="0">
              <a:buNone/>
            </a:pPr>
            <a:r>
              <a:rPr lang="tr-TR" dirty="0" smtClean="0"/>
              <a:t>Sonbahar </a:t>
            </a:r>
            <a:r>
              <a:rPr lang="tr-TR" dirty="0"/>
              <a:t>ve kış aylarında ise bitkilerdeki klorofil miktarında azalma meydana geldiği </a:t>
            </a:r>
            <a:r>
              <a:rPr lang="tr-TR" dirty="0" smtClean="0"/>
              <a:t>için kırmızı </a:t>
            </a:r>
            <a:r>
              <a:rPr lang="tr-TR" dirty="0"/>
              <a:t>dalga boylarını daha fazla yansıtırlar. Bundan dolayı bitkiler sarımsı kırmızı </a:t>
            </a:r>
            <a:r>
              <a:rPr lang="tr-TR" dirty="0" smtClean="0"/>
              <a:t>renkte görülür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120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411" y="1257550"/>
            <a:ext cx="9466347" cy="5438115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85634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i="1" dirty="0"/>
              <a:t>Toprak: </a:t>
            </a:r>
            <a:r>
              <a:rPr lang="tr-TR" dirty="0"/>
              <a:t>Topraklara ait yansıma özellikleri, toprağın birçok parametresine </a:t>
            </a:r>
            <a:r>
              <a:rPr lang="tr-TR" dirty="0" smtClean="0"/>
              <a:t>bağlı olduğu </a:t>
            </a:r>
            <a:r>
              <a:rPr lang="tr-TR" dirty="0"/>
              <a:t>için tek tip bir yansıma eğrisi vermek mümkün olmamaktadır. Topraklarda </a:t>
            </a:r>
            <a:r>
              <a:rPr lang="tr-TR" dirty="0" smtClean="0"/>
              <a:t>ışığın yansıma </a:t>
            </a:r>
            <a:r>
              <a:rPr lang="tr-TR" dirty="0"/>
              <a:t>özelliklerine yön veren özellikleri toprağın rengi, nem içeriği, karbonat varlığı </a:t>
            </a:r>
            <a:r>
              <a:rPr lang="tr-TR" dirty="0" smtClean="0"/>
              <a:t>ve demir </a:t>
            </a:r>
            <a:r>
              <a:rPr lang="tr-TR" dirty="0"/>
              <a:t>oksit içeriği gibi özellikleridir.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Şekil </a:t>
            </a:r>
            <a:r>
              <a:rPr lang="tr-TR" dirty="0"/>
              <a:t>2.14’ta farklı özelliklere sahip toprakların </a:t>
            </a:r>
            <a:r>
              <a:rPr lang="tr-TR" dirty="0" smtClean="0"/>
              <a:t>yansıma eğrilerini </a:t>
            </a:r>
            <a:r>
              <a:rPr lang="tr-TR" dirty="0"/>
              <a:t>göstermektedir. Bu yansıma eğrilerinden a, b, c ve d topraklarının yansıma </a:t>
            </a:r>
            <a:r>
              <a:rPr lang="tr-TR" dirty="0" smtClean="0"/>
              <a:t>eğrilerinin genel </a:t>
            </a:r>
            <a:r>
              <a:rPr lang="tr-TR" dirty="0"/>
              <a:t>trendi aynı iken e toprak tipinde (demir fazlası toprak) yansıma eğrisi </a:t>
            </a:r>
            <a:r>
              <a:rPr lang="tr-TR" dirty="0" smtClean="0"/>
              <a:t>farklılık göstermektedir</a:t>
            </a:r>
            <a:r>
              <a:rPr lang="tr-TR" dirty="0"/>
              <a:t>. Bunun nedeni demir ağırlıklı toprakların uzun dalga boylarını daha </a:t>
            </a:r>
            <a:r>
              <a:rPr lang="tr-TR" dirty="0" smtClean="0"/>
              <a:t>fazla </a:t>
            </a:r>
            <a:r>
              <a:rPr lang="tr-TR" dirty="0" err="1" smtClean="0"/>
              <a:t>absorbe</a:t>
            </a:r>
            <a:r>
              <a:rPr lang="tr-TR" dirty="0" smtClean="0"/>
              <a:t> </a:t>
            </a:r>
            <a:r>
              <a:rPr lang="tr-TR" dirty="0"/>
              <a:t>etmesinden kaynaklanmaktadır.</a:t>
            </a:r>
          </a:p>
        </p:txBody>
      </p:sp>
    </p:spTree>
    <p:extLst>
      <p:ext uri="{BB962C8B-B14F-4D97-AF65-F5344CB8AC3E}">
        <p14:creationId xmlns:p14="http://schemas.microsoft.com/office/powerpoint/2010/main" val="1565996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71" y="1246563"/>
            <a:ext cx="11089657" cy="5282573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75214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i="1" dirty="0"/>
              <a:t>Su: </a:t>
            </a:r>
            <a:r>
              <a:rPr lang="tr-TR" dirty="0"/>
              <a:t>Su yüzeyleri bitki ve toprakla karşılaştırıldığında sahip oldukları </a:t>
            </a:r>
            <a:r>
              <a:rPr lang="tr-TR" dirty="0" smtClean="0"/>
              <a:t>özellik bakımından </a:t>
            </a:r>
            <a:r>
              <a:rPr lang="tr-TR" dirty="0"/>
              <a:t>gelen ışınları daha az yansıtır. Bu yansıtma oranları genel olarak bitki de %</a:t>
            </a:r>
            <a:r>
              <a:rPr lang="tr-TR" dirty="0" smtClean="0"/>
              <a:t>50, toprakta </a:t>
            </a:r>
            <a:r>
              <a:rPr lang="tr-TR" dirty="0"/>
              <a:t>%30-40 iken suda %10 civarındadır. Su, EM enerjinin yakın kızılötesine </a:t>
            </a:r>
            <a:r>
              <a:rPr lang="tr-TR" dirty="0" smtClean="0"/>
              <a:t>kadarki görünür </a:t>
            </a:r>
            <a:r>
              <a:rPr lang="tr-TR" dirty="0"/>
              <a:t>dalga boylarını yansıtır. Buna göre suyun rengi değişik şekillerde gözükür. 1.2 </a:t>
            </a:r>
            <a:r>
              <a:rPr lang="el-GR" dirty="0"/>
              <a:t>μ</a:t>
            </a:r>
            <a:r>
              <a:rPr lang="tr-TR" dirty="0" smtClean="0"/>
              <a:t>m sonrasındaki </a:t>
            </a:r>
            <a:r>
              <a:rPr lang="tr-TR" dirty="0"/>
              <a:t>dalga boylarını ise su </a:t>
            </a:r>
            <a:r>
              <a:rPr lang="tr-TR" dirty="0" err="1"/>
              <a:t>absorbe</a:t>
            </a:r>
            <a:r>
              <a:rPr lang="tr-TR" dirty="0"/>
              <a:t> eder. Bazı su türlerinin yansıma eğrileri </a:t>
            </a:r>
            <a:r>
              <a:rPr lang="tr-TR" dirty="0" smtClean="0"/>
              <a:t>Şekil 2.15’te </a:t>
            </a:r>
            <a:r>
              <a:rPr lang="tr-TR" dirty="0"/>
              <a:t>gösterilmiştir.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Buna </a:t>
            </a:r>
            <a:r>
              <a:rPr lang="tr-TR" dirty="0"/>
              <a:t>göre, okyanus suyunun (a) yansıma eğrisine </a:t>
            </a:r>
            <a:r>
              <a:rPr lang="tr-TR" dirty="0" smtClean="0"/>
              <a:t>baktığımızda yansımanın </a:t>
            </a:r>
            <a:r>
              <a:rPr lang="tr-TR" dirty="0"/>
              <a:t>daha fazla mavi dalga boyunda olduğu görülür. Bundan dolayı okyanusları biz </a:t>
            </a:r>
            <a:r>
              <a:rPr lang="tr-TR" dirty="0" smtClean="0"/>
              <a:t>mavi olarak </a:t>
            </a:r>
            <a:r>
              <a:rPr lang="tr-TR" dirty="0"/>
              <a:t>görürüz. Bulanık suyun (b) yansıma eğrisine baktığımızda yeşil ve kırmızı </a:t>
            </a:r>
            <a:r>
              <a:rPr lang="tr-TR" dirty="0" smtClean="0"/>
              <a:t>dalga boylarında </a:t>
            </a:r>
            <a:r>
              <a:rPr lang="tr-TR" dirty="0"/>
              <a:t>yansıma daha fazladır. Klorofil içeriği fazla olan suyun (c) yansıma eğrisinde </a:t>
            </a:r>
            <a:r>
              <a:rPr lang="tr-TR" dirty="0" smtClean="0"/>
              <a:t>yeşil dalga </a:t>
            </a:r>
            <a:r>
              <a:rPr lang="tr-TR" dirty="0"/>
              <a:t>boyunun fazla olduğu görülür. Bu nedenle bu tür sular yeşil renkte görülürler.</a:t>
            </a:r>
          </a:p>
        </p:txBody>
      </p:sp>
    </p:spTree>
    <p:extLst>
      <p:ext uri="{BB962C8B-B14F-4D97-AF65-F5344CB8AC3E}">
        <p14:creationId xmlns:p14="http://schemas.microsoft.com/office/powerpoint/2010/main" val="31992247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76" y="1106974"/>
            <a:ext cx="9336756" cy="5751026"/>
          </a:xfrm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172620"/>
            <a:ext cx="10515600" cy="1325563"/>
          </a:xfrm>
        </p:spPr>
        <p:txBody>
          <a:bodyPr/>
          <a:lstStyle/>
          <a:p>
            <a:r>
              <a:rPr lang="tr-TR" b="1" dirty="0"/>
              <a:t>Yüzeyle Etkileşim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2915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DCB7A48CD16EE43B925771B387E1328" ma:contentTypeVersion="4" ma:contentTypeDescription="Yeni belge oluşturun." ma:contentTypeScope="" ma:versionID="8cd08cc54155ef2839875b24107c4d91">
  <xsd:schema xmlns:xsd="http://www.w3.org/2001/XMLSchema" xmlns:xs="http://www.w3.org/2001/XMLSchema" xmlns:p="http://schemas.microsoft.com/office/2006/metadata/properties" xmlns:ns2="cd4edf54-67b3-4910-9de7-59ff84f4ae2e" targetNamespace="http://schemas.microsoft.com/office/2006/metadata/properties" ma:root="true" ma:fieldsID="020b23ac89fbdb1593e8cd77d9d69472" ns2:_="">
    <xsd:import namespace="cd4edf54-67b3-4910-9de7-59ff84f4ae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4edf54-67b3-4910-9de7-59ff84f4a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290F5D-7C76-4721-98BE-25F938ECE74F}"/>
</file>

<file path=customXml/itemProps2.xml><?xml version="1.0" encoding="utf-8"?>
<ds:datastoreItem xmlns:ds="http://schemas.openxmlformats.org/officeDocument/2006/customXml" ds:itemID="{E70D7761-6FDC-42CF-91FF-D3A8521CAEDB}"/>
</file>

<file path=customXml/itemProps3.xml><?xml version="1.0" encoding="utf-8"?>
<ds:datastoreItem xmlns:ds="http://schemas.openxmlformats.org/officeDocument/2006/customXml" ds:itemID="{DD48B8AB-4D89-4418-9D5E-3C4ED5F97E7B}"/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2394</Words>
  <Application>Microsoft Office PowerPoint</Application>
  <PresentationFormat>Geniş ekran</PresentationFormat>
  <Paragraphs>93</Paragraphs>
  <Slides>39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Wingdings</vt:lpstr>
      <vt:lpstr>Office Teması</vt:lpstr>
      <vt:lpstr>Çukurova Üniversitesi  Karaisalı Meslek Yüksekokulu</vt:lpstr>
      <vt:lpstr>ELEKTROMANYETİK ENERJİ VE UZAL</vt:lpstr>
      <vt:lpstr>ELEKTROMANYETİK ENERJİ VE UZAL</vt:lpstr>
      <vt:lpstr>Dalga ve Özellikleri</vt:lpstr>
      <vt:lpstr>Dalga ve Özellikleri</vt:lpstr>
      <vt:lpstr>Dalga ve Özellikleri</vt:lpstr>
      <vt:lpstr>Dalga ve Özellikleri</vt:lpstr>
      <vt:lpstr>Elekromanyetik Enerjinin Kaynağı</vt:lpstr>
      <vt:lpstr>Elekromanyetik Enerjinin Kaynağı</vt:lpstr>
      <vt:lpstr>Elektromanyetik (EM) Spektrum (Tayf)</vt:lpstr>
      <vt:lpstr>Elektromanyetik (EM) Spektrum (Tayf)</vt:lpstr>
      <vt:lpstr>Elektromanyetik (EM) Spektrum (Tayf)</vt:lpstr>
      <vt:lpstr>Elektromanyetik (EM) Spektrum (Tayf)</vt:lpstr>
      <vt:lpstr>Elektromanyetik (EM) Spektrum (Tayf)</vt:lpstr>
      <vt:lpstr>Elektromanyetik (EM) Spektrum (Tayf)</vt:lpstr>
      <vt:lpstr>Atmosferle Etkileşim</vt:lpstr>
      <vt:lpstr>Atmosferle Etkileşim</vt:lpstr>
      <vt:lpstr>Atmosferle Etkileşim</vt:lpstr>
      <vt:lpstr>Atmosferle Etkileşim</vt:lpstr>
      <vt:lpstr>Atmosferle Etkileşim</vt:lpstr>
      <vt:lpstr>Atmosferle Etkileşim</vt:lpstr>
      <vt:lpstr>Atmosferle Etkileşim</vt:lpstr>
      <vt:lpstr>Atmosferle Etkileşim</vt:lpstr>
      <vt:lpstr>Atmosferle Etkileşim</vt:lpstr>
      <vt:lpstr>Atmosferle Etkileşim</vt:lpstr>
      <vt:lpstr>Atmosferle Etkileşim</vt:lpstr>
      <vt:lpstr>Atmosferle Etkileşim</vt:lpstr>
      <vt:lpstr>Atmosferle Etkileşim</vt:lpstr>
      <vt:lpstr>Yüzeyle Etkileşim</vt:lpstr>
      <vt:lpstr>Yüzeyle Etkileşim</vt:lpstr>
      <vt:lpstr>Yüzeyle Etkileşim</vt:lpstr>
      <vt:lpstr>Yüzeyle Etkileşim</vt:lpstr>
      <vt:lpstr>Yüzeyle Etkileşim</vt:lpstr>
      <vt:lpstr>Yüzeyle Etkileşim</vt:lpstr>
      <vt:lpstr>Yüzeyle Etkileşim</vt:lpstr>
      <vt:lpstr>Yüzeyle Etkileşim</vt:lpstr>
      <vt:lpstr>Yüzeyle Etkileşim</vt:lpstr>
      <vt:lpstr>Yüzeyle Etkileşim</vt:lpstr>
      <vt:lpstr>Yüzeyle Etkileşim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Çukurova Üniversitesi  Karaisalı Meslek Yüksekokulu</dc:title>
  <dc:creator>Buray Karslı</dc:creator>
  <cp:lastModifiedBy>Buray Karslı</cp:lastModifiedBy>
  <cp:revision>56</cp:revision>
  <dcterms:created xsi:type="dcterms:W3CDTF">2024-07-04T08:09:56Z</dcterms:created>
  <dcterms:modified xsi:type="dcterms:W3CDTF">2024-11-01T09:05:42Z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0x010100DDCB7A48CD16EE43B925771B387E1328</vt:lpwstr>
  </property>
</Properties>
</file>