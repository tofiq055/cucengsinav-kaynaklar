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2" r:id="rId5"/>
    <p:sldId id="264" r:id="rId6"/>
    <p:sldId id="258" r:id="rId7"/>
    <p:sldId id="259" r:id="rId8"/>
    <p:sldId id="263" r:id="rId9"/>
    <p:sldId id="265" r:id="rId10"/>
    <p:sldId id="266" r:id="rId11"/>
    <p:sldId id="267" r:id="rId12"/>
    <p:sldId id="268" r:id="rId13"/>
    <p:sldId id="276" r:id="rId14"/>
    <p:sldId id="269" r:id="rId15"/>
    <p:sldId id="279" r:id="rId16"/>
    <p:sldId id="270" r:id="rId17"/>
    <p:sldId id="271" r:id="rId18"/>
    <p:sldId id="277" r:id="rId19"/>
    <p:sldId id="280" r:id="rId20"/>
    <p:sldId id="278" r:id="rId21"/>
    <p:sldId id="272" r:id="rId22"/>
    <p:sldId id="273" r:id="rId23"/>
    <p:sldId id="274" r:id="rId24"/>
    <p:sldId id="26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96" d="100"/>
          <a:sy n="96" d="100"/>
        </p:scale>
        <p:origin x="-134" y="-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EB167CE-E0CF-4FCC-8FF5-AFCC979A5D6E}" type="datetimeFigureOut">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2759592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B167CE-E0CF-4FCC-8FF5-AFCC979A5D6E}" type="datetimeFigureOut">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896071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B167CE-E0CF-4FCC-8FF5-AFCC979A5D6E}" type="datetimeFigureOut">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4264700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B167CE-E0CF-4FCC-8FF5-AFCC979A5D6E}" type="datetimeFigureOut">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3952366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B167CE-E0CF-4FCC-8FF5-AFCC979A5D6E}" type="datetimeFigureOut">
              <a:rPr lang="en-US" smtClean="0"/>
              <a:t>4/26/2021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919836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B167CE-E0CF-4FCC-8FF5-AFCC979A5D6E}" type="datetimeFigureOut">
              <a:rPr lang="en-US" smtClean="0"/>
              <a:t>4/26/2021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3086485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EB167CE-E0CF-4FCC-8FF5-AFCC979A5D6E}" type="datetimeFigureOut">
              <a:rPr lang="en-US" smtClean="0"/>
              <a:t>4/26/2021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1008616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B167CE-E0CF-4FCC-8FF5-AFCC979A5D6E}" type="datetimeFigureOut">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3142445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B167CE-E0CF-4FCC-8FF5-AFCC979A5D6E}" type="datetimeFigureOut">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26373672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B167CE-E0CF-4FCC-8FF5-AFCC979A5D6E}" type="datetimeFigureOut">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3355016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B167CE-E0CF-4FCC-8FF5-AFCC979A5D6E}" type="datetimeFigureOut">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3239537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B167CE-E0CF-4FCC-8FF5-AFCC979A5D6E}" type="datetimeFigureOut">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EA77A-2456-4ADC-9104-63CAEBF8B5F5}"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24811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EB167CE-E0CF-4FCC-8FF5-AFCC979A5D6E}" type="datetimeFigureOut">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332352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EB167CE-E0CF-4FCC-8FF5-AFCC979A5D6E}" type="datetimeFigureOut">
              <a:rPr lang="en-US" smtClean="0"/>
              <a:t>4/26/2021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20850078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EB167CE-E0CF-4FCC-8FF5-AFCC979A5D6E}" type="datetimeFigureOut">
              <a:rPr lang="en-US" smtClean="0"/>
              <a:t>4/26/2021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19162427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B167CE-E0CF-4FCC-8FF5-AFCC979A5D6E}" type="datetimeFigureOut">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30634113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B167CE-E0CF-4FCC-8FF5-AFCC979A5D6E}" type="datetimeFigureOut">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27236918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B4D168-324E-4CEA-9E05-8B04819EE6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D70566ED-51E9-4504-9939-FD0167227B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5920733D-F044-462E-A130-AB0F72EAD84B}"/>
              </a:ext>
            </a:extLst>
          </p:cNvPr>
          <p:cNvSpPr>
            <a:spLocks noGrp="1"/>
          </p:cNvSpPr>
          <p:nvPr>
            <p:ph type="dt" sz="half" idx="10"/>
          </p:nvPr>
        </p:nvSpPr>
        <p:spPr/>
        <p:txBody>
          <a:bodyPr/>
          <a:lstStyle/>
          <a:p>
            <a:fld id="{BEB167CE-E0CF-4FCC-8FF5-AFCC979A5D6E}" type="datetimeFigureOut">
              <a:rPr lang="en-US" smtClean="0"/>
              <a:t>4/26/2021</a:t>
            </a:fld>
            <a:endParaRPr lang="en-US"/>
          </a:p>
        </p:txBody>
      </p:sp>
      <p:sp>
        <p:nvSpPr>
          <p:cNvPr id="5" name="Footer Placeholder 4">
            <a:extLst>
              <a:ext uri="{FF2B5EF4-FFF2-40B4-BE49-F238E27FC236}">
                <a16:creationId xmlns="" xmlns:a16="http://schemas.microsoft.com/office/drawing/2014/main" id="{C3F56913-C819-4BBE-8F81-74C36631C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97E8725-7A1D-4C78-B57D-FE0B428697C8}"/>
              </a:ext>
            </a:extLst>
          </p:cNvPr>
          <p:cNvSpPr>
            <a:spLocks noGrp="1"/>
          </p:cNvSpPr>
          <p:nvPr>
            <p:ph type="sldNum" sz="quarter" idx="12"/>
          </p:nvPr>
        </p:nvSpPr>
        <p:spPr/>
        <p:txBody>
          <a:bodyPr/>
          <a:lstStyle/>
          <a:p>
            <a:fld id="{28AEA77A-2456-4ADC-9104-63CAEBF8B5F5}" type="slidenum">
              <a:rPr lang="en-US" smtClean="0"/>
              <a:t>‹#›</a:t>
            </a:fld>
            <a:endParaRPr lang="en-US"/>
          </a:p>
        </p:txBody>
      </p:sp>
    </p:spTree>
    <p:extLst>
      <p:ext uri="{BB962C8B-B14F-4D97-AF65-F5344CB8AC3E}">
        <p14:creationId xmlns:p14="http://schemas.microsoft.com/office/powerpoint/2010/main" val="2412313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EB167CE-E0CF-4FCC-8FF5-AFCC979A5D6E}" type="datetimeFigureOut">
              <a:rPr lang="en-US" smtClean="0"/>
              <a:t>4/26/2021</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28AEA77A-2456-4ADC-9104-63CAEBF8B5F5}" type="slidenum">
              <a:rPr lang="en-US" smtClean="0"/>
              <a:t>‹#›</a:t>
            </a:fld>
            <a:endParaRPr lang="en-US"/>
          </a:p>
        </p:txBody>
      </p:sp>
    </p:spTree>
    <p:extLst>
      <p:ext uri="{BB962C8B-B14F-4D97-AF65-F5344CB8AC3E}">
        <p14:creationId xmlns:p14="http://schemas.microsoft.com/office/powerpoint/2010/main" val="21763125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hyperlink" Target="https://computer.howstuffworks.com/osi1.htm" TargetMode="Externa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white t-shirt with a blue background&#10;&#10;Description automatically generated with low confidence">
            <a:extLst>
              <a:ext uri="{FF2B5EF4-FFF2-40B4-BE49-F238E27FC236}">
                <a16:creationId xmlns="" xmlns:a16="http://schemas.microsoft.com/office/drawing/2014/main" id="{AEE2294A-4DD2-4BBA-BDA8-46652AAC802B}"/>
              </a:ext>
            </a:extLst>
          </p:cNvPr>
          <p:cNvPicPr>
            <a:picLocks noChangeAspect="1"/>
          </p:cNvPicPr>
          <p:nvPr/>
        </p:nvPicPr>
        <p:blipFill rotWithShape="1">
          <a:blip r:embed="rId2"/>
          <a:srcRect l="1304" r="9807"/>
          <a:stretch/>
        </p:blipFill>
        <p:spPr>
          <a:xfrm>
            <a:off x="0" y="10"/>
            <a:ext cx="12191980" cy="6857990"/>
          </a:xfrm>
          <a:prstGeom prst="rect">
            <a:avLst/>
          </a:prstGeom>
        </p:spPr>
      </p:pic>
      <p:sp>
        <p:nvSpPr>
          <p:cNvPr id="2" name="Title 1">
            <a:extLst>
              <a:ext uri="{FF2B5EF4-FFF2-40B4-BE49-F238E27FC236}">
                <a16:creationId xmlns="" xmlns:a16="http://schemas.microsoft.com/office/drawing/2014/main" id="{407E0933-5F52-45DA-B341-5D706A9F7A3D}"/>
              </a:ext>
            </a:extLst>
          </p:cNvPr>
          <p:cNvSpPr>
            <a:spLocks noGrp="1"/>
          </p:cNvSpPr>
          <p:nvPr>
            <p:ph type="ctrTitle"/>
          </p:nvPr>
        </p:nvSpPr>
        <p:spPr>
          <a:xfrm>
            <a:off x="7184097" y="3349373"/>
            <a:ext cx="3852041" cy="1834056"/>
          </a:xfrm>
        </p:spPr>
        <p:txBody>
          <a:bodyPr>
            <a:normAutofit/>
          </a:bodyPr>
          <a:lstStyle/>
          <a:p>
            <a:r>
              <a:rPr lang="tr-TR" sz="4000" dirty="0"/>
              <a:t>SwItched Lan’S</a:t>
            </a:r>
            <a:endParaRPr lang="en-US" sz="4000" dirty="0"/>
          </a:p>
        </p:txBody>
      </p:sp>
      <p:sp>
        <p:nvSpPr>
          <p:cNvPr id="3" name="Subtitle 2">
            <a:extLst>
              <a:ext uri="{FF2B5EF4-FFF2-40B4-BE49-F238E27FC236}">
                <a16:creationId xmlns="" xmlns:a16="http://schemas.microsoft.com/office/drawing/2014/main" id="{A7B59826-8762-400B-AD64-B4B3AE3DA45F}"/>
              </a:ext>
            </a:extLst>
          </p:cNvPr>
          <p:cNvSpPr>
            <a:spLocks noGrp="1"/>
          </p:cNvSpPr>
          <p:nvPr>
            <p:ph type="subTitle" idx="1"/>
          </p:nvPr>
        </p:nvSpPr>
        <p:spPr>
          <a:xfrm>
            <a:off x="6944986" y="5157537"/>
            <a:ext cx="4330262" cy="683284"/>
          </a:xfrm>
        </p:spPr>
        <p:txBody>
          <a:bodyPr>
            <a:normAutofit/>
          </a:bodyPr>
          <a:lstStyle/>
          <a:p>
            <a:r>
              <a:rPr lang="tr-TR" sz="2000" cap="none" dirty="0">
                <a:solidFill>
                  <a:schemeClr val="bg1"/>
                </a:solidFill>
              </a:rPr>
              <a:t>S</a:t>
            </a:r>
            <a:r>
              <a:rPr lang="en-US" sz="2000" cap="none" dirty="0">
                <a:solidFill>
                  <a:schemeClr val="bg1"/>
                </a:solidFill>
              </a:rPr>
              <a:t>witched </a:t>
            </a:r>
            <a:r>
              <a:rPr lang="tr-TR" sz="2000" cap="none" dirty="0">
                <a:solidFill>
                  <a:schemeClr val="bg1"/>
                </a:solidFill>
              </a:rPr>
              <a:t>L</a:t>
            </a:r>
            <a:r>
              <a:rPr lang="en-US" sz="2000" cap="none" dirty="0" err="1">
                <a:solidFill>
                  <a:schemeClr val="bg1"/>
                </a:solidFill>
              </a:rPr>
              <a:t>ocal</a:t>
            </a:r>
            <a:r>
              <a:rPr lang="en-US" sz="2000" cap="none" dirty="0">
                <a:solidFill>
                  <a:schemeClr val="bg1"/>
                </a:solidFill>
              </a:rPr>
              <a:t> </a:t>
            </a:r>
            <a:r>
              <a:rPr lang="tr-TR" sz="2000" cap="none" dirty="0">
                <a:solidFill>
                  <a:schemeClr val="bg1"/>
                </a:solidFill>
              </a:rPr>
              <a:t>A</a:t>
            </a:r>
            <a:r>
              <a:rPr lang="en-US" sz="2000" cap="none" dirty="0">
                <a:solidFill>
                  <a:schemeClr val="bg1"/>
                </a:solidFill>
              </a:rPr>
              <a:t>rea </a:t>
            </a:r>
            <a:r>
              <a:rPr lang="tr-TR" sz="2000" cap="none" dirty="0">
                <a:solidFill>
                  <a:schemeClr val="bg1"/>
                </a:solidFill>
              </a:rPr>
              <a:t>N</a:t>
            </a:r>
            <a:r>
              <a:rPr lang="en-US" sz="2000" cap="none" dirty="0" err="1">
                <a:solidFill>
                  <a:schemeClr val="bg1"/>
                </a:solidFill>
              </a:rPr>
              <a:t>etworks</a:t>
            </a:r>
            <a:endParaRPr lang="en-US" sz="2000" cap="none" dirty="0">
              <a:solidFill>
                <a:schemeClr val="bg1"/>
              </a:solidFill>
            </a:endParaRPr>
          </a:p>
        </p:txBody>
      </p:sp>
    </p:spTree>
    <p:extLst>
      <p:ext uri="{BB962C8B-B14F-4D97-AF65-F5344CB8AC3E}">
        <p14:creationId xmlns:p14="http://schemas.microsoft.com/office/powerpoint/2010/main" val="38893946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5A0212-DFD5-4A2F-AAD8-CDF00E66B047}"/>
              </a:ext>
            </a:extLst>
          </p:cNvPr>
          <p:cNvSpPr>
            <a:spLocks noGrp="1"/>
          </p:cNvSpPr>
          <p:nvPr>
            <p:ph type="title"/>
          </p:nvPr>
        </p:nvSpPr>
        <p:spPr/>
        <p:txBody>
          <a:bodyPr/>
          <a:lstStyle/>
          <a:p>
            <a:r>
              <a:rPr lang="tr-TR" cap="none" dirty="0"/>
              <a:t>WHAT IS A SWITCH?</a:t>
            </a:r>
            <a:endParaRPr lang="en-US" cap="none" dirty="0"/>
          </a:p>
        </p:txBody>
      </p:sp>
      <p:sp>
        <p:nvSpPr>
          <p:cNvPr id="3" name="Content Placeholder 2">
            <a:extLst>
              <a:ext uri="{FF2B5EF4-FFF2-40B4-BE49-F238E27FC236}">
                <a16:creationId xmlns="" xmlns:a16="http://schemas.microsoft.com/office/drawing/2014/main" id="{2912935B-FC57-4366-A3A7-1E2E01802304}"/>
              </a:ext>
            </a:extLst>
          </p:cNvPr>
          <p:cNvSpPr>
            <a:spLocks noGrp="1"/>
          </p:cNvSpPr>
          <p:nvPr>
            <p:ph idx="1"/>
          </p:nvPr>
        </p:nvSpPr>
        <p:spPr>
          <a:xfrm>
            <a:off x="913775" y="2367093"/>
            <a:ext cx="10364452" cy="4210170"/>
          </a:xfrm>
        </p:spPr>
        <p:txBody>
          <a:bodyPr>
            <a:normAutofit/>
          </a:bodyPr>
          <a:lstStyle/>
          <a:p>
            <a:pPr marL="0" indent="0">
              <a:buNone/>
            </a:pPr>
            <a:r>
              <a:rPr lang="tr-TR" cap="none" dirty="0">
                <a:latin typeface="Arial" panose="020B0604020202020204" pitchFamily="34" charset="0"/>
                <a:cs typeface="Arial" panose="020B0604020202020204" pitchFamily="34" charset="0"/>
              </a:rPr>
              <a:t>A typical network consists of nodes(computers), connecting medium(wired or wireless),specialized network equipment like routers or hubs.</a:t>
            </a:r>
          </a:p>
          <a:p>
            <a:pPr marL="0" indent="0">
              <a:buNone/>
            </a:pPr>
            <a:r>
              <a:rPr lang="tr-TR" cap="none" dirty="0">
                <a:latin typeface="Arial" panose="020B0604020202020204" pitchFamily="34" charset="0"/>
                <a:cs typeface="Arial" panose="020B0604020202020204" pitchFamily="34" charset="0"/>
              </a:rPr>
              <a:t>Switches are another fundamental part of networks because </a:t>
            </a:r>
            <a:r>
              <a:rPr lang="tr-TR" b="1" cap="none" dirty="0">
                <a:latin typeface="Arial" panose="020B0604020202020204" pitchFamily="34" charset="0"/>
                <a:cs typeface="Arial" panose="020B0604020202020204" pitchFamily="34" charset="0"/>
              </a:rPr>
              <a:t>switches speed up the process</a:t>
            </a:r>
            <a:r>
              <a:rPr lang="tr-TR" cap="none" dirty="0">
                <a:latin typeface="Arial" panose="020B0604020202020204" pitchFamily="34" charset="0"/>
                <a:cs typeface="Arial" panose="020B0604020202020204" pitchFamily="34" charset="0"/>
              </a:rPr>
              <a:t>.</a:t>
            </a:r>
          </a:p>
          <a:p>
            <a:pPr marL="0" indent="0">
              <a:buNone/>
            </a:pPr>
            <a:r>
              <a:rPr lang="tr-TR" cap="none" dirty="0">
                <a:latin typeface="Arial" panose="020B0604020202020204" pitchFamily="34" charset="0"/>
                <a:cs typeface="Arial" panose="020B0604020202020204" pitchFamily="34" charset="0"/>
              </a:rPr>
              <a:t> </a:t>
            </a:r>
            <a:r>
              <a:rPr lang="tr-TR" u="sng" cap="none" dirty="0">
                <a:latin typeface="Arial" panose="020B0604020202020204" pitchFamily="34" charset="0"/>
                <a:cs typeface="Arial" panose="020B0604020202020204" pitchFamily="34" charset="0"/>
              </a:rPr>
              <a:t>Switches allow different nodes(a network connection point, typically a computer) of a network to communicate directly with one another.</a:t>
            </a:r>
            <a:endParaRPr lang="tr-TR"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19304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A0895B-38D9-462D-8E8C-CFDD58C21CD9}"/>
              </a:ext>
            </a:extLst>
          </p:cNvPr>
          <p:cNvSpPr>
            <a:spLocks noGrp="1"/>
          </p:cNvSpPr>
          <p:nvPr>
            <p:ph type="title"/>
          </p:nvPr>
        </p:nvSpPr>
        <p:spPr/>
        <p:txBody>
          <a:bodyPr/>
          <a:lstStyle/>
          <a:p>
            <a:r>
              <a:rPr lang="tr-TR" dirty="0" err="1"/>
              <a:t>Why</a:t>
            </a:r>
            <a:r>
              <a:rPr lang="tr-TR" dirty="0"/>
              <a:t> </a:t>
            </a:r>
            <a:r>
              <a:rPr lang="tr-TR" dirty="0" err="1" smtClean="0"/>
              <a:t>swItchIng</a:t>
            </a:r>
            <a:r>
              <a:rPr lang="tr-TR" dirty="0"/>
              <a:t>?</a:t>
            </a:r>
            <a:endParaRPr lang="en-US" dirty="0"/>
          </a:p>
        </p:txBody>
      </p:sp>
      <p:sp>
        <p:nvSpPr>
          <p:cNvPr id="3" name="Content Placeholder 2">
            <a:extLst>
              <a:ext uri="{FF2B5EF4-FFF2-40B4-BE49-F238E27FC236}">
                <a16:creationId xmlns="" xmlns:a16="http://schemas.microsoft.com/office/drawing/2014/main" id="{55092F64-A15C-495D-A348-599026BD3C8C}"/>
              </a:ext>
            </a:extLst>
          </p:cNvPr>
          <p:cNvSpPr>
            <a:spLocks noGrp="1"/>
          </p:cNvSpPr>
          <p:nvPr>
            <p:ph idx="1"/>
          </p:nvPr>
        </p:nvSpPr>
        <p:spPr>
          <a:xfrm>
            <a:off x="913775" y="2214694"/>
            <a:ext cx="10364452" cy="3818021"/>
          </a:xfrm>
        </p:spPr>
        <p:txBody>
          <a:bodyPr>
            <a:normAutofit/>
          </a:bodyPr>
          <a:lstStyle/>
          <a:p>
            <a:pPr marL="0" indent="0">
              <a:buNone/>
            </a:pPr>
            <a:r>
              <a:rPr lang="tr-TR" cap="none" dirty="0">
                <a:latin typeface="Arial" panose="020B0604020202020204" pitchFamily="34" charset="0"/>
                <a:cs typeface="Arial" panose="020B0604020202020204" pitchFamily="34" charset="0"/>
              </a:rPr>
              <a:t>As network grows,there are some </a:t>
            </a:r>
            <a:r>
              <a:rPr lang="tr-TR" u="sng" cap="none" dirty="0">
                <a:latin typeface="Arial" panose="020B0604020202020204" pitchFamily="34" charset="0"/>
                <a:cs typeface="Arial" panose="020B0604020202020204" pitchFamily="34" charset="0"/>
              </a:rPr>
              <a:t>potential problems</a:t>
            </a:r>
            <a:r>
              <a:rPr lang="tr-TR" cap="none" dirty="0">
                <a:latin typeface="Arial" panose="020B0604020202020204" pitchFamily="34" charset="0"/>
                <a:cs typeface="Arial" panose="020B0604020202020204" pitchFamily="34" charset="0"/>
              </a:rPr>
              <a:t> with networks consisting of nodes connected with hubs:</a:t>
            </a:r>
          </a:p>
          <a:p>
            <a:pPr marL="0" indent="0">
              <a:buNone/>
            </a:pPr>
            <a:r>
              <a:rPr lang="tr-TR" cap="none" dirty="0">
                <a:latin typeface="Arial" panose="020B0604020202020204" pitchFamily="34" charset="0"/>
                <a:cs typeface="Arial" panose="020B0604020202020204" pitchFamily="34" charset="0"/>
              </a:rPr>
              <a:t>Scalability: In a hub network limited shared bandwith makes it difficult to accomodate signifcant growth without sacrificing performance.</a:t>
            </a:r>
          </a:p>
          <a:p>
            <a:pPr marL="0" indent="0">
              <a:buNone/>
            </a:pPr>
            <a:r>
              <a:rPr lang="tr-TR" cap="none" dirty="0">
                <a:latin typeface="Arial" panose="020B0604020202020204" pitchFamily="34" charset="0"/>
                <a:cs typeface="Arial" panose="020B0604020202020204" pitchFamily="34" charset="0"/>
              </a:rPr>
              <a:t>Latency: Each node in a hub based network has to wait to transmit in order to avoid collisions, the latency can increase significantly as you add more nodes.</a:t>
            </a:r>
          </a:p>
        </p:txBody>
      </p:sp>
    </p:spTree>
    <p:extLst>
      <p:ext uri="{BB962C8B-B14F-4D97-AF65-F5344CB8AC3E}">
        <p14:creationId xmlns:p14="http://schemas.microsoft.com/office/powerpoint/2010/main" val="162193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49B782-5170-45C5-A1EB-46EA4102989B}"/>
              </a:ext>
            </a:extLst>
          </p:cNvPr>
          <p:cNvSpPr>
            <a:spLocks noGrp="1"/>
          </p:cNvSpPr>
          <p:nvPr>
            <p:ph type="title"/>
          </p:nvPr>
        </p:nvSpPr>
        <p:spPr/>
        <p:txBody>
          <a:bodyPr/>
          <a:lstStyle/>
          <a:p>
            <a:r>
              <a:rPr lang="tr-TR" dirty="0" err="1"/>
              <a:t>Why</a:t>
            </a:r>
            <a:r>
              <a:rPr lang="tr-TR" dirty="0"/>
              <a:t> </a:t>
            </a:r>
            <a:r>
              <a:rPr lang="tr-TR" dirty="0" err="1" smtClean="0"/>
              <a:t>SwItchIng</a:t>
            </a:r>
            <a:r>
              <a:rPr lang="tr-TR" dirty="0"/>
              <a:t>?</a:t>
            </a:r>
            <a:endParaRPr lang="en-US" dirty="0"/>
          </a:p>
        </p:txBody>
      </p:sp>
      <p:sp>
        <p:nvSpPr>
          <p:cNvPr id="3" name="Content Placeholder 2">
            <a:extLst>
              <a:ext uri="{FF2B5EF4-FFF2-40B4-BE49-F238E27FC236}">
                <a16:creationId xmlns="" xmlns:a16="http://schemas.microsoft.com/office/drawing/2014/main" id="{316D0700-50C0-485A-84C8-B18170A1F7F5}"/>
              </a:ext>
            </a:extLst>
          </p:cNvPr>
          <p:cNvSpPr>
            <a:spLocks noGrp="1"/>
          </p:cNvSpPr>
          <p:nvPr>
            <p:ph idx="1"/>
          </p:nvPr>
        </p:nvSpPr>
        <p:spPr>
          <a:xfrm>
            <a:off x="913773" y="2214694"/>
            <a:ext cx="10364452" cy="3424107"/>
          </a:xfrm>
        </p:spPr>
        <p:txBody>
          <a:bodyPr/>
          <a:lstStyle/>
          <a:p>
            <a:pPr marL="0" indent="0">
              <a:buNone/>
            </a:pPr>
            <a:r>
              <a:rPr lang="tr-TR" cap="none" dirty="0">
                <a:latin typeface="Arial" panose="020B0604020202020204" pitchFamily="34" charset="0"/>
                <a:cs typeface="Arial" panose="020B0604020202020204" pitchFamily="34" charset="0"/>
              </a:rPr>
              <a:t>Network Failure: In a typical network, one device on a hub can cause problems for other devices attached to the hub due to incorrect speed settings(100 Mps on a 10 Mpbs hub).</a:t>
            </a:r>
          </a:p>
          <a:p>
            <a:pPr marL="0" indent="0">
              <a:buNone/>
            </a:pPr>
            <a:r>
              <a:rPr lang="tr-TR" cap="none" dirty="0">
                <a:latin typeface="Arial" panose="020B0604020202020204" pitchFamily="34" charset="0"/>
                <a:cs typeface="Arial" panose="020B0604020202020204" pitchFamily="34" charset="0"/>
              </a:rPr>
              <a:t>Collisions: A network with a large number of nodes on the same segent will ofthen have a lot of collisions.</a:t>
            </a:r>
          </a:p>
          <a:p>
            <a:pPr marL="0" indent="0">
              <a:buNone/>
            </a:pPr>
            <a:r>
              <a:rPr lang="tr-TR" cap="none" dirty="0">
                <a:latin typeface="Arial" panose="020B0604020202020204" pitchFamily="34" charset="0"/>
                <a:cs typeface="Arial" panose="020B0604020202020204" pitchFamily="34" charset="0"/>
              </a:rPr>
              <a:t>While hubs provide an easy way to scale up and shorten the distance, </a:t>
            </a:r>
            <a:r>
              <a:rPr lang="tr-TR" u="sng" cap="none" dirty="0">
                <a:latin typeface="Arial" panose="020B0604020202020204" pitchFamily="34" charset="0"/>
                <a:cs typeface="Arial" panose="020B0604020202020204" pitchFamily="34" charset="0"/>
              </a:rPr>
              <a:t>hubs do not break up actual network into discrete segments</a:t>
            </a:r>
            <a:r>
              <a:rPr lang="tr-TR" cap="none" dirty="0">
                <a:latin typeface="Arial" panose="020B0604020202020204" pitchFamily="34" charset="0"/>
                <a:cs typeface="Arial" panose="020B0604020202020204" pitchFamily="34" charset="0"/>
              </a:rPr>
              <a:t>. That is where switches are needed.</a:t>
            </a:r>
            <a:endParaRPr lang="en-US" cap="none" dirty="0">
              <a:latin typeface="Arial" panose="020B060402020202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1323493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F19F53D-45CE-4964-BEA0-A8CB2986AE6D}"/>
              </a:ext>
            </a:extLst>
          </p:cNvPr>
          <p:cNvSpPr>
            <a:spLocks noGrp="1"/>
          </p:cNvSpPr>
          <p:nvPr>
            <p:ph type="title"/>
          </p:nvPr>
        </p:nvSpPr>
        <p:spPr/>
        <p:txBody>
          <a:bodyPr/>
          <a:lstStyle/>
          <a:p>
            <a:r>
              <a:rPr lang="tr-TR" dirty="0" err="1"/>
              <a:t>Why</a:t>
            </a:r>
            <a:r>
              <a:rPr lang="tr-TR" dirty="0"/>
              <a:t> </a:t>
            </a:r>
            <a:r>
              <a:rPr lang="tr-TR" dirty="0" err="1" smtClean="0"/>
              <a:t>SwItchIng</a:t>
            </a:r>
            <a:r>
              <a:rPr lang="tr-TR" dirty="0"/>
              <a:t>?</a:t>
            </a:r>
            <a:endParaRPr lang="en-US" dirty="0"/>
          </a:p>
        </p:txBody>
      </p:sp>
      <p:sp>
        <p:nvSpPr>
          <p:cNvPr id="3" name="Content Placeholder 2">
            <a:extLst>
              <a:ext uri="{FF2B5EF4-FFF2-40B4-BE49-F238E27FC236}">
                <a16:creationId xmlns="" xmlns:a16="http://schemas.microsoft.com/office/drawing/2014/main" id="{67236C27-7563-4536-828C-5D017BE87F9C}"/>
              </a:ext>
            </a:extLst>
          </p:cNvPr>
          <p:cNvSpPr>
            <a:spLocks noGrp="1"/>
          </p:cNvSpPr>
          <p:nvPr>
            <p:ph idx="1"/>
          </p:nvPr>
        </p:nvSpPr>
        <p:spPr/>
        <p:txBody>
          <a:bodyPr/>
          <a:lstStyle/>
          <a:p>
            <a:pPr marL="0" indent="0">
              <a:buNone/>
            </a:pPr>
            <a:r>
              <a:rPr lang="tr-TR" b="0" i="0" cap="none" dirty="0">
                <a:solidFill>
                  <a:srgbClr val="000000"/>
                </a:solidFill>
                <a:effectLst/>
                <a:latin typeface="Arial" panose="020B0604020202020204" pitchFamily="34" charset="0"/>
                <a:cs typeface="Arial" panose="020B0604020202020204" pitchFamily="34" charset="0"/>
              </a:rPr>
              <a:t>The </a:t>
            </a:r>
            <a:r>
              <a:rPr lang="en-US" b="0" i="0" cap="none" dirty="0">
                <a:solidFill>
                  <a:srgbClr val="000000"/>
                </a:solidFill>
                <a:effectLst/>
                <a:latin typeface="Arial" panose="020B0604020202020204" pitchFamily="34" charset="0"/>
                <a:cs typeface="Arial" panose="020B0604020202020204" pitchFamily="34" charset="0"/>
              </a:rPr>
              <a:t>difference between a hub and a switch is that all the nodes connected to a hub share the bandwidth among themselves, while a device connected to a switch port has the </a:t>
            </a:r>
            <a:r>
              <a:rPr lang="en-US" b="1" i="0" cap="none" dirty="0">
                <a:solidFill>
                  <a:srgbClr val="000000"/>
                </a:solidFill>
                <a:effectLst/>
                <a:latin typeface="Arial" panose="020B0604020202020204" pitchFamily="34" charset="0"/>
                <a:cs typeface="Arial" panose="020B0604020202020204" pitchFamily="34" charset="0"/>
              </a:rPr>
              <a:t>full bandwidth</a:t>
            </a:r>
            <a:r>
              <a:rPr lang="en-US" b="0" i="0" cap="none" dirty="0">
                <a:solidFill>
                  <a:srgbClr val="000000"/>
                </a:solidFill>
                <a:effectLst/>
                <a:latin typeface="Arial" panose="020B0604020202020204" pitchFamily="34" charset="0"/>
                <a:cs typeface="Arial" panose="020B0604020202020204" pitchFamily="34" charset="0"/>
              </a:rPr>
              <a:t> all to itself.</a:t>
            </a:r>
            <a:endParaRPr lang="tr-TR" b="0" i="0" cap="none" dirty="0">
              <a:solidFill>
                <a:srgbClr val="000000"/>
              </a:solidFill>
              <a:effectLst/>
              <a:latin typeface="Arial" panose="020B0604020202020204" pitchFamily="34" charset="0"/>
              <a:cs typeface="Arial" panose="020B0604020202020204" pitchFamily="34" charset="0"/>
            </a:endParaRPr>
          </a:p>
          <a:p>
            <a:pPr marL="0" indent="0">
              <a:buNone/>
            </a:pPr>
            <a:r>
              <a:rPr lang="en-US" b="0" i="0" cap="none" dirty="0">
                <a:solidFill>
                  <a:srgbClr val="000000"/>
                </a:solidFill>
                <a:effectLst/>
                <a:latin typeface="Arial" panose="020B0604020202020204" pitchFamily="34" charset="0"/>
                <a:cs typeface="Arial" panose="020B0604020202020204" pitchFamily="34" charset="0"/>
              </a:rPr>
              <a:t>For example, if 10 nodes are communicating using a hub on a 10-Mbps network, then each node may only get a portion of the 10 Mbps if other nodes on the hub want to communicate as well. But with a switch, each node could possibly communicate at the full 10 Mbps.</a:t>
            </a:r>
            <a:endParaRPr lang="en-US"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2900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 xmlns:a16="http://schemas.microsoft.com/office/drawing/2014/main" id="{48FE65CB-EFD8-497D-A30A-093E20EACB0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 xmlns:a16="http://schemas.microsoft.com/office/drawing/2014/main" id="{E3265C2A-0A58-43AD-A406-8F4478E28758}"/>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BB2BC71D-DCD2-4721-83CD-A470BCB7B5C3}"/>
              </a:ext>
            </a:extLst>
          </p:cNvPr>
          <p:cNvSpPr>
            <a:spLocks noGrp="1"/>
          </p:cNvSpPr>
          <p:nvPr>
            <p:ph type="title"/>
          </p:nvPr>
        </p:nvSpPr>
        <p:spPr>
          <a:xfrm>
            <a:off x="8196408" y="640831"/>
            <a:ext cx="3352128" cy="1573863"/>
          </a:xfrm>
        </p:spPr>
        <p:txBody>
          <a:bodyPr>
            <a:normAutofit/>
          </a:bodyPr>
          <a:lstStyle/>
          <a:p>
            <a:pPr algn="l"/>
            <a:r>
              <a:rPr lang="en-US" sz="2500" dirty="0">
                <a:latin typeface="Arial" panose="020B0604020202020204" pitchFamily="34" charset="0"/>
                <a:cs typeface="Arial" panose="020B0604020202020204" pitchFamily="34" charset="0"/>
              </a:rPr>
              <a:t>An institutional network connected by four switches</a:t>
            </a:r>
          </a:p>
        </p:txBody>
      </p:sp>
      <p:pic>
        <p:nvPicPr>
          <p:cNvPr id="5" name="Picture 4" descr="An institutional network connected together by four switches&#10;">
            <a:extLst>
              <a:ext uri="{FF2B5EF4-FFF2-40B4-BE49-F238E27FC236}">
                <a16:creationId xmlns="" xmlns:a16="http://schemas.microsoft.com/office/drawing/2014/main" id="{4F9299B5-9BEB-41B8-9845-E14357E020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139" y="2144393"/>
            <a:ext cx="7216908" cy="3536285"/>
          </a:xfrm>
          <a:prstGeom prst="rect">
            <a:avLst/>
          </a:prstGeom>
        </p:spPr>
      </p:pic>
      <p:sp>
        <p:nvSpPr>
          <p:cNvPr id="3" name="Content Placeholder 2">
            <a:extLst>
              <a:ext uri="{FF2B5EF4-FFF2-40B4-BE49-F238E27FC236}">
                <a16:creationId xmlns="" xmlns:a16="http://schemas.microsoft.com/office/drawing/2014/main" id="{951AE0F7-D192-4DF2-B37F-EEF5C060B5FD}"/>
              </a:ext>
            </a:extLst>
          </p:cNvPr>
          <p:cNvSpPr>
            <a:spLocks noGrp="1"/>
          </p:cNvSpPr>
          <p:nvPr>
            <p:ph idx="1"/>
          </p:nvPr>
        </p:nvSpPr>
        <p:spPr>
          <a:xfrm>
            <a:off x="8196408" y="2540398"/>
            <a:ext cx="3352128" cy="3881309"/>
          </a:xfrm>
        </p:spPr>
        <p:txBody>
          <a:bodyPr>
            <a:normAutofit/>
          </a:bodyPr>
          <a:lstStyle/>
          <a:p>
            <a:r>
              <a:rPr lang="tr-TR" cap="none" dirty="0">
                <a:latin typeface="Arial" panose="020B0604020202020204" pitchFamily="34" charset="0"/>
                <a:cs typeface="Arial" panose="020B0604020202020204" pitchFamily="34" charset="0"/>
              </a:rPr>
              <a:t>The Figure </a:t>
            </a:r>
            <a:r>
              <a:rPr lang="en-US" cap="none" dirty="0">
                <a:latin typeface="Arial" panose="020B0604020202020204" pitchFamily="34" charset="0"/>
                <a:cs typeface="Arial" panose="020B0604020202020204" pitchFamily="34" charset="0"/>
              </a:rPr>
              <a:t>shows a switched local network connecting three departments, two servers and a router with four switches.</a:t>
            </a:r>
            <a:endParaRPr lang="en-US" cap="none" dirty="0"/>
          </a:p>
        </p:txBody>
      </p:sp>
      <p:sp>
        <p:nvSpPr>
          <p:cNvPr id="7" name="Content Placeholder 8">
            <a:extLst>
              <a:ext uri="{FF2B5EF4-FFF2-40B4-BE49-F238E27FC236}">
                <a16:creationId xmlns="" xmlns:a16="http://schemas.microsoft.com/office/drawing/2014/main" id="{21E8B2E6-7E78-4935-A7DB-3DE8B9CE2DAA}"/>
              </a:ext>
            </a:extLst>
          </p:cNvPr>
          <p:cNvSpPr txBox="1">
            <a:spLocks/>
          </p:cNvSpPr>
          <p:nvPr/>
        </p:nvSpPr>
        <p:spPr>
          <a:xfrm>
            <a:off x="1925054" y="5830736"/>
            <a:ext cx="4443662" cy="9166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r>
              <a:rPr lang="tr-TR" cap="none" dirty="0">
                <a:latin typeface="Roboto"/>
              </a:rPr>
              <a:t>Figure 1- Example to a switch [1]</a:t>
            </a:r>
            <a:endParaRPr lang="en-US" cap="none" dirty="0">
              <a:latin typeface="Roboto"/>
            </a:endParaRPr>
          </a:p>
        </p:txBody>
      </p:sp>
    </p:spTree>
    <p:extLst>
      <p:ext uri="{BB962C8B-B14F-4D97-AF65-F5344CB8AC3E}">
        <p14:creationId xmlns:p14="http://schemas.microsoft.com/office/powerpoint/2010/main" val="3874089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8C6932-66E4-4D38-8E76-FF9DE62D8900}"/>
              </a:ext>
            </a:extLst>
          </p:cNvPr>
          <p:cNvSpPr>
            <a:spLocks noGrp="1"/>
          </p:cNvSpPr>
          <p:nvPr>
            <p:ph type="title"/>
          </p:nvPr>
        </p:nvSpPr>
        <p:spPr/>
        <p:txBody>
          <a:bodyPr/>
          <a:lstStyle/>
          <a:p>
            <a:r>
              <a:rPr lang="tr-TR" cap="none" dirty="0"/>
              <a:t>LAN SWITCHES</a:t>
            </a:r>
            <a:endParaRPr lang="en-US" cap="none" dirty="0"/>
          </a:p>
        </p:txBody>
      </p:sp>
      <p:sp>
        <p:nvSpPr>
          <p:cNvPr id="3" name="Content Placeholder 2">
            <a:extLst>
              <a:ext uri="{FF2B5EF4-FFF2-40B4-BE49-F238E27FC236}">
                <a16:creationId xmlns="" xmlns:a16="http://schemas.microsoft.com/office/drawing/2014/main" id="{BB79EBF7-40B5-4E28-B81B-3FC111320FFB}"/>
              </a:ext>
            </a:extLst>
          </p:cNvPr>
          <p:cNvSpPr>
            <a:spLocks noGrp="1"/>
          </p:cNvSpPr>
          <p:nvPr>
            <p:ph idx="1"/>
          </p:nvPr>
        </p:nvSpPr>
        <p:spPr>
          <a:xfrm>
            <a:off x="913773" y="2214694"/>
            <a:ext cx="10364452" cy="4194128"/>
          </a:xfrm>
        </p:spPr>
        <p:txBody>
          <a:bodyPr/>
          <a:lstStyle/>
          <a:p>
            <a:pPr marL="0" indent="0">
              <a:buNone/>
            </a:pPr>
            <a:r>
              <a:rPr lang="tr-TR" cap="none" dirty="0">
                <a:latin typeface="Arial" panose="020B0604020202020204" pitchFamily="34" charset="0"/>
                <a:cs typeface="Arial" panose="020B0604020202020204" pitchFamily="34" charset="0"/>
              </a:rPr>
              <a:t>There are many different types of switches and networks.</a:t>
            </a:r>
          </a:p>
          <a:p>
            <a:pPr marL="0" indent="0">
              <a:buNone/>
            </a:pPr>
            <a:r>
              <a:rPr lang="tr-TR" u="sng" cap="none" dirty="0">
                <a:latin typeface="Arial" panose="020B0604020202020204" pitchFamily="34" charset="0"/>
                <a:cs typeface="Arial" panose="020B0604020202020204" pitchFamily="34" charset="0"/>
              </a:rPr>
              <a:t>Switches that provide a separate connection for each node in a company’s internal network are called LAN switches.</a:t>
            </a:r>
          </a:p>
          <a:p>
            <a:pPr marL="0" indent="0">
              <a:buNone/>
            </a:pPr>
            <a:r>
              <a:rPr lang="tr-TR" cap="none" dirty="0">
                <a:latin typeface="Arial" panose="020B0604020202020204" pitchFamily="34" charset="0"/>
                <a:cs typeface="Arial" panose="020B0604020202020204" pitchFamily="34" charset="0"/>
              </a:rPr>
              <a:t>Local Area Network(LAN) is a network of computers that are in the same general physical location(like a building or campus). If the computers are far apart(like different cities) then Wide Area Network(WAN) is typically used.</a:t>
            </a:r>
          </a:p>
          <a:p>
            <a:pPr marL="0" indent="0">
              <a:buNone/>
            </a:pPr>
            <a:r>
              <a:rPr lang="tr-TR" cap="none" dirty="0">
                <a:latin typeface="Arial" panose="020B0604020202020204" pitchFamily="34" charset="0"/>
                <a:cs typeface="Arial" panose="020B0604020202020204" pitchFamily="34" charset="0"/>
              </a:rPr>
              <a:t>Essentailly, a </a:t>
            </a:r>
            <a:r>
              <a:rPr lang="tr-TR" u="sng" cap="none" dirty="0">
                <a:latin typeface="Arial" panose="020B0604020202020204" pitchFamily="34" charset="0"/>
                <a:cs typeface="Arial" panose="020B0604020202020204" pitchFamily="34" charset="0"/>
              </a:rPr>
              <a:t>LAN switch creates a series of instant networks that contain only the two devices communicating with each other at that particular moment.</a:t>
            </a:r>
            <a:endParaRPr lang="en-US" u="sng"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0783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820559E-B537-406E-9EA2-0D2B8D62B2C2}"/>
              </a:ext>
            </a:extLst>
          </p:cNvPr>
          <p:cNvSpPr>
            <a:spLocks noGrp="1"/>
          </p:cNvSpPr>
          <p:nvPr>
            <p:ph type="title"/>
          </p:nvPr>
        </p:nvSpPr>
        <p:spPr/>
        <p:txBody>
          <a:bodyPr/>
          <a:lstStyle/>
          <a:p>
            <a:r>
              <a:rPr lang="tr-TR" dirty="0" err="1"/>
              <a:t>Fully</a:t>
            </a:r>
            <a:r>
              <a:rPr lang="tr-TR" dirty="0"/>
              <a:t> </a:t>
            </a:r>
            <a:r>
              <a:rPr lang="tr-TR" dirty="0" err="1" smtClean="0"/>
              <a:t>SwItched</a:t>
            </a:r>
            <a:r>
              <a:rPr lang="tr-TR" dirty="0" smtClean="0"/>
              <a:t> </a:t>
            </a:r>
            <a:r>
              <a:rPr lang="tr-TR" dirty="0"/>
              <a:t>Networks</a:t>
            </a:r>
            <a:endParaRPr lang="en-US" dirty="0"/>
          </a:p>
        </p:txBody>
      </p:sp>
      <p:sp>
        <p:nvSpPr>
          <p:cNvPr id="3" name="Content Placeholder 2">
            <a:extLst>
              <a:ext uri="{FF2B5EF4-FFF2-40B4-BE49-F238E27FC236}">
                <a16:creationId xmlns="" xmlns:a16="http://schemas.microsoft.com/office/drawing/2014/main" id="{40CC87FD-5D26-4AB3-94B1-54CD1284D39B}"/>
              </a:ext>
            </a:extLst>
          </p:cNvPr>
          <p:cNvSpPr>
            <a:spLocks noGrp="1"/>
          </p:cNvSpPr>
          <p:nvPr>
            <p:ph idx="1"/>
          </p:nvPr>
        </p:nvSpPr>
        <p:spPr>
          <a:xfrm>
            <a:off x="913775" y="2214694"/>
            <a:ext cx="10364452" cy="4274339"/>
          </a:xfrm>
        </p:spPr>
        <p:txBody>
          <a:bodyPr>
            <a:normAutofit/>
          </a:bodyPr>
          <a:lstStyle/>
          <a:p>
            <a:pPr marL="0" indent="0">
              <a:buNone/>
            </a:pPr>
            <a:r>
              <a:rPr lang="en-US" u="sng" cap="none" dirty="0">
                <a:latin typeface="Arial" panose="020B0604020202020204" pitchFamily="34" charset="0"/>
                <a:cs typeface="Arial" panose="020B0604020202020204" pitchFamily="34" charset="0"/>
              </a:rPr>
              <a:t>In a fully switched network, switches replace all the hubs of an Ethernet network with a dedicated segment for every node</a:t>
            </a:r>
            <a:r>
              <a:rPr lang="tr-TR" u="sng" cap="none" dirty="0">
                <a:latin typeface="Arial" panose="020B0604020202020204" pitchFamily="34" charset="0"/>
                <a:cs typeface="Arial" panose="020B0604020202020204" pitchFamily="34" charset="0"/>
              </a:rPr>
              <a:t>.</a:t>
            </a:r>
          </a:p>
          <a:p>
            <a:pPr marL="0" indent="0">
              <a:buNone/>
            </a:pPr>
            <a:r>
              <a:rPr lang="en-US" cap="none" dirty="0">
                <a:latin typeface="Arial" panose="020B0604020202020204" pitchFamily="34" charset="0"/>
                <a:cs typeface="Arial" panose="020B0604020202020204" pitchFamily="34" charset="0"/>
              </a:rPr>
              <a:t>These segments connect to a switch, which supports multiple dedicated segments (sometimes</a:t>
            </a:r>
            <a:r>
              <a:rPr lang="tr-TR" cap="none" dirty="0">
                <a:latin typeface="Arial" panose="020B0604020202020204" pitchFamily="34" charset="0"/>
                <a:cs typeface="Arial" panose="020B0604020202020204" pitchFamily="34" charset="0"/>
              </a:rPr>
              <a:t> </a:t>
            </a:r>
            <a:r>
              <a:rPr lang="en-US" cap="none" dirty="0">
                <a:latin typeface="Arial" panose="020B0604020202020204" pitchFamily="34" charset="0"/>
                <a:cs typeface="Arial" panose="020B0604020202020204" pitchFamily="34" charset="0"/>
              </a:rPr>
              <a:t>hundreds).</a:t>
            </a:r>
            <a:endParaRPr lang="tr-TR" cap="none" dirty="0">
              <a:latin typeface="Arial" panose="020B0604020202020204" pitchFamily="34" charset="0"/>
              <a:cs typeface="Arial" panose="020B0604020202020204" pitchFamily="34" charset="0"/>
            </a:endParaRPr>
          </a:p>
          <a:p>
            <a:pPr marL="0" indent="0">
              <a:buNone/>
            </a:pPr>
            <a:r>
              <a:rPr lang="en-US" cap="none" dirty="0">
                <a:latin typeface="Arial" panose="020B0604020202020204" pitchFamily="34" charset="0"/>
                <a:cs typeface="Arial" panose="020B0604020202020204" pitchFamily="34" charset="0"/>
              </a:rPr>
              <a:t>Since the only devices on each segment are the switch and the node, the switch picks up every transmission before it reaches another node. The switch then forwards the frame over the appropriate segment.</a:t>
            </a:r>
            <a:endParaRPr lang="tr-TR" cap="none" dirty="0">
              <a:latin typeface="Arial" panose="020B0604020202020204" pitchFamily="34" charset="0"/>
              <a:cs typeface="Arial" panose="020B0604020202020204" pitchFamily="34" charset="0"/>
            </a:endParaRPr>
          </a:p>
          <a:p>
            <a:pPr marL="0" indent="0">
              <a:buNone/>
            </a:pPr>
            <a:r>
              <a:rPr lang="en-US" cap="none" dirty="0">
                <a:latin typeface="Arial" panose="020B0604020202020204" pitchFamily="34" charset="0"/>
                <a:cs typeface="Arial" panose="020B0604020202020204" pitchFamily="34" charset="0"/>
              </a:rPr>
              <a:t>Since any segment contains only a single node, the frame only reaches the intended recipient. </a:t>
            </a:r>
            <a:r>
              <a:rPr lang="en-US" u="sng" cap="none" dirty="0">
                <a:latin typeface="Arial" panose="020B0604020202020204" pitchFamily="34" charset="0"/>
                <a:cs typeface="Arial" panose="020B0604020202020204" pitchFamily="34" charset="0"/>
              </a:rPr>
              <a:t>This allows many conversations to occur simultaneously on a switched network</a:t>
            </a:r>
            <a:r>
              <a:rPr lang="en-US" cap="none"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732484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E92DA1F-8829-451D-9E08-26B25F5D440C}"/>
              </a:ext>
            </a:extLst>
          </p:cNvPr>
          <p:cNvSpPr>
            <a:spLocks noGrp="1"/>
          </p:cNvSpPr>
          <p:nvPr>
            <p:ph type="title"/>
          </p:nvPr>
        </p:nvSpPr>
        <p:spPr/>
        <p:txBody>
          <a:bodyPr/>
          <a:lstStyle/>
          <a:p>
            <a:r>
              <a:rPr lang="tr-TR" dirty="0" err="1"/>
              <a:t>Fully</a:t>
            </a:r>
            <a:r>
              <a:rPr lang="tr-TR" dirty="0"/>
              <a:t> </a:t>
            </a:r>
            <a:r>
              <a:rPr lang="tr-TR" dirty="0" err="1" smtClean="0"/>
              <a:t>SwItched</a:t>
            </a:r>
            <a:r>
              <a:rPr lang="tr-TR" dirty="0" smtClean="0"/>
              <a:t> </a:t>
            </a:r>
            <a:r>
              <a:rPr lang="tr-TR" dirty="0"/>
              <a:t>Networks</a:t>
            </a:r>
            <a:endParaRPr lang="en-US" dirty="0"/>
          </a:p>
        </p:txBody>
      </p:sp>
      <p:sp>
        <p:nvSpPr>
          <p:cNvPr id="3" name="Content Placeholder 2">
            <a:extLst>
              <a:ext uri="{FF2B5EF4-FFF2-40B4-BE49-F238E27FC236}">
                <a16:creationId xmlns="" xmlns:a16="http://schemas.microsoft.com/office/drawing/2014/main" id="{BF0C1BBA-B57E-449F-AB14-58E75E00DC2F}"/>
              </a:ext>
            </a:extLst>
          </p:cNvPr>
          <p:cNvSpPr>
            <a:spLocks noGrp="1"/>
          </p:cNvSpPr>
          <p:nvPr>
            <p:ph idx="1"/>
          </p:nvPr>
        </p:nvSpPr>
        <p:spPr>
          <a:xfrm>
            <a:off x="913773" y="2214694"/>
            <a:ext cx="10364452" cy="3624632"/>
          </a:xfrm>
        </p:spPr>
        <p:txBody>
          <a:bodyPr/>
          <a:lstStyle/>
          <a:p>
            <a:pPr marL="0" indent="0">
              <a:buNone/>
            </a:pPr>
            <a:r>
              <a:rPr lang="tr-TR" cap="none" dirty="0">
                <a:solidFill>
                  <a:srgbClr val="000000"/>
                </a:solidFill>
                <a:latin typeface="Arial" panose="020B0604020202020204" pitchFamily="34" charset="0"/>
                <a:cs typeface="Arial" panose="020B0604020202020204" pitchFamily="34" charset="0"/>
              </a:rPr>
              <a:t>Switching allows on a network to maintain </a:t>
            </a:r>
            <a:r>
              <a:rPr lang="tr-TR" b="1" cap="none" dirty="0">
                <a:solidFill>
                  <a:srgbClr val="000000"/>
                </a:solidFill>
                <a:latin typeface="Arial" panose="020B0604020202020204" pitchFamily="34" charset="0"/>
                <a:cs typeface="Arial" panose="020B0604020202020204" pitchFamily="34" charset="0"/>
              </a:rPr>
              <a:t>full-duplex</a:t>
            </a:r>
            <a:r>
              <a:rPr lang="tr-TR" cap="none" dirty="0">
                <a:solidFill>
                  <a:srgbClr val="000000"/>
                </a:solidFill>
                <a:latin typeface="Arial" panose="020B0604020202020204" pitchFamily="34" charset="0"/>
                <a:cs typeface="Arial" panose="020B0604020202020204" pitchFamily="34" charset="0"/>
              </a:rPr>
              <a:t> which means</a:t>
            </a:r>
            <a:r>
              <a:rPr lang="en-US" b="0" i="0" cap="none" dirty="0">
                <a:solidFill>
                  <a:srgbClr val="000000"/>
                </a:solidFill>
                <a:effectLst/>
                <a:latin typeface="Arial" panose="020B0604020202020204" pitchFamily="34" charset="0"/>
                <a:cs typeface="Arial" panose="020B0604020202020204" pitchFamily="34" charset="0"/>
              </a:rPr>
              <a:t>, </a:t>
            </a:r>
            <a:r>
              <a:rPr lang="en-US" b="0" i="0" u="sng" cap="none" dirty="0">
                <a:solidFill>
                  <a:srgbClr val="000000"/>
                </a:solidFill>
                <a:effectLst/>
                <a:latin typeface="Arial" panose="020B0604020202020204" pitchFamily="34" charset="0"/>
                <a:cs typeface="Arial" panose="020B0604020202020204" pitchFamily="34" charset="0"/>
              </a:rPr>
              <a:t>each node communicates only with the switch, not directly with other nodes</a:t>
            </a:r>
            <a:r>
              <a:rPr lang="en-US" b="0" i="0" cap="none" dirty="0">
                <a:solidFill>
                  <a:srgbClr val="000000"/>
                </a:solidFill>
                <a:effectLst/>
                <a:latin typeface="Arial" panose="020B0604020202020204" pitchFamily="34" charset="0"/>
                <a:cs typeface="Arial" panose="020B0604020202020204" pitchFamily="34" charset="0"/>
              </a:rPr>
              <a:t>. Information can travel from node to switch and from switch to node simultaneously</a:t>
            </a:r>
            <a:r>
              <a:rPr lang="tr-TR" b="0" i="0" cap="none" dirty="0">
                <a:solidFill>
                  <a:srgbClr val="000000"/>
                </a:solidFill>
                <a:effectLst/>
                <a:latin typeface="Arial" panose="020B0604020202020204" pitchFamily="34" charset="0"/>
                <a:cs typeface="Arial" panose="020B0604020202020204" pitchFamily="34" charset="0"/>
              </a:rPr>
              <a:t>. </a:t>
            </a:r>
            <a:r>
              <a:rPr lang="tr-TR" cap="none" dirty="0">
                <a:solidFill>
                  <a:srgbClr val="000000"/>
                </a:solidFill>
                <a:latin typeface="Arial" panose="020B0604020202020204" pitchFamily="34" charset="0"/>
                <a:cs typeface="Arial" panose="020B0604020202020204" pitchFamily="34" charset="0"/>
              </a:rPr>
              <a:t>Therefore i</a:t>
            </a:r>
            <a:r>
              <a:rPr lang="tr-TR" b="0" i="0" cap="none" dirty="0">
                <a:solidFill>
                  <a:srgbClr val="000000"/>
                </a:solidFill>
                <a:effectLst/>
                <a:latin typeface="Arial" panose="020B0604020202020204" pitchFamily="34" charset="0"/>
                <a:cs typeface="Arial" panose="020B0604020202020204" pitchFamily="34" charset="0"/>
              </a:rPr>
              <a:t>t is a </a:t>
            </a:r>
            <a:r>
              <a:rPr lang="tr-TR" b="0" i="0" u="sng" cap="none" dirty="0">
                <a:solidFill>
                  <a:srgbClr val="000000"/>
                </a:solidFill>
                <a:effectLst/>
                <a:latin typeface="Arial" panose="020B0604020202020204" pitchFamily="34" charset="0"/>
                <a:cs typeface="Arial" panose="020B0604020202020204" pitchFamily="34" charset="0"/>
              </a:rPr>
              <a:t>collision free environment</a:t>
            </a:r>
            <a:r>
              <a:rPr lang="tr-TR" b="0" i="0" cap="none" dirty="0">
                <a:solidFill>
                  <a:srgbClr val="000000"/>
                </a:solidFill>
                <a:effectLst/>
                <a:latin typeface="Arial" panose="020B0604020202020204" pitchFamily="34" charset="0"/>
                <a:cs typeface="Arial" panose="020B0604020202020204" pitchFamily="34" charset="0"/>
              </a:rPr>
              <a:t>.</a:t>
            </a:r>
          </a:p>
          <a:p>
            <a:pPr marL="0" indent="0">
              <a:buNone/>
            </a:pPr>
            <a:r>
              <a:rPr lang="en-US" b="0" i="0" cap="none" dirty="0">
                <a:solidFill>
                  <a:srgbClr val="000000"/>
                </a:solidFill>
                <a:effectLst/>
                <a:latin typeface="Arial" panose="020B0604020202020204" pitchFamily="34" charset="0"/>
                <a:cs typeface="Arial" panose="020B0604020202020204" pitchFamily="34" charset="0"/>
              </a:rPr>
              <a:t>Transmitting in both directions can effectively double the apparent speed of the network when two nodes are exchanging information. If the speed of the network is 10 Mbps, then each node can transmit simultaneously at 10 Mbps.</a:t>
            </a:r>
            <a:endParaRPr lang="en-US"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9490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E0FBE6-AE64-4816-83BF-D5815CA466A3}"/>
              </a:ext>
            </a:extLst>
          </p:cNvPr>
          <p:cNvSpPr>
            <a:spLocks noGrp="1"/>
          </p:cNvSpPr>
          <p:nvPr>
            <p:ph type="title"/>
          </p:nvPr>
        </p:nvSpPr>
        <p:spPr/>
        <p:txBody>
          <a:bodyPr/>
          <a:lstStyle/>
          <a:p>
            <a:r>
              <a:rPr lang="tr-TR" dirty="0" err="1" smtClean="0"/>
              <a:t>MIxed</a:t>
            </a:r>
            <a:r>
              <a:rPr lang="tr-TR" dirty="0" smtClean="0"/>
              <a:t> </a:t>
            </a:r>
            <a:r>
              <a:rPr lang="tr-TR" dirty="0"/>
              <a:t>Networks</a:t>
            </a:r>
            <a:endParaRPr lang="en-US" dirty="0"/>
          </a:p>
        </p:txBody>
      </p:sp>
      <p:sp>
        <p:nvSpPr>
          <p:cNvPr id="3" name="Content Placeholder 2">
            <a:extLst>
              <a:ext uri="{FF2B5EF4-FFF2-40B4-BE49-F238E27FC236}">
                <a16:creationId xmlns="" xmlns:a16="http://schemas.microsoft.com/office/drawing/2014/main" id="{77DB3194-1222-4049-B0B4-FB3336878341}"/>
              </a:ext>
            </a:extLst>
          </p:cNvPr>
          <p:cNvSpPr>
            <a:spLocks noGrp="1"/>
          </p:cNvSpPr>
          <p:nvPr>
            <p:ph idx="1"/>
          </p:nvPr>
        </p:nvSpPr>
        <p:spPr>
          <a:xfrm>
            <a:off x="913774" y="2623767"/>
            <a:ext cx="10364452" cy="3424107"/>
          </a:xfrm>
        </p:spPr>
        <p:txBody>
          <a:bodyPr/>
          <a:lstStyle/>
          <a:p>
            <a:pPr marL="0" indent="0" algn="l">
              <a:buNone/>
            </a:pPr>
            <a:r>
              <a:rPr lang="en-US" b="0" i="0" cap="none" dirty="0">
                <a:solidFill>
                  <a:srgbClr val="000000"/>
                </a:solidFill>
                <a:effectLst/>
                <a:latin typeface="Arial" panose="020B0604020202020204" pitchFamily="34" charset="0"/>
                <a:cs typeface="Arial" panose="020B0604020202020204" pitchFamily="34" charset="0"/>
              </a:rPr>
              <a:t>Most networks are not fully switched because of the costs incurred in replacing all the hubs with switches.</a:t>
            </a:r>
          </a:p>
          <a:p>
            <a:pPr marL="0" indent="0" algn="l">
              <a:buNone/>
            </a:pPr>
            <a:r>
              <a:rPr lang="en-US" b="0" i="0" cap="none" dirty="0">
                <a:solidFill>
                  <a:srgbClr val="000000"/>
                </a:solidFill>
                <a:effectLst/>
                <a:latin typeface="Arial" panose="020B0604020202020204" pitchFamily="34" charset="0"/>
                <a:cs typeface="Arial" panose="020B0604020202020204" pitchFamily="34" charset="0"/>
              </a:rPr>
              <a:t>Instead, </a:t>
            </a:r>
            <a:r>
              <a:rPr lang="en-US" b="0" i="0" u="sng" cap="none" dirty="0">
                <a:solidFill>
                  <a:srgbClr val="000000"/>
                </a:solidFill>
                <a:effectLst/>
                <a:latin typeface="Arial" panose="020B0604020202020204" pitchFamily="34" charset="0"/>
                <a:cs typeface="Arial" panose="020B0604020202020204" pitchFamily="34" charset="0"/>
              </a:rPr>
              <a:t>a combination of switches and hubs are used to create an efficient yet cost-effective network</a:t>
            </a:r>
            <a:r>
              <a:rPr lang="en-US" b="0" i="0" cap="none" dirty="0">
                <a:solidFill>
                  <a:srgbClr val="000000"/>
                </a:solidFill>
                <a:effectLst/>
                <a:latin typeface="Arial" panose="020B0604020202020204" pitchFamily="34" charset="0"/>
                <a:cs typeface="Arial" panose="020B0604020202020204" pitchFamily="34" charset="0"/>
              </a:rPr>
              <a:t>. For example, a company may have hubs connecting the computers in each department and then a switch connecting all the department-level hubs.</a:t>
            </a:r>
          </a:p>
          <a:p>
            <a:endParaRPr lang="en-US" dirty="0"/>
          </a:p>
        </p:txBody>
      </p:sp>
    </p:spTree>
    <p:extLst>
      <p:ext uri="{BB962C8B-B14F-4D97-AF65-F5344CB8AC3E}">
        <p14:creationId xmlns:p14="http://schemas.microsoft.com/office/powerpoint/2010/main" val="3212827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162B10-461D-4048-BCC2-6E15D9D24662}"/>
              </a:ext>
            </a:extLst>
          </p:cNvPr>
          <p:cNvSpPr>
            <a:spLocks noGrp="1"/>
          </p:cNvSpPr>
          <p:nvPr>
            <p:ph type="title"/>
          </p:nvPr>
        </p:nvSpPr>
        <p:spPr/>
        <p:txBody>
          <a:bodyPr/>
          <a:lstStyle/>
          <a:p>
            <a:r>
              <a:rPr lang="tr-TR" dirty="0"/>
              <a:t>Routers </a:t>
            </a:r>
            <a:r>
              <a:rPr lang="tr-TR" dirty="0" err="1"/>
              <a:t>vs</a:t>
            </a:r>
            <a:r>
              <a:rPr lang="tr-TR" dirty="0"/>
              <a:t> </a:t>
            </a:r>
            <a:r>
              <a:rPr lang="tr-TR" dirty="0" err="1" smtClean="0"/>
              <a:t>SwItches</a:t>
            </a:r>
            <a:endParaRPr lang="en-US" dirty="0"/>
          </a:p>
        </p:txBody>
      </p:sp>
      <p:sp>
        <p:nvSpPr>
          <p:cNvPr id="3" name="Content Placeholder 2">
            <a:extLst>
              <a:ext uri="{FF2B5EF4-FFF2-40B4-BE49-F238E27FC236}">
                <a16:creationId xmlns="" xmlns:a16="http://schemas.microsoft.com/office/drawing/2014/main" id="{9333AE6A-9E5B-4D47-A241-759F56649199}"/>
              </a:ext>
            </a:extLst>
          </p:cNvPr>
          <p:cNvSpPr>
            <a:spLocks noGrp="1"/>
          </p:cNvSpPr>
          <p:nvPr>
            <p:ph idx="1"/>
          </p:nvPr>
        </p:nvSpPr>
        <p:spPr>
          <a:xfrm>
            <a:off x="913775" y="2214694"/>
            <a:ext cx="10364452" cy="4490907"/>
          </a:xfrm>
        </p:spPr>
        <p:txBody>
          <a:bodyPr/>
          <a:lstStyle/>
          <a:p>
            <a:pPr marL="0" indent="0">
              <a:buNone/>
            </a:pPr>
            <a:r>
              <a:rPr lang="en-US" b="0" i="0" u="sng" cap="none" dirty="0">
                <a:effectLst/>
                <a:latin typeface="Arial" panose="020B0604020202020204" pitchFamily="34" charset="0"/>
                <a:cs typeface="Arial" panose="020B0604020202020204" pitchFamily="34" charset="0"/>
              </a:rPr>
              <a:t>Switches usually work at</a:t>
            </a:r>
            <a:r>
              <a:rPr lang="en-US" b="1" i="0" u="sng" cap="none" dirty="0">
                <a:effectLst/>
                <a:latin typeface="Arial" panose="020B0604020202020204" pitchFamily="34" charset="0"/>
                <a:cs typeface="Arial" panose="020B0604020202020204" pitchFamily="34" charset="0"/>
              </a:rPr>
              <a:t> </a:t>
            </a:r>
            <a:r>
              <a:rPr lang="en-US" b="1" i="0" u="sng" cap="none" dirty="0">
                <a:effectLst/>
                <a:latin typeface="Arial" panose="020B0604020202020204" pitchFamily="34" charset="0"/>
                <a:cs typeface="Arial" panose="020B0604020202020204" pitchFamily="34" charset="0"/>
                <a:hlinkClick r:id="rId2">
                  <a:extLst>
                    <a:ext uri="{A12FA001-AC4F-418D-AE19-62706E023703}">
                      <ahyp:hlinkClr xmlns="" xmlns:ahyp="http://schemas.microsoft.com/office/drawing/2018/hyperlinkcolor" val="tx"/>
                    </a:ext>
                  </a:extLst>
                </a:hlinkClick>
              </a:rPr>
              <a:t>Layer 2</a:t>
            </a:r>
            <a:r>
              <a:rPr lang="en-US" b="1" i="0" cap="none" dirty="0">
                <a:effectLst/>
                <a:latin typeface="Arial" panose="020B0604020202020204" pitchFamily="34" charset="0"/>
                <a:cs typeface="Arial" panose="020B0604020202020204" pitchFamily="34" charset="0"/>
              </a:rPr>
              <a:t> </a:t>
            </a:r>
            <a:r>
              <a:rPr lang="en-US" b="0" i="0" cap="none" dirty="0">
                <a:effectLst/>
                <a:latin typeface="Arial" panose="020B0604020202020204" pitchFamily="34" charset="0"/>
                <a:cs typeface="Arial" panose="020B0604020202020204" pitchFamily="34" charset="0"/>
              </a:rPr>
              <a:t>(Data</a:t>
            </a:r>
            <a:r>
              <a:rPr lang="tr-TR" b="0" i="0" cap="none" dirty="0">
                <a:effectLst/>
                <a:latin typeface="Arial" panose="020B0604020202020204" pitchFamily="34" charset="0"/>
                <a:cs typeface="Arial" panose="020B0604020202020204" pitchFamily="34" charset="0"/>
              </a:rPr>
              <a:t>link layer</a:t>
            </a:r>
            <a:r>
              <a:rPr lang="en-US" b="0" i="0" cap="none" dirty="0">
                <a:effectLst/>
                <a:latin typeface="Arial" panose="020B0604020202020204" pitchFamily="34" charset="0"/>
                <a:cs typeface="Arial" panose="020B0604020202020204" pitchFamily="34" charset="0"/>
              </a:rPr>
              <a:t>) of the </a:t>
            </a:r>
            <a:r>
              <a:rPr lang="en-US" cap="none" dirty="0">
                <a:latin typeface="Arial" panose="020B0604020202020204" pitchFamily="34" charset="0"/>
                <a:cs typeface="Arial" panose="020B0604020202020204" pitchFamily="34" charset="0"/>
              </a:rPr>
              <a:t>OSI Ref</a:t>
            </a:r>
            <a:r>
              <a:rPr lang="tr-TR" cap="none" dirty="0">
                <a:latin typeface="Arial" panose="020B0604020202020204" pitchFamily="34" charset="0"/>
                <a:cs typeface="Arial" panose="020B0604020202020204" pitchFamily="34" charset="0"/>
              </a:rPr>
              <a:t>erence Model</a:t>
            </a:r>
            <a:r>
              <a:rPr lang="en-US" b="0" i="0" cap="none" dirty="0">
                <a:effectLst/>
                <a:latin typeface="Arial" panose="020B0604020202020204" pitchFamily="34" charset="0"/>
                <a:cs typeface="Arial" panose="020B0604020202020204" pitchFamily="34" charset="0"/>
              </a:rPr>
              <a:t>, using MAC addresses</a:t>
            </a:r>
            <a:r>
              <a:rPr lang="tr-TR" b="0" i="0" cap="none" dirty="0">
                <a:effectLst/>
                <a:latin typeface="Arial" panose="020B0604020202020204" pitchFamily="34" charset="0"/>
                <a:cs typeface="Arial" panose="020B0604020202020204" pitchFamily="34" charset="0"/>
              </a:rPr>
              <a:t>.</a:t>
            </a:r>
            <a:r>
              <a:rPr lang="tr-TR" cap="none" dirty="0">
                <a:latin typeface="Arial" panose="020B0604020202020204" pitchFamily="34" charset="0"/>
                <a:cs typeface="Arial" panose="020B0604020202020204" pitchFamily="34" charset="0"/>
              </a:rPr>
              <a:t> </a:t>
            </a:r>
            <a:r>
              <a:rPr lang="tr-TR" u="sng" cap="none" dirty="0">
                <a:latin typeface="Arial" panose="020B0604020202020204" pitchFamily="34" charset="0"/>
                <a:cs typeface="Arial" panose="020B0604020202020204" pitchFamily="34" charset="0"/>
              </a:rPr>
              <a:t>R</a:t>
            </a:r>
            <a:r>
              <a:rPr lang="en-US" b="0" i="0" u="sng" cap="none" dirty="0">
                <a:effectLst/>
                <a:latin typeface="Arial" panose="020B0604020202020204" pitchFamily="34" charset="0"/>
                <a:cs typeface="Arial" panose="020B0604020202020204" pitchFamily="34" charset="0"/>
              </a:rPr>
              <a:t>outers work at </a:t>
            </a:r>
            <a:r>
              <a:rPr lang="en-US" b="1" i="0" u="sng" cap="none" dirty="0">
                <a:effectLst/>
                <a:latin typeface="Arial" panose="020B0604020202020204" pitchFamily="34" charset="0"/>
                <a:cs typeface="Arial" panose="020B0604020202020204" pitchFamily="34" charset="0"/>
                <a:hlinkClick r:id="rId2">
                  <a:extLst>
                    <a:ext uri="{A12FA001-AC4F-418D-AE19-62706E023703}">
                      <ahyp:hlinkClr xmlns="" xmlns:ahyp="http://schemas.microsoft.com/office/drawing/2018/hyperlinkcolor" val="tx"/>
                    </a:ext>
                  </a:extLst>
                </a:hlinkClick>
              </a:rPr>
              <a:t>Layer 3</a:t>
            </a:r>
            <a:r>
              <a:rPr lang="en-US" b="0" i="0" cap="none" dirty="0">
                <a:effectLst/>
                <a:latin typeface="Arial" panose="020B0604020202020204" pitchFamily="34" charset="0"/>
                <a:cs typeface="Arial" panose="020B0604020202020204" pitchFamily="34" charset="0"/>
              </a:rPr>
              <a:t> (Network</a:t>
            </a:r>
            <a:r>
              <a:rPr lang="tr-TR" b="0" i="0" cap="none" dirty="0">
                <a:effectLst/>
                <a:latin typeface="Arial" panose="020B0604020202020204" pitchFamily="34" charset="0"/>
                <a:cs typeface="Arial" panose="020B0604020202020204" pitchFamily="34" charset="0"/>
              </a:rPr>
              <a:t> layer</a:t>
            </a:r>
            <a:r>
              <a:rPr lang="en-US" b="0" i="0" cap="none" dirty="0">
                <a:effectLst/>
                <a:latin typeface="Arial" panose="020B0604020202020204" pitchFamily="34" charset="0"/>
                <a:cs typeface="Arial" panose="020B0604020202020204" pitchFamily="34" charset="0"/>
              </a:rPr>
              <a:t>) with Layer 3 addresses</a:t>
            </a:r>
            <a:r>
              <a:rPr lang="tr-TR" b="0" i="0" cap="none" dirty="0">
                <a:effectLst/>
                <a:latin typeface="Arial" panose="020B0604020202020204" pitchFamily="34" charset="0"/>
                <a:cs typeface="Arial" panose="020B0604020202020204" pitchFamily="34" charset="0"/>
              </a:rPr>
              <a:t> like IP.</a:t>
            </a:r>
          </a:p>
          <a:p>
            <a:pPr marL="0" indent="0">
              <a:buNone/>
            </a:pPr>
            <a:r>
              <a:rPr lang="en-US" b="0" i="0" cap="none" dirty="0">
                <a:effectLst/>
                <a:latin typeface="Arial" panose="020B0604020202020204" pitchFamily="34" charset="0"/>
                <a:cs typeface="Arial" panose="020B0604020202020204" pitchFamily="34" charset="0"/>
              </a:rPr>
              <a:t>The </a:t>
            </a:r>
            <a:r>
              <a:rPr lang="en-US" cap="none" dirty="0">
                <a:latin typeface="Arial" panose="020B0604020202020204" pitchFamily="34" charset="0"/>
                <a:cs typeface="Arial" panose="020B0604020202020204" pitchFamily="34" charset="0"/>
              </a:rPr>
              <a:t>algorithm</a:t>
            </a:r>
            <a:r>
              <a:rPr lang="en-US" b="0" i="0" cap="none" dirty="0">
                <a:effectLst/>
                <a:latin typeface="Arial" panose="020B0604020202020204" pitchFamily="34" charset="0"/>
                <a:cs typeface="Arial" panose="020B0604020202020204" pitchFamily="34" charset="0"/>
              </a:rPr>
              <a:t> that switches use to decide how to forward packets is different from the algorithms used by routers to forward packets.</a:t>
            </a:r>
            <a:endParaRPr lang="tr-TR" b="0" i="0" cap="none" dirty="0">
              <a:effectLst/>
              <a:latin typeface="Arial" panose="020B0604020202020204" pitchFamily="34" charset="0"/>
              <a:cs typeface="Arial" panose="020B0604020202020204" pitchFamily="34" charset="0"/>
            </a:endParaRPr>
          </a:p>
          <a:p>
            <a:pPr marL="0" indent="0">
              <a:buNone/>
            </a:pPr>
            <a:r>
              <a:rPr lang="en-US" b="0" i="0" u="sng" cap="none" dirty="0">
                <a:solidFill>
                  <a:srgbClr val="000000"/>
                </a:solidFill>
                <a:effectLst/>
                <a:latin typeface="Arial" panose="020B0604020202020204" pitchFamily="34" charset="0"/>
                <a:cs typeface="Arial" panose="020B0604020202020204" pitchFamily="34" charset="0"/>
              </a:rPr>
              <a:t>One of these differences in the algorithms between switches and routers is how </a:t>
            </a:r>
            <a:r>
              <a:rPr lang="en-US" b="1" i="0" u="sng" cap="none" dirty="0">
                <a:solidFill>
                  <a:srgbClr val="000000"/>
                </a:solidFill>
                <a:effectLst/>
                <a:latin typeface="Arial" panose="020B0604020202020204" pitchFamily="34" charset="0"/>
                <a:cs typeface="Arial" panose="020B0604020202020204" pitchFamily="34" charset="0"/>
              </a:rPr>
              <a:t>broadcasts</a:t>
            </a:r>
            <a:r>
              <a:rPr lang="en-US" b="0" i="0" u="sng" cap="none" dirty="0">
                <a:solidFill>
                  <a:srgbClr val="000000"/>
                </a:solidFill>
                <a:effectLst/>
                <a:latin typeface="Arial" panose="020B0604020202020204" pitchFamily="34" charset="0"/>
                <a:cs typeface="Arial" panose="020B0604020202020204" pitchFamily="34" charset="0"/>
              </a:rPr>
              <a:t> are handled</a:t>
            </a:r>
            <a:r>
              <a:rPr lang="tr-TR" b="0" i="0" cap="none" dirty="0">
                <a:solidFill>
                  <a:srgbClr val="000000"/>
                </a:solidFill>
                <a:effectLst/>
                <a:latin typeface="Arial" panose="020B0604020202020204" pitchFamily="34" charset="0"/>
                <a:cs typeface="Arial" panose="020B0604020202020204" pitchFamily="34" charset="0"/>
              </a:rPr>
              <a:t>. Broadcast packet concept is vital for networks operability.</a:t>
            </a:r>
          </a:p>
          <a:p>
            <a:pPr marL="0" indent="0">
              <a:buNone/>
            </a:pPr>
            <a:r>
              <a:rPr lang="en-US" b="0" i="0" cap="none" dirty="0">
                <a:solidFill>
                  <a:srgbClr val="000000"/>
                </a:solidFill>
                <a:effectLst/>
                <a:latin typeface="Arial" panose="020B0604020202020204" pitchFamily="34" charset="0"/>
                <a:cs typeface="Arial" panose="020B0604020202020204" pitchFamily="34" charset="0"/>
              </a:rPr>
              <a:t>Broadcasts are used any time a device needs to make an announcement to the rest of the network or is unsure of who the recipient of the information should be</a:t>
            </a:r>
            <a:r>
              <a:rPr lang="tr-TR" b="0" i="0" cap="none" dirty="0">
                <a:solidFill>
                  <a:srgbClr val="000000"/>
                </a:solidFill>
                <a:effectLst/>
                <a:latin typeface="Arial" panose="020B0604020202020204" pitchFamily="34" charset="0"/>
                <a:cs typeface="Arial" panose="020B0604020202020204" pitchFamily="34" charset="0"/>
              </a:rPr>
              <a:t>.</a:t>
            </a:r>
            <a:r>
              <a:rPr lang="en-US" b="0" i="0" cap="none" dirty="0">
                <a:solidFill>
                  <a:srgbClr val="000000"/>
                </a:solidFill>
                <a:effectLst/>
                <a:latin typeface="Arial" panose="020B0604020202020204" pitchFamily="34" charset="0"/>
                <a:cs typeface="Arial" panose="020B0604020202020204" pitchFamily="34" charset="0"/>
              </a:rPr>
              <a:t> Whenever a device needs to send out information but doesn't know who it should send it to, it sends out a broadcast.</a:t>
            </a:r>
            <a:endParaRPr lang="tr-TR" cap="none" dirty="0">
              <a:solidFill>
                <a:srgbClr val="000000"/>
              </a:solidFill>
              <a:latin typeface="Arial" panose="020B0604020202020204" pitchFamily="34" charset="0"/>
              <a:cs typeface="Arial" panose="020B0604020202020204" pitchFamily="34" charset="0"/>
            </a:endParaRPr>
          </a:p>
          <a:p>
            <a:endParaRPr lang="en-US" cap="none" dirty="0"/>
          </a:p>
        </p:txBody>
      </p:sp>
    </p:spTree>
    <p:extLst>
      <p:ext uri="{BB962C8B-B14F-4D97-AF65-F5344CB8AC3E}">
        <p14:creationId xmlns:p14="http://schemas.microsoft.com/office/powerpoint/2010/main" val="3971393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344C0D1-78C1-4990-955A-D5D12F340D82}"/>
              </a:ext>
            </a:extLst>
          </p:cNvPr>
          <p:cNvSpPr>
            <a:spLocks noGrp="1"/>
          </p:cNvSpPr>
          <p:nvPr>
            <p:ph type="title"/>
          </p:nvPr>
        </p:nvSpPr>
        <p:spPr>
          <a:xfrm>
            <a:off x="913774" y="265590"/>
            <a:ext cx="10364451" cy="1596177"/>
          </a:xfrm>
        </p:spPr>
        <p:txBody>
          <a:bodyPr/>
          <a:lstStyle/>
          <a:p>
            <a:r>
              <a:rPr lang="tr-TR" dirty="0" err="1" smtClean="0"/>
              <a:t>Packet-SwItchıng</a:t>
            </a:r>
            <a:endParaRPr lang="en-US" dirty="0"/>
          </a:p>
        </p:txBody>
      </p:sp>
      <p:sp>
        <p:nvSpPr>
          <p:cNvPr id="3" name="Content Placeholder 2">
            <a:extLst>
              <a:ext uri="{FF2B5EF4-FFF2-40B4-BE49-F238E27FC236}">
                <a16:creationId xmlns="" xmlns:a16="http://schemas.microsoft.com/office/drawing/2014/main" id="{2C215BC0-6B19-4554-84CB-17C46615F44A}"/>
              </a:ext>
            </a:extLst>
          </p:cNvPr>
          <p:cNvSpPr>
            <a:spLocks noGrp="1"/>
          </p:cNvSpPr>
          <p:nvPr>
            <p:ph idx="1"/>
          </p:nvPr>
        </p:nvSpPr>
        <p:spPr>
          <a:xfrm>
            <a:off x="913773" y="1861767"/>
            <a:ext cx="10364452" cy="4523873"/>
          </a:xfrm>
        </p:spPr>
        <p:txBody>
          <a:bodyPr>
            <a:normAutofit lnSpcReduction="10000"/>
          </a:bodyPr>
          <a:lstStyle/>
          <a:p>
            <a:pPr marL="0" indent="0">
              <a:buNone/>
            </a:pPr>
            <a:r>
              <a:rPr lang="tr-TR" cap="none" dirty="0">
                <a:latin typeface="Arial" panose="020B0604020202020204" pitchFamily="34" charset="0"/>
                <a:cs typeface="Arial" panose="020B0604020202020204" pitchFamily="34" charset="0"/>
              </a:rPr>
              <a:t>LAN switches rely on packet-switching. </a:t>
            </a:r>
          </a:p>
          <a:p>
            <a:pPr marL="0" indent="0">
              <a:buNone/>
            </a:pPr>
            <a:r>
              <a:rPr lang="tr-TR" u="sng" cap="none" dirty="0">
                <a:latin typeface="Arial" panose="020B0604020202020204" pitchFamily="34" charset="0"/>
                <a:cs typeface="Arial" panose="020B0604020202020204" pitchFamily="34" charset="0"/>
              </a:rPr>
              <a:t>Packet switching is a method of grouping data that is trasmitted over a digital network into packets</a:t>
            </a:r>
            <a:r>
              <a:rPr lang="tr-TR" cap="none" dirty="0">
                <a:latin typeface="Arial" panose="020B0604020202020204" pitchFamily="34" charset="0"/>
                <a:cs typeface="Arial" panose="020B0604020202020204" pitchFamily="34" charset="0"/>
              </a:rPr>
              <a:t>. Packet switching is the primary basis for data communications in computer networks worldwide.</a:t>
            </a:r>
            <a:endParaRPr lang="tr-TR" cap="none" dirty="0">
              <a:solidFill>
                <a:srgbClr val="000000"/>
              </a:solidFill>
              <a:latin typeface="Arial" panose="020B0604020202020204" pitchFamily="34" charset="0"/>
              <a:cs typeface="Arial" panose="020B0604020202020204" pitchFamily="34" charset="0"/>
            </a:endParaRPr>
          </a:p>
          <a:p>
            <a:pPr marL="0" indent="0">
              <a:buNone/>
            </a:pPr>
            <a:r>
              <a:rPr lang="en-US" b="0" i="0" cap="none" dirty="0">
                <a:solidFill>
                  <a:srgbClr val="000000"/>
                </a:solidFill>
                <a:effectLst/>
                <a:latin typeface="Arial" panose="020B0604020202020204" pitchFamily="34" charset="0"/>
                <a:cs typeface="Arial" panose="020B0604020202020204" pitchFamily="34" charset="0"/>
              </a:rPr>
              <a:t>The switch establishes a connection between two segments just long enough to send the current packet</a:t>
            </a:r>
            <a:r>
              <a:rPr lang="tr-TR" b="0" i="0" cap="none" dirty="0">
                <a:solidFill>
                  <a:srgbClr val="000000"/>
                </a:solidFill>
                <a:effectLst/>
                <a:latin typeface="Arial" panose="020B0604020202020204" pitchFamily="34" charset="0"/>
                <a:cs typeface="Arial" panose="020B0604020202020204" pitchFamily="34" charset="0"/>
              </a:rPr>
              <a:t>.</a:t>
            </a:r>
          </a:p>
          <a:p>
            <a:pPr marL="0" indent="0">
              <a:buNone/>
            </a:pPr>
            <a:r>
              <a:rPr lang="tr-TR" b="0" i="0" cap="none" dirty="0">
                <a:solidFill>
                  <a:srgbClr val="000000"/>
                </a:solidFill>
                <a:effectLst/>
                <a:latin typeface="Arial" panose="020B0604020202020204" pitchFamily="34" charset="0"/>
                <a:cs typeface="Arial" panose="020B0604020202020204" pitchFamily="34" charset="0"/>
              </a:rPr>
              <a:t>Packets are made of header and payload. </a:t>
            </a:r>
          </a:p>
          <a:p>
            <a:pPr marL="0" indent="0">
              <a:buNone/>
            </a:pPr>
            <a:r>
              <a:rPr lang="tr-TR" b="0" i="0" cap="none" dirty="0">
                <a:solidFill>
                  <a:srgbClr val="000000"/>
                </a:solidFill>
                <a:effectLst/>
                <a:latin typeface="Arial" panose="020B0604020202020204" pitchFamily="34" charset="0"/>
                <a:cs typeface="Arial" panose="020B0604020202020204" pitchFamily="34" charset="0"/>
              </a:rPr>
              <a:t>Data in the header is used by networking hardware to direct packet to its destination, where the payload is extracted and used by application software.</a:t>
            </a:r>
          </a:p>
          <a:p>
            <a:pPr marL="0" indent="0">
              <a:buNone/>
            </a:pPr>
            <a:r>
              <a:rPr lang="tr-TR" sz="2000" cap="none" dirty="0">
                <a:solidFill>
                  <a:srgbClr val="000000"/>
                </a:solidFill>
                <a:latin typeface="Arial" panose="020B0604020202020204" pitchFamily="34" charset="0"/>
                <a:cs typeface="Arial" panose="020B0604020202020204" pitchFamily="34" charset="0"/>
              </a:rPr>
              <a:t>Packet based switches use on of the three methods for routing traffic: </a:t>
            </a:r>
            <a:r>
              <a:rPr lang="tr-TR" sz="2000" b="1" cap="none" dirty="0">
                <a:solidFill>
                  <a:srgbClr val="000000"/>
                </a:solidFill>
                <a:latin typeface="Arial" panose="020B0604020202020204" pitchFamily="34" charset="0"/>
                <a:cs typeface="Arial" panose="020B0604020202020204" pitchFamily="34" charset="0"/>
              </a:rPr>
              <a:t>Cut-through, store-and-forward, fragment-free</a:t>
            </a:r>
            <a:r>
              <a:rPr lang="tr-TR" sz="2000" cap="none" dirty="0">
                <a:solidFill>
                  <a:srgbClr val="000000"/>
                </a:solidFill>
                <a:latin typeface="Arial" panose="020B0604020202020204" pitchFamily="34" charset="0"/>
                <a:cs typeface="Arial" panose="020B0604020202020204" pitchFamily="34" charset="0"/>
              </a:rPr>
              <a:t>.</a:t>
            </a:r>
          </a:p>
          <a:p>
            <a:endParaRPr lang="tr-TR" b="0" i="0" cap="none" dirty="0">
              <a:solidFill>
                <a:srgbClr val="000000"/>
              </a:solidFill>
              <a:effectLst/>
              <a:latin typeface="Roboto"/>
            </a:endParaRPr>
          </a:p>
        </p:txBody>
      </p:sp>
    </p:spTree>
    <p:extLst>
      <p:ext uri="{BB962C8B-B14F-4D97-AF65-F5344CB8AC3E}">
        <p14:creationId xmlns:p14="http://schemas.microsoft.com/office/powerpoint/2010/main" val="2319792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A02E25-153D-4E2F-AA96-4D2428620DC9}"/>
              </a:ext>
            </a:extLst>
          </p:cNvPr>
          <p:cNvSpPr>
            <a:spLocks noGrp="1"/>
          </p:cNvSpPr>
          <p:nvPr>
            <p:ph type="title"/>
          </p:nvPr>
        </p:nvSpPr>
        <p:spPr>
          <a:xfrm>
            <a:off x="913774" y="0"/>
            <a:ext cx="10364451" cy="1596177"/>
          </a:xfrm>
        </p:spPr>
        <p:txBody>
          <a:bodyPr/>
          <a:lstStyle/>
          <a:p>
            <a:r>
              <a:rPr lang="tr-TR" dirty="0"/>
              <a:t>Packet Based SwItches</a:t>
            </a:r>
            <a:endParaRPr lang="en-US" dirty="0"/>
          </a:p>
        </p:txBody>
      </p:sp>
      <p:sp>
        <p:nvSpPr>
          <p:cNvPr id="3" name="Content Placeholder 2">
            <a:extLst>
              <a:ext uri="{FF2B5EF4-FFF2-40B4-BE49-F238E27FC236}">
                <a16:creationId xmlns="" xmlns:a16="http://schemas.microsoft.com/office/drawing/2014/main" id="{4A98AC5E-64EE-466E-8768-42E6CB46F999}"/>
              </a:ext>
            </a:extLst>
          </p:cNvPr>
          <p:cNvSpPr>
            <a:spLocks noGrp="1"/>
          </p:cNvSpPr>
          <p:nvPr>
            <p:ph idx="1"/>
          </p:nvPr>
        </p:nvSpPr>
        <p:spPr>
          <a:xfrm>
            <a:off x="913774" y="1251284"/>
            <a:ext cx="10364452" cy="5325979"/>
          </a:xfrm>
        </p:spPr>
        <p:txBody>
          <a:bodyPr>
            <a:normAutofit/>
          </a:bodyPr>
          <a:lstStyle/>
          <a:p>
            <a:pPr marL="0" indent="0">
              <a:buNone/>
            </a:pPr>
            <a:r>
              <a:rPr lang="tr-TR" sz="2200" b="1" cap="none" dirty="0">
                <a:solidFill>
                  <a:srgbClr val="000000"/>
                </a:solidFill>
                <a:latin typeface="Arial" panose="020B0604020202020204" pitchFamily="34" charset="0"/>
                <a:cs typeface="Arial" panose="020B0604020202020204" pitchFamily="34" charset="0"/>
              </a:rPr>
              <a:t>Cut-through</a:t>
            </a:r>
            <a:r>
              <a:rPr lang="tr-TR" sz="2200" cap="none" dirty="0">
                <a:solidFill>
                  <a:srgbClr val="000000"/>
                </a:solidFill>
                <a:latin typeface="Arial" panose="020B0604020202020204" pitchFamily="34" charset="0"/>
                <a:cs typeface="Arial" panose="020B0604020202020204" pitchFamily="34" charset="0"/>
              </a:rPr>
              <a:t> </a:t>
            </a:r>
            <a:r>
              <a:rPr lang="tr-TR" sz="2200" u="sng" cap="none" dirty="0">
                <a:solidFill>
                  <a:srgbClr val="000000"/>
                </a:solidFill>
                <a:latin typeface="Arial" panose="020B0604020202020204" pitchFamily="34" charset="0"/>
                <a:cs typeface="Arial" panose="020B0604020202020204" pitchFamily="34" charset="0"/>
              </a:rPr>
              <a:t>switches read the MAC address as soon as a packet is detected by switch</a:t>
            </a:r>
            <a:r>
              <a:rPr lang="tr-TR" sz="2200" cap="none" dirty="0">
                <a:solidFill>
                  <a:srgbClr val="000000"/>
                </a:solidFill>
                <a:latin typeface="Arial" panose="020B0604020202020204" pitchFamily="34" charset="0"/>
                <a:cs typeface="Arial" panose="020B0604020202020204" pitchFamily="34" charset="0"/>
              </a:rPr>
              <a:t>. After storing the 6 bytes that make up the address information they immediately begin sending packet to its destinatination node even as the rest of the packet is coming into the switch.</a:t>
            </a:r>
          </a:p>
          <a:p>
            <a:pPr marL="0" indent="0">
              <a:buNone/>
            </a:pPr>
            <a:r>
              <a:rPr lang="tr-TR" sz="2200" b="1" cap="none" dirty="0">
                <a:solidFill>
                  <a:srgbClr val="000000"/>
                </a:solidFill>
                <a:latin typeface="Arial" panose="020B0604020202020204" pitchFamily="34" charset="0"/>
                <a:cs typeface="Arial" panose="020B0604020202020204" pitchFamily="34" charset="0"/>
              </a:rPr>
              <a:t>Store-and-forward</a:t>
            </a:r>
            <a:r>
              <a:rPr lang="tr-TR" sz="2200" cap="none" dirty="0">
                <a:solidFill>
                  <a:srgbClr val="000000"/>
                </a:solidFill>
                <a:latin typeface="Arial" panose="020B0604020202020204" pitchFamily="34" charset="0"/>
                <a:cs typeface="Arial" panose="020B0604020202020204" pitchFamily="34" charset="0"/>
              </a:rPr>
              <a:t> </a:t>
            </a:r>
            <a:r>
              <a:rPr lang="tr-TR" sz="2200" u="sng" cap="none" dirty="0">
                <a:solidFill>
                  <a:srgbClr val="000000"/>
                </a:solidFill>
                <a:latin typeface="Arial" panose="020B0604020202020204" pitchFamily="34" charset="0"/>
                <a:cs typeface="Arial" panose="020B0604020202020204" pitchFamily="34" charset="0"/>
              </a:rPr>
              <a:t>will save the entire packet to the buffer and check it for errors before sending</a:t>
            </a:r>
            <a:r>
              <a:rPr lang="tr-TR" sz="2200" cap="none" dirty="0">
                <a:solidFill>
                  <a:srgbClr val="000000"/>
                </a:solidFill>
                <a:latin typeface="Arial" panose="020B0604020202020204" pitchFamily="34" charset="0"/>
                <a:cs typeface="Arial" panose="020B0604020202020204" pitchFamily="34" charset="0"/>
              </a:rPr>
              <a:t>. If there is no error switch looks up the MAC address and sends the packet on to the destination node.</a:t>
            </a:r>
          </a:p>
          <a:p>
            <a:pPr marL="0" indent="0">
              <a:buNone/>
            </a:pPr>
            <a:r>
              <a:rPr lang="tr-TR" sz="2200" u="sng" cap="none" dirty="0">
                <a:solidFill>
                  <a:srgbClr val="000000"/>
                </a:solidFill>
                <a:latin typeface="Arial" panose="020B0604020202020204" pitchFamily="34" charset="0"/>
                <a:cs typeface="Arial" panose="020B0604020202020204" pitchFamily="34" charset="0"/>
              </a:rPr>
              <a:t>Many switches  use cut-through until a certain error level, then chang over to store-and-forward.</a:t>
            </a:r>
          </a:p>
          <a:p>
            <a:pPr marL="0" indent="0">
              <a:buNone/>
            </a:pPr>
            <a:r>
              <a:rPr lang="tr-TR" sz="2200" b="1" cap="none" dirty="0">
                <a:latin typeface="Arial" panose="020B0604020202020204" pitchFamily="34" charset="0"/>
                <a:cs typeface="Arial" panose="020B0604020202020204" pitchFamily="34" charset="0"/>
              </a:rPr>
              <a:t>Fragment-free</a:t>
            </a:r>
            <a:r>
              <a:rPr lang="tr-TR" sz="2200" cap="none" dirty="0">
                <a:latin typeface="Arial" panose="020B0604020202020204" pitchFamily="34" charset="0"/>
                <a:cs typeface="Arial" panose="020B0604020202020204" pitchFamily="34" charset="0"/>
              </a:rPr>
              <a:t> is a </a:t>
            </a:r>
            <a:r>
              <a:rPr lang="tr-TR" sz="2200" u="sng" cap="none" dirty="0">
                <a:latin typeface="Arial" panose="020B0604020202020204" pitchFamily="34" charset="0"/>
                <a:cs typeface="Arial" panose="020B0604020202020204" pitchFamily="34" charset="0"/>
              </a:rPr>
              <a:t>less common </a:t>
            </a:r>
            <a:r>
              <a:rPr lang="tr-TR" sz="2200" cap="none" dirty="0">
                <a:latin typeface="Arial" panose="020B0604020202020204" pitchFamily="34" charset="0"/>
                <a:cs typeface="Arial" panose="020B0604020202020204" pitchFamily="34" charset="0"/>
              </a:rPr>
              <a:t>method that works like cut-through except that </a:t>
            </a:r>
            <a:r>
              <a:rPr lang="tr-TR" sz="2200" u="sng" cap="none" dirty="0">
                <a:latin typeface="Arial" panose="020B0604020202020204" pitchFamily="34" charset="0"/>
                <a:cs typeface="Arial" panose="020B0604020202020204" pitchFamily="34" charset="0"/>
              </a:rPr>
              <a:t>stores the first 64 bytes of packet </a:t>
            </a:r>
            <a:r>
              <a:rPr lang="tr-TR" sz="2200" cap="none" dirty="0">
                <a:latin typeface="Arial" panose="020B0604020202020204" pitchFamily="34" charset="0"/>
                <a:cs typeface="Arial" panose="020B0604020202020204" pitchFamily="34" charset="0"/>
              </a:rPr>
              <a:t>before sending. The reason is most errors occur at the initial 64 bytes of a packet.</a:t>
            </a:r>
            <a:endParaRPr lang="en-US" sz="2200" cap="none"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062171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894819-D1BF-4CA8-A34E-D2DD86F01891}"/>
              </a:ext>
            </a:extLst>
          </p:cNvPr>
          <p:cNvSpPr>
            <a:spLocks noGrp="1"/>
          </p:cNvSpPr>
          <p:nvPr>
            <p:ph type="title"/>
          </p:nvPr>
        </p:nvSpPr>
        <p:spPr>
          <a:xfrm>
            <a:off x="913776" y="305682"/>
            <a:ext cx="10364451" cy="1596177"/>
          </a:xfrm>
        </p:spPr>
        <p:txBody>
          <a:bodyPr/>
          <a:lstStyle/>
          <a:p>
            <a:r>
              <a:rPr lang="tr-TR" dirty="0" err="1" smtClean="0"/>
              <a:t>SwItch</a:t>
            </a:r>
            <a:r>
              <a:rPr lang="tr-TR" dirty="0" smtClean="0"/>
              <a:t> </a:t>
            </a:r>
            <a:r>
              <a:rPr lang="tr-TR" dirty="0" err="1" smtClean="0"/>
              <a:t>ConfIguratIons</a:t>
            </a:r>
            <a:endParaRPr lang="en-US" dirty="0"/>
          </a:p>
        </p:txBody>
      </p:sp>
      <p:sp>
        <p:nvSpPr>
          <p:cNvPr id="3" name="Content Placeholder 2">
            <a:extLst>
              <a:ext uri="{FF2B5EF4-FFF2-40B4-BE49-F238E27FC236}">
                <a16:creationId xmlns="" xmlns:a16="http://schemas.microsoft.com/office/drawing/2014/main" id="{FA45C0E3-FD5C-46EC-9D35-7F1654D06646}"/>
              </a:ext>
            </a:extLst>
          </p:cNvPr>
          <p:cNvSpPr>
            <a:spLocks noGrp="1"/>
          </p:cNvSpPr>
          <p:nvPr>
            <p:ph idx="1"/>
          </p:nvPr>
        </p:nvSpPr>
        <p:spPr>
          <a:xfrm>
            <a:off x="913775" y="1668379"/>
            <a:ext cx="10364452" cy="4973053"/>
          </a:xfrm>
        </p:spPr>
        <p:txBody>
          <a:bodyPr>
            <a:normAutofit/>
          </a:bodyPr>
          <a:lstStyle/>
          <a:p>
            <a:pPr marL="0" indent="0">
              <a:buNone/>
            </a:pPr>
            <a:r>
              <a:rPr lang="tr-TR" u="sng" cap="none" dirty="0">
                <a:latin typeface="Arial" panose="020B0604020202020204" pitchFamily="34" charset="0"/>
                <a:cs typeface="Arial" panose="020B0604020202020204" pitchFamily="34" charset="0"/>
              </a:rPr>
              <a:t>LAN switches vary in their physical design</a:t>
            </a:r>
            <a:r>
              <a:rPr lang="tr-TR" cap="none" dirty="0">
                <a:latin typeface="Arial" panose="020B0604020202020204" pitchFamily="34" charset="0"/>
                <a:cs typeface="Arial" panose="020B0604020202020204" pitchFamily="34" charset="0"/>
              </a:rPr>
              <a:t>. Currently there are three popular configurations in use:</a:t>
            </a:r>
          </a:p>
          <a:p>
            <a:pPr marL="0" indent="0">
              <a:buNone/>
            </a:pPr>
            <a:r>
              <a:rPr lang="tr-TR" b="1" cap="none" dirty="0">
                <a:latin typeface="Arial" panose="020B0604020202020204" pitchFamily="34" charset="0"/>
                <a:cs typeface="Arial" panose="020B0604020202020204" pitchFamily="34" charset="0"/>
              </a:rPr>
              <a:t>Shared memory: </a:t>
            </a:r>
            <a:r>
              <a:rPr lang="tr-TR" u="sng" cap="none" dirty="0">
                <a:latin typeface="Arial" panose="020B0604020202020204" pitchFamily="34" charset="0"/>
                <a:cs typeface="Arial" panose="020B0604020202020204" pitchFamily="34" charset="0"/>
              </a:rPr>
              <a:t>These switches stores all incoming packets in a common memory buffer shared by all the switch ports(I/O connections)</a:t>
            </a:r>
            <a:r>
              <a:rPr lang="tr-TR" cap="none" dirty="0">
                <a:latin typeface="Arial" panose="020B0604020202020204" pitchFamily="34" charset="0"/>
                <a:cs typeface="Arial" panose="020B0604020202020204" pitchFamily="34" charset="0"/>
              </a:rPr>
              <a:t>, then sends them out via the correct port for the destination node.</a:t>
            </a:r>
          </a:p>
          <a:p>
            <a:pPr marL="0" indent="0">
              <a:buNone/>
            </a:pPr>
            <a:r>
              <a:rPr lang="tr-TR" b="1" cap="none" dirty="0">
                <a:latin typeface="Arial" panose="020B0604020202020204" pitchFamily="34" charset="0"/>
                <a:cs typeface="Arial" panose="020B0604020202020204" pitchFamily="34" charset="0"/>
              </a:rPr>
              <a:t>Matrix: </a:t>
            </a:r>
            <a:r>
              <a:rPr lang="tr-TR" u="sng" cap="none" dirty="0">
                <a:latin typeface="Arial" panose="020B0604020202020204" pitchFamily="34" charset="0"/>
                <a:cs typeface="Arial" panose="020B0604020202020204" pitchFamily="34" charset="0"/>
              </a:rPr>
              <a:t>These switches have an internal grid(table) with the input ports and the output ports crossing each other</a:t>
            </a:r>
            <a:r>
              <a:rPr lang="tr-TR" cap="none" dirty="0">
                <a:latin typeface="Arial" panose="020B0604020202020204" pitchFamily="34" charset="0"/>
                <a:cs typeface="Arial" panose="020B0604020202020204" pitchFamily="34" charset="0"/>
              </a:rPr>
              <a:t>. When a packet is detected on an input port the MAC address is compared to the lookup table to find appropriate output port.</a:t>
            </a:r>
          </a:p>
          <a:p>
            <a:pPr marL="0" indent="0">
              <a:buNone/>
            </a:pPr>
            <a:r>
              <a:rPr lang="tr-TR" b="1" cap="none" dirty="0">
                <a:latin typeface="Arial" panose="020B0604020202020204" pitchFamily="34" charset="0"/>
                <a:cs typeface="Arial" panose="020B0604020202020204" pitchFamily="34" charset="0"/>
              </a:rPr>
              <a:t>Bus architecture: </a:t>
            </a:r>
            <a:r>
              <a:rPr lang="tr-TR" cap="none" dirty="0">
                <a:latin typeface="Arial" panose="020B0604020202020204" pitchFamily="34" charset="0"/>
                <a:cs typeface="Arial" panose="020B0604020202020204" pitchFamily="34" charset="0"/>
              </a:rPr>
              <a:t>An internal trasmission path(common bus) is shared by all of the ports using TDMA(time division multiple access). </a:t>
            </a:r>
            <a:r>
              <a:rPr lang="tr-TR" u="sng" cap="none" dirty="0">
                <a:latin typeface="Arial" panose="020B0604020202020204" pitchFamily="34" charset="0"/>
                <a:cs typeface="Arial" panose="020B0604020202020204" pitchFamily="34" charset="0"/>
              </a:rPr>
              <a:t>These switches have a dedicated memory buffer for each porrt as well as an ASIC(application specific integrated circuit) to control the internal bus access.</a:t>
            </a:r>
            <a:endParaRPr lang="en-US" u="sng" cap="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50897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CFBF1F-A124-433B-A868-12880529F31C}"/>
              </a:ext>
            </a:extLst>
          </p:cNvPr>
          <p:cNvSpPr>
            <a:spLocks noGrp="1"/>
          </p:cNvSpPr>
          <p:nvPr>
            <p:ph type="title"/>
          </p:nvPr>
        </p:nvSpPr>
        <p:spPr>
          <a:xfrm>
            <a:off x="913775" y="618517"/>
            <a:ext cx="10364451" cy="1596177"/>
          </a:xfrm>
        </p:spPr>
        <p:txBody>
          <a:bodyPr>
            <a:normAutofit/>
          </a:bodyPr>
          <a:lstStyle/>
          <a:p>
            <a:r>
              <a:rPr lang="tr-TR" dirty="0" err="1" smtClean="0"/>
              <a:t>SwItches</a:t>
            </a:r>
            <a:r>
              <a:rPr lang="tr-TR" dirty="0" smtClean="0"/>
              <a:t> </a:t>
            </a:r>
            <a:r>
              <a:rPr lang="tr-TR" dirty="0"/>
              <a:t>and segments</a:t>
            </a:r>
            <a:endParaRPr lang="en-US" dirty="0"/>
          </a:p>
        </p:txBody>
      </p:sp>
      <p:pic>
        <p:nvPicPr>
          <p:cNvPr id="5" name="Content Placeholder 4" descr="Diagram&#10;&#10;Description automatically generated">
            <a:extLst>
              <a:ext uri="{FF2B5EF4-FFF2-40B4-BE49-F238E27FC236}">
                <a16:creationId xmlns="" xmlns:a16="http://schemas.microsoft.com/office/drawing/2014/main" id="{17BADCD3-CB44-460F-8201-BB46F949B8FF}"/>
              </a:ext>
            </a:extLst>
          </p:cNvPr>
          <p:cNvPicPr>
            <a:picLocks noChangeAspect="1"/>
          </p:cNvPicPr>
          <p:nvPr/>
        </p:nvPicPr>
        <p:blipFill rotWithShape="1">
          <a:blip r:embed="rId2">
            <a:extLst>
              <a:ext uri="{28A0092B-C50C-407E-A947-70E740481C1C}">
                <a14:useLocalDpi xmlns:a14="http://schemas.microsoft.com/office/drawing/2010/main" val="0"/>
              </a:ext>
            </a:extLst>
          </a:blip>
          <a:srcRect t="2564" r="1" b="1"/>
          <a:stretch/>
        </p:blipFill>
        <p:spPr>
          <a:xfrm>
            <a:off x="352926" y="2297777"/>
            <a:ext cx="4119482" cy="3460215"/>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9" name="Content Placeholder 8">
            <a:extLst>
              <a:ext uri="{FF2B5EF4-FFF2-40B4-BE49-F238E27FC236}">
                <a16:creationId xmlns="" xmlns:a16="http://schemas.microsoft.com/office/drawing/2014/main" id="{BA755661-4D2C-4243-B7D1-6E73C55DC98D}"/>
              </a:ext>
            </a:extLst>
          </p:cNvPr>
          <p:cNvSpPr>
            <a:spLocks noGrp="1"/>
          </p:cNvSpPr>
          <p:nvPr>
            <p:ph idx="1"/>
          </p:nvPr>
        </p:nvSpPr>
        <p:spPr>
          <a:xfrm>
            <a:off x="5126571" y="3107341"/>
            <a:ext cx="6439786" cy="1841086"/>
          </a:xfrm>
        </p:spPr>
        <p:txBody>
          <a:bodyPr>
            <a:normAutofit/>
          </a:bodyPr>
          <a:lstStyle/>
          <a:p>
            <a:r>
              <a:rPr lang="tr-TR" cap="none" dirty="0">
                <a:latin typeface="Arial" panose="020B0604020202020204" pitchFamily="34" charset="0"/>
                <a:cs typeface="Arial" panose="020B0604020202020204" pitchFamily="34" charset="0"/>
              </a:rPr>
              <a:t>On the left you can see A,B,C switches and segment A and segment B between them.</a:t>
            </a:r>
          </a:p>
          <a:p>
            <a:r>
              <a:rPr lang="tr-TR" u="sng" cap="none" dirty="0">
                <a:latin typeface="Arial" panose="020B0604020202020204" pitchFamily="34" charset="0"/>
                <a:cs typeface="Arial" panose="020B0604020202020204" pitchFamily="34" charset="0"/>
              </a:rPr>
              <a:t>Segments are the parts between the switches</a:t>
            </a:r>
            <a:r>
              <a:rPr lang="tr-TR" cap="none" dirty="0">
                <a:latin typeface="Arial" panose="020B0604020202020204" pitchFamily="34" charset="0"/>
                <a:cs typeface="Arial" panose="020B0604020202020204" pitchFamily="34" charset="0"/>
              </a:rPr>
              <a:t>.</a:t>
            </a:r>
          </a:p>
          <a:p>
            <a:endParaRPr lang="en-US" cap="none" dirty="0">
              <a:latin typeface="Roboto"/>
            </a:endParaRPr>
          </a:p>
        </p:txBody>
      </p:sp>
      <p:sp>
        <p:nvSpPr>
          <p:cNvPr id="7" name="Content Placeholder 8">
            <a:extLst>
              <a:ext uri="{FF2B5EF4-FFF2-40B4-BE49-F238E27FC236}">
                <a16:creationId xmlns="" xmlns:a16="http://schemas.microsoft.com/office/drawing/2014/main" id="{67F80DCC-4E56-46E4-9944-C514543F64C5}"/>
              </a:ext>
            </a:extLst>
          </p:cNvPr>
          <p:cNvSpPr txBox="1">
            <a:spLocks/>
          </p:cNvSpPr>
          <p:nvPr/>
        </p:nvSpPr>
        <p:spPr>
          <a:xfrm>
            <a:off x="352927" y="5804966"/>
            <a:ext cx="4119482" cy="9166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r>
              <a:rPr lang="tr-TR" cap="none" dirty="0">
                <a:latin typeface="Roboto"/>
              </a:rPr>
              <a:t>Figure 2- Example to switches and segments [2]</a:t>
            </a:r>
            <a:endParaRPr lang="en-US" cap="none" dirty="0">
              <a:latin typeface="Roboto"/>
            </a:endParaRPr>
          </a:p>
        </p:txBody>
      </p:sp>
    </p:spTree>
    <p:extLst>
      <p:ext uri="{BB962C8B-B14F-4D97-AF65-F5344CB8AC3E}">
        <p14:creationId xmlns:p14="http://schemas.microsoft.com/office/powerpoint/2010/main" val="3858178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BBF4532-3F73-420B-A6E6-B53EC5E43B09}"/>
              </a:ext>
            </a:extLst>
          </p:cNvPr>
          <p:cNvSpPr>
            <a:spLocks noGrp="1"/>
          </p:cNvSpPr>
          <p:nvPr>
            <p:ph type="title"/>
          </p:nvPr>
        </p:nvSpPr>
        <p:spPr>
          <a:xfrm>
            <a:off x="913774" y="601592"/>
            <a:ext cx="10364451" cy="1596177"/>
          </a:xfrm>
        </p:spPr>
        <p:txBody>
          <a:bodyPr/>
          <a:lstStyle/>
          <a:p>
            <a:r>
              <a:rPr lang="tr-TR" dirty="0" err="1"/>
              <a:t>Transparent</a:t>
            </a:r>
            <a:r>
              <a:rPr lang="tr-TR" dirty="0"/>
              <a:t> </a:t>
            </a:r>
            <a:r>
              <a:rPr lang="tr-TR" dirty="0" err="1" smtClean="0"/>
              <a:t>BrIdgIng</a:t>
            </a:r>
            <a:endParaRPr lang="en-US" dirty="0"/>
          </a:p>
        </p:txBody>
      </p:sp>
      <p:sp>
        <p:nvSpPr>
          <p:cNvPr id="3" name="Content Placeholder 2">
            <a:extLst>
              <a:ext uri="{FF2B5EF4-FFF2-40B4-BE49-F238E27FC236}">
                <a16:creationId xmlns="" xmlns:a16="http://schemas.microsoft.com/office/drawing/2014/main" id="{E5AFE935-BDD5-4E45-82EB-24C0FC6B5C3E}"/>
              </a:ext>
            </a:extLst>
          </p:cNvPr>
          <p:cNvSpPr>
            <a:spLocks noGrp="1"/>
          </p:cNvSpPr>
          <p:nvPr>
            <p:ph idx="1"/>
          </p:nvPr>
        </p:nvSpPr>
        <p:spPr>
          <a:xfrm>
            <a:off x="913774" y="2197769"/>
            <a:ext cx="10364452" cy="3609473"/>
          </a:xfrm>
        </p:spPr>
        <p:txBody>
          <a:bodyPr>
            <a:normAutofit/>
          </a:bodyPr>
          <a:lstStyle/>
          <a:p>
            <a:pPr marL="0" indent="0">
              <a:buNone/>
            </a:pPr>
            <a:r>
              <a:rPr lang="tr-TR" cap="none" dirty="0">
                <a:latin typeface="Arial" panose="020B0604020202020204" pitchFamily="34" charset="0"/>
                <a:cs typeface="Arial" panose="020B0604020202020204" pitchFamily="34" charset="0"/>
              </a:rPr>
              <a:t>Most ethernet LAN switches use a system called </a:t>
            </a:r>
            <a:r>
              <a:rPr lang="tr-TR" b="1" cap="none" dirty="0">
                <a:latin typeface="Arial" panose="020B0604020202020204" pitchFamily="34" charset="0"/>
                <a:cs typeface="Arial" panose="020B0604020202020204" pitchFamily="34" charset="0"/>
              </a:rPr>
              <a:t>transparent bridging </a:t>
            </a:r>
            <a:r>
              <a:rPr lang="tr-TR" cap="none" dirty="0">
                <a:latin typeface="Arial" panose="020B0604020202020204" pitchFamily="34" charset="0"/>
                <a:cs typeface="Arial" panose="020B0604020202020204" pitchFamily="34" charset="0"/>
              </a:rPr>
              <a:t>to create their address lookup tables. </a:t>
            </a:r>
          </a:p>
          <a:p>
            <a:pPr marL="0" indent="0">
              <a:buNone/>
            </a:pPr>
            <a:r>
              <a:rPr lang="tr-TR" u="sng" cap="none" dirty="0">
                <a:latin typeface="Arial" panose="020B0604020202020204" pitchFamily="34" charset="0"/>
                <a:cs typeface="Arial" panose="020B0604020202020204" pitchFamily="34" charset="0"/>
              </a:rPr>
              <a:t>Transparent bridging is a technology that allows a switch to learn everything it needs to know about the location of nodes on the network without the network admin having to do anything</a:t>
            </a:r>
            <a:r>
              <a:rPr lang="tr-TR" cap="none" dirty="0">
                <a:latin typeface="Arial" panose="020B0604020202020204" pitchFamily="34" charset="0"/>
                <a:cs typeface="Arial" panose="020B0604020202020204" pitchFamily="34" charset="0"/>
              </a:rPr>
              <a:t>.</a:t>
            </a:r>
          </a:p>
          <a:p>
            <a:pPr marL="0" indent="0">
              <a:buNone/>
            </a:pPr>
            <a:r>
              <a:rPr lang="tr-TR" cap="none" dirty="0">
                <a:latin typeface="Arial" panose="020B0604020202020204" pitchFamily="34" charset="0"/>
                <a:cs typeface="Arial" panose="020B0604020202020204" pitchFamily="34" charset="0"/>
              </a:rPr>
              <a:t>Transparent bridging is essentially maintenance-free way to add and manage all the information a switch needs to do its job.</a:t>
            </a:r>
          </a:p>
          <a:p>
            <a:pPr marL="0" indent="0">
              <a:buNone/>
            </a:pPr>
            <a:r>
              <a:rPr lang="tr-TR" cap="none" dirty="0">
                <a:latin typeface="Arial" panose="020B0604020202020204" pitchFamily="34" charset="0"/>
                <a:cs typeface="Arial" panose="020B0604020202020204" pitchFamily="34" charset="0"/>
              </a:rPr>
              <a:t>Transparent bridging has five parts: </a:t>
            </a:r>
            <a:r>
              <a:rPr lang="tr-TR" b="1" cap="none" dirty="0">
                <a:latin typeface="Arial" panose="020B0604020202020204" pitchFamily="34" charset="0"/>
                <a:cs typeface="Arial" panose="020B0604020202020204" pitchFamily="34" charset="0"/>
              </a:rPr>
              <a:t>Learning</a:t>
            </a:r>
            <a:r>
              <a:rPr lang="tr-TR" cap="none" dirty="0">
                <a:latin typeface="Arial" panose="020B0604020202020204" pitchFamily="34" charset="0"/>
                <a:cs typeface="Arial" panose="020B0604020202020204" pitchFamily="34" charset="0"/>
              </a:rPr>
              <a:t>, </a:t>
            </a:r>
            <a:r>
              <a:rPr lang="tr-TR" b="1" cap="none" dirty="0">
                <a:latin typeface="Arial" panose="020B0604020202020204" pitchFamily="34" charset="0"/>
                <a:cs typeface="Arial" panose="020B0604020202020204" pitchFamily="34" charset="0"/>
              </a:rPr>
              <a:t>flooding</a:t>
            </a:r>
            <a:r>
              <a:rPr lang="tr-TR" cap="none" dirty="0">
                <a:latin typeface="Arial" panose="020B0604020202020204" pitchFamily="34" charset="0"/>
                <a:cs typeface="Arial" panose="020B0604020202020204" pitchFamily="34" charset="0"/>
              </a:rPr>
              <a:t>,</a:t>
            </a:r>
            <a:r>
              <a:rPr lang="tr-TR" b="1" cap="none" dirty="0">
                <a:latin typeface="Arial" panose="020B0604020202020204" pitchFamily="34" charset="0"/>
                <a:cs typeface="Arial" panose="020B0604020202020204" pitchFamily="34" charset="0"/>
              </a:rPr>
              <a:t>filtering</a:t>
            </a:r>
            <a:r>
              <a:rPr lang="tr-TR" cap="none" dirty="0">
                <a:latin typeface="Arial" panose="020B0604020202020204" pitchFamily="34" charset="0"/>
                <a:cs typeface="Arial" panose="020B0604020202020204" pitchFamily="34" charset="0"/>
              </a:rPr>
              <a:t>,</a:t>
            </a:r>
            <a:r>
              <a:rPr lang="tr-TR" b="1" cap="none" dirty="0">
                <a:latin typeface="Arial" panose="020B0604020202020204" pitchFamily="34" charset="0"/>
                <a:cs typeface="Arial" panose="020B0604020202020204" pitchFamily="34" charset="0"/>
              </a:rPr>
              <a:t>forwarding</a:t>
            </a:r>
            <a:r>
              <a:rPr lang="tr-TR" cap="none" dirty="0">
                <a:latin typeface="Arial" panose="020B0604020202020204" pitchFamily="34" charset="0"/>
                <a:cs typeface="Arial" panose="020B0604020202020204" pitchFamily="34" charset="0"/>
              </a:rPr>
              <a:t>,</a:t>
            </a:r>
            <a:r>
              <a:rPr lang="tr-TR" b="1" cap="none" dirty="0">
                <a:latin typeface="Arial" panose="020B0604020202020204" pitchFamily="34" charset="0"/>
                <a:cs typeface="Arial" panose="020B0604020202020204" pitchFamily="34" charset="0"/>
              </a:rPr>
              <a:t>aging</a:t>
            </a:r>
            <a:r>
              <a:rPr lang="tr-TR" cap="none"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55316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E61DEBE-16FF-47AC-8C55-4CB1A58E94C5}"/>
              </a:ext>
            </a:extLst>
          </p:cNvPr>
          <p:cNvSpPr>
            <a:spLocks noGrp="1"/>
          </p:cNvSpPr>
          <p:nvPr>
            <p:ph type="title"/>
          </p:nvPr>
        </p:nvSpPr>
        <p:spPr>
          <a:xfrm>
            <a:off x="913773" y="152412"/>
            <a:ext cx="10364451" cy="1596177"/>
          </a:xfrm>
        </p:spPr>
        <p:txBody>
          <a:bodyPr/>
          <a:lstStyle/>
          <a:p>
            <a:r>
              <a:rPr lang="tr-TR" dirty="0"/>
              <a:t>TRANSPARENT BRIDGING PROCESS</a:t>
            </a:r>
            <a:endParaRPr lang="en-US" dirty="0"/>
          </a:p>
        </p:txBody>
      </p:sp>
      <p:sp>
        <p:nvSpPr>
          <p:cNvPr id="3" name="Content Placeholder 2">
            <a:extLst>
              <a:ext uri="{FF2B5EF4-FFF2-40B4-BE49-F238E27FC236}">
                <a16:creationId xmlns="" xmlns:a16="http://schemas.microsoft.com/office/drawing/2014/main" id="{A5027586-CB27-4677-9D83-4134C9DC0106}"/>
              </a:ext>
            </a:extLst>
          </p:cNvPr>
          <p:cNvSpPr>
            <a:spLocks noGrp="1"/>
          </p:cNvSpPr>
          <p:nvPr>
            <p:ph idx="1"/>
          </p:nvPr>
        </p:nvSpPr>
        <p:spPr>
          <a:xfrm>
            <a:off x="913772" y="1427746"/>
            <a:ext cx="10364452" cy="5109412"/>
          </a:xfrm>
        </p:spPr>
        <p:txBody>
          <a:bodyPr>
            <a:normAutofit/>
          </a:bodyPr>
          <a:lstStyle/>
          <a:p>
            <a:pPr marL="0" indent="0">
              <a:buNone/>
            </a:pPr>
            <a:r>
              <a:rPr lang="tr-TR" cap="none" dirty="0">
                <a:latin typeface="Arial" panose="020B0604020202020204" pitchFamily="34" charset="0"/>
                <a:cs typeface="Arial" panose="020B0604020202020204" pitchFamily="34" charset="0"/>
              </a:rPr>
              <a:t>Transparent bridging process:</a:t>
            </a:r>
          </a:p>
          <a:p>
            <a:r>
              <a:rPr lang="tr-TR" cap="none" dirty="0">
                <a:latin typeface="Arial" panose="020B0604020202020204" pitchFamily="34" charset="0"/>
                <a:cs typeface="Arial" panose="020B0604020202020204" pitchFamily="34" charset="0"/>
              </a:rPr>
              <a:t>The switch is added to network and various segments are plugged into the switch’s ports.</a:t>
            </a:r>
          </a:p>
          <a:p>
            <a:r>
              <a:rPr lang="tr-TR" cap="none" dirty="0">
                <a:latin typeface="Arial" panose="020B0604020202020204" pitchFamily="34" charset="0"/>
                <a:cs typeface="Arial" panose="020B0604020202020204" pitchFamily="34" charset="0"/>
              </a:rPr>
              <a:t>A computer(node A) on the first segment(segment A) sends data to a computer(node B) on another segment(segment C).</a:t>
            </a:r>
          </a:p>
          <a:p>
            <a:r>
              <a:rPr lang="tr-TR" b="1" cap="none" dirty="0">
                <a:latin typeface="Arial" panose="020B0604020202020204" pitchFamily="34" charset="0"/>
                <a:cs typeface="Arial" panose="020B0604020202020204" pitchFamily="34" charset="0"/>
              </a:rPr>
              <a:t>Learning</a:t>
            </a:r>
            <a:r>
              <a:rPr lang="tr-TR" cap="none" dirty="0">
                <a:latin typeface="Arial" panose="020B0604020202020204" pitchFamily="34" charset="0"/>
                <a:cs typeface="Arial" panose="020B0604020202020204" pitchFamily="34" charset="0"/>
              </a:rPr>
              <a:t>: </a:t>
            </a:r>
            <a:r>
              <a:rPr lang="tr-TR" u="sng" cap="none" dirty="0">
                <a:latin typeface="Arial" panose="020B0604020202020204" pitchFamily="34" charset="0"/>
                <a:cs typeface="Arial" panose="020B0604020202020204" pitchFamily="34" charset="0"/>
              </a:rPr>
              <a:t>The switch gets the first packet of data from Node A, it reads the MAC  address and saves it to the lookup table for Segment A</a:t>
            </a:r>
            <a:r>
              <a:rPr lang="tr-TR" cap="none" dirty="0">
                <a:latin typeface="Arial" panose="020B0604020202020204" pitchFamily="34" charset="0"/>
                <a:cs typeface="Arial" panose="020B0604020202020204" pitchFamily="34" charset="0"/>
              </a:rPr>
              <a:t>. Swtich now knows where to find Node A anytime a packet is addressed to it.</a:t>
            </a:r>
            <a:endParaRPr lang="en-US" cap="none" dirty="0">
              <a:latin typeface="Arial" panose="020B0604020202020204" pitchFamily="34" charset="0"/>
              <a:cs typeface="Arial" panose="020B0604020202020204" pitchFamily="34" charset="0"/>
            </a:endParaRPr>
          </a:p>
          <a:p>
            <a:r>
              <a:rPr lang="tr-TR" b="1" cap="none" dirty="0">
                <a:latin typeface="Arial" panose="020B0604020202020204" pitchFamily="34" charset="0"/>
                <a:cs typeface="Arial" panose="020B0604020202020204" pitchFamily="34" charset="0"/>
              </a:rPr>
              <a:t>Flooding</a:t>
            </a:r>
            <a:r>
              <a:rPr lang="tr-TR" cap="none" dirty="0">
                <a:latin typeface="Arial" panose="020B0604020202020204" pitchFamily="34" charset="0"/>
                <a:cs typeface="Arial" panose="020B0604020202020204" pitchFamily="34" charset="0"/>
              </a:rPr>
              <a:t>: Since the switch does not know where Node B is , it sends the packet to all of the segments except the one that it arrived on (Segment A). </a:t>
            </a:r>
            <a:r>
              <a:rPr lang="tr-TR" u="sng" cap="none" dirty="0">
                <a:latin typeface="Arial" panose="020B0604020202020204" pitchFamily="34" charset="0"/>
                <a:cs typeface="Arial" panose="020B0604020202020204" pitchFamily="34" charset="0"/>
              </a:rPr>
              <a:t>When a switch sends a packet out to all segments to find a specific node, it is called flooding.</a:t>
            </a:r>
          </a:p>
        </p:txBody>
      </p:sp>
    </p:spTree>
    <p:extLst>
      <p:ext uri="{BB962C8B-B14F-4D97-AF65-F5344CB8AC3E}">
        <p14:creationId xmlns:p14="http://schemas.microsoft.com/office/powerpoint/2010/main" val="2137106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591E3E-43FF-48C6-AED3-5FED404D4417}"/>
              </a:ext>
            </a:extLst>
          </p:cNvPr>
          <p:cNvSpPr>
            <a:spLocks noGrp="1"/>
          </p:cNvSpPr>
          <p:nvPr>
            <p:ph type="title"/>
          </p:nvPr>
        </p:nvSpPr>
        <p:spPr>
          <a:xfrm>
            <a:off x="913774" y="737923"/>
            <a:ext cx="10364451" cy="1596177"/>
          </a:xfrm>
        </p:spPr>
        <p:txBody>
          <a:bodyPr/>
          <a:lstStyle/>
          <a:p>
            <a:r>
              <a:rPr lang="tr-TR" dirty="0" err="1"/>
              <a:t>Transparent</a:t>
            </a:r>
            <a:r>
              <a:rPr lang="tr-TR" dirty="0"/>
              <a:t> </a:t>
            </a:r>
            <a:r>
              <a:rPr lang="tr-TR" dirty="0" err="1" smtClean="0"/>
              <a:t>BrIdgIng</a:t>
            </a:r>
            <a:r>
              <a:rPr lang="tr-TR" dirty="0" smtClean="0"/>
              <a:t> </a:t>
            </a:r>
            <a:r>
              <a:rPr lang="tr-TR" dirty="0"/>
              <a:t>Process</a:t>
            </a:r>
            <a:endParaRPr lang="en-US" dirty="0"/>
          </a:p>
        </p:txBody>
      </p:sp>
      <p:sp>
        <p:nvSpPr>
          <p:cNvPr id="3" name="Content Placeholder 2">
            <a:extLst>
              <a:ext uri="{FF2B5EF4-FFF2-40B4-BE49-F238E27FC236}">
                <a16:creationId xmlns="" xmlns:a16="http://schemas.microsoft.com/office/drawing/2014/main" id="{9BC50B55-FE92-4B9A-970E-5545CF43BB52}"/>
              </a:ext>
            </a:extLst>
          </p:cNvPr>
          <p:cNvSpPr>
            <a:spLocks noGrp="1"/>
          </p:cNvSpPr>
          <p:nvPr>
            <p:ph idx="1"/>
          </p:nvPr>
        </p:nvSpPr>
        <p:spPr>
          <a:xfrm>
            <a:off x="913775" y="2551578"/>
            <a:ext cx="10364452" cy="3568499"/>
          </a:xfrm>
        </p:spPr>
        <p:txBody>
          <a:bodyPr>
            <a:normAutofit/>
          </a:bodyPr>
          <a:lstStyle/>
          <a:p>
            <a:r>
              <a:rPr lang="tr-TR" b="1" cap="none" dirty="0">
                <a:latin typeface="Arial" panose="020B0604020202020204" pitchFamily="34" charset="0"/>
                <a:cs typeface="Arial" panose="020B0604020202020204" pitchFamily="34" charset="0"/>
              </a:rPr>
              <a:t>Forwarding</a:t>
            </a:r>
            <a:r>
              <a:rPr lang="tr-TR" cap="none" dirty="0">
                <a:latin typeface="Arial" panose="020B0604020202020204" pitchFamily="34" charset="0"/>
                <a:cs typeface="Arial" panose="020B0604020202020204" pitchFamily="34" charset="0"/>
              </a:rPr>
              <a:t>: The packet from Node B arrives at the switch. Now the switch can add the MAC address of Node B to the lookup table for Segment C. Since the switch already knows the address of Node A, it sends the packet directly to it. </a:t>
            </a:r>
            <a:r>
              <a:rPr lang="tr-TR" u="sng" cap="none" dirty="0">
                <a:latin typeface="Arial" panose="020B0604020202020204" pitchFamily="34" charset="0"/>
                <a:cs typeface="Arial" panose="020B0604020202020204" pitchFamily="34" charset="0"/>
              </a:rPr>
              <a:t>Because node A is on different segment than Node B, the switch must connect the two segments to send the packet, this process is known as forwarding. </a:t>
            </a:r>
            <a:r>
              <a:rPr lang="tr-TR" cap="none" dirty="0">
                <a:latin typeface="Arial" panose="020B0604020202020204" pitchFamily="34" charset="0"/>
                <a:cs typeface="Arial" panose="020B0604020202020204" pitchFamily="34" charset="0"/>
              </a:rPr>
              <a:t>The next packet from Node A to Node B arrives at the switch. The switch now has the address of Node B, too so it forwards the packet directly to Node B.</a:t>
            </a:r>
          </a:p>
          <a:p>
            <a:endParaRPr lang="en-US" dirty="0"/>
          </a:p>
        </p:txBody>
      </p:sp>
    </p:spTree>
    <p:extLst>
      <p:ext uri="{BB962C8B-B14F-4D97-AF65-F5344CB8AC3E}">
        <p14:creationId xmlns:p14="http://schemas.microsoft.com/office/powerpoint/2010/main" val="1946024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0EF8C9-0EAF-4172-BD85-CD689CB67A93}"/>
              </a:ext>
            </a:extLst>
          </p:cNvPr>
          <p:cNvSpPr>
            <a:spLocks noGrp="1"/>
          </p:cNvSpPr>
          <p:nvPr>
            <p:ph type="title"/>
          </p:nvPr>
        </p:nvSpPr>
        <p:spPr/>
        <p:txBody>
          <a:bodyPr/>
          <a:lstStyle/>
          <a:p>
            <a:r>
              <a:rPr lang="tr-TR" dirty="0" err="1"/>
              <a:t>Transparent</a:t>
            </a:r>
            <a:r>
              <a:rPr lang="tr-TR" dirty="0"/>
              <a:t> </a:t>
            </a:r>
            <a:r>
              <a:rPr lang="tr-TR" dirty="0" err="1" smtClean="0"/>
              <a:t>BrIdgIng</a:t>
            </a:r>
            <a:r>
              <a:rPr lang="tr-TR" dirty="0" smtClean="0"/>
              <a:t> </a:t>
            </a:r>
            <a:r>
              <a:rPr lang="tr-TR" dirty="0"/>
              <a:t>Process</a:t>
            </a:r>
            <a:endParaRPr lang="en-US" dirty="0"/>
          </a:p>
        </p:txBody>
      </p:sp>
      <p:sp>
        <p:nvSpPr>
          <p:cNvPr id="3" name="Content Placeholder 2">
            <a:extLst>
              <a:ext uri="{FF2B5EF4-FFF2-40B4-BE49-F238E27FC236}">
                <a16:creationId xmlns="" xmlns:a16="http://schemas.microsoft.com/office/drawing/2014/main" id="{41A29F63-C15A-461A-BA11-7C0FFA24DBCD}"/>
              </a:ext>
            </a:extLst>
          </p:cNvPr>
          <p:cNvSpPr>
            <a:spLocks noGrp="1"/>
          </p:cNvSpPr>
          <p:nvPr>
            <p:ph idx="1"/>
          </p:nvPr>
        </p:nvSpPr>
        <p:spPr/>
        <p:txBody>
          <a:bodyPr/>
          <a:lstStyle/>
          <a:p>
            <a:r>
              <a:rPr lang="tr-TR" b="1" cap="none" dirty="0">
                <a:latin typeface="Arial" panose="020B0604020202020204" pitchFamily="34" charset="0"/>
                <a:cs typeface="Arial" panose="020B0604020202020204" pitchFamily="34" charset="0"/>
              </a:rPr>
              <a:t>Filtering</a:t>
            </a:r>
            <a:r>
              <a:rPr lang="tr-TR" cap="none" dirty="0">
                <a:latin typeface="Arial" panose="020B0604020202020204" pitchFamily="34" charset="0"/>
                <a:cs typeface="Arial" panose="020B0604020202020204" pitchFamily="34" charset="0"/>
              </a:rPr>
              <a:t>: Node C sends information to the switch for Node A. The switch looks at the MAC  address for Node C and adds it to the lookup table for Segment A. The switch already has the address for Node A and determines that both nodes are on the same segment, so it does not need to connect Segment A to another segment for the data to travel from Node C to Node A. </a:t>
            </a:r>
            <a:r>
              <a:rPr lang="tr-TR" u="sng" cap="none" dirty="0">
                <a:latin typeface="Arial" panose="020B0604020202020204" pitchFamily="34" charset="0"/>
                <a:cs typeface="Arial" panose="020B0604020202020204" pitchFamily="34" charset="0"/>
              </a:rPr>
              <a:t>Therefore the switch will ignore packets traveling between nodes on the same segment, this process is called filtering</a:t>
            </a:r>
            <a:r>
              <a:rPr lang="tr-TR" cap="none" dirty="0">
                <a:latin typeface="Arial" panose="020B0604020202020204" pitchFamily="34" charset="0"/>
                <a:cs typeface="Arial" panose="020B0604020202020204" pitchFamily="34" charset="0"/>
              </a:rPr>
              <a:t>.</a:t>
            </a:r>
          </a:p>
          <a:p>
            <a:endParaRPr lang="en-US" dirty="0"/>
          </a:p>
        </p:txBody>
      </p:sp>
    </p:spTree>
    <p:extLst>
      <p:ext uri="{BB962C8B-B14F-4D97-AF65-F5344CB8AC3E}">
        <p14:creationId xmlns:p14="http://schemas.microsoft.com/office/powerpoint/2010/main" val="1715908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A9FC3F-D12E-4C49-BD85-D64C21727CC4}"/>
              </a:ext>
            </a:extLst>
          </p:cNvPr>
          <p:cNvSpPr>
            <a:spLocks noGrp="1"/>
          </p:cNvSpPr>
          <p:nvPr>
            <p:ph type="title"/>
          </p:nvPr>
        </p:nvSpPr>
        <p:spPr/>
        <p:txBody>
          <a:bodyPr/>
          <a:lstStyle/>
          <a:p>
            <a:r>
              <a:rPr lang="tr-TR" dirty="0" err="1"/>
              <a:t>Transparent</a:t>
            </a:r>
            <a:r>
              <a:rPr lang="tr-TR" dirty="0"/>
              <a:t> </a:t>
            </a:r>
            <a:r>
              <a:rPr lang="tr-TR" dirty="0" err="1" smtClean="0"/>
              <a:t>brIdgIng</a:t>
            </a:r>
            <a:r>
              <a:rPr lang="tr-TR" dirty="0" smtClean="0"/>
              <a:t> </a:t>
            </a:r>
            <a:r>
              <a:rPr lang="tr-TR" dirty="0"/>
              <a:t>process</a:t>
            </a:r>
            <a:endParaRPr lang="en-US" dirty="0"/>
          </a:p>
        </p:txBody>
      </p:sp>
      <p:sp>
        <p:nvSpPr>
          <p:cNvPr id="3" name="Content Placeholder 2">
            <a:extLst>
              <a:ext uri="{FF2B5EF4-FFF2-40B4-BE49-F238E27FC236}">
                <a16:creationId xmlns="" xmlns:a16="http://schemas.microsoft.com/office/drawing/2014/main" id="{F52A88D9-6DF8-4AEB-92FA-F2FA2388A296}"/>
              </a:ext>
            </a:extLst>
          </p:cNvPr>
          <p:cNvSpPr>
            <a:spLocks noGrp="1"/>
          </p:cNvSpPr>
          <p:nvPr>
            <p:ph idx="1"/>
          </p:nvPr>
        </p:nvSpPr>
        <p:spPr>
          <a:xfrm>
            <a:off x="913775" y="2559599"/>
            <a:ext cx="10364452" cy="3424107"/>
          </a:xfrm>
        </p:spPr>
        <p:txBody>
          <a:bodyPr>
            <a:normAutofit/>
          </a:bodyPr>
          <a:lstStyle/>
          <a:p>
            <a:r>
              <a:rPr lang="tr-TR" b="1" cap="none" dirty="0">
                <a:latin typeface="Arial" panose="020B0604020202020204" pitchFamily="34" charset="0"/>
                <a:cs typeface="Arial" panose="020B0604020202020204" pitchFamily="34" charset="0"/>
              </a:rPr>
              <a:t>Aging</a:t>
            </a:r>
            <a:r>
              <a:rPr lang="tr-TR" cap="none" dirty="0">
                <a:latin typeface="Arial" panose="020B0604020202020204" pitchFamily="34" charset="0"/>
                <a:cs typeface="Arial" panose="020B0604020202020204" pitchFamily="34" charset="0"/>
              </a:rPr>
              <a:t>: Learning and flooding continue as the switch adds nodes to the lookup tables. Switches optimize the use of their memory, they remove older information by using aging technique. When an entry is added to the lookup table for a node, it is given a timestamp. </a:t>
            </a:r>
            <a:r>
              <a:rPr lang="tr-TR" u="sng" cap="none" dirty="0">
                <a:latin typeface="Arial" panose="020B0604020202020204" pitchFamily="34" charset="0"/>
                <a:cs typeface="Arial" panose="020B0604020202020204" pitchFamily="34" charset="0"/>
              </a:rPr>
              <a:t>Each time a packet is received from a node the timestamp is updated. The switch has a user configurable timer that erases the entry after a certain amount of time with no activity from that node</a:t>
            </a:r>
            <a:r>
              <a:rPr lang="tr-TR" cap="none" dirty="0">
                <a:latin typeface="Arial" panose="020B0604020202020204" pitchFamily="34" charset="0"/>
                <a:cs typeface="Arial" panose="020B0604020202020204" pitchFamily="34" charset="0"/>
              </a:rPr>
              <a:t>. This frees up valuable memory resource for other entries.</a:t>
            </a:r>
          </a:p>
          <a:p>
            <a:endParaRPr lang="en-US" dirty="0"/>
          </a:p>
        </p:txBody>
      </p:sp>
    </p:spTree>
    <p:extLst>
      <p:ext uri="{BB962C8B-B14F-4D97-AF65-F5344CB8AC3E}">
        <p14:creationId xmlns:p14="http://schemas.microsoft.com/office/powerpoint/2010/main" val="3571426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D694B38-5195-46B5-94B7-DF9502730CF1}"/>
              </a:ext>
            </a:extLst>
          </p:cNvPr>
          <p:cNvSpPr>
            <a:spLocks noGrp="1"/>
          </p:cNvSpPr>
          <p:nvPr>
            <p:ph type="title"/>
          </p:nvPr>
        </p:nvSpPr>
        <p:spPr>
          <a:xfrm>
            <a:off x="1302060" y="248653"/>
            <a:ext cx="10364451" cy="1596177"/>
          </a:xfrm>
        </p:spPr>
        <p:txBody>
          <a:bodyPr>
            <a:normAutofit/>
          </a:bodyPr>
          <a:lstStyle/>
          <a:p>
            <a:r>
              <a:rPr lang="tr-TR" dirty="0" err="1"/>
              <a:t>Redundancy</a:t>
            </a:r>
            <a:r>
              <a:rPr lang="tr-TR" dirty="0"/>
              <a:t> </a:t>
            </a:r>
            <a:r>
              <a:rPr lang="tr-TR" dirty="0" err="1" smtClean="0"/>
              <a:t>In</a:t>
            </a:r>
            <a:r>
              <a:rPr lang="tr-TR" dirty="0" smtClean="0"/>
              <a:t> </a:t>
            </a:r>
            <a:r>
              <a:rPr lang="tr-TR" dirty="0"/>
              <a:t>lan swıtchıng</a:t>
            </a:r>
            <a:endParaRPr lang="en-US" dirty="0"/>
          </a:p>
        </p:txBody>
      </p:sp>
      <p:pic>
        <p:nvPicPr>
          <p:cNvPr id="7" name="Picture 6" descr="Diagram&#10;&#10;Description automatically generated">
            <a:extLst>
              <a:ext uri="{FF2B5EF4-FFF2-40B4-BE49-F238E27FC236}">
                <a16:creationId xmlns="" xmlns:a16="http://schemas.microsoft.com/office/drawing/2014/main" id="{19E55618-0D2C-4E90-B01F-E5F93C219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922" y="2247818"/>
            <a:ext cx="2937782" cy="2532571"/>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pic>
        <p:nvPicPr>
          <p:cNvPr id="5" name="Content Placeholder 4" descr="Diagram&#10;&#10;Description automatically generated">
            <a:extLst>
              <a:ext uri="{FF2B5EF4-FFF2-40B4-BE49-F238E27FC236}">
                <a16:creationId xmlns="" xmlns:a16="http://schemas.microsoft.com/office/drawing/2014/main" id="{19D5A28D-55F7-4058-A4A9-2EFA92E696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8788" y="2214694"/>
            <a:ext cx="3045497" cy="2532571"/>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11" name="Content Placeholder 10">
            <a:extLst>
              <a:ext uri="{FF2B5EF4-FFF2-40B4-BE49-F238E27FC236}">
                <a16:creationId xmlns="" xmlns:a16="http://schemas.microsoft.com/office/drawing/2014/main" id="{B7DD2293-CEBA-4822-B70B-014C96C72376}"/>
              </a:ext>
            </a:extLst>
          </p:cNvPr>
          <p:cNvSpPr>
            <a:spLocks noGrp="1"/>
          </p:cNvSpPr>
          <p:nvPr>
            <p:ph idx="1"/>
          </p:nvPr>
        </p:nvSpPr>
        <p:spPr>
          <a:xfrm>
            <a:off x="6777371" y="2214694"/>
            <a:ext cx="5206707" cy="4394653"/>
          </a:xfrm>
        </p:spPr>
        <p:txBody>
          <a:bodyPr>
            <a:normAutofit/>
          </a:bodyPr>
          <a:lstStyle/>
          <a:p>
            <a:pPr marL="0" indent="0">
              <a:buNone/>
            </a:pPr>
            <a:r>
              <a:rPr lang="tr-TR" cap="none" dirty="0">
                <a:latin typeface="Arial" panose="020B0604020202020204" pitchFamily="34" charset="0"/>
                <a:cs typeface="Arial" panose="020B0604020202020204" pitchFamily="34" charset="0"/>
              </a:rPr>
              <a:t>In Figure 2, if the switch B fails the entire network is brought down.</a:t>
            </a:r>
          </a:p>
          <a:p>
            <a:pPr marL="0" indent="0">
              <a:buNone/>
            </a:pPr>
            <a:r>
              <a:rPr lang="tr-TR" cap="none" dirty="0">
                <a:latin typeface="Arial" panose="020B0604020202020204" pitchFamily="34" charset="0"/>
                <a:cs typeface="Arial" panose="020B0604020202020204" pitchFamily="34" charset="0"/>
              </a:rPr>
              <a:t>Therefore in Figure 3 </a:t>
            </a:r>
            <a:r>
              <a:rPr lang="tr-TR" u="sng" cap="none" dirty="0">
                <a:latin typeface="Arial" panose="020B0604020202020204" pitchFamily="34" charset="0"/>
                <a:cs typeface="Arial" panose="020B0604020202020204" pitchFamily="34" charset="0"/>
              </a:rPr>
              <a:t>we connect the Switch A with Switch C with a new Segment C. This provides redundancy effectively eliminating the single point of failure.</a:t>
            </a:r>
          </a:p>
          <a:p>
            <a:pPr marL="0" indent="0">
              <a:buNone/>
            </a:pPr>
            <a:r>
              <a:rPr lang="tr-TR" cap="none" dirty="0">
                <a:latin typeface="Arial" panose="020B0604020202020204" pitchFamily="34" charset="0"/>
                <a:cs typeface="Arial" panose="020B0604020202020204" pitchFamily="34" charset="0"/>
              </a:rPr>
              <a:t>But now, we have a new problem.</a:t>
            </a:r>
            <a:endParaRPr lang="en-US" cap="none" dirty="0">
              <a:latin typeface="Arial" panose="020B0604020202020204" pitchFamily="34" charset="0"/>
              <a:cs typeface="Arial" panose="020B0604020202020204" pitchFamily="34" charset="0"/>
            </a:endParaRPr>
          </a:p>
        </p:txBody>
      </p:sp>
      <p:sp>
        <p:nvSpPr>
          <p:cNvPr id="13" name="Content Placeholder 8">
            <a:extLst>
              <a:ext uri="{FF2B5EF4-FFF2-40B4-BE49-F238E27FC236}">
                <a16:creationId xmlns="" xmlns:a16="http://schemas.microsoft.com/office/drawing/2014/main" id="{1A78619E-58CB-4FB8-9D33-4204FEE32F65}"/>
              </a:ext>
            </a:extLst>
          </p:cNvPr>
          <p:cNvSpPr txBox="1">
            <a:spLocks/>
          </p:cNvSpPr>
          <p:nvPr/>
        </p:nvSpPr>
        <p:spPr>
          <a:xfrm>
            <a:off x="3438787" y="5013171"/>
            <a:ext cx="3045497" cy="9166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None/>
            </a:pPr>
            <a:r>
              <a:rPr lang="tr-TR" cap="none" dirty="0">
                <a:latin typeface="Roboto"/>
              </a:rPr>
              <a:t>Figure 3 - Example to a redundant network [2]</a:t>
            </a:r>
            <a:endParaRPr lang="en-US" cap="none" dirty="0">
              <a:latin typeface="Roboto"/>
            </a:endParaRPr>
          </a:p>
        </p:txBody>
      </p:sp>
      <p:sp>
        <p:nvSpPr>
          <p:cNvPr id="15" name="Content Placeholder 8">
            <a:extLst>
              <a:ext uri="{FF2B5EF4-FFF2-40B4-BE49-F238E27FC236}">
                <a16:creationId xmlns="" xmlns:a16="http://schemas.microsoft.com/office/drawing/2014/main" id="{41C9A5DB-5F7F-485C-A5CB-8E009C416AE5}"/>
              </a:ext>
            </a:extLst>
          </p:cNvPr>
          <p:cNvSpPr txBox="1">
            <a:spLocks/>
          </p:cNvSpPr>
          <p:nvPr/>
        </p:nvSpPr>
        <p:spPr>
          <a:xfrm>
            <a:off x="246746" y="5016670"/>
            <a:ext cx="3045497" cy="9166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None/>
            </a:pPr>
            <a:r>
              <a:rPr lang="tr-TR" cap="none" dirty="0">
                <a:latin typeface="Roboto"/>
              </a:rPr>
              <a:t>Figure 2- Example to switches and segments [2]</a:t>
            </a:r>
            <a:endParaRPr lang="en-US" cap="none" dirty="0">
              <a:latin typeface="Roboto"/>
            </a:endParaRPr>
          </a:p>
        </p:txBody>
      </p:sp>
    </p:spTree>
    <p:extLst>
      <p:ext uri="{BB962C8B-B14F-4D97-AF65-F5344CB8AC3E}">
        <p14:creationId xmlns:p14="http://schemas.microsoft.com/office/powerpoint/2010/main" val="3747358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9F3546D-E2BD-4094-B2DA-01FA20B76EC6}"/>
              </a:ext>
            </a:extLst>
          </p:cNvPr>
          <p:cNvSpPr>
            <a:spLocks noGrp="1"/>
          </p:cNvSpPr>
          <p:nvPr>
            <p:ph type="title"/>
          </p:nvPr>
        </p:nvSpPr>
        <p:spPr>
          <a:xfrm>
            <a:off x="913775" y="618517"/>
            <a:ext cx="10364451" cy="1596177"/>
          </a:xfrm>
        </p:spPr>
        <p:txBody>
          <a:bodyPr>
            <a:normAutofit/>
          </a:bodyPr>
          <a:lstStyle/>
          <a:p>
            <a:r>
              <a:rPr lang="tr-TR" dirty="0"/>
              <a:t>BROADCAST STORMS</a:t>
            </a:r>
            <a:endParaRPr lang="en-US" dirty="0"/>
          </a:p>
        </p:txBody>
      </p:sp>
      <p:pic>
        <p:nvPicPr>
          <p:cNvPr id="5" name="Picture 4" descr="Diagram&#10;&#10;Description automatically generated">
            <a:extLst>
              <a:ext uri="{FF2B5EF4-FFF2-40B4-BE49-F238E27FC236}">
                <a16:creationId xmlns="" xmlns:a16="http://schemas.microsoft.com/office/drawing/2014/main" id="{CF4F0691-9954-4EF3-B8F1-F6C0CBE3AADA}"/>
              </a:ext>
            </a:extLst>
          </p:cNvPr>
          <p:cNvPicPr>
            <a:picLocks noChangeAspect="1"/>
          </p:cNvPicPr>
          <p:nvPr/>
        </p:nvPicPr>
        <p:blipFill rotWithShape="1">
          <a:blip r:embed="rId2">
            <a:extLst>
              <a:ext uri="{28A0092B-C50C-407E-A947-70E740481C1C}">
                <a14:useLocalDpi xmlns:a14="http://schemas.microsoft.com/office/drawing/2010/main" val="0"/>
              </a:ext>
            </a:extLst>
          </a:blip>
          <a:srcRect r="3524" b="-3"/>
          <a:stretch/>
        </p:blipFill>
        <p:spPr>
          <a:xfrm>
            <a:off x="496679" y="2367092"/>
            <a:ext cx="3494466" cy="2935224"/>
          </a:xfrm>
          <a:prstGeom prst="roundRect">
            <a:avLst>
              <a:gd name="adj" fmla="val 5301"/>
            </a:avLst>
          </a:prstGeom>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pic>
      <p:sp>
        <p:nvSpPr>
          <p:cNvPr id="3" name="Content Placeholder 2">
            <a:extLst>
              <a:ext uri="{FF2B5EF4-FFF2-40B4-BE49-F238E27FC236}">
                <a16:creationId xmlns="" xmlns:a16="http://schemas.microsoft.com/office/drawing/2014/main" id="{4107FEF8-5BDD-4818-A17F-252DF969CAA9}"/>
              </a:ext>
            </a:extLst>
          </p:cNvPr>
          <p:cNvSpPr>
            <a:spLocks noGrp="1"/>
          </p:cNvSpPr>
          <p:nvPr>
            <p:ph idx="1"/>
          </p:nvPr>
        </p:nvSpPr>
        <p:spPr>
          <a:xfrm>
            <a:off x="4331368" y="2214694"/>
            <a:ext cx="7860632" cy="3897348"/>
          </a:xfrm>
        </p:spPr>
        <p:txBody>
          <a:bodyPr>
            <a:normAutofit lnSpcReduction="10000"/>
          </a:bodyPr>
          <a:lstStyle/>
          <a:p>
            <a:pPr marL="0" indent="0">
              <a:buNone/>
            </a:pPr>
            <a:r>
              <a:rPr lang="tr-TR" cap="none" dirty="0">
                <a:latin typeface="Arial" panose="020B0604020202020204" pitchFamily="34" charset="0"/>
                <a:cs typeface="Arial" panose="020B0604020202020204" pitchFamily="34" charset="0"/>
              </a:rPr>
              <a:t>We will learn how switches learn where the nodes are located. In Figure 4, with all of the switches now connected in a loop, a packet from a node could quite possibly come to a switch from two different segments.</a:t>
            </a:r>
          </a:p>
          <a:p>
            <a:pPr marL="0" indent="0">
              <a:buNone/>
            </a:pPr>
            <a:r>
              <a:rPr lang="tr-TR" cap="none" dirty="0">
                <a:latin typeface="Arial" panose="020B0604020202020204" pitchFamily="34" charset="0"/>
                <a:cs typeface="Arial" panose="020B0604020202020204" pitchFamily="34" charset="0"/>
              </a:rPr>
              <a:t>Let say we have a packet. Because that the switches do not know who Node A is, switches will receive the packet from each segment and flood it back out on the other segment.</a:t>
            </a:r>
          </a:p>
          <a:p>
            <a:pPr marL="0" indent="0">
              <a:buNone/>
            </a:pPr>
            <a:r>
              <a:rPr lang="tr-TR" u="sng" cap="none" dirty="0">
                <a:latin typeface="Arial" panose="020B0604020202020204" pitchFamily="34" charset="0"/>
                <a:cs typeface="Arial" panose="020B0604020202020204" pitchFamily="34" charset="0"/>
              </a:rPr>
              <a:t>This causes broadcast storm as the packets are broadcast, received and rebroadcast by each switch resulting in potentially severe network congestin. Which brings us to spanning trees.</a:t>
            </a:r>
            <a:endParaRPr lang="en-US" u="sng" cap="none" dirty="0">
              <a:latin typeface="Arial" panose="020B0604020202020204" pitchFamily="34" charset="0"/>
              <a:cs typeface="Arial" panose="020B0604020202020204" pitchFamily="34" charset="0"/>
            </a:endParaRPr>
          </a:p>
        </p:txBody>
      </p:sp>
      <p:sp>
        <p:nvSpPr>
          <p:cNvPr id="6" name="Content Placeholder 8">
            <a:extLst>
              <a:ext uri="{FF2B5EF4-FFF2-40B4-BE49-F238E27FC236}">
                <a16:creationId xmlns="" xmlns:a16="http://schemas.microsoft.com/office/drawing/2014/main" id="{A1CEB0DE-8E9B-4E1E-AD4D-16D08D103A0F}"/>
              </a:ext>
            </a:extLst>
          </p:cNvPr>
          <p:cNvSpPr txBox="1">
            <a:spLocks/>
          </p:cNvSpPr>
          <p:nvPr/>
        </p:nvSpPr>
        <p:spPr>
          <a:xfrm>
            <a:off x="896062" y="5454714"/>
            <a:ext cx="2695699" cy="91667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marL="0" indent="0">
              <a:buNone/>
            </a:pPr>
            <a:r>
              <a:rPr lang="tr-TR" cap="none" dirty="0">
                <a:latin typeface="Roboto"/>
              </a:rPr>
              <a:t>Figure 4- Example to broadcast storms [2]</a:t>
            </a:r>
            <a:endParaRPr lang="en-US" cap="none" dirty="0">
              <a:latin typeface="Roboto"/>
            </a:endParaRPr>
          </a:p>
        </p:txBody>
      </p:sp>
    </p:spTree>
    <p:extLst>
      <p:ext uri="{BB962C8B-B14F-4D97-AF65-F5344CB8AC3E}">
        <p14:creationId xmlns:p14="http://schemas.microsoft.com/office/powerpoint/2010/main" val="4260674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C787E5A-9D58-4B79-8CED-08694330ED73}"/>
              </a:ext>
            </a:extLst>
          </p:cNvPr>
          <p:cNvSpPr>
            <a:spLocks noGrp="1"/>
          </p:cNvSpPr>
          <p:nvPr>
            <p:ph type="title"/>
          </p:nvPr>
        </p:nvSpPr>
        <p:spPr/>
        <p:txBody>
          <a:bodyPr/>
          <a:lstStyle/>
          <a:p>
            <a:r>
              <a:rPr lang="tr-TR" dirty="0"/>
              <a:t>SPANNING TREES</a:t>
            </a:r>
            <a:endParaRPr lang="en-US" dirty="0"/>
          </a:p>
        </p:txBody>
      </p:sp>
      <p:sp>
        <p:nvSpPr>
          <p:cNvPr id="3" name="Content Placeholder 2">
            <a:extLst>
              <a:ext uri="{FF2B5EF4-FFF2-40B4-BE49-F238E27FC236}">
                <a16:creationId xmlns="" xmlns:a16="http://schemas.microsoft.com/office/drawing/2014/main" id="{71696583-1FB7-4DA8-A974-E89E7849AE8E}"/>
              </a:ext>
            </a:extLst>
          </p:cNvPr>
          <p:cNvSpPr>
            <a:spLocks noGrp="1"/>
          </p:cNvSpPr>
          <p:nvPr>
            <p:ph idx="1"/>
          </p:nvPr>
        </p:nvSpPr>
        <p:spPr/>
        <p:txBody>
          <a:bodyPr>
            <a:normAutofit/>
          </a:bodyPr>
          <a:lstStyle/>
          <a:p>
            <a:pPr marL="0" indent="0">
              <a:buNone/>
            </a:pPr>
            <a:r>
              <a:rPr lang="tr-TR" cap="none" dirty="0">
                <a:latin typeface="Arial" panose="020B0604020202020204" pitchFamily="34" charset="0"/>
                <a:cs typeface="Arial" panose="020B0604020202020204" pitchFamily="34" charset="0"/>
              </a:rPr>
              <a:t>To prevent broadcast storms and other unwanted side effects of looping, Digital Equioment Corporation creaed the STP(spanning-tree protocol), which has been standardized as the 802.1d specification by the IEEE. </a:t>
            </a:r>
          </a:p>
          <a:p>
            <a:pPr marL="0" indent="0">
              <a:buNone/>
            </a:pPr>
            <a:r>
              <a:rPr lang="tr-TR" u="sng" cap="none" dirty="0">
                <a:latin typeface="Arial" panose="020B0604020202020204" pitchFamily="34" charset="0"/>
                <a:cs typeface="Arial" panose="020B0604020202020204" pitchFamily="34" charset="0"/>
              </a:rPr>
              <a:t>A spanning tree uses STA (spanning-tree algorithm), which senses that the switch has more than one way to communicate with a node, determines the best way, blocks out other paths while keeping track of them just in case the primary path is unavailable</a:t>
            </a:r>
            <a:r>
              <a:rPr lang="tr-TR" cap="none"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41533099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62442C2-1D82-4CFC-BF4F-B8DD9BBFFB4F}"/>
              </a:ext>
            </a:extLst>
          </p:cNvPr>
          <p:cNvSpPr>
            <a:spLocks noGrp="1"/>
          </p:cNvSpPr>
          <p:nvPr>
            <p:ph type="title"/>
          </p:nvPr>
        </p:nvSpPr>
        <p:spPr/>
        <p:txBody>
          <a:bodyPr/>
          <a:lstStyle/>
          <a:p>
            <a:r>
              <a:rPr lang="tr-TR" dirty="0"/>
              <a:t>References</a:t>
            </a:r>
            <a:endParaRPr lang="en-US" dirty="0"/>
          </a:p>
        </p:txBody>
      </p:sp>
      <p:sp>
        <p:nvSpPr>
          <p:cNvPr id="3" name="Content Placeholder 2">
            <a:extLst>
              <a:ext uri="{FF2B5EF4-FFF2-40B4-BE49-F238E27FC236}">
                <a16:creationId xmlns="" xmlns:a16="http://schemas.microsoft.com/office/drawing/2014/main" id="{113173E4-0961-492C-823F-80253ECCB886}"/>
              </a:ext>
            </a:extLst>
          </p:cNvPr>
          <p:cNvSpPr>
            <a:spLocks noGrp="1"/>
          </p:cNvSpPr>
          <p:nvPr>
            <p:ph idx="1"/>
          </p:nvPr>
        </p:nvSpPr>
        <p:spPr>
          <a:xfrm>
            <a:off x="913775" y="2214694"/>
            <a:ext cx="10845088" cy="2806485"/>
          </a:xfrm>
        </p:spPr>
        <p:txBody>
          <a:bodyPr/>
          <a:lstStyle/>
          <a:p>
            <a:pPr marL="0" indent="0">
              <a:buNone/>
            </a:pPr>
            <a:r>
              <a:rPr lang="tr-TR" cap="none" dirty="0">
                <a:latin typeface="Arial" panose="020B0604020202020204" pitchFamily="34" charset="0"/>
                <a:cs typeface="Arial" panose="020B0604020202020204" pitchFamily="34" charset="0"/>
              </a:rPr>
              <a:t>[1]Computer Networking a Top Down Approach Book</a:t>
            </a:r>
          </a:p>
          <a:p>
            <a:pPr marL="0" indent="0">
              <a:buNone/>
            </a:pPr>
            <a:r>
              <a:rPr lang="tr-TR" cap="none" dirty="0">
                <a:latin typeface="Arial" panose="020B0604020202020204" pitchFamily="34" charset="0"/>
                <a:cs typeface="Arial" panose="020B0604020202020204" pitchFamily="34" charset="0"/>
              </a:rPr>
              <a:t>[2]Jeff Tyson.(viewing:2021.March.8).Lan Switch.</a:t>
            </a:r>
          </a:p>
          <a:p>
            <a:r>
              <a:rPr lang="tr-TR" cap="none" dirty="0">
                <a:solidFill>
                  <a:schemeClr val="accent1">
                    <a:lumMod val="50000"/>
                  </a:schemeClr>
                </a:solidFill>
                <a:latin typeface="Arial" panose="020B0604020202020204" pitchFamily="34" charset="0"/>
                <a:cs typeface="Arial" panose="020B0604020202020204" pitchFamily="34" charset="0"/>
              </a:rPr>
              <a:t>[</a:t>
            </a:r>
            <a:r>
              <a:rPr lang="en-US" cap="none" dirty="0">
                <a:solidFill>
                  <a:schemeClr val="accent1">
                    <a:lumMod val="50000"/>
                  </a:schemeClr>
                </a:solidFill>
                <a:latin typeface="Arial" panose="020B0604020202020204" pitchFamily="34" charset="0"/>
                <a:cs typeface="Arial" panose="020B0604020202020204" pitchFamily="34" charset="0"/>
              </a:rPr>
              <a:t>computer.howstuffworks.com/lan-switch.htm</a:t>
            </a:r>
            <a:r>
              <a:rPr lang="tr-TR" cap="none" dirty="0">
                <a:solidFill>
                  <a:schemeClr val="accent1">
                    <a:lumMod val="50000"/>
                  </a:schemeClr>
                </a:solidFill>
                <a:latin typeface="Arial" panose="020B0604020202020204" pitchFamily="34" charset="0"/>
                <a:cs typeface="Arial" panose="020B0604020202020204" pitchFamily="34" charset="0"/>
              </a:rPr>
              <a:t>]</a:t>
            </a:r>
          </a:p>
          <a:p>
            <a:pPr marL="0" indent="0">
              <a:buNone/>
            </a:pPr>
            <a:r>
              <a:rPr lang="tr-TR" cap="none" dirty="0">
                <a:latin typeface="Arial" panose="020B0604020202020204" pitchFamily="34" charset="0"/>
                <a:cs typeface="Arial" panose="020B0604020202020204" pitchFamily="34" charset="0"/>
              </a:rPr>
              <a:t>[3]Wikipedia Contributers.(2021,March,19).Packet Switching</a:t>
            </a:r>
          </a:p>
          <a:p>
            <a:r>
              <a:rPr lang="tr-TR" cap="none" dirty="0">
                <a:solidFill>
                  <a:schemeClr val="accent1">
                    <a:lumMod val="50000"/>
                  </a:schemeClr>
                </a:solidFill>
                <a:latin typeface="Arial" panose="020B0604020202020204" pitchFamily="34" charset="0"/>
                <a:cs typeface="Arial" panose="020B0604020202020204" pitchFamily="34" charset="0"/>
              </a:rPr>
              <a:t>[</a:t>
            </a:r>
            <a:r>
              <a:rPr lang="en-US" cap="none" dirty="0">
                <a:solidFill>
                  <a:schemeClr val="accent1">
                    <a:lumMod val="50000"/>
                  </a:schemeClr>
                </a:solidFill>
                <a:latin typeface="Arial" panose="020B0604020202020204" pitchFamily="34" charset="0"/>
                <a:cs typeface="Arial" panose="020B0604020202020204" pitchFamily="34" charset="0"/>
              </a:rPr>
              <a:t>https://en.wikipedia.org/wiki/Packet_switching</a:t>
            </a:r>
            <a:r>
              <a:rPr lang="tr-TR" cap="none" dirty="0">
                <a:solidFill>
                  <a:schemeClr val="accent1">
                    <a:lumMod val="50000"/>
                  </a:schemeClr>
                </a:solidFill>
                <a:latin typeface="Arial" panose="020B0604020202020204" pitchFamily="34" charset="0"/>
                <a:cs typeface="Arial" panose="020B0604020202020204" pitchFamily="34" charset="0"/>
              </a:rPr>
              <a:t>]</a:t>
            </a:r>
            <a:endParaRPr lang="en-US" cap="none" dirty="0">
              <a:solidFill>
                <a:schemeClr val="accent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02644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
  <TotalTime>460</TotalTime>
  <Words>1976</Words>
  <Application>Microsoft Office PowerPoint</Application>
  <PresentationFormat>Özel</PresentationFormat>
  <Paragraphs>99</Paragraphs>
  <Slides>24</Slides>
  <Notes>0</Notes>
  <HiddenSlides>0</HiddenSlides>
  <MMClips>0</MMClips>
  <ScaleCrop>false</ScaleCrop>
  <HeadingPairs>
    <vt:vector size="4" baseType="variant">
      <vt:variant>
        <vt:lpstr>Tema</vt:lpstr>
      </vt:variant>
      <vt:variant>
        <vt:i4>1</vt:i4>
      </vt:variant>
      <vt:variant>
        <vt:lpstr>Slayt Başlıkları</vt:lpstr>
      </vt:variant>
      <vt:variant>
        <vt:i4>24</vt:i4>
      </vt:variant>
    </vt:vector>
  </HeadingPairs>
  <TitlesOfParts>
    <vt:vector size="25" baseType="lpstr">
      <vt:lpstr>Droplet</vt:lpstr>
      <vt:lpstr>SwItched Lan’S</vt:lpstr>
      <vt:lpstr>WHAT IS A SWITCH?</vt:lpstr>
      <vt:lpstr>Why swItchIng?</vt:lpstr>
      <vt:lpstr>Why SwItchIng?</vt:lpstr>
      <vt:lpstr>Why SwItchIng?</vt:lpstr>
      <vt:lpstr>An institutional network connected by four switches</vt:lpstr>
      <vt:lpstr>LAN SWITCHES</vt:lpstr>
      <vt:lpstr>Fully SwItched Networks</vt:lpstr>
      <vt:lpstr>Fully SwItched Networks</vt:lpstr>
      <vt:lpstr>MIxed Networks</vt:lpstr>
      <vt:lpstr>Routers vs SwItches</vt:lpstr>
      <vt:lpstr>Packet-SwItchıng</vt:lpstr>
      <vt:lpstr>Packet Based SwItches</vt:lpstr>
      <vt:lpstr>SwItch ConfIguratIons</vt:lpstr>
      <vt:lpstr>SwItches and segments</vt:lpstr>
      <vt:lpstr>Transparent BrIdgIng</vt:lpstr>
      <vt:lpstr>TRANSPARENT BRIDGING PROCESS</vt:lpstr>
      <vt:lpstr>Transparent BrIdgIng Process</vt:lpstr>
      <vt:lpstr>Transparent BrIdgIng Process</vt:lpstr>
      <vt:lpstr>Transparent brIdgIng process</vt:lpstr>
      <vt:lpstr>Redundancy In lan swıtchıng</vt:lpstr>
      <vt:lpstr>BROADCAST STORMS</vt:lpstr>
      <vt:lpstr>SPANNING TREES</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SwItched Lan’S</dc:title>
  <dc:creator>CAHİT BARKIN ÖZER</dc:creator>
  <cp:lastModifiedBy>barkin</cp:lastModifiedBy>
  <cp:revision>76</cp:revision>
  <dcterms:created xsi:type="dcterms:W3CDTF">2021-03-08T09:40:47Z</dcterms:created>
  <dcterms:modified xsi:type="dcterms:W3CDTF">2021-04-26T11:00:20Z</dcterms:modified>
</cp:coreProperties>
</file>