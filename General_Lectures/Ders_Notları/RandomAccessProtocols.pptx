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55157-4223-42D6-A205-FFC773F543B6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65FBC-676A-4D66-A2D6-9252787164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9482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B51D8747-753F-4ED6-A249-EBA415416C91}" type="slidenum">
              <a:rPr lang="en-US"/>
              <a:pPr/>
              <a:t>2</a:t>
            </a:fld>
            <a:endParaRPr 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F2B7EF1D-9E77-4B37-8245-6C707A93394E}" type="slidenum">
              <a:rPr lang="en-US"/>
              <a:pPr/>
              <a:t>3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C54B38E7-E641-4579-AC96-E4E378B79F00}" type="slidenum">
              <a:rPr lang="en-US"/>
              <a:pPr/>
              <a:t>4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F3A9040D-B8D4-4093-88A0-327E3B44C29D}" type="slidenum">
              <a:rPr lang="en-US"/>
              <a:pPr/>
              <a:t>5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091E7132-F8EA-4402-B65B-3B0F7F115B1E}" type="slidenum">
              <a:rPr lang="en-US"/>
              <a:pPr/>
              <a:t>6</a:t>
            </a:fld>
            <a:endParaRPr 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C8EF43F0-BA44-45EF-AA8F-CFE3FCDC125A}" type="slidenum">
              <a:rPr lang="en-US"/>
              <a:pPr/>
              <a:t>7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F63CE842-C95D-4E4C-BCA7-5439F48747DD}" type="slidenum">
              <a:rPr lang="en-US"/>
              <a:pPr/>
              <a:t>8</a:t>
            </a:fld>
            <a:endParaRPr lang="en-US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E3C901F8-E815-437B-B72D-078308A1DC29}" type="slidenum">
              <a:rPr lang="en-US"/>
              <a:pPr/>
              <a:t>9</a:t>
            </a:fld>
            <a:endParaRPr 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D2103C01-E273-4490-9DCD-E83CAD132BF7}" type="slidenum">
              <a:rPr lang="en-US"/>
              <a:pPr/>
              <a:t>10</a:t>
            </a:fld>
            <a:endParaRPr 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103D5D77-D836-4404-BE0E-558C3FD1400C}" type="slidenum">
              <a:rPr lang="en-US"/>
              <a:pPr/>
              <a:t>11</a:t>
            </a:fld>
            <a:endParaRPr lang="en-US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fld id="{9BC77110-B749-487B-9E3F-A230313D63F5}" type="slidenum">
              <a:rPr lang="en-US"/>
              <a:pPr/>
              <a:t>12</a:t>
            </a:fld>
            <a:endParaRPr lang="en-US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452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529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0504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672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253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818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7515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810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01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242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4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A1028-90B9-4663-BD3B-70B20CA2C0F9}" type="datetimeFigureOut">
              <a:rPr lang="tr-TR" smtClean="0"/>
              <a:t>25.05.2021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5D5A4-E97E-452B-A944-57CA8FFB8A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771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539552" y="692696"/>
            <a:ext cx="7772400" cy="1470025"/>
          </a:xfrm>
        </p:spPr>
        <p:txBody>
          <a:bodyPr/>
          <a:lstStyle/>
          <a:p>
            <a:r>
              <a:rPr lang="tr-TR" dirty="0" err="1" smtClean="0"/>
              <a:t>Random</a:t>
            </a:r>
            <a:r>
              <a:rPr lang="tr-TR" dirty="0" smtClean="0"/>
              <a:t> Access </a:t>
            </a:r>
            <a:r>
              <a:rPr lang="tr-TR" dirty="0" err="1" smtClean="0"/>
              <a:t>Protocols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403648" y="2492896"/>
            <a:ext cx="6400800" cy="2711152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tr-TR" dirty="0" err="1" smtClean="0"/>
              <a:t>Slotted</a:t>
            </a:r>
            <a:r>
              <a:rPr lang="tr-TR" dirty="0" smtClean="0"/>
              <a:t> </a:t>
            </a:r>
            <a:r>
              <a:rPr lang="tr-TR" dirty="0" err="1" smtClean="0"/>
              <a:t>Aloha</a:t>
            </a:r>
            <a:endParaRPr lang="tr-TR" dirty="0" smtClean="0"/>
          </a:p>
          <a:p>
            <a:pPr marL="457200" indent="-457200" algn="l">
              <a:buFont typeface="Arial" pitchFamily="34" charset="0"/>
              <a:buChar char="•"/>
            </a:pPr>
            <a:r>
              <a:rPr lang="tr-TR" dirty="0" err="1" smtClean="0"/>
              <a:t>Pure</a:t>
            </a:r>
            <a:r>
              <a:rPr lang="tr-TR" dirty="0" smtClean="0"/>
              <a:t>(</a:t>
            </a:r>
            <a:r>
              <a:rPr lang="tr-TR" dirty="0" err="1"/>
              <a:t>U</a:t>
            </a:r>
            <a:r>
              <a:rPr lang="tr-TR" dirty="0" err="1" smtClean="0"/>
              <a:t>nslotted</a:t>
            </a:r>
            <a:r>
              <a:rPr lang="tr-TR" dirty="0" smtClean="0"/>
              <a:t>) </a:t>
            </a:r>
            <a:r>
              <a:rPr lang="tr-TR" dirty="0" err="1" smtClean="0"/>
              <a:t>Aloha</a:t>
            </a:r>
            <a:endParaRPr lang="tr-TR" dirty="0" smtClean="0"/>
          </a:p>
          <a:p>
            <a:pPr marL="457200" indent="-457200" algn="l">
              <a:buFont typeface="Arial" pitchFamily="34" charset="0"/>
              <a:buChar char="•"/>
            </a:pPr>
            <a:r>
              <a:rPr lang="tr-TR" dirty="0" smtClean="0"/>
              <a:t>Carrier Sense </a:t>
            </a:r>
            <a:r>
              <a:rPr lang="tr-TR" dirty="0" err="1" smtClean="0"/>
              <a:t>Multiple</a:t>
            </a:r>
            <a:r>
              <a:rPr lang="tr-TR" dirty="0" smtClean="0"/>
              <a:t> Access(CSMA)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tr-TR" dirty="0" smtClean="0"/>
              <a:t>CSMA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Collision</a:t>
            </a:r>
            <a:r>
              <a:rPr lang="tr-TR" dirty="0" smtClean="0"/>
              <a:t> </a:t>
            </a:r>
            <a:r>
              <a:rPr lang="tr-TR" dirty="0" err="1" smtClean="0"/>
              <a:t>Detection</a:t>
            </a:r>
            <a:r>
              <a:rPr lang="tr-TR" dirty="0" smtClean="0"/>
              <a:t>(CD)</a:t>
            </a:r>
          </a:p>
        </p:txBody>
      </p:sp>
      <p:sp>
        <p:nvSpPr>
          <p:cNvPr id="4" name="Alt Başlık 2"/>
          <p:cNvSpPr txBox="1">
            <a:spLocks/>
          </p:cNvSpPr>
          <p:nvPr/>
        </p:nvSpPr>
        <p:spPr>
          <a:xfrm>
            <a:off x="3851920" y="5973248"/>
            <a:ext cx="5184576" cy="7242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r-TR" dirty="0" smtClean="0"/>
              <a:t>Cahit Barkın Özer 2018556059</a:t>
            </a:r>
          </a:p>
        </p:txBody>
      </p:sp>
    </p:spTree>
    <p:extLst>
      <p:ext uri="{BB962C8B-B14F-4D97-AF65-F5344CB8AC3E}">
        <p14:creationId xmlns:p14="http://schemas.microsoft.com/office/powerpoint/2010/main" val="259964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Random access protocols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44638"/>
            <a:ext cx="7772400" cy="46482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 smtClean="0"/>
              <a:t>when node has packet to send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transmit at full channel data rate R.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no </a:t>
            </a:r>
            <a:r>
              <a:rPr lang="en-US" i="1" dirty="0" smtClean="0"/>
              <a:t>a priori</a:t>
            </a:r>
            <a:r>
              <a:rPr lang="en-US" dirty="0" smtClean="0"/>
              <a:t> coordination among nodes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two or more transmitting nodes </a:t>
            </a:r>
            <a:r>
              <a:rPr lang="en-US" dirty="0" smtClean="0">
                <a:latin typeface="MS Mincho" pitchFamily="49" charset="-128"/>
                <a:ea typeface="MS Mincho" pitchFamily="49" charset="-128"/>
              </a:rPr>
              <a:t>➜</a:t>
            </a:r>
            <a:r>
              <a:rPr lang="en-US" dirty="0" smtClean="0"/>
              <a:t> </a:t>
            </a:r>
            <a:r>
              <a:rPr lang="ja-JP" altLang="en-US" dirty="0" smtClean="0"/>
              <a:t>“</a:t>
            </a:r>
            <a:r>
              <a:rPr lang="en-US" altLang="ja-JP" dirty="0" smtClean="0"/>
              <a:t>collision</a:t>
            </a:r>
            <a:r>
              <a:rPr lang="ja-JP" altLang="en-US" dirty="0" smtClean="0"/>
              <a:t>”</a:t>
            </a:r>
            <a:r>
              <a:rPr lang="en-US" altLang="ja-JP" dirty="0" smtClean="0"/>
              <a:t>,</a:t>
            </a:r>
          </a:p>
          <a:p>
            <a:pPr>
              <a:lnSpc>
                <a:spcPct val="110000"/>
              </a:lnSpc>
            </a:pPr>
            <a:r>
              <a:rPr lang="en-US" dirty="0" smtClean="0">
                <a:solidFill>
                  <a:srgbClr val="CC0000"/>
                </a:solidFill>
              </a:rPr>
              <a:t>random access MAC protocol</a:t>
            </a:r>
            <a:r>
              <a:rPr lang="en-US" dirty="0" smtClean="0"/>
              <a:t> specifies: 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how to detect collisions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how to recover from collisions (e.g., via delayed retransmissions)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examples of random access MAC protocols: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slotted ALOHA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ALOHA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CSMA, CSMA/CD, CSMA/CA</a:t>
            </a:r>
          </a:p>
        </p:txBody>
      </p:sp>
      <p:pic>
        <p:nvPicPr>
          <p:cNvPr id="84997" name="Picture 4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7850" y="1039813"/>
            <a:ext cx="5942013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687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Slotted </a:t>
            </a:r>
            <a:r>
              <a:rPr lang="en-US" sz="4000">
                <a:ea typeface="ＭＳ Ｐゴシック" charset="0"/>
                <a:cs typeface="+mj-cs"/>
              </a:rPr>
              <a:t>ALOHA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4038" y="1522413"/>
            <a:ext cx="3989387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>
                <a:solidFill>
                  <a:srgbClr val="CC0000"/>
                </a:solidFill>
                <a:ea typeface="ＭＳ Ｐゴシック" charset="0"/>
                <a:cs typeface="+mn-cs"/>
              </a:rPr>
              <a:t>assumptions: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  <a:cs typeface="+mn-cs"/>
              </a:rPr>
              <a:t>all frames same size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  <a:cs typeface="+mn-cs"/>
              </a:rPr>
              <a:t>time divided into equal size slots (time to transmit 1 frame)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  <a:cs typeface="+mn-cs"/>
              </a:rPr>
              <a:t>nodes start to transmit only slot beginning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  <a:cs typeface="+mn-cs"/>
              </a:rPr>
              <a:t>nodes are synchronized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  <a:cs typeface="+mn-cs"/>
              </a:rPr>
              <a:t>if 2 or more nodes transmit in slot, all nodes detect collision</a:t>
            </a:r>
          </a:p>
        </p:txBody>
      </p:sp>
      <p:sp>
        <p:nvSpPr>
          <p:cNvPr id="31130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500188"/>
            <a:ext cx="4332288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>
                <a:solidFill>
                  <a:srgbClr val="CC0000"/>
                </a:solidFill>
                <a:ea typeface="ＭＳ Ｐゴシック" charset="0"/>
                <a:cs typeface="+mn-cs"/>
              </a:rPr>
              <a:t>operation: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  <a:cs typeface="+mn-cs"/>
              </a:rPr>
              <a:t>when node obtains fresh frame, transmits in next slot</a:t>
            </a:r>
          </a:p>
          <a:p>
            <a:pPr lvl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>
                <a:ea typeface="ＭＳ Ｐゴシック" charset="0"/>
              </a:rPr>
              <a:t>if no collision:</a:t>
            </a:r>
            <a:r>
              <a:rPr lang="en-US">
                <a:ea typeface="ＭＳ Ｐゴシック" charset="0"/>
              </a:rPr>
              <a:t> node can send new frame in next slot</a:t>
            </a:r>
          </a:p>
          <a:p>
            <a:pPr lvl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>
                <a:ea typeface="ＭＳ Ｐゴシック" charset="0"/>
              </a:rPr>
              <a:t>if collision:</a:t>
            </a:r>
            <a:r>
              <a:rPr lang="en-US">
                <a:ea typeface="ＭＳ Ｐゴシック" charset="0"/>
              </a:rPr>
              <a:t> node retransmits frame in each subsequent slot with prob. p until success</a:t>
            </a:r>
          </a:p>
        </p:txBody>
      </p:sp>
      <p:pic>
        <p:nvPicPr>
          <p:cNvPr id="87046" name="Picture 7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495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3335338"/>
            <a:ext cx="3810000" cy="3203575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i="1">
                <a:solidFill>
                  <a:srgbClr val="CC0000"/>
                </a:solidFill>
                <a:ea typeface="ＭＳ Ｐゴシック" charset="0"/>
                <a:cs typeface="+mn-cs"/>
              </a:rPr>
              <a:t>Pros: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  <a:cs typeface="+mn-cs"/>
              </a:rPr>
              <a:t>single active node can continuously transmit at full rate of channel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  <a:cs typeface="+mn-cs"/>
              </a:rPr>
              <a:t>highly decentralized: only slots in nodes need to be in sync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>
                <a:ea typeface="ＭＳ Ｐゴシック" charset="0"/>
                <a:cs typeface="+mn-cs"/>
              </a:rPr>
              <a:t>simple</a:t>
            </a:r>
          </a:p>
          <a:p>
            <a:pPr>
              <a:buFont typeface="Wingdings" charset="0"/>
              <a:buChar char="v"/>
              <a:defRPr/>
            </a:pPr>
            <a:endParaRPr lang="en-US" sz="2400">
              <a:ea typeface="ＭＳ Ｐゴシック" charset="0"/>
              <a:cs typeface="+mn-cs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3313113"/>
            <a:ext cx="3810000" cy="3200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Cons: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collisions, wasting slots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idle slots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nodes may be able to detect collision in less than time to transmit packet</a:t>
            </a:r>
          </a:p>
          <a:p>
            <a:pPr>
              <a:lnSpc>
                <a:spcPct val="90000"/>
              </a:lnSpc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clock synchronization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Slotted </a:t>
            </a:r>
            <a:r>
              <a:rPr lang="en-US" sz="4000">
                <a:ea typeface="ＭＳ Ｐゴシック" charset="0"/>
                <a:cs typeface="+mj-cs"/>
              </a:rPr>
              <a:t>ALOHA</a:t>
            </a:r>
          </a:p>
        </p:txBody>
      </p:sp>
      <p:pic>
        <p:nvPicPr>
          <p:cNvPr id="89094" name="Picture 6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9095" name="Group 64"/>
          <p:cNvGrpSpPr>
            <a:grpSpLocks/>
          </p:cNvGrpSpPr>
          <p:nvPr/>
        </p:nvGrpSpPr>
        <p:grpSpPr bwMode="auto">
          <a:xfrm>
            <a:off x="1028700" y="1350963"/>
            <a:ext cx="6053138" cy="1938337"/>
            <a:chOff x="648" y="899"/>
            <a:chExt cx="3813" cy="1221"/>
          </a:xfrm>
        </p:grpSpPr>
        <p:grpSp>
          <p:nvGrpSpPr>
            <p:cNvPr id="89096" name="Group 9"/>
            <p:cNvGrpSpPr>
              <a:grpSpLocks/>
            </p:cNvGrpSpPr>
            <p:nvPr/>
          </p:nvGrpSpPr>
          <p:grpSpPr bwMode="auto">
            <a:xfrm>
              <a:off x="1193" y="899"/>
              <a:ext cx="283" cy="192"/>
              <a:chOff x="1185" y="903"/>
              <a:chExt cx="283" cy="192"/>
            </a:xfrm>
          </p:grpSpPr>
          <p:sp>
            <p:nvSpPr>
              <p:cNvPr id="25660" name="Rectangle 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61" name="Text Box 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1</a:t>
                </a:r>
              </a:p>
            </p:txBody>
          </p:sp>
        </p:grpSp>
        <p:grpSp>
          <p:nvGrpSpPr>
            <p:cNvPr id="89097" name="Group 10"/>
            <p:cNvGrpSpPr>
              <a:grpSpLocks/>
            </p:cNvGrpSpPr>
            <p:nvPr/>
          </p:nvGrpSpPr>
          <p:grpSpPr bwMode="auto">
            <a:xfrm>
              <a:off x="1811" y="901"/>
              <a:ext cx="283" cy="192"/>
              <a:chOff x="1185" y="903"/>
              <a:chExt cx="283" cy="192"/>
            </a:xfrm>
          </p:grpSpPr>
          <p:sp>
            <p:nvSpPr>
              <p:cNvPr id="25658" name="Rectangle 11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59" name="Text Box 12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1</a:t>
                </a:r>
              </a:p>
            </p:txBody>
          </p:sp>
        </p:grpSp>
        <p:grpSp>
          <p:nvGrpSpPr>
            <p:cNvPr id="89098" name="Group 13"/>
            <p:cNvGrpSpPr>
              <a:grpSpLocks/>
            </p:cNvGrpSpPr>
            <p:nvPr/>
          </p:nvGrpSpPr>
          <p:grpSpPr bwMode="auto">
            <a:xfrm>
              <a:off x="2779" y="902"/>
              <a:ext cx="283" cy="192"/>
              <a:chOff x="1185" y="903"/>
              <a:chExt cx="283" cy="192"/>
            </a:xfrm>
          </p:grpSpPr>
          <p:sp>
            <p:nvSpPr>
              <p:cNvPr id="25656" name="Rectangle 14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57" name="Text Box 15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1</a:t>
                </a:r>
              </a:p>
            </p:txBody>
          </p:sp>
        </p:grpSp>
        <p:grpSp>
          <p:nvGrpSpPr>
            <p:cNvPr id="89099" name="Group 16"/>
            <p:cNvGrpSpPr>
              <a:grpSpLocks/>
            </p:cNvGrpSpPr>
            <p:nvPr/>
          </p:nvGrpSpPr>
          <p:grpSpPr bwMode="auto">
            <a:xfrm>
              <a:off x="3419" y="899"/>
              <a:ext cx="283" cy="192"/>
              <a:chOff x="1185" y="903"/>
              <a:chExt cx="283" cy="192"/>
            </a:xfrm>
          </p:grpSpPr>
          <p:sp>
            <p:nvSpPr>
              <p:cNvPr id="25654" name="Rectangle 1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55" name="Text Box 1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1</a:t>
                </a:r>
              </a:p>
            </p:txBody>
          </p:sp>
        </p:grpSp>
        <p:grpSp>
          <p:nvGrpSpPr>
            <p:cNvPr id="89100" name="Group 24"/>
            <p:cNvGrpSpPr>
              <a:grpSpLocks/>
            </p:cNvGrpSpPr>
            <p:nvPr/>
          </p:nvGrpSpPr>
          <p:grpSpPr bwMode="auto">
            <a:xfrm>
              <a:off x="1194" y="1225"/>
              <a:ext cx="283" cy="192"/>
              <a:chOff x="4584" y="1229"/>
              <a:chExt cx="283" cy="192"/>
            </a:xfrm>
          </p:grpSpPr>
          <p:sp>
            <p:nvSpPr>
              <p:cNvPr id="25652" name="Rectangle 20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53" name="Text Box 21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2</a:t>
                </a:r>
              </a:p>
            </p:txBody>
          </p:sp>
        </p:grpSp>
        <p:grpSp>
          <p:nvGrpSpPr>
            <p:cNvPr id="89101" name="Group 31"/>
            <p:cNvGrpSpPr>
              <a:grpSpLocks/>
            </p:cNvGrpSpPr>
            <p:nvPr/>
          </p:nvGrpSpPr>
          <p:grpSpPr bwMode="auto">
            <a:xfrm>
              <a:off x="1195" y="1546"/>
              <a:ext cx="283" cy="192"/>
              <a:chOff x="4827" y="1591"/>
              <a:chExt cx="283" cy="192"/>
            </a:xfrm>
          </p:grpSpPr>
          <p:sp>
            <p:nvSpPr>
              <p:cNvPr id="25650" name="Rectangle 22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51" name="Text Box 23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3</a:t>
                </a:r>
              </a:p>
            </p:txBody>
          </p:sp>
        </p:grpSp>
        <p:grpSp>
          <p:nvGrpSpPr>
            <p:cNvPr id="89102" name="Group 25"/>
            <p:cNvGrpSpPr>
              <a:grpSpLocks/>
            </p:cNvGrpSpPr>
            <p:nvPr/>
          </p:nvGrpSpPr>
          <p:grpSpPr bwMode="auto">
            <a:xfrm>
              <a:off x="1817" y="1226"/>
              <a:ext cx="283" cy="192"/>
              <a:chOff x="4584" y="1229"/>
              <a:chExt cx="283" cy="192"/>
            </a:xfrm>
          </p:grpSpPr>
          <p:sp>
            <p:nvSpPr>
              <p:cNvPr id="25648" name="Rectangle 26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49" name="Text Box 27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2</a:t>
                </a:r>
              </a:p>
            </p:txBody>
          </p:sp>
        </p:grpSp>
        <p:grpSp>
          <p:nvGrpSpPr>
            <p:cNvPr id="89103" name="Group 28"/>
            <p:cNvGrpSpPr>
              <a:grpSpLocks/>
            </p:cNvGrpSpPr>
            <p:nvPr/>
          </p:nvGrpSpPr>
          <p:grpSpPr bwMode="auto">
            <a:xfrm>
              <a:off x="2143" y="1227"/>
              <a:ext cx="283" cy="192"/>
              <a:chOff x="4584" y="1229"/>
              <a:chExt cx="283" cy="192"/>
            </a:xfrm>
          </p:grpSpPr>
          <p:sp>
            <p:nvSpPr>
              <p:cNvPr id="25646" name="Rectangle 29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47" name="Text Box 30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2</a:t>
                </a:r>
              </a:p>
            </p:txBody>
          </p:sp>
        </p:grpSp>
        <p:grpSp>
          <p:nvGrpSpPr>
            <p:cNvPr id="89104" name="Group 32"/>
            <p:cNvGrpSpPr>
              <a:grpSpLocks/>
            </p:cNvGrpSpPr>
            <p:nvPr/>
          </p:nvGrpSpPr>
          <p:grpSpPr bwMode="auto">
            <a:xfrm>
              <a:off x="2780" y="1547"/>
              <a:ext cx="283" cy="192"/>
              <a:chOff x="4827" y="1591"/>
              <a:chExt cx="283" cy="192"/>
            </a:xfrm>
          </p:grpSpPr>
          <p:sp>
            <p:nvSpPr>
              <p:cNvPr id="25644" name="Rectangle 33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45" name="Text Box 34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3</a:t>
                </a:r>
              </a:p>
            </p:txBody>
          </p:sp>
        </p:grpSp>
        <p:grpSp>
          <p:nvGrpSpPr>
            <p:cNvPr id="89105" name="Group 35"/>
            <p:cNvGrpSpPr>
              <a:grpSpLocks/>
            </p:cNvGrpSpPr>
            <p:nvPr/>
          </p:nvGrpSpPr>
          <p:grpSpPr bwMode="auto">
            <a:xfrm>
              <a:off x="3732" y="1548"/>
              <a:ext cx="283" cy="192"/>
              <a:chOff x="4827" y="1591"/>
              <a:chExt cx="283" cy="192"/>
            </a:xfrm>
          </p:grpSpPr>
          <p:sp>
            <p:nvSpPr>
              <p:cNvPr id="25642" name="Rectangle 36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charset="0"/>
                  <a:ea typeface="ＭＳ Ｐゴシック" charset="0"/>
                </a:endParaRPr>
              </a:p>
            </p:txBody>
          </p:sp>
          <p:sp>
            <p:nvSpPr>
              <p:cNvPr id="25643" name="Text Box 37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smtClean="0">
                    <a:latin typeface="Arial" charset="0"/>
                  </a:rPr>
                  <a:t>3</a:t>
                </a:r>
              </a:p>
            </p:txBody>
          </p:sp>
        </p:grpSp>
        <p:sp>
          <p:nvSpPr>
            <p:cNvPr id="25619" name="Text Box 38"/>
            <p:cNvSpPr txBox="1">
              <a:spLocks noChangeArrowheads="1"/>
            </p:cNvSpPr>
            <p:nvPr/>
          </p:nvSpPr>
          <p:spPr bwMode="auto">
            <a:xfrm>
              <a:off x="659" y="921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smtClean="0">
                  <a:latin typeface="Arial" charset="0"/>
                </a:rPr>
                <a:t>node 1</a:t>
              </a:r>
            </a:p>
          </p:txBody>
        </p:sp>
        <p:sp>
          <p:nvSpPr>
            <p:cNvPr id="25620" name="Text Box 39"/>
            <p:cNvSpPr txBox="1">
              <a:spLocks noChangeArrowheads="1"/>
            </p:cNvSpPr>
            <p:nvPr/>
          </p:nvSpPr>
          <p:spPr bwMode="auto">
            <a:xfrm>
              <a:off x="648" y="1245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smtClean="0">
                  <a:latin typeface="Arial" charset="0"/>
                </a:rPr>
                <a:t>node 2</a:t>
              </a:r>
            </a:p>
          </p:txBody>
        </p:sp>
        <p:sp>
          <p:nvSpPr>
            <p:cNvPr id="25621" name="Text Box 40"/>
            <p:cNvSpPr txBox="1">
              <a:spLocks noChangeArrowheads="1"/>
            </p:cNvSpPr>
            <p:nvPr/>
          </p:nvSpPr>
          <p:spPr bwMode="auto">
            <a:xfrm>
              <a:off x="677" y="1562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smtClean="0">
                  <a:latin typeface="Arial" charset="0"/>
                </a:rPr>
                <a:t>node 3</a:t>
              </a:r>
            </a:p>
          </p:txBody>
        </p:sp>
        <p:sp>
          <p:nvSpPr>
            <p:cNvPr id="25622" name="Line 41"/>
            <p:cNvSpPr>
              <a:spLocks noChangeShapeType="1"/>
            </p:cNvSpPr>
            <p:nvPr/>
          </p:nvSpPr>
          <p:spPr bwMode="auto">
            <a:xfrm>
              <a:off x="1179" y="1882"/>
              <a:ext cx="32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23" name="Line 42"/>
            <p:cNvSpPr>
              <a:spLocks noChangeShapeType="1"/>
            </p:cNvSpPr>
            <p:nvPr/>
          </p:nvSpPr>
          <p:spPr bwMode="auto">
            <a:xfrm>
              <a:off x="1181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24" name="Line 43"/>
            <p:cNvSpPr>
              <a:spLocks noChangeShapeType="1"/>
            </p:cNvSpPr>
            <p:nvPr/>
          </p:nvSpPr>
          <p:spPr bwMode="auto">
            <a:xfrm>
              <a:off x="1496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25" name="Line 44"/>
            <p:cNvSpPr>
              <a:spLocks noChangeShapeType="1"/>
            </p:cNvSpPr>
            <p:nvPr/>
          </p:nvSpPr>
          <p:spPr bwMode="auto">
            <a:xfrm>
              <a:off x="1813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26" name="Line 45"/>
            <p:cNvSpPr>
              <a:spLocks noChangeShapeType="1"/>
            </p:cNvSpPr>
            <p:nvPr/>
          </p:nvSpPr>
          <p:spPr bwMode="auto">
            <a:xfrm>
              <a:off x="2132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27" name="Line 46"/>
            <p:cNvSpPr>
              <a:spLocks noChangeShapeType="1"/>
            </p:cNvSpPr>
            <p:nvPr/>
          </p:nvSpPr>
          <p:spPr bwMode="auto">
            <a:xfrm>
              <a:off x="2450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28" name="Line 47"/>
            <p:cNvSpPr>
              <a:spLocks noChangeShapeType="1"/>
            </p:cNvSpPr>
            <p:nvPr/>
          </p:nvSpPr>
          <p:spPr bwMode="auto">
            <a:xfrm>
              <a:off x="2770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29" name="Line 48"/>
            <p:cNvSpPr>
              <a:spLocks noChangeShapeType="1"/>
            </p:cNvSpPr>
            <p:nvPr/>
          </p:nvSpPr>
          <p:spPr bwMode="auto">
            <a:xfrm>
              <a:off x="3088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30" name="Line 49"/>
            <p:cNvSpPr>
              <a:spLocks noChangeShapeType="1"/>
            </p:cNvSpPr>
            <p:nvPr/>
          </p:nvSpPr>
          <p:spPr bwMode="auto">
            <a:xfrm>
              <a:off x="3406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31" name="Line 50"/>
            <p:cNvSpPr>
              <a:spLocks noChangeShapeType="1"/>
            </p:cNvSpPr>
            <p:nvPr/>
          </p:nvSpPr>
          <p:spPr bwMode="auto">
            <a:xfrm>
              <a:off x="3726" y="1815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32" name="Line 51"/>
            <p:cNvSpPr>
              <a:spLocks noChangeShapeType="1"/>
            </p:cNvSpPr>
            <p:nvPr/>
          </p:nvSpPr>
          <p:spPr bwMode="auto">
            <a:xfrm>
              <a:off x="4034" y="1813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5633" name="Text Box 54"/>
            <p:cNvSpPr txBox="1">
              <a:spLocks noChangeArrowheads="1"/>
            </p:cNvSpPr>
            <p:nvPr/>
          </p:nvSpPr>
          <p:spPr bwMode="auto">
            <a:xfrm>
              <a:off x="1220" y="188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smtClean="0">
                  <a:solidFill>
                    <a:srgbClr val="000099"/>
                  </a:solidFill>
                  <a:latin typeface="Arial" charset="0"/>
                </a:rPr>
                <a:t>C</a:t>
              </a:r>
            </a:p>
          </p:txBody>
        </p:sp>
        <p:sp>
          <p:nvSpPr>
            <p:cNvPr id="25634" name="Text Box 55"/>
            <p:cNvSpPr txBox="1">
              <a:spLocks noChangeArrowheads="1"/>
            </p:cNvSpPr>
            <p:nvPr/>
          </p:nvSpPr>
          <p:spPr bwMode="auto">
            <a:xfrm>
              <a:off x="1862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smtClean="0">
                  <a:solidFill>
                    <a:srgbClr val="000099"/>
                  </a:solidFill>
                  <a:latin typeface="Arial" charset="0"/>
                </a:rPr>
                <a:t>C</a:t>
              </a:r>
            </a:p>
          </p:txBody>
        </p:sp>
        <p:sp>
          <p:nvSpPr>
            <p:cNvPr id="25635" name="Text Box 56"/>
            <p:cNvSpPr txBox="1">
              <a:spLocks noChangeArrowheads="1"/>
            </p:cNvSpPr>
            <p:nvPr/>
          </p:nvSpPr>
          <p:spPr bwMode="auto">
            <a:xfrm>
              <a:off x="2816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smtClean="0">
                  <a:solidFill>
                    <a:srgbClr val="000099"/>
                  </a:solidFill>
                  <a:latin typeface="Arial" charset="0"/>
                </a:rPr>
                <a:t>C</a:t>
              </a:r>
            </a:p>
          </p:txBody>
        </p:sp>
        <p:sp>
          <p:nvSpPr>
            <p:cNvPr id="25636" name="Text Box 58"/>
            <p:cNvSpPr txBox="1">
              <a:spLocks noChangeArrowheads="1"/>
            </p:cNvSpPr>
            <p:nvPr/>
          </p:nvSpPr>
          <p:spPr bwMode="auto">
            <a:xfrm>
              <a:off x="218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smtClean="0">
                  <a:solidFill>
                    <a:srgbClr val="000099"/>
                  </a:solidFill>
                  <a:latin typeface="Arial" charset="0"/>
                </a:rPr>
                <a:t>S</a:t>
              </a:r>
            </a:p>
          </p:txBody>
        </p:sp>
        <p:sp>
          <p:nvSpPr>
            <p:cNvPr id="25637" name="Text Box 59"/>
            <p:cNvSpPr txBox="1">
              <a:spLocks noChangeArrowheads="1"/>
            </p:cNvSpPr>
            <p:nvPr/>
          </p:nvSpPr>
          <p:spPr bwMode="auto">
            <a:xfrm>
              <a:off x="344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smtClean="0">
                  <a:solidFill>
                    <a:srgbClr val="000099"/>
                  </a:solidFill>
                  <a:latin typeface="Arial" charset="0"/>
                </a:rPr>
                <a:t>S</a:t>
              </a:r>
            </a:p>
          </p:txBody>
        </p:sp>
        <p:sp>
          <p:nvSpPr>
            <p:cNvPr id="25638" name="Text Box 60"/>
            <p:cNvSpPr txBox="1">
              <a:spLocks noChangeArrowheads="1"/>
            </p:cNvSpPr>
            <p:nvPr/>
          </p:nvSpPr>
          <p:spPr bwMode="auto">
            <a:xfrm>
              <a:off x="3752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smtClean="0">
                  <a:solidFill>
                    <a:srgbClr val="000099"/>
                  </a:solidFill>
                  <a:latin typeface="Arial" charset="0"/>
                </a:rPr>
                <a:t>S</a:t>
              </a:r>
            </a:p>
          </p:txBody>
        </p:sp>
        <p:sp>
          <p:nvSpPr>
            <p:cNvPr id="25639" name="Text Box 61"/>
            <p:cNvSpPr txBox="1">
              <a:spLocks noChangeArrowheads="1"/>
            </p:cNvSpPr>
            <p:nvPr/>
          </p:nvSpPr>
          <p:spPr bwMode="auto">
            <a:xfrm>
              <a:off x="1544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smtClean="0">
                  <a:solidFill>
                    <a:srgbClr val="000099"/>
                  </a:solidFill>
                  <a:latin typeface="Arial" charset="0"/>
                </a:rPr>
                <a:t>E</a:t>
              </a:r>
            </a:p>
          </p:txBody>
        </p:sp>
        <p:sp>
          <p:nvSpPr>
            <p:cNvPr id="25640" name="Text Box 62"/>
            <p:cNvSpPr txBox="1">
              <a:spLocks noChangeArrowheads="1"/>
            </p:cNvSpPr>
            <p:nvPr/>
          </p:nvSpPr>
          <p:spPr bwMode="auto">
            <a:xfrm>
              <a:off x="250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smtClean="0">
                  <a:solidFill>
                    <a:srgbClr val="000099"/>
                  </a:solidFill>
                  <a:latin typeface="Arial" charset="0"/>
                </a:rPr>
                <a:t>E</a:t>
              </a:r>
            </a:p>
          </p:txBody>
        </p:sp>
        <p:sp>
          <p:nvSpPr>
            <p:cNvPr id="25641" name="Text Box 63"/>
            <p:cNvSpPr txBox="1">
              <a:spLocks noChangeArrowheads="1"/>
            </p:cNvSpPr>
            <p:nvPr/>
          </p:nvSpPr>
          <p:spPr bwMode="auto">
            <a:xfrm>
              <a:off x="313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smtClean="0">
                  <a:solidFill>
                    <a:srgbClr val="000099"/>
                  </a:solidFill>
                  <a:latin typeface="Arial" charset="0"/>
                </a:rPr>
                <a:t>E</a:t>
              </a:r>
            </a:p>
          </p:txBody>
        </p:sp>
      </p:grpSp>
      <p:sp>
        <p:nvSpPr>
          <p:cNvPr id="62" name="Rectangle 4"/>
          <p:cNvSpPr txBox="1">
            <a:spLocks noChangeArrowheads="1"/>
          </p:cNvSpPr>
          <p:nvPr/>
        </p:nvSpPr>
        <p:spPr>
          <a:xfrm>
            <a:off x="7275984" y="1719771"/>
            <a:ext cx="1868016" cy="970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tr-TR" sz="1800" dirty="0" smtClean="0">
                <a:ea typeface="ＭＳ Ｐゴシック" charset="0"/>
              </a:rPr>
              <a:t>C=</a:t>
            </a:r>
            <a:r>
              <a:rPr lang="tr-TR" sz="1800" dirty="0" err="1" smtClean="0">
                <a:ea typeface="ＭＳ Ｐゴシック" charset="0"/>
              </a:rPr>
              <a:t>collision</a:t>
            </a:r>
            <a:r>
              <a:rPr lang="tr-TR" sz="1800" dirty="0" smtClean="0">
                <a:ea typeface="ＭＳ Ｐゴシック" charset="0"/>
              </a:rPr>
              <a:t> </a:t>
            </a:r>
            <a:r>
              <a:rPr lang="tr-TR" sz="1800" dirty="0" err="1" smtClean="0">
                <a:ea typeface="ＭＳ Ｐゴシック" charset="0"/>
              </a:rPr>
              <a:t>slot</a:t>
            </a:r>
            <a:endParaRPr lang="tr-TR" sz="1800" dirty="0" smtClean="0">
              <a:ea typeface="ＭＳ Ｐゴシック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tr-TR" sz="1800" dirty="0" smtClean="0">
                <a:ea typeface="ＭＳ Ｐゴシック" charset="0"/>
              </a:rPr>
              <a:t>E=</a:t>
            </a:r>
            <a:r>
              <a:rPr lang="tr-TR" sz="1800" dirty="0" err="1" smtClean="0">
                <a:ea typeface="ＭＳ Ｐゴシック" charset="0"/>
              </a:rPr>
              <a:t>empty</a:t>
            </a:r>
            <a:r>
              <a:rPr lang="tr-TR" sz="1800" dirty="0" smtClean="0">
                <a:ea typeface="ＭＳ Ｐゴシック" charset="0"/>
              </a:rPr>
              <a:t> </a:t>
            </a:r>
            <a:r>
              <a:rPr lang="tr-TR" sz="1800" dirty="0" err="1" smtClean="0">
                <a:ea typeface="ＭＳ Ｐゴシック" charset="0"/>
              </a:rPr>
              <a:t>slot</a:t>
            </a:r>
            <a:endParaRPr lang="tr-TR" sz="1800" dirty="0" smtClean="0">
              <a:ea typeface="ＭＳ Ｐゴシック" charset="0"/>
            </a:endParaRPr>
          </a:p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tr-TR" sz="1800" dirty="0" smtClean="0">
                <a:ea typeface="ＭＳ Ｐゴシック" charset="0"/>
              </a:rPr>
              <a:t>S=</a:t>
            </a:r>
            <a:r>
              <a:rPr lang="tr-TR" sz="1800" dirty="0" err="1" smtClean="0">
                <a:ea typeface="ＭＳ Ｐゴシック" charset="0"/>
              </a:rPr>
              <a:t>successful</a:t>
            </a:r>
            <a:r>
              <a:rPr lang="tr-TR" sz="1800" dirty="0" smtClean="0">
                <a:ea typeface="ＭＳ Ｐゴシック" charset="0"/>
              </a:rPr>
              <a:t> </a:t>
            </a:r>
            <a:r>
              <a:rPr lang="tr-TR" sz="1800" dirty="0" err="1" smtClean="0">
                <a:ea typeface="ＭＳ Ｐゴシック" charset="0"/>
              </a:rPr>
              <a:t>slot</a:t>
            </a:r>
            <a:endParaRPr lang="en-US" sz="1800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90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4188" y="3297238"/>
            <a:ext cx="4159820" cy="3128962"/>
          </a:xfrm>
        </p:spPr>
        <p:txBody>
          <a:bodyPr>
            <a:normAutofit fontScale="92500"/>
          </a:bodyPr>
          <a:lstStyle/>
          <a:p>
            <a:pPr>
              <a:buFont typeface="Wingdings" charset="0"/>
              <a:buChar char="v"/>
              <a:defRPr/>
            </a:pPr>
            <a:r>
              <a:rPr lang="en-US" sz="2400" i="1" dirty="0">
                <a:ea typeface="ＭＳ Ｐゴシック" charset="0"/>
                <a:cs typeface="+mn-cs"/>
              </a:rPr>
              <a:t>suppose:</a:t>
            </a:r>
            <a:r>
              <a:rPr lang="en-US" sz="2400" dirty="0">
                <a:ea typeface="ＭＳ Ｐゴシック" charset="0"/>
                <a:cs typeface="+mn-cs"/>
              </a:rPr>
              <a:t> </a:t>
            </a:r>
            <a:r>
              <a:rPr lang="en-US" sz="2400" i="1" dirty="0">
                <a:ea typeface="ＭＳ Ｐゴシック" charset="0"/>
                <a:cs typeface="+mn-cs"/>
              </a:rPr>
              <a:t>N</a:t>
            </a:r>
            <a:r>
              <a:rPr lang="en-US" sz="2400" dirty="0">
                <a:ea typeface="ＭＳ Ｐゴシック" charset="0"/>
                <a:cs typeface="+mn-cs"/>
              </a:rPr>
              <a:t> nodes with many frames to send, each transmits in slot with probability </a:t>
            </a:r>
            <a:r>
              <a:rPr lang="en-US" sz="2400" i="1" dirty="0">
                <a:ea typeface="ＭＳ Ｐゴシック" charset="0"/>
                <a:cs typeface="+mn-cs"/>
              </a:rPr>
              <a:t>p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 err="1" smtClean="0">
                <a:ea typeface="ＭＳ Ｐゴシック" charset="0"/>
                <a:cs typeface="+mn-cs"/>
              </a:rPr>
              <a:t>prob</a:t>
            </a:r>
            <a:r>
              <a:rPr lang="tr-TR" sz="2400" dirty="0" err="1" smtClean="0">
                <a:ea typeface="ＭＳ Ｐゴシック" charset="0"/>
                <a:cs typeface="+mn-cs"/>
              </a:rPr>
              <a:t>ability</a:t>
            </a:r>
            <a:r>
              <a:rPr lang="en-US" sz="2400" dirty="0" smtClean="0">
                <a:ea typeface="ＭＳ Ｐゴシック" charset="0"/>
                <a:cs typeface="+mn-cs"/>
              </a:rPr>
              <a:t> </a:t>
            </a:r>
            <a:r>
              <a:rPr lang="en-US" sz="2400" dirty="0">
                <a:ea typeface="ＭＳ Ｐゴシック" charset="0"/>
                <a:cs typeface="+mn-cs"/>
              </a:rPr>
              <a:t>that given node has success in a slot  = </a:t>
            </a:r>
            <a:r>
              <a:rPr lang="en-US" sz="2400" i="1" dirty="0">
                <a:ea typeface="ＭＳ Ｐゴシック" charset="0"/>
                <a:cs typeface="+mn-cs"/>
              </a:rPr>
              <a:t>p(1-p)</a:t>
            </a:r>
            <a:r>
              <a:rPr lang="en-US" sz="2400" b="1" i="1" baseline="30000" dirty="0">
                <a:ea typeface="ＭＳ Ｐゴシック" charset="0"/>
                <a:cs typeface="+mn-cs"/>
              </a:rPr>
              <a:t>N-1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 err="1" smtClean="0">
                <a:ea typeface="ＭＳ Ｐゴシック" charset="0"/>
                <a:cs typeface="+mn-cs"/>
              </a:rPr>
              <a:t>prob</a:t>
            </a:r>
            <a:r>
              <a:rPr lang="tr-TR" sz="2400" dirty="0" err="1" smtClean="0">
                <a:ea typeface="ＭＳ Ｐゴシック" charset="0"/>
                <a:cs typeface="+mn-cs"/>
              </a:rPr>
              <a:t>ability</a:t>
            </a:r>
            <a:r>
              <a:rPr lang="en-US" sz="2400" dirty="0" smtClean="0">
                <a:ea typeface="ＭＳ Ｐゴシック" charset="0"/>
                <a:cs typeface="+mn-cs"/>
              </a:rPr>
              <a:t> </a:t>
            </a:r>
            <a:r>
              <a:rPr lang="en-US" sz="2400" dirty="0">
                <a:ea typeface="ＭＳ Ｐゴシック" charset="0"/>
                <a:cs typeface="+mn-cs"/>
              </a:rPr>
              <a:t>that </a:t>
            </a:r>
            <a:r>
              <a:rPr lang="en-US" sz="2400" i="1" dirty="0">
                <a:ea typeface="ＭＳ Ｐゴシック" charset="0"/>
                <a:cs typeface="+mn-cs"/>
              </a:rPr>
              <a:t>any</a:t>
            </a:r>
            <a:r>
              <a:rPr lang="en-US" sz="2400" dirty="0">
                <a:ea typeface="ＭＳ Ｐゴシック" charset="0"/>
                <a:cs typeface="+mn-cs"/>
              </a:rPr>
              <a:t> node has a success = </a:t>
            </a:r>
            <a:r>
              <a:rPr lang="en-US" sz="2400" i="1" dirty="0" err="1">
                <a:ea typeface="ＭＳ Ｐゴシック" charset="0"/>
                <a:cs typeface="+mn-cs"/>
              </a:rPr>
              <a:t>Np</a:t>
            </a:r>
            <a:r>
              <a:rPr lang="en-US" sz="2400" i="1" dirty="0">
                <a:ea typeface="ＭＳ Ｐゴシック" charset="0"/>
                <a:cs typeface="+mn-cs"/>
              </a:rPr>
              <a:t>(1-p)</a:t>
            </a:r>
            <a:r>
              <a:rPr lang="en-US" sz="2400" b="1" i="1" baseline="30000" dirty="0">
                <a:ea typeface="ＭＳ Ｐゴシック" charset="0"/>
                <a:cs typeface="+mn-cs"/>
              </a:rPr>
              <a:t>N-1</a:t>
            </a:r>
            <a:endParaRPr lang="en-US" sz="2400" i="1" dirty="0">
              <a:ea typeface="ＭＳ Ｐゴシック" charset="0"/>
              <a:cs typeface="+mn-cs"/>
            </a:endParaRPr>
          </a:p>
        </p:txBody>
      </p:sp>
      <p:sp>
        <p:nvSpPr>
          <p:cNvPr id="26629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978400" y="1647825"/>
            <a:ext cx="3810000" cy="32385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max efficiency: find p* that maximizes </a:t>
            </a:r>
            <a:r>
              <a:rPr lang="en-US" sz="2400" dirty="0" err="1" smtClean="0">
                <a:ea typeface="ＭＳ Ｐゴシック" charset="0"/>
                <a:cs typeface="+mn-cs"/>
              </a:rPr>
              <a:t>Np</a:t>
            </a:r>
            <a:r>
              <a:rPr lang="en-US" sz="2400" dirty="0" smtClean="0">
                <a:ea typeface="ＭＳ Ｐゴシック" charset="0"/>
                <a:cs typeface="+mn-cs"/>
              </a:rPr>
              <a:t>(1-p)</a:t>
            </a:r>
            <a:r>
              <a:rPr lang="en-US" sz="2400" b="1" baseline="30000" dirty="0" smtClean="0">
                <a:ea typeface="ＭＳ Ｐゴシック" charset="0"/>
                <a:cs typeface="+mn-cs"/>
              </a:rPr>
              <a:t>N-1</a:t>
            </a:r>
            <a:endParaRPr lang="en-US" sz="2400" b="1" baseline="30000" dirty="0">
              <a:ea typeface="ＭＳ Ｐゴシック" charset="0"/>
              <a:cs typeface="+mn-cs"/>
            </a:endParaRP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for many nodes, take limit of </a:t>
            </a:r>
            <a:r>
              <a:rPr lang="en-US" sz="2400" dirty="0" err="1">
                <a:ea typeface="ＭＳ Ｐゴシック" charset="0"/>
                <a:cs typeface="+mn-cs"/>
              </a:rPr>
              <a:t>Np</a:t>
            </a:r>
            <a:r>
              <a:rPr lang="en-US" sz="2400" dirty="0">
                <a:ea typeface="ＭＳ Ｐゴシック" charset="0"/>
                <a:cs typeface="+mn-cs"/>
              </a:rPr>
              <a:t>*(1-p*)</a:t>
            </a:r>
            <a:r>
              <a:rPr lang="en-US" sz="2400" b="1" baseline="30000" dirty="0">
                <a:ea typeface="ＭＳ Ｐゴシック" charset="0"/>
                <a:cs typeface="+mn-cs"/>
              </a:rPr>
              <a:t>N-1 </a:t>
            </a:r>
            <a:r>
              <a:rPr lang="en-US" sz="2400" dirty="0">
                <a:ea typeface="ＭＳ Ｐゴシック" charset="0"/>
                <a:cs typeface="+mn-cs"/>
              </a:rPr>
              <a:t>as N goes to infinity, gives: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ea typeface="ＭＳ Ｐゴシック" charset="0"/>
                <a:cs typeface="+mn-cs"/>
              </a:rPr>
              <a:t>    </a:t>
            </a:r>
            <a:r>
              <a:rPr lang="en-US" sz="2400" i="1" dirty="0">
                <a:solidFill>
                  <a:srgbClr val="CC0000"/>
                </a:solidFill>
                <a:ea typeface="ＭＳ Ｐゴシック" charset="0"/>
                <a:cs typeface="+mn-cs"/>
              </a:rPr>
              <a:t>max efficiency = 1/e = </a:t>
            </a:r>
            <a:r>
              <a:rPr lang="tr-TR" sz="2400" i="1" dirty="0" smtClean="0">
                <a:solidFill>
                  <a:srgbClr val="CC0000"/>
                </a:solidFill>
                <a:ea typeface="ＭＳ Ｐゴシック" charset="0"/>
                <a:cs typeface="+mn-cs"/>
              </a:rPr>
              <a:t>0</a:t>
            </a:r>
            <a:r>
              <a:rPr lang="en-US" sz="2400" i="1" dirty="0" smtClean="0">
                <a:solidFill>
                  <a:srgbClr val="CC0000"/>
                </a:solidFill>
                <a:ea typeface="ＭＳ Ｐゴシック" charset="0"/>
                <a:cs typeface="+mn-cs"/>
              </a:rPr>
              <a:t>.37</a:t>
            </a:r>
            <a:endParaRPr lang="en-US" sz="2400" b="1" i="1" baseline="30000" dirty="0">
              <a:solidFill>
                <a:srgbClr val="CC0000"/>
              </a:solidFill>
              <a:ea typeface="ＭＳ Ｐゴシック" charset="0"/>
              <a:cs typeface="+mn-cs"/>
            </a:endParaRPr>
          </a:p>
        </p:txBody>
      </p:sp>
      <p:sp>
        <p:nvSpPr>
          <p:cNvPr id="26630" name="Text Box 9"/>
          <p:cNvSpPr txBox="1">
            <a:spLocks noChangeArrowheads="1"/>
          </p:cNvSpPr>
          <p:nvPr/>
        </p:nvSpPr>
        <p:spPr bwMode="auto">
          <a:xfrm>
            <a:off x="595313" y="1687513"/>
            <a:ext cx="3554412" cy="1414462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dirty="0" smtClean="0">
                <a:solidFill>
                  <a:srgbClr val="CC0000"/>
                </a:solidFill>
                <a:latin typeface="Gill Sans MT" charset="0"/>
              </a:rPr>
              <a:t>efficiency</a:t>
            </a:r>
            <a:r>
              <a:rPr lang="en-US" sz="2400" i="0" dirty="0" smtClean="0">
                <a:latin typeface="Gill Sans MT" charset="0"/>
              </a:rPr>
              <a:t>: long-run </a:t>
            </a:r>
            <a:br>
              <a:rPr lang="en-US" sz="2400" i="0" dirty="0" smtClean="0">
                <a:latin typeface="Gill Sans MT" charset="0"/>
              </a:rPr>
            </a:br>
            <a:r>
              <a:rPr lang="en-US" sz="2400" i="0" dirty="0" smtClean="0">
                <a:latin typeface="Gill Sans MT" charset="0"/>
              </a:rPr>
              <a:t>fraction of successful slots </a:t>
            </a:r>
            <a:br>
              <a:rPr lang="en-US" sz="2400" i="0" dirty="0" smtClean="0">
                <a:latin typeface="Gill Sans MT" charset="0"/>
              </a:rPr>
            </a:br>
            <a:r>
              <a:rPr lang="en-US" sz="2400" i="0" dirty="0" smtClean="0">
                <a:latin typeface="Gill Sans MT" charset="0"/>
              </a:rPr>
              <a:t>(many nodes, all with many frames to send)</a:t>
            </a:r>
          </a:p>
        </p:txBody>
      </p:sp>
      <p:sp>
        <p:nvSpPr>
          <p:cNvPr id="26631" name="Text Box 10"/>
          <p:cNvSpPr txBox="1">
            <a:spLocks noChangeArrowheads="1"/>
          </p:cNvSpPr>
          <p:nvPr/>
        </p:nvSpPr>
        <p:spPr bwMode="auto">
          <a:xfrm>
            <a:off x="5407025" y="4529138"/>
            <a:ext cx="2568575" cy="14144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smtClean="0">
                <a:solidFill>
                  <a:srgbClr val="CC0000"/>
                </a:solidFill>
                <a:latin typeface="Gill Sans MT" charset="0"/>
              </a:rPr>
              <a:t>at best:</a:t>
            </a:r>
            <a:r>
              <a:rPr lang="en-US" sz="2400" i="0" smtClean="0">
                <a:latin typeface="Gill Sans MT" charset="0"/>
              </a:rPr>
              <a:t> channel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smtClean="0">
                <a:latin typeface="Gill Sans MT" charset="0"/>
              </a:rPr>
              <a:t>used for useful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smtClean="0">
                <a:latin typeface="Gill Sans MT" charset="0"/>
              </a:rPr>
              <a:t>transmissions 37%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smtClean="0">
                <a:latin typeface="Gill Sans MT" charset="0"/>
              </a:rPr>
              <a:t>of time!</a:t>
            </a:r>
          </a:p>
        </p:txBody>
      </p:sp>
      <p:sp>
        <p:nvSpPr>
          <p:cNvPr id="26632" name="Text Box 11"/>
          <p:cNvSpPr txBox="1">
            <a:spLocks noChangeArrowheads="1"/>
          </p:cNvSpPr>
          <p:nvPr/>
        </p:nvSpPr>
        <p:spPr bwMode="auto">
          <a:xfrm>
            <a:off x="8048625" y="4402138"/>
            <a:ext cx="4889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9600" smtClean="0">
                <a:solidFill>
                  <a:srgbClr val="CC0000"/>
                </a:solidFill>
                <a:latin typeface="Gill Sans MT" charset="0"/>
              </a:rPr>
              <a:t>!</a:t>
            </a:r>
          </a:p>
        </p:txBody>
      </p:sp>
      <p:sp>
        <p:nvSpPr>
          <p:cNvPr id="26633" name="Rectangle 17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7602538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Slotted </a:t>
            </a:r>
            <a:r>
              <a:rPr lang="en-US" sz="4000">
                <a:ea typeface="ＭＳ Ｐゴシック" charset="0"/>
                <a:cs typeface="+mj-cs"/>
              </a:rPr>
              <a:t>ALOHA: efficiency</a:t>
            </a:r>
          </a:p>
        </p:txBody>
      </p:sp>
      <p:pic>
        <p:nvPicPr>
          <p:cNvPr id="91145" name="Picture 18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900" y="920750"/>
            <a:ext cx="5770563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1037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Picture 5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0713" y="950913"/>
            <a:ext cx="5942012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08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Pure (</a:t>
            </a:r>
            <a:r>
              <a:rPr lang="en-US" dirty="0" err="1">
                <a:ea typeface="ＭＳ Ｐゴシック" charset="0"/>
                <a:cs typeface="+mj-cs"/>
              </a:rPr>
              <a:t>unslotted</a:t>
            </a:r>
            <a:r>
              <a:rPr lang="en-US" dirty="0">
                <a:ea typeface="ＭＳ Ｐゴシック" charset="0"/>
                <a:cs typeface="+mj-cs"/>
              </a:rPr>
              <a:t>) </a:t>
            </a:r>
            <a:r>
              <a:rPr lang="en-US" sz="4000" dirty="0">
                <a:ea typeface="ＭＳ Ｐゴシック" charset="0"/>
                <a:cs typeface="+mj-cs"/>
              </a:rPr>
              <a:t>ALOHA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258276"/>
            <a:ext cx="8343900" cy="3014712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400" dirty="0" err="1">
                <a:ea typeface="ＭＳ Ｐゴシック" charset="0"/>
                <a:cs typeface="+mn-cs"/>
              </a:rPr>
              <a:t>unslotted</a:t>
            </a:r>
            <a:r>
              <a:rPr lang="en-US" sz="2400" dirty="0">
                <a:ea typeface="ＭＳ Ｐゴシック" charset="0"/>
                <a:cs typeface="+mn-cs"/>
              </a:rPr>
              <a:t> Aloha: simpler, no synchronization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when frame first arrives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 transmit immediately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collision probability increases: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frame sent at t</a:t>
            </a:r>
            <a:r>
              <a:rPr lang="en-US" baseline="-25000" dirty="0">
                <a:ea typeface="ＭＳ Ｐゴシック" charset="0"/>
              </a:rPr>
              <a:t>0</a:t>
            </a:r>
            <a:r>
              <a:rPr lang="en-US" dirty="0">
                <a:ea typeface="ＭＳ Ｐゴシック" charset="0"/>
              </a:rPr>
              <a:t> collides with other frames sent in [t</a:t>
            </a:r>
            <a:r>
              <a:rPr lang="en-US" baseline="-25000" dirty="0">
                <a:ea typeface="ＭＳ Ｐゴシック" charset="0"/>
              </a:rPr>
              <a:t>0</a:t>
            </a:r>
            <a:r>
              <a:rPr lang="en-US" dirty="0">
                <a:ea typeface="ＭＳ Ｐゴシック" charset="0"/>
              </a:rPr>
              <a:t>-1,t</a:t>
            </a:r>
            <a:r>
              <a:rPr lang="en-US" baseline="-25000" dirty="0">
                <a:ea typeface="ＭＳ Ｐゴシック" charset="0"/>
              </a:rPr>
              <a:t>0</a:t>
            </a:r>
            <a:r>
              <a:rPr lang="en-US" dirty="0">
                <a:ea typeface="ＭＳ Ｐゴシック" charset="0"/>
              </a:rPr>
              <a:t>+1]</a:t>
            </a:r>
          </a:p>
        </p:txBody>
      </p:sp>
      <p:pic>
        <p:nvPicPr>
          <p:cNvPr id="93190" name="Picture 4" descr="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240" y="4272988"/>
            <a:ext cx="6060120" cy="245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3663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5" name="Picture 6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0388" y="857250"/>
            <a:ext cx="5027612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53988"/>
            <a:ext cx="7772400" cy="962025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Pure </a:t>
            </a:r>
            <a:r>
              <a:rPr lang="en-US" sz="4000">
                <a:ea typeface="ＭＳ Ｐゴシック" charset="0"/>
                <a:cs typeface="+mj-cs"/>
              </a:rPr>
              <a:t>ALOHA</a:t>
            </a:r>
            <a:r>
              <a:rPr lang="en-US">
                <a:ea typeface="ＭＳ Ｐゴシック" charset="0"/>
                <a:cs typeface="+mj-cs"/>
              </a:rPr>
              <a:t> efficiency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28738"/>
            <a:ext cx="8264525" cy="4648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smtClean="0"/>
              <a:t>P(success by given node) = P(node transmits) </a:t>
            </a:r>
            <a:r>
              <a:rPr lang="en-US" sz="2000" baseline="16000" smtClean="0"/>
              <a:t>.</a:t>
            </a:r>
            <a:endParaRPr lang="en-US" sz="2000" smtClean="0"/>
          </a:p>
          <a:p>
            <a:pPr>
              <a:buFont typeface="Wingdings" pitchFamily="2" charset="2"/>
              <a:buNone/>
            </a:pPr>
            <a:r>
              <a:rPr lang="en-US" sz="2000" smtClean="0"/>
              <a:t>                                              P(no other node transmits in [t</a:t>
            </a:r>
            <a:r>
              <a:rPr lang="en-US" sz="2000" baseline="-25000" smtClean="0"/>
              <a:t>0</a:t>
            </a:r>
            <a:r>
              <a:rPr lang="en-US" sz="2000" smtClean="0"/>
              <a:t>-1,t</a:t>
            </a:r>
            <a:r>
              <a:rPr lang="en-US" sz="2000" baseline="-25000" smtClean="0"/>
              <a:t>0</a:t>
            </a:r>
            <a:r>
              <a:rPr lang="en-US" sz="2000" smtClean="0"/>
              <a:t>] </a:t>
            </a:r>
            <a:r>
              <a:rPr lang="en-US" sz="2000" baseline="16000" smtClean="0"/>
              <a:t>.</a:t>
            </a:r>
            <a:endParaRPr lang="en-US" sz="2000" smtClean="0"/>
          </a:p>
          <a:p>
            <a:pPr>
              <a:buFont typeface="Wingdings" pitchFamily="2" charset="2"/>
              <a:buNone/>
            </a:pPr>
            <a:r>
              <a:rPr lang="en-US" sz="2000" smtClean="0"/>
              <a:t>                                              P(no other node transmits in [t</a:t>
            </a:r>
            <a:r>
              <a:rPr lang="en-US" sz="2000" baseline="-25000" smtClean="0"/>
              <a:t>0</a:t>
            </a:r>
            <a:r>
              <a:rPr lang="en-US" sz="2000" smtClean="0"/>
              <a:t>-1,t</a:t>
            </a:r>
            <a:r>
              <a:rPr lang="en-US" sz="2000" baseline="-25000" smtClean="0"/>
              <a:t>0</a:t>
            </a:r>
            <a:r>
              <a:rPr lang="en-US" sz="2000" smtClean="0"/>
              <a:t>] </a:t>
            </a:r>
          </a:p>
          <a:p>
            <a:pPr>
              <a:buFont typeface="Wingdings" pitchFamily="2" charset="2"/>
              <a:buNone/>
            </a:pPr>
            <a:r>
              <a:rPr lang="en-US" sz="2000" smtClean="0"/>
              <a:t>                                      </a:t>
            </a:r>
          </a:p>
          <a:p>
            <a:pPr>
              <a:buFont typeface="Wingdings" pitchFamily="2" charset="2"/>
              <a:buNone/>
            </a:pPr>
            <a:r>
              <a:rPr lang="en-US" sz="2400" smtClean="0"/>
              <a:t>                                      = p </a:t>
            </a:r>
            <a:r>
              <a:rPr lang="en-US" sz="2400" baseline="16000" smtClean="0"/>
              <a:t>. </a:t>
            </a:r>
            <a:r>
              <a:rPr lang="en-US" sz="2400" smtClean="0"/>
              <a:t>(1-p)</a:t>
            </a:r>
            <a:r>
              <a:rPr lang="en-US" sz="2400" b="1" baseline="30000" smtClean="0"/>
              <a:t>N-1</a:t>
            </a:r>
            <a:r>
              <a:rPr lang="en-US" sz="2400" baseline="16000" smtClean="0"/>
              <a:t> . </a:t>
            </a:r>
            <a:r>
              <a:rPr lang="en-US" sz="2400" smtClean="0"/>
              <a:t>(1-p)</a:t>
            </a:r>
            <a:r>
              <a:rPr lang="en-US" sz="2400" b="1" baseline="30000" smtClean="0"/>
              <a:t>N-1  </a:t>
            </a:r>
          </a:p>
          <a:p>
            <a:pPr>
              <a:buFont typeface="Wingdings" pitchFamily="2" charset="2"/>
              <a:buNone/>
            </a:pPr>
            <a:r>
              <a:rPr lang="en-US" sz="2400" b="1" baseline="30000" smtClean="0"/>
              <a:t>                                                         </a:t>
            </a:r>
            <a:r>
              <a:rPr lang="en-US" sz="2400" smtClean="0"/>
              <a:t>=</a:t>
            </a:r>
            <a:r>
              <a:rPr lang="en-US" sz="2400" b="1" smtClean="0"/>
              <a:t> </a:t>
            </a:r>
            <a:r>
              <a:rPr lang="en-US" sz="2400" smtClean="0"/>
              <a:t>p </a:t>
            </a:r>
            <a:r>
              <a:rPr lang="en-US" sz="2400" baseline="16000" smtClean="0"/>
              <a:t>. </a:t>
            </a:r>
            <a:r>
              <a:rPr lang="en-US" sz="2400" smtClean="0"/>
              <a:t>(1-p)</a:t>
            </a:r>
            <a:r>
              <a:rPr lang="en-US" sz="2400" b="1" baseline="30000" smtClean="0"/>
              <a:t>2(N-1)</a:t>
            </a:r>
            <a:r>
              <a:rPr lang="en-US" baseline="16000" smtClean="0"/>
              <a:t> </a:t>
            </a:r>
            <a:endParaRPr lang="en-US" sz="2000" smtClean="0"/>
          </a:p>
          <a:p>
            <a:pPr>
              <a:buFont typeface="Wingdings" pitchFamily="2" charset="2"/>
              <a:buNone/>
            </a:pPr>
            <a:endParaRPr lang="en-US" baseline="16000" smtClean="0"/>
          </a:p>
          <a:p>
            <a:pPr>
              <a:buFont typeface="Wingdings" pitchFamily="2" charset="2"/>
              <a:buNone/>
            </a:pPr>
            <a:r>
              <a:rPr lang="en-US" baseline="16000" smtClean="0"/>
              <a:t>                              … choosing optimum p and then letting n </a:t>
            </a:r>
          </a:p>
          <a:p>
            <a:pPr>
              <a:buFont typeface="Wingdings" pitchFamily="2" charset="2"/>
              <a:buNone/>
            </a:pPr>
            <a:r>
              <a:rPr lang="en-US" baseline="16000" smtClean="0"/>
              <a:t>                                                 </a:t>
            </a:r>
            <a:r>
              <a:rPr lang="en-US" sz="2400" smtClean="0"/>
              <a:t>= 1/(2e) = .18</a:t>
            </a:r>
            <a:r>
              <a:rPr lang="en-US" baseline="16000" smtClean="0"/>
              <a:t> </a:t>
            </a:r>
            <a:r>
              <a:rPr lang="en-US" smtClean="0"/>
              <a:t>	</a:t>
            </a:r>
            <a:endParaRPr lang="en-US" b="1" i="1" smtClean="0"/>
          </a:p>
          <a:p>
            <a:endParaRPr lang="en-US" smtClean="0"/>
          </a:p>
        </p:txBody>
      </p:sp>
      <p:sp>
        <p:nvSpPr>
          <p:cNvPr id="28679" name="Text Box 4"/>
          <p:cNvSpPr txBox="1">
            <a:spLocks noChangeArrowheads="1"/>
          </p:cNvSpPr>
          <p:nvPr/>
        </p:nvSpPr>
        <p:spPr bwMode="auto">
          <a:xfrm>
            <a:off x="2222500" y="5175250"/>
            <a:ext cx="458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i="0" smtClean="0">
                <a:solidFill>
                  <a:srgbClr val="CC0000"/>
                </a:solidFill>
                <a:latin typeface="Gill Sans MT" charset="0"/>
              </a:rPr>
              <a:t>even </a:t>
            </a:r>
            <a:r>
              <a:rPr lang="en-US" sz="2800" smtClean="0">
                <a:solidFill>
                  <a:srgbClr val="CC0000"/>
                </a:solidFill>
                <a:latin typeface="Gill Sans MT" charset="0"/>
              </a:rPr>
              <a:t>worse</a:t>
            </a:r>
            <a:r>
              <a:rPr lang="en-US" sz="2800" i="0" smtClean="0">
                <a:solidFill>
                  <a:srgbClr val="CC0000"/>
                </a:solidFill>
                <a:latin typeface="Gill Sans MT" charset="0"/>
              </a:rPr>
              <a:t> than slotted Aloha!</a:t>
            </a:r>
          </a:p>
        </p:txBody>
      </p:sp>
      <p:grpSp>
        <p:nvGrpSpPr>
          <p:cNvPr id="95239" name="Group 10"/>
          <p:cNvGrpSpPr>
            <a:grpSpLocks/>
          </p:cNvGrpSpPr>
          <p:nvPr/>
        </p:nvGrpSpPr>
        <p:grpSpPr bwMode="auto">
          <a:xfrm>
            <a:off x="7359842" y="4319067"/>
            <a:ext cx="736600" cy="90487"/>
            <a:chOff x="3242" y="3679"/>
            <a:chExt cx="464" cy="57"/>
          </a:xfrm>
        </p:grpSpPr>
        <p:sp>
          <p:nvSpPr>
            <p:cNvPr id="28681" name="Line 7"/>
            <p:cNvSpPr>
              <a:spLocks noChangeShapeType="1"/>
            </p:cNvSpPr>
            <p:nvPr/>
          </p:nvSpPr>
          <p:spPr bwMode="auto">
            <a:xfrm>
              <a:off x="3242" y="3711"/>
              <a:ext cx="2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8682" name="Oval 8"/>
            <p:cNvSpPr>
              <a:spLocks noChangeArrowheads="1"/>
            </p:cNvSpPr>
            <p:nvPr/>
          </p:nvSpPr>
          <p:spPr bwMode="auto">
            <a:xfrm>
              <a:off x="3494" y="3680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28683" name="Oval 9"/>
            <p:cNvSpPr>
              <a:spLocks noChangeArrowheads="1"/>
            </p:cNvSpPr>
            <p:nvPr/>
          </p:nvSpPr>
          <p:spPr bwMode="auto">
            <a:xfrm>
              <a:off x="3599" y="3679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711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3" name="Picture 4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7838" y="1004888"/>
            <a:ext cx="7769225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75" y="228600"/>
            <a:ext cx="8464550" cy="1143000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  <a:cs typeface="+mj-cs"/>
              </a:rPr>
              <a:t>CSMA (carrier sense multiple access)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700808"/>
            <a:ext cx="6984776" cy="396044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200" i="1" dirty="0" smtClean="0">
                <a:solidFill>
                  <a:srgbClr val="CC0000"/>
                </a:solidFill>
              </a:rPr>
              <a:t>CSMA</a:t>
            </a:r>
            <a:r>
              <a:rPr lang="en-US" sz="3200" dirty="0" smtClean="0">
                <a:solidFill>
                  <a:srgbClr val="FF0000"/>
                </a:solidFill>
              </a:rPr>
              <a:t>:</a:t>
            </a:r>
            <a:r>
              <a:rPr lang="en-US" dirty="0" smtClean="0"/>
              <a:t> listen before transmit:</a:t>
            </a:r>
          </a:p>
          <a:p>
            <a:pPr>
              <a:buFont typeface="Wingdings" pitchFamily="2" charset="2"/>
              <a:buNone/>
            </a:pPr>
            <a:r>
              <a:rPr lang="en-US" sz="2400" dirty="0" smtClean="0">
                <a:solidFill>
                  <a:srgbClr val="000099"/>
                </a:solidFill>
              </a:rPr>
              <a:t>if channel sensed idle:</a:t>
            </a:r>
            <a:r>
              <a:rPr lang="en-US" sz="2400" dirty="0" smtClean="0"/>
              <a:t> transmit entire frame</a:t>
            </a:r>
          </a:p>
          <a:p>
            <a:r>
              <a:rPr lang="en-US" sz="2400" dirty="0" smtClean="0">
                <a:solidFill>
                  <a:srgbClr val="000099"/>
                </a:solidFill>
              </a:rPr>
              <a:t>if channel sensed busy</a:t>
            </a:r>
            <a:r>
              <a:rPr lang="en-US" sz="2400" dirty="0" smtClean="0"/>
              <a:t>, defer transmission </a:t>
            </a:r>
          </a:p>
          <a:p>
            <a:r>
              <a:rPr lang="en-US" sz="2400" dirty="0" smtClean="0"/>
              <a:t>human analogy: don</a:t>
            </a:r>
            <a:r>
              <a:rPr lang="ja-JP" altLang="en-US" sz="2400" dirty="0" smtClean="0"/>
              <a:t>’</a:t>
            </a:r>
            <a:r>
              <a:rPr lang="en-US" altLang="ja-JP" sz="2400" dirty="0" smtClean="0"/>
              <a:t>t interrupt others!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73794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375030" y="98966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CSMA collisions</a:t>
            </a:r>
          </a:p>
        </p:txBody>
      </p:sp>
      <p:sp>
        <p:nvSpPr>
          <p:cNvPr id="30725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597275" cy="4648200"/>
          </a:xfrm>
        </p:spPr>
        <p:txBody>
          <a:bodyPr/>
          <a:lstStyle/>
          <a:p>
            <a:r>
              <a:rPr lang="en-US" sz="2400" dirty="0" smtClean="0">
                <a:solidFill>
                  <a:srgbClr val="990033"/>
                </a:solidFill>
              </a:rPr>
              <a:t>collisions </a:t>
            </a:r>
            <a:r>
              <a:rPr lang="en-US" sz="2400" i="1" dirty="0" smtClean="0">
                <a:solidFill>
                  <a:srgbClr val="990033"/>
                </a:solidFill>
              </a:rPr>
              <a:t>can</a:t>
            </a:r>
            <a:r>
              <a:rPr lang="en-US" sz="2400" dirty="0" smtClean="0">
                <a:solidFill>
                  <a:srgbClr val="990033"/>
                </a:solidFill>
              </a:rPr>
              <a:t> still occur: </a:t>
            </a:r>
            <a:r>
              <a:rPr lang="en-US" sz="2400" dirty="0" smtClean="0"/>
              <a:t>propagation delay means  two nodes may not hear each other</a:t>
            </a:r>
            <a:r>
              <a:rPr lang="ja-JP" altLang="en-US" sz="2400" dirty="0" smtClean="0"/>
              <a:t>’</a:t>
            </a:r>
            <a:r>
              <a:rPr lang="en-US" altLang="ja-JP" sz="2400" dirty="0" smtClean="0"/>
              <a:t>s transmission</a:t>
            </a:r>
          </a:p>
          <a:p>
            <a:r>
              <a:rPr lang="en-US" sz="2400" dirty="0" smtClean="0">
                <a:solidFill>
                  <a:srgbClr val="990033"/>
                </a:solidFill>
              </a:rPr>
              <a:t>collision: </a:t>
            </a:r>
            <a:r>
              <a:rPr lang="en-US" sz="2400" dirty="0" smtClean="0"/>
              <a:t>entire packet transmission time wasted</a:t>
            </a:r>
          </a:p>
          <a:p>
            <a:pPr lvl="1"/>
            <a:r>
              <a:rPr lang="en-US" sz="2000" dirty="0" smtClean="0"/>
              <a:t>distance &amp; propagation delay play role in in determining collision probability</a:t>
            </a:r>
          </a:p>
          <a:p>
            <a:pPr lvl="1"/>
            <a:endParaRPr lang="en-US" sz="2000" dirty="0" smtClean="0"/>
          </a:p>
        </p:txBody>
      </p:sp>
      <p:pic>
        <p:nvPicPr>
          <p:cNvPr id="99334" name="Picture 3" descr="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44241" y="2132856"/>
            <a:ext cx="4121150" cy="4719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5832107" y="996570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ea typeface="ＭＳ Ｐゴシック" charset="0"/>
              </a:rPr>
              <a:t>spatial layout of nodes </a:t>
            </a:r>
            <a:endParaRPr lang="en-US" sz="2000" i="0" dirty="0">
              <a:latin typeface="Arial" charset="0"/>
              <a:ea typeface="ＭＳ Ｐゴシック" charset="0"/>
            </a:endParaRPr>
          </a:p>
        </p:txBody>
      </p:sp>
      <p:pic>
        <p:nvPicPr>
          <p:cNvPr id="99336" name="Picture 8" descr="underline_base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4363" y="1012825"/>
            <a:ext cx="3943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9342" name="Group 98"/>
          <p:cNvGrpSpPr>
            <a:grpSpLocks/>
          </p:cNvGrpSpPr>
          <p:nvPr/>
        </p:nvGrpSpPr>
        <p:grpSpPr bwMode="auto">
          <a:xfrm>
            <a:off x="5116940" y="1486395"/>
            <a:ext cx="3513137" cy="628650"/>
            <a:chOff x="3117" y="180"/>
            <a:chExt cx="2213" cy="396"/>
          </a:xfrm>
        </p:grpSpPr>
        <p:grpSp>
          <p:nvGrpSpPr>
            <p:cNvPr id="99343" name="Group 67"/>
            <p:cNvGrpSpPr>
              <a:grpSpLocks/>
            </p:cNvGrpSpPr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99358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9359" name="Freeform 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tr-TR"/>
              </a:p>
            </p:txBody>
          </p:sp>
        </p:grpSp>
        <p:grpSp>
          <p:nvGrpSpPr>
            <p:cNvPr id="99344" name="Group 70"/>
            <p:cNvGrpSpPr>
              <a:grpSpLocks/>
            </p:cNvGrpSpPr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99356" name="Picture 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9357" name="Freeform 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tr-TR"/>
              </a:p>
            </p:txBody>
          </p:sp>
        </p:grpSp>
        <p:grpSp>
          <p:nvGrpSpPr>
            <p:cNvPr id="99345" name="Group 73"/>
            <p:cNvGrpSpPr>
              <a:grpSpLocks/>
            </p:cNvGrpSpPr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99354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9355" name="Freeform 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tr-TR"/>
              </a:p>
            </p:txBody>
          </p:sp>
        </p:grpSp>
        <p:grpSp>
          <p:nvGrpSpPr>
            <p:cNvPr id="99346" name="Group 76"/>
            <p:cNvGrpSpPr>
              <a:grpSpLocks/>
            </p:cNvGrpSpPr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99352" name="Picture 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9353" name="Freeform 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 w="9525" cap="flat" cmpd="sng">
                <a:noFill/>
                <a:prstDash val="solid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tr-TR"/>
              </a:p>
            </p:txBody>
          </p:sp>
        </p:grpSp>
        <p:sp>
          <p:nvSpPr>
            <p:cNvPr id="30740" name="Line 93"/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0741" name="Line 94"/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0742" name="Line 95"/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0743" name="Line 96"/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30744" name="Line 97"/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810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9" name="Picture 5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" y="1016000"/>
            <a:ext cx="6856413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CSMA/CD </a:t>
            </a:r>
            <a:r>
              <a:rPr lang="en-US" sz="4000">
                <a:ea typeface="ＭＳ Ｐゴシック" charset="0"/>
                <a:cs typeface="+mj-cs"/>
              </a:rPr>
              <a:t>(collision detection)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9" y="1433512"/>
            <a:ext cx="4553768" cy="5307855"/>
          </a:xfrm>
        </p:spPr>
        <p:txBody>
          <a:bodyPr>
            <a:normAutofit fontScale="92500"/>
          </a:bodyPr>
          <a:lstStyle/>
          <a:p>
            <a:pPr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ea typeface="ＭＳ Ｐゴシック" charset="0"/>
              </a:rPr>
              <a:t>CSMA/CD:</a:t>
            </a:r>
            <a:r>
              <a:rPr lang="en-US" sz="2400" dirty="0">
                <a:solidFill>
                  <a:srgbClr val="CC0000"/>
                </a:solidFill>
                <a:ea typeface="ＭＳ Ｐゴシック" charset="0"/>
              </a:rPr>
              <a:t> </a:t>
            </a:r>
            <a:r>
              <a:rPr lang="en-US" sz="2400" dirty="0">
                <a:ea typeface="ＭＳ Ｐゴシック" charset="0"/>
              </a:rPr>
              <a:t>carrier sensing, deferral as in CSMA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ea typeface="ＭＳ Ｐゴシック" charset="0"/>
              </a:rPr>
              <a:t>collisions </a:t>
            </a:r>
            <a:r>
              <a:rPr lang="en-US" sz="2400" i="1" dirty="0">
                <a:ea typeface="ＭＳ Ｐゴシック" charset="0"/>
              </a:rPr>
              <a:t>detected</a:t>
            </a:r>
            <a:r>
              <a:rPr lang="en-US" sz="2400" dirty="0">
                <a:ea typeface="ＭＳ Ｐゴシック" charset="0"/>
              </a:rPr>
              <a:t> within short time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ea typeface="ＭＳ Ｐゴシック" charset="0"/>
              </a:rPr>
              <a:t>colliding transmissions aborted, reducing channel wastage 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</a:rPr>
              <a:t>collision detection: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ea typeface="ＭＳ Ｐゴシック" charset="0"/>
              </a:rPr>
              <a:t>easy in wired LANs: measure signal strengths, compare transmitted, received signals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ea typeface="ＭＳ Ｐゴシック" charset="0"/>
              </a:rPr>
              <a:t>difficult in wireless LANs: received signal strength overwhelmed by local transmission strength </a:t>
            </a:r>
          </a:p>
        </p:txBody>
      </p:sp>
      <p:pic>
        <p:nvPicPr>
          <p:cNvPr id="7" name="Picture 3" descr="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4048" y="3212976"/>
            <a:ext cx="3888431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5673161" y="2355389"/>
            <a:ext cx="2728470" cy="195262"/>
            <a:chOff x="4220" y="1231"/>
            <a:chExt cx="1989" cy="90"/>
          </a:xfrm>
        </p:grpSpPr>
        <p:sp>
          <p:nvSpPr>
            <p:cNvPr id="9" name="Line 23"/>
            <p:cNvSpPr>
              <a:spLocks noChangeShapeType="1"/>
            </p:cNvSpPr>
            <p:nvPr/>
          </p:nvSpPr>
          <p:spPr bwMode="auto">
            <a:xfrm>
              <a:off x="4220" y="1232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0" name="Line 24"/>
            <p:cNvSpPr>
              <a:spLocks noChangeShapeType="1"/>
            </p:cNvSpPr>
            <p:nvPr/>
          </p:nvSpPr>
          <p:spPr bwMode="auto">
            <a:xfrm>
              <a:off x="422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1" name="Line 25"/>
            <p:cNvSpPr>
              <a:spLocks noChangeShapeType="1"/>
            </p:cNvSpPr>
            <p:nvPr/>
          </p:nvSpPr>
          <p:spPr bwMode="auto">
            <a:xfrm>
              <a:off x="4886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2" name="Line 26"/>
            <p:cNvSpPr>
              <a:spLocks noChangeShapeType="1"/>
            </p:cNvSpPr>
            <p:nvPr/>
          </p:nvSpPr>
          <p:spPr bwMode="auto">
            <a:xfrm>
              <a:off x="5489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3" name="Line 27"/>
            <p:cNvSpPr>
              <a:spLocks noChangeShapeType="1"/>
            </p:cNvSpPr>
            <p:nvPr/>
          </p:nvSpPr>
          <p:spPr bwMode="auto">
            <a:xfrm>
              <a:off x="620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 flipH="1">
            <a:off x="5355866" y="2655666"/>
            <a:ext cx="501650" cy="512762"/>
            <a:chOff x="2839" y="3501"/>
            <a:chExt cx="755" cy="803"/>
          </a:xfrm>
        </p:grpSpPr>
        <p:pic>
          <p:nvPicPr>
            <p:cNvPr id="15" name="Picture 12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tr-TR"/>
            </a:p>
          </p:txBody>
        </p:sp>
      </p:grpSp>
      <p:grpSp>
        <p:nvGrpSpPr>
          <p:cNvPr id="17" name="Group 14"/>
          <p:cNvGrpSpPr>
            <a:grpSpLocks/>
          </p:cNvGrpSpPr>
          <p:nvPr/>
        </p:nvGrpSpPr>
        <p:grpSpPr bwMode="auto">
          <a:xfrm flipH="1">
            <a:off x="6232339" y="2725617"/>
            <a:ext cx="501650" cy="512763"/>
            <a:chOff x="2839" y="3501"/>
            <a:chExt cx="755" cy="803"/>
          </a:xfrm>
        </p:grpSpPr>
        <p:pic>
          <p:nvPicPr>
            <p:cNvPr id="18" name="Picture 15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tr-TR"/>
            </a:p>
          </p:txBody>
        </p:sp>
      </p:grpSp>
      <p:grpSp>
        <p:nvGrpSpPr>
          <p:cNvPr id="20" name="Group 17"/>
          <p:cNvGrpSpPr>
            <a:grpSpLocks/>
          </p:cNvGrpSpPr>
          <p:nvPr/>
        </p:nvGrpSpPr>
        <p:grpSpPr bwMode="auto">
          <a:xfrm flipH="1">
            <a:off x="7163125" y="2671521"/>
            <a:ext cx="501650" cy="512763"/>
            <a:chOff x="2839" y="3501"/>
            <a:chExt cx="755" cy="803"/>
          </a:xfrm>
        </p:grpSpPr>
        <p:pic>
          <p:nvPicPr>
            <p:cNvPr id="21" name="Picture 18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tr-TR"/>
            </a:p>
          </p:txBody>
        </p:sp>
      </p:grpSp>
      <p:grpSp>
        <p:nvGrpSpPr>
          <p:cNvPr id="23" name="Group 20"/>
          <p:cNvGrpSpPr>
            <a:grpSpLocks/>
          </p:cNvGrpSpPr>
          <p:nvPr/>
        </p:nvGrpSpPr>
        <p:grpSpPr bwMode="auto">
          <a:xfrm flipH="1">
            <a:off x="8037770" y="2692914"/>
            <a:ext cx="501650" cy="512762"/>
            <a:chOff x="2839" y="3501"/>
            <a:chExt cx="755" cy="803"/>
          </a:xfrm>
        </p:grpSpPr>
        <p:pic>
          <p:nvPicPr>
            <p:cNvPr id="24" name="Picture 21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tr-TR"/>
            </a:p>
          </p:txBody>
        </p:sp>
      </p:grpSp>
      <p:sp>
        <p:nvSpPr>
          <p:cNvPr id="26" name="Rectangle 9"/>
          <p:cNvSpPr>
            <a:spLocks noChangeArrowheads="1"/>
          </p:cNvSpPr>
          <p:nvPr/>
        </p:nvSpPr>
        <p:spPr bwMode="auto">
          <a:xfrm>
            <a:off x="5753108" y="1772816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ea typeface="ＭＳ Ｐゴシック" charset="0"/>
              </a:rPr>
              <a:t>spatial layout of nodes </a:t>
            </a:r>
            <a:endParaRPr lang="en-US" sz="2000" i="0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90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41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Ethernet CSMA/CD algorithm</a:t>
            </a: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3075" y="1500188"/>
            <a:ext cx="4041775" cy="4648200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ea typeface="ＭＳ Ｐゴシック" charset="0"/>
                <a:cs typeface="+mn-cs"/>
              </a:rPr>
              <a:t>1. </a:t>
            </a:r>
            <a:r>
              <a:rPr lang="en-US" sz="2600" dirty="0">
                <a:ea typeface="ＭＳ Ｐゴシック" charset="0"/>
                <a:cs typeface="+mn-cs"/>
              </a:rPr>
              <a:t>NIC receives datagram from network layer, creates frame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ea typeface="ＭＳ Ｐゴシック" charset="0"/>
                <a:cs typeface="+mn-cs"/>
              </a:rPr>
              <a:t>2. </a:t>
            </a:r>
            <a:r>
              <a:rPr lang="en-US" sz="2600" dirty="0">
                <a:ea typeface="ＭＳ Ｐゴシック" charset="0"/>
                <a:cs typeface="+mn-cs"/>
              </a:rPr>
              <a:t>If NIC senses channel idle, starts frame </a:t>
            </a:r>
            <a:r>
              <a:rPr lang="en-US" sz="2600" dirty="0" smtClean="0">
                <a:ea typeface="ＭＳ Ｐゴシック" charset="0"/>
                <a:cs typeface="+mn-cs"/>
              </a:rPr>
              <a:t>transmission. </a:t>
            </a:r>
            <a:r>
              <a:rPr lang="en-US" sz="2600" dirty="0">
                <a:ea typeface="ＭＳ Ｐゴシック" charset="0"/>
                <a:cs typeface="+mn-cs"/>
              </a:rPr>
              <a:t>If NIC senses channel busy, waits until channel idle, then </a:t>
            </a:r>
            <a:r>
              <a:rPr lang="en-US" sz="2600" dirty="0" smtClean="0">
                <a:ea typeface="ＭＳ Ｐゴシック" charset="0"/>
                <a:cs typeface="+mn-cs"/>
              </a:rPr>
              <a:t>transmits.</a:t>
            </a:r>
            <a:endParaRPr lang="en-US" sz="2600" dirty="0">
              <a:ea typeface="ＭＳ Ｐゴシック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ea typeface="ＭＳ Ｐゴシック" charset="0"/>
                <a:cs typeface="+mn-cs"/>
              </a:rPr>
              <a:t>3. </a:t>
            </a:r>
            <a:r>
              <a:rPr lang="en-US" sz="2600" dirty="0">
                <a:ea typeface="ＭＳ Ｐゴシック" charset="0"/>
                <a:cs typeface="+mn-cs"/>
              </a:rPr>
              <a:t>If NIC transmits entire frame without detecting another transmission, NIC is done with frame !</a:t>
            </a:r>
          </a:p>
        </p:txBody>
      </p:sp>
      <p:sp>
        <p:nvSpPr>
          <p:cNvPr id="5735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27563" y="1543050"/>
            <a:ext cx="3965575" cy="46482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None/>
            </a:pPr>
            <a:r>
              <a:rPr lang="en-US" sz="2600" dirty="0" smtClean="0">
                <a:solidFill>
                  <a:srgbClr val="000099"/>
                </a:solidFill>
              </a:rPr>
              <a:t>4. </a:t>
            </a:r>
            <a:r>
              <a:rPr lang="en-US" sz="2600" dirty="0" smtClean="0"/>
              <a:t>If NIC detects another transmission while transmitting,  aborts and sends jam signal</a:t>
            </a:r>
          </a:p>
          <a:p>
            <a:pPr>
              <a:buFont typeface="Wingdings" pitchFamily="2" charset="2"/>
              <a:buNone/>
            </a:pPr>
            <a:r>
              <a:rPr lang="en-US" sz="2600" dirty="0" smtClean="0">
                <a:solidFill>
                  <a:srgbClr val="000099"/>
                </a:solidFill>
              </a:rPr>
              <a:t>5. </a:t>
            </a:r>
            <a:r>
              <a:rPr lang="en-US" sz="2600" dirty="0" smtClean="0"/>
              <a:t>After aborting, NIC enters </a:t>
            </a:r>
            <a:r>
              <a:rPr lang="en-US" sz="2600" i="1" dirty="0" smtClean="0">
                <a:solidFill>
                  <a:srgbClr val="CC0000"/>
                </a:solidFill>
              </a:rPr>
              <a:t>binary (exponential) </a:t>
            </a:r>
            <a:r>
              <a:rPr lang="en-US" sz="2600" i="1" dirty="0" err="1" smtClean="0">
                <a:solidFill>
                  <a:srgbClr val="CC0000"/>
                </a:solidFill>
              </a:rPr>
              <a:t>backoff</a:t>
            </a:r>
            <a:r>
              <a:rPr lang="en-US" sz="2600" i="1" dirty="0" smtClean="0">
                <a:solidFill>
                  <a:srgbClr val="CC0000"/>
                </a:solidFill>
              </a:rPr>
              <a:t>: </a:t>
            </a:r>
          </a:p>
          <a:p>
            <a:pPr lvl="1"/>
            <a:r>
              <a:rPr lang="en-US" dirty="0" smtClean="0"/>
              <a:t>after </a:t>
            </a:r>
            <a:r>
              <a:rPr lang="en-US" i="1" dirty="0" smtClean="0"/>
              <a:t>m</a:t>
            </a:r>
            <a:r>
              <a:rPr lang="tr-TR" i="1" dirty="0" err="1" smtClean="0"/>
              <a:t>th</a:t>
            </a:r>
            <a:r>
              <a:rPr lang="en-US" dirty="0" smtClean="0"/>
              <a:t> collision, NIC chooses </a:t>
            </a:r>
            <a:r>
              <a:rPr lang="en-US" i="1" dirty="0" smtClean="0"/>
              <a:t>K </a:t>
            </a:r>
            <a:r>
              <a:rPr lang="en-US" dirty="0" smtClean="0"/>
              <a:t>at random from </a:t>
            </a:r>
            <a:r>
              <a:rPr lang="en-US" i="1" dirty="0" smtClean="0"/>
              <a:t>{0,1,2, …, 2</a:t>
            </a:r>
            <a:r>
              <a:rPr lang="en-US" b="1" i="1" baseline="30000" dirty="0" smtClean="0"/>
              <a:t>m</a:t>
            </a:r>
            <a:r>
              <a:rPr lang="en-US" i="1" dirty="0" smtClean="0"/>
              <a:t>-1}</a:t>
            </a:r>
            <a:r>
              <a:rPr lang="en-US" dirty="0" smtClean="0"/>
              <a:t>. NIC waits K</a:t>
            </a:r>
            <a:r>
              <a:rPr lang="el-GR" dirty="0" smtClean="0"/>
              <a:t>·</a:t>
            </a:r>
            <a:r>
              <a:rPr lang="en-US" dirty="0" smtClean="0"/>
              <a:t>512 bit times, returns to Step 2</a:t>
            </a:r>
          </a:p>
          <a:p>
            <a:pPr lvl="1"/>
            <a:r>
              <a:rPr lang="en-US" dirty="0" smtClean="0"/>
              <a:t>longer </a:t>
            </a:r>
            <a:r>
              <a:rPr lang="en-US" dirty="0" err="1" smtClean="0"/>
              <a:t>backoff</a:t>
            </a:r>
            <a:r>
              <a:rPr lang="en-US" dirty="0" smtClean="0"/>
              <a:t> interval with more collisions</a:t>
            </a:r>
          </a:p>
          <a:p>
            <a:pPr>
              <a:buFont typeface="Wingdings" pitchFamily="2" charset="2"/>
              <a:buNone/>
            </a:pPr>
            <a:r>
              <a:rPr lang="en-US" sz="2600" dirty="0" smtClean="0"/>
              <a:t>  </a:t>
            </a:r>
          </a:p>
        </p:txBody>
      </p:sp>
      <p:pic>
        <p:nvPicPr>
          <p:cNvPr id="105478" name="Picture 16" descr="underline_base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" y="906463"/>
            <a:ext cx="7313613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3488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CSMA/CD efficiency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988840"/>
            <a:ext cx="7772400" cy="4464496"/>
          </a:xfrm>
        </p:spPr>
        <p:txBody>
          <a:bodyPr>
            <a:noAutofit/>
          </a:bodyPr>
          <a:lstStyle/>
          <a:p>
            <a:pPr>
              <a:buFont typeface="Wingdings" charset="0"/>
              <a:buChar char="v"/>
              <a:defRPr/>
            </a:pPr>
            <a:r>
              <a:rPr lang="en-US" sz="2400" dirty="0" err="1">
                <a:ea typeface="ＭＳ Ｐゴシック" charset="0"/>
              </a:rPr>
              <a:t>T</a:t>
            </a:r>
            <a:r>
              <a:rPr lang="en-US" sz="2400" baseline="-25000" dirty="0" err="1">
                <a:ea typeface="ＭＳ Ｐゴシック" charset="0"/>
              </a:rPr>
              <a:t>prop</a:t>
            </a:r>
            <a:r>
              <a:rPr lang="en-US" sz="2400" dirty="0">
                <a:ea typeface="ＭＳ Ｐゴシック" charset="0"/>
              </a:rPr>
              <a:t> = max prop delay between 2 nodes in LAN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 err="1">
                <a:ea typeface="ＭＳ Ｐゴシック" charset="0"/>
              </a:rPr>
              <a:t>t</a:t>
            </a:r>
            <a:r>
              <a:rPr lang="en-US" sz="2400" baseline="-25000" dirty="0" err="1">
                <a:ea typeface="ＭＳ Ｐゴシック" charset="0"/>
              </a:rPr>
              <a:t>trans</a:t>
            </a:r>
            <a:r>
              <a:rPr lang="en-US" sz="2400" dirty="0">
                <a:ea typeface="ＭＳ Ｐゴシック" charset="0"/>
              </a:rPr>
              <a:t> = time to transmit max-size </a:t>
            </a:r>
            <a:r>
              <a:rPr lang="en-US" sz="2400" dirty="0" smtClean="0">
                <a:ea typeface="ＭＳ Ｐゴシック" charset="0"/>
              </a:rPr>
              <a:t>frame</a:t>
            </a:r>
            <a:endParaRPr lang="tr-TR" sz="2400" dirty="0">
              <a:ea typeface="ＭＳ Ｐゴシック" charset="0"/>
            </a:endParaRPr>
          </a:p>
          <a:p>
            <a:pPr marL="0" indent="0">
              <a:buNone/>
              <a:defRPr/>
            </a:pPr>
            <a:endParaRPr lang="tr-TR" sz="2400" dirty="0" smtClean="0">
              <a:ea typeface="ＭＳ Ｐゴシック" charset="0"/>
            </a:endParaRPr>
          </a:p>
          <a:p>
            <a:pPr marL="0" indent="0">
              <a:buNone/>
              <a:defRPr/>
            </a:pPr>
            <a:endParaRPr lang="tr-TR" sz="2400" dirty="0">
              <a:ea typeface="ＭＳ Ｐゴシック" charset="0"/>
            </a:endParaRPr>
          </a:p>
          <a:p>
            <a:pPr marL="0" indent="0">
              <a:buNone/>
              <a:defRPr/>
            </a:pPr>
            <a:endParaRPr lang="en-US" sz="2400" dirty="0">
              <a:ea typeface="ＭＳ Ｐゴシック" charset="0"/>
            </a:endParaRP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</a:rPr>
              <a:t>efficiency goes to 1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ea typeface="ＭＳ Ｐゴシック" charset="0"/>
              </a:rPr>
              <a:t>as </a:t>
            </a:r>
            <a:r>
              <a:rPr lang="en-US" sz="2400" dirty="0" err="1">
                <a:ea typeface="ＭＳ Ｐゴシック" charset="0"/>
              </a:rPr>
              <a:t>t</a:t>
            </a:r>
            <a:r>
              <a:rPr lang="en-US" sz="2400" baseline="-25000" dirty="0" err="1">
                <a:ea typeface="ＭＳ Ｐゴシック" charset="0"/>
              </a:rPr>
              <a:t>prop</a:t>
            </a:r>
            <a:r>
              <a:rPr lang="en-US" sz="2400" dirty="0">
                <a:ea typeface="ＭＳ Ｐゴシック" charset="0"/>
              </a:rPr>
              <a:t> goes to 0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ea typeface="ＭＳ Ｐゴシック" charset="0"/>
              </a:rPr>
              <a:t>as </a:t>
            </a:r>
            <a:r>
              <a:rPr lang="en-US" sz="2400" dirty="0" err="1">
                <a:ea typeface="ＭＳ Ｐゴシック" charset="0"/>
              </a:rPr>
              <a:t>t</a:t>
            </a:r>
            <a:r>
              <a:rPr lang="en-US" sz="2400" baseline="-25000" dirty="0" err="1">
                <a:ea typeface="ＭＳ Ｐゴシック" charset="0"/>
              </a:rPr>
              <a:t>trans</a:t>
            </a:r>
            <a:r>
              <a:rPr lang="en-US" sz="2400" dirty="0">
                <a:ea typeface="ＭＳ Ｐゴシック" charset="0"/>
              </a:rPr>
              <a:t> goes to infinity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</a:rPr>
              <a:t>better performance than ALOHA: and simple, cheap, decentralized!</a:t>
            </a:r>
          </a:p>
        </p:txBody>
      </p:sp>
      <p:graphicFrame>
        <p:nvGraphicFramePr>
          <p:cNvPr id="1075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474536"/>
              </p:ext>
            </p:extLst>
          </p:nvPr>
        </p:nvGraphicFramePr>
        <p:xfrm>
          <a:off x="2555776" y="3140968"/>
          <a:ext cx="35702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Equation" r:id="rId4" imgW="1422400" imgH="393700" progId="Equation.3">
                  <p:embed/>
                </p:oleObj>
              </mc:Choice>
              <mc:Fallback>
                <p:oleObj name="Equation" r:id="rId4" imgW="1422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140968"/>
                        <a:ext cx="3570287" cy="9842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7526" name="Picture 22" descr="underline_base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3100" y="1033463"/>
            <a:ext cx="4570413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641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Thank</a:t>
            </a:r>
            <a:r>
              <a:rPr lang="tr-TR" dirty="0" smtClean="0"/>
              <a:t> </a:t>
            </a:r>
            <a:r>
              <a:rPr lang="tr-TR" dirty="0" err="1" smtClean="0"/>
              <a:t>you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listening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err="1" smtClean="0"/>
              <a:t>References</a:t>
            </a:r>
            <a:r>
              <a:rPr lang="tr-TR" dirty="0" smtClean="0"/>
              <a:t>:</a:t>
            </a:r>
          </a:p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charset="0"/>
                <a:cs typeface="Arial" charset="0"/>
              </a:rPr>
              <a:t>Computer Networking: A Top Down Approach 6</a:t>
            </a:r>
            <a:r>
              <a:rPr lang="en-US" baseline="30000" dirty="0" smtClean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charset="0"/>
                <a:cs typeface="Arial" charset="0"/>
              </a:rPr>
              <a:t>th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charset="0"/>
                <a:cs typeface="Arial" charset="0"/>
              </a:rPr>
              <a:t> edition </a:t>
            </a:r>
            <a:r>
              <a:rPr lang="tr-TR" dirty="0" err="1" smtClean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charset="0"/>
                <a:cs typeface="Arial" charset="0"/>
              </a:rPr>
              <a:t>book</a:t>
            </a: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17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372</TotalTime>
  <Words>798</Words>
  <Application>Microsoft Office PowerPoint</Application>
  <PresentationFormat>Ekran Gösterisi (4:3)</PresentationFormat>
  <Paragraphs>145</Paragraphs>
  <Slides>13</Slides>
  <Notes>11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Katıştırılmış OLE Hizmet Programları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5" baseType="lpstr">
      <vt:lpstr>Ofis Teması</vt:lpstr>
      <vt:lpstr>Equation</vt:lpstr>
      <vt:lpstr>Random Access Protocols</vt:lpstr>
      <vt:lpstr>Random access protocols</vt:lpstr>
      <vt:lpstr>Slotted ALOHA</vt:lpstr>
      <vt:lpstr>Slotted ALOHA</vt:lpstr>
      <vt:lpstr>Slotted ALOHA: efficiency</vt:lpstr>
      <vt:lpstr>Pure (unslotted) ALOHA</vt:lpstr>
      <vt:lpstr>Pure ALOHA efficiency</vt:lpstr>
      <vt:lpstr>CSMA (carrier sense multiple access)</vt:lpstr>
      <vt:lpstr>CSMA collisions</vt:lpstr>
      <vt:lpstr>CSMA/CD (collision detection)</vt:lpstr>
      <vt:lpstr>Ethernet CSMA/CD algorithm</vt:lpstr>
      <vt:lpstr>CSMA/CD efficiency</vt:lpstr>
      <vt:lpstr>Thank you for listening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barkin</dc:creator>
  <cp:lastModifiedBy>barkin</cp:lastModifiedBy>
  <cp:revision>36</cp:revision>
  <dcterms:created xsi:type="dcterms:W3CDTF">2021-04-24T07:59:17Z</dcterms:created>
  <dcterms:modified xsi:type="dcterms:W3CDTF">2021-05-25T14:45:17Z</dcterms:modified>
</cp:coreProperties>
</file>