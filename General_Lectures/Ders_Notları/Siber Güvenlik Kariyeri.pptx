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040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215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tr-T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654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42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210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112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077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708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201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594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701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5FBB2FF-D562-4036-941F-8F8D48321A5F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6825C0A-EA5A-4A3D-85B4-B94B1054325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568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gcrowd.com/bug-bounty-list/" TargetMode="External"/><Relationship Id="rId2" Type="http://schemas.openxmlformats.org/officeDocument/2006/relationships/hyperlink" Target="https://hackerone.com/bug-bounty-program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hyperlink" Target="https://firebounty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A97D85-0C2C-41F3-944C-C00656E654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Siber Güvenlik Kariyeri 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E491E90-72FD-4C09-9E79-617C6CB8B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UĞUR BAKİ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452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B80CA6-7DD0-4902-AFA7-D407AFE0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Siber Güvenlik Kariyeri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2E21A4-5A72-48B9-AE13-2FD887010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170397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Bilgisayar mühendisliği okumayı avantaja çevirin.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Siber güvenlik uzmanın ağ, işletim sistemi, uygulama ve altyapılara hakim olması beklenmektedir. Sürekli yeni şeyler öğrenebileceğiniz bir alan.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Hem teorik olarak hem de pratik olarak her şeyi öğrenmeye çalışın. </a:t>
            </a:r>
          </a:p>
          <a:p>
            <a:pPr>
              <a:buFont typeface="Wingdings" panose="05000000000000000000" pitchFamily="2" charset="2"/>
              <a:buChar char="§"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2D9DE9E1-6D3A-48F0-8469-7055E29EC025}"/>
              </a:ext>
            </a:extLst>
          </p:cNvPr>
          <p:cNvSpPr txBox="1">
            <a:spLocks/>
          </p:cNvSpPr>
          <p:nvPr/>
        </p:nvSpPr>
        <p:spPr>
          <a:xfrm>
            <a:off x="7225716" y="2013358"/>
            <a:ext cx="2371211" cy="1105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3200" dirty="0">
                <a:solidFill>
                  <a:srgbClr val="FF0000"/>
                </a:solidFill>
              </a:rPr>
              <a:t>+ İngilizce</a:t>
            </a:r>
          </a:p>
        </p:txBody>
      </p:sp>
    </p:spTree>
    <p:extLst>
      <p:ext uri="{BB962C8B-B14F-4D97-AF65-F5344CB8AC3E}">
        <p14:creationId xmlns:p14="http://schemas.microsoft.com/office/powerpoint/2010/main" val="247765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F4E1B959-2517-4FCD-B87B-9CCD3431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2451" y="394976"/>
            <a:ext cx="6468172" cy="1450757"/>
          </a:xfrm>
        </p:spPr>
        <p:txBody>
          <a:bodyPr/>
          <a:lstStyle/>
          <a:p>
            <a:r>
              <a:rPr lang="tr-TR" dirty="0"/>
              <a:t>Siber Güvenlik </a:t>
            </a:r>
            <a:r>
              <a:rPr lang="tr-TR" dirty="0" err="1"/>
              <a:t>Roadmap</a:t>
            </a:r>
            <a:endParaRPr lang="tr-TR" dirty="0"/>
          </a:p>
        </p:txBody>
      </p:sp>
      <p:pic>
        <p:nvPicPr>
          <p:cNvPr id="1026" name="Picture 2" descr="Resim">
            <a:extLst>
              <a:ext uri="{FF2B5EF4-FFF2-40B4-BE49-F238E27FC236}">
                <a16:creationId xmlns:a16="http://schemas.microsoft.com/office/drawing/2014/main" id="{731F8952-2A06-432C-8D35-B53B4351FF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96" y="267989"/>
            <a:ext cx="4743770" cy="6322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90428E03-355B-4751-9D53-A5E7277894D0}"/>
              </a:ext>
            </a:extLst>
          </p:cNvPr>
          <p:cNvSpPr txBox="1">
            <a:spLocks/>
          </p:cNvSpPr>
          <p:nvPr/>
        </p:nvSpPr>
        <p:spPr>
          <a:xfrm>
            <a:off x="5142451" y="1845733"/>
            <a:ext cx="6736359" cy="4295008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Ücretli kurslara gidip eğitim almanızın büyük yararı yok.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Sadece teorik bilgilerle asla ilerlemeyin.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Başlangıç sürecinde </a:t>
            </a:r>
            <a:r>
              <a:rPr lang="tr-TR" dirty="0" err="1"/>
              <a:t>Udemy</a:t>
            </a:r>
            <a:r>
              <a:rPr lang="tr-TR" dirty="0"/>
              <a:t> gibi platformlardan yararlanabilirsiniz. Mehmet İnce’nin </a:t>
            </a:r>
            <a:r>
              <a:rPr lang="tr-TR" dirty="0" err="1"/>
              <a:t>twitch</a:t>
            </a:r>
            <a:r>
              <a:rPr lang="tr-TR" dirty="0"/>
              <a:t>/</a:t>
            </a:r>
            <a:r>
              <a:rPr lang="tr-TR" dirty="0" err="1"/>
              <a:t>youtube</a:t>
            </a:r>
            <a:r>
              <a:rPr lang="tr-TR" dirty="0"/>
              <a:t> kanalını takip edebilirsiniz.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Sanal makinenize </a:t>
            </a:r>
            <a:r>
              <a:rPr lang="tr-TR" dirty="0" err="1"/>
              <a:t>Kali</a:t>
            </a:r>
            <a:r>
              <a:rPr lang="tr-TR" dirty="0"/>
              <a:t> kurun ve </a:t>
            </a:r>
            <a:r>
              <a:rPr lang="tr-TR" dirty="0" err="1"/>
              <a:t>TryHackMe’de</a:t>
            </a:r>
            <a:r>
              <a:rPr lang="tr-TR" dirty="0"/>
              <a:t> bol bol pratik yapın. Sonrasında </a:t>
            </a:r>
            <a:r>
              <a:rPr lang="tr-TR" dirty="0" err="1"/>
              <a:t>HackTheBox</a:t>
            </a:r>
            <a:r>
              <a:rPr lang="tr-TR" dirty="0"/>
              <a:t>/</a:t>
            </a:r>
            <a:r>
              <a:rPr lang="tr-TR" dirty="0" err="1"/>
              <a:t>Vulnhub</a:t>
            </a:r>
            <a:r>
              <a:rPr lang="tr-TR" dirty="0"/>
              <a:t> gibi platformlara giriş yapabilirsiniz.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Web sızma testleri alanında kendinizi geliştirmek istiyorsanız, </a:t>
            </a:r>
            <a:r>
              <a:rPr lang="tr-TR" dirty="0" err="1"/>
              <a:t>bwap</a:t>
            </a:r>
            <a:r>
              <a:rPr lang="tr-TR" dirty="0"/>
              <a:t>, </a:t>
            </a:r>
            <a:r>
              <a:rPr lang="tr-TR" dirty="0" err="1"/>
              <a:t>juice</a:t>
            </a:r>
            <a:r>
              <a:rPr lang="tr-TR" dirty="0"/>
              <a:t> </a:t>
            </a:r>
            <a:r>
              <a:rPr lang="tr-TR" dirty="0" err="1"/>
              <a:t>shop</a:t>
            </a:r>
            <a:r>
              <a:rPr lang="tr-TR" dirty="0"/>
              <a:t> </a:t>
            </a:r>
            <a:r>
              <a:rPr lang="tr-TR" dirty="0" err="1"/>
              <a:t>owasp</a:t>
            </a:r>
            <a:r>
              <a:rPr lang="tr-TR" dirty="0"/>
              <a:t>, </a:t>
            </a:r>
            <a:r>
              <a:rPr lang="tr-TR" dirty="0" err="1"/>
              <a:t>dvwa</a:t>
            </a:r>
            <a:r>
              <a:rPr lang="tr-TR" dirty="0"/>
              <a:t> gibi kaynaklar üzerinde testler yapabilirsiniz. En öğreticisi </a:t>
            </a:r>
            <a:r>
              <a:rPr lang="tr-TR" dirty="0" err="1"/>
              <a:t>PortSwigger’ın</a:t>
            </a:r>
            <a:r>
              <a:rPr lang="tr-TR" dirty="0"/>
              <a:t> eğitimleridir.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tr-TR" dirty="0"/>
              <a:t>Sertifikalar(</a:t>
            </a:r>
            <a:r>
              <a:rPr lang="en-US" dirty="0"/>
              <a:t>EC Council • Offensive Security • SANS • ISACA • eLearn Security</a:t>
            </a:r>
            <a:r>
              <a:rPr lang="tr-TR" dirty="0"/>
              <a:t>)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tr-TR" dirty="0"/>
          </a:p>
          <a:p>
            <a:pPr marL="0" indent="0">
              <a:buFont typeface="Calibri" panose="020F0502020204030204" pitchFamily="34" charset="0"/>
              <a:buNone/>
            </a:pPr>
            <a:endParaRPr lang="tr-TR" dirty="0"/>
          </a:p>
        </p:txBody>
      </p:sp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34AE4D6E-5C7F-406A-8FE6-8F5D98DDFFFB}"/>
              </a:ext>
            </a:extLst>
          </p:cNvPr>
          <p:cNvSpPr txBox="1">
            <a:spLocks/>
          </p:cNvSpPr>
          <p:nvPr/>
        </p:nvSpPr>
        <p:spPr>
          <a:xfrm>
            <a:off x="5665365" y="6270072"/>
            <a:ext cx="6736359" cy="117585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dirty="0">
                <a:solidFill>
                  <a:srgbClr val="FF0000"/>
                </a:solidFill>
              </a:rPr>
              <a:t>Her yaptığınız testin sonunda not alın. (OneNote)</a:t>
            </a:r>
          </a:p>
        </p:txBody>
      </p:sp>
    </p:spTree>
    <p:extLst>
      <p:ext uri="{BB962C8B-B14F-4D97-AF65-F5344CB8AC3E}">
        <p14:creationId xmlns:p14="http://schemas.microsoft.com/office/powerpoint/2010/main" val="2896149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A809BD-FE1F-42F5-B83A-923AE29E6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8168" y="1413544"/>
            <a:ext cx="3860584" cy="4618140"/>
          </a:xfrm>
        </p:spPr>
        <p:txBody>
          <a:bodyPr>
            <a:normAutofit fontScale="92500" lnSpcReduction="20000"/>
          </a:bodyPr>
          <a:lstStyle/>
          <a:p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İnstagram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, </a:t>
            </a:r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google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, </a:t>
            </a:r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facebook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 ve daha birçok ünlü firmalar </a:t>
            </a:r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bugbounty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 üzerinde program sunmaktadır. Bulan kişilere belirli seviyelerdeki açıklara göre maddi para vermektedir.</a:t>
            </a:r>
          </a:p>
          <a:p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Bugbounty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 programları belirli sitelerde listelenirler. Üyelik açarak </a:t>
            </a:r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bugbounty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 satın almaya başlayabilirsiniz. </a:t>
            </a:r>
            <a:endParaRPr lang="tr-TR" dirty="0">
              <a:solidFill>
                <a:srgbClr val="292929"/>
              </a:solidFill>
              <a:latin typeface="charter"/>
            </a:endParaRPr>
          </a:p>
          <a:p>
            <a:pPr algn="l"/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Hackerone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Bugbounty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linki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: </a:t>
            </a:r>
            <a:r>
              <a:rPr lang="en-US" b="0" i="0" u="sng" dirty="0">
                <a:solidFill>
                  <a:srgbClr val="292929"/>
                </a:solidFill>
                <a:effectLst/>
                <a:latin typeface="charter"/>
                <a:hlinkClick r:id="rId2"/>
              </a:rPr>
              <a:t>https://hackerone.com/bug-bounty-programs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l"/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Bugcrowd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Bogbunty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Linki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: </a:t>
            </a:r>
            <a:r>
              <a:rPr lang="en-US" b="0" i="0" u="sng" dirty="0">
                <a:solidFill>
                  <a:srgbClr val="292929"/>
                </a:solidFill>
                <a:effectLst/>
                <a:latin typeface="charter"/>
                <a:hlinkClick r:id="rId3"/>
              </a:rPr>
              <a:t>https://www.bugcrowd.com/bug-bounty-list/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l"/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Firebounty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Linki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: </a:t>
            </a:r>
            <a:r>
              <a:rPr lang="en-US" b="0" i="0" u="sng" dirty="0">
                <a:solidFill>
                  <a:srgbClr val="292929"/>
                </a:solidFill>
                <a:effectLst/>
                <a:latin typeface="charter"/>
                <a:hlinkClick r:id="rId4"/>
              </a:rPr>
              <a:t>https://firebounty.com/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endParaRPr lang="tr-TR" dirty="0"/>
          </a:p>
        </p:txBody>
      </p:sp>
      <p:pic>
        <p:nvPicPr>
          <p:cNvPr id="1026" name="Picture 2" descr="Bug Bounty Programs: An Emerging Best Practice | 2018-09-01 | Security  Magazine">
            <a:extLst>
              <a:ext uri="{FF2B5EF4-FFF2-40B4-BE49-F238E27FC236}">
                <a16:creationId xmlns:a16="http://schemas.microsoft.com/office/drawing/2014/main" id="{A5FDE1BD-9919-4C8C-9616-4E60FAB1E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70" y="1413544"/>
            <a:ext cx="7323590" cy="447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10372DB1-64DB-4742-9086-C2C2BEF4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78" y="99117"/>
            <a:ext cx="10058400" cy="1609344"/>
          </a:xfrm>
        </p:spPr>
        <p:txBody>
          <a:bodyPr/>
          <a:lstStyle/>
          <a:p>
            <a:r>
              <a:rPr lang="tr-TR" dirty="0" err="1"/>
              <a:t>bug</a:t>
            </a:r>
            <a:r>
              <a:rPr lang="tr-TR" dirty="0"/>
              <a:t> </a:t>
            </a:r>
            <a:r>
              <a:rPr lang="tr-TR" dirty="0" err="1"/>
              <a:t>bounty</a:t>
            </a:r>
            <a:r>
              <a:rPr lang="tr-TR" dirty="0"/>
              <a:t> (ÖDÜL AVCILIĞI)</a:t>
            </a:r>
          </a:p>
        </p:txBody>
      </p:sp>
    </p:spTree>
    <p:extLst>
      <p:ext uri="{BB962C8B-B14F-4D97-AF65-F5344CB8AC3E}">
        <p14:creationId xmlns:p14="http://schemas.microsoft.com/office/powerpoint/2010/main" val="63662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659304-BF35-4E64-9274-0B774E65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	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A03BA2-FC56-4558-A631-06077D87F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065" y="1535185"/>
            <a:ext cx="10679185" cy="46370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dirty="0"/>
              <a:t>Üniversite döneminde bir çok alanı tecrübe edebilirsiniz.  Bunun kararını üniversite de verirseniz avantajlı olursunuz. </a:t>
            </a:r>
          </a:p>
          <a:p>
            <a:pPr marL="0" indent="0">
              <a:buNone/>
            </a:pPr>
            <a:r>
              <a:rPr lang="tr-TR" dirty="0"/>
              <a:t>Bilgisayar mühendisinin çalışabileceği alanlar oldukça fazladır. İstediğiniz alanı seçmeniz kariyeriniz açısından oldukça önemli.</a:t>
            </a:r>
          </a:p>
          <a:p>
            <a:pPr marL="0" indent="0">
              <a:buNone/>
            </a:pPr>
            <a:r>
              <a:rPr lang="tr-TR" dirty="0"/>
              <a:t>Danışmanlık firmaları ve kurumsal firmalar arasında farklar var.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Diğer güvenlik birimleri;</a:t>
            </a:r>
          </a:p>
          <a:p>
            <a:pPr marL="0" indent="0">
              <a:buNone/>
            </a:pPr>
            <a:r>
              <a:rPr lang="tr-TR" dirty="0"/>
              <a:t>SOC (saldırı tespiti, analizi,  tersine mühendislik, zararlı yazılım analizi…)</a:t>
            </a:r>
          </a:p>
          <a:p>
            <a:pPr marL="0" indent="0">
              <a:buNone/>
            </a:pPr>
            <a:r>
              <a:rPr lang="tr-TR" dirty="0"/>
              <a:t>Bilgi Güvenliği (ISO27001,COBIT,BS Yönetmeliği, </a:t>
            </a:r>
            <a:r>
              <a:rPr lang="tr-TR" dirty="0" err="1"/>
              <a:t>Phishing</a:t>
            </a:r>
            <a:r>
              <a:rPr lang="tr-TR" dirty="0"/>
              <a:t>...)</a:t>
            </a:r>
          </a:p>
          <a:p>
            <a:pPr marL="0" indent="0">
              <a:buNone/>
            </a:pPr>
            <a:r>
              <a:rPr lang="tr-TR" dirty="0"/>
              <a:t>Veri Güvenliği (PCI-DSS, veri maskeleme, DLP,  ...)</a:t>
            </a:r>
          </a:p>
          <a:p>
            <a:pPr marL="0" indent="0">
              <a:buNone/>
            </a:pPr>
            <a:r>
              <a:rPr lang="tr-TR" dirty="0"/>
              <a:t>Bilgi Sistemleri Kontrolleri (Denetim)</a:t>
            </a:r>
          </a:p>
          <a:p>
            <a:pPr marL="0" indent="0">
              <a:buNone/>
            </a:pPr>
            <a:r>
              <a:rPr lang="tr-TR" dirty="0"/>
              <a:t>Güvenlik Teknolojilerini( </a:t>
            </a:r>
            <a:r>
              <a:rPr lang="tr-TR" dirty="0" err="1"/>
              <a:t>firewall,ips</a:t>
            </a:r>
            <a:r>
              <a:rPr lang="tr-TR" dirty="0"/>
              <a:t>, </a:t>
            </a:r>
            <a:r>
              <a:rPr lang="tr-TR" dirty="0" err="1"/>
              <a:t>ids</a:t>
            </a:r>
            <a:r>
              <a:rPr lang="tr-TR" dirty="0"/>
              <a:t>, </a:t>
            </a:r>
            <a:r>
              <a:rPr lang="tr-TR" dirty="0" err="1"/>
              <a:t>waf</a:t>
            </a:r>
            <a:r>
              <a:rPr lang="tr-TR" dirty="0"/>
              <a:t>, </a:t>
            </a:r>
            <a:r>
              <a:rPr lang="tr-TR" dirty="0" err="1"/>
              <a:t>proxy</a:t>
            </a:r>
            <a:r>
              <a:rPr lang="tr-TR" dirty="0"/>
              <a:t>…)</a:t>
            </a:r>
          </a:p>
          <a:p>
            <a:pPr marL="0" indent="0">
              <a:buNone/>
            </a:pPr>
            <a:r>
              <a:rPr lang="tr-TR" dirty="0"/>
              <a:t>Güvenlik Mimarisi (Güvenlik Altyapı, Uygulama, Süreç Tasarımı)</a:t>
            </a:r>
          </a:p>
        </p:txBody>
      </p:sp>
      <p:sp>
        <p:nvSpPr>
          <p:cNvPr id="5" name="Başlık 1">
            <a:extLst>
              <a:ext uri="{FF2B5EF4-FFF2-40B4-BE49-F238E27FC236}">
                <a16:creationId xmlns:a16="http://schemas.microsoft.com/office/drawing/2014/main" id="{D2AAC950-98CC-4225-AD9F-DCB2B3102BE2}"/>
              </a:ext>
            </a:extLst>
          </p:cNvPr>
          <p:cNvSpPr txBox="1">
            <a:spLocks/>
          </p:cNvSpPr>
          <p:nvPr/>
        </p:nvSpPr>
        <p:spPr>
          <a:xfrm>
            <a:off x="864066" y="122563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/>
              <a:t>Diğer Kariyer Fırsatları</a:t>
            </a:r>
          </a:p>
        </p:txBody>
      </p:sp>
    </p:spTree>
    <p:extLst>
      <p:ext uri="{BB962C8B-B14F-4D97-AF65-F5344CB8AC3E}">
        <p14:creationId xmlns:p14="http://schemas.microsoft.com/office/powerpoint/2010/main" val="192237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16B8AB-4D62-4B73-A415-C5ADF6AC7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6688"/>
            <a:ext cx="10058400" cy="1609344"/>
          </a:xfrm>
        </p:spPr>
        <p:txBody>
          <a:bodyPr/>
          <a:lstStyle/>
          <a:p>
            <a:r>
              <a:rPr lang="tr-TR" dirty="0" err="1"/>
              <a:t>Pandemi</a:t>
            </a:r>
            <a:r>
              <a:rPr lang="tr-TR" dirty="0"/>
              <a:t> Döneminde İşe Başlamak	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6AAB447-F555-41B8-B04A-AE7CA530F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93569"/>
            <a:ext cx="10058400" cy="4050792"/>
          </a:xfrm>
        </p:spPr>
        <p:txBody>
          <a:bodyPr/>
          <a:lstStyle/>
          <a:p>
            <a:r>
              <a:rPr lang="tr-TR" dirty="0"/>
              <a:t>Yeni mezun olanlar için dezavantajlı olacağını değerlendirmekteyim.</a:t>
            </a:r>
          </a:p>
          <a:p>
            <a:r>
              <a:rPr lang="tr-TR" dirty="0"/>
              <a:t>Mezun olmadan kendinizi geliştirerek </a:t>
            </a:r>
            <a:r>
              <a:rPr lang="tr-TR" dirty="0" err="1"/>
              <a:t>pandemi</a:t>
            </a:r>
            <a:r>
              <a:rPr lang="tr-TR" dirty="0"/>
              <a:t> dönemini avantaja çevirebilirsiniz. </a:t>
            </a:r>
          </a:p>
          <a:p>
            <a:r>
              <a:rPr lang="tr-TR" dirty="0" err="1"/>
              <a:t>Pandemi</a:t>
            </a:r>
            <a:r>
              <a:rPr lang="tr-TR" dirty="0"/>
              <a:t> döneminde siber tehditlerin sayısı oldukça arttı. Siber güvenlik uzmanı ihtiyacı artış göstermektedir. </a:t>
            </a:r>
          </a:p>
        </p:txBody>
      </p:sp>
    </p:spTree>
    <p:extLst>
      <p:ext uri="{BB962C8B-B14F-4D97-AF65-F5344CB8AC3E}">
        <p14:creationId xmlns:p14="http://schemas.microsoft.com/office/powerpoint/2010/main" val="59522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1301CC-EB02-43C0-B45B-D830C6414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294285"/>
            <a:ext cx="10058400" cy="1609344"/>
          </a:xfrm>
        </p:spPr>
        <p:txBody>
          <a:bodyPr/>
          <a:lstStyle/>
          <a:p>
            <a:r>
              <a:rPr lang="tr-TR" dirty="0"/>
              <a:t>Bilgi Güvenliği farkındalığı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944D54-EFCD-46A2-B6C6-298A55A68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85519"/>
            <a:ext cx="10058400" cy="4586681"/>
          </a:xfrm>
        </p:spPr>
        <p:txBody>
          <a:bodyPr/>
          <a:lstStyle/>
          <a:p>
            <a:r>
              <a:rPr lang="tr-TR" b="0" i="0" dirty="0" err="1">
                <a:solidFill>
                  <a:srgbClr val="4A4A4A"/>
                </a:solidFill>
                <a:effectLst/>
                <a:latin typeface="Open Sans"/>
              </a:rPr>
              <a:t>Phishing</a:t>
            </a:r>
            <a:r>
              <a:rPr lang="tr-TR" b="0" i="0" dirty="0">
                <a:solidFill>
                  <a:srgbClr val="4A4A4A"/>
                </a:solidFill>
                <a:effectLst/>
                <a:latin typeface="Open Sans"/>
              </a:rPr>
              <a:t> saldırıları oldukça profesyonel </a:t>
            </a:r>
            <a:r>
              <a:rPr lang="tr-TR" b="0" i="0" dirty="0" err="1">
                <a:solidFill>
                  <a:srgbClr val="4A4A4A"/>
                </a:solidFill>
                <a:effectLst/>
                <a:latin typeface="Open Sans"/>
              </a:rPr>
              <a:t>hackerlar</a:t>
            </a:r>
            <a:r>
              <a:rPr lang="tr-TR" b="0" i="0" dirty="0">
                <a:solidFill>
                  <a:srgbClr val="4A4A4A"/>
                </a:solidFill>
                <a:effectLst/>
                <a:latin typeface="Open Sans"/>
              </a:rPr>
              <a:t> tarafından geliştirilen bağlantılar aracılığı ile yapılır. </a:t>
            </a:r>
            <a:endParaRPr lang="tr-TR" dirty="0"/>
          </a:p>
          <a:p>
            <a:r>
              <a:rPr lang="tr-TR" b="0" i="0" dirty="0" err="1">
                <a:solidFill>
                  <a:srgbClr val="4A4A4A"/>
                </a:solidFill>
                <a:effectLst/>
                <a:latin typeface="Open Sans"/>
              </a:rPr>
              <a:t>Spear</a:t>
            </a:r>
            <a:r>
              <a:rPr lang="tr-TR" b="0" i="0" dirty="0">
                <a:solidFill>
                  <a:srgbClr val="4A4A4A"/>
                </a:solidFill>
                <a:effectLst/>
                <a:latin typeface="Open Sans"/>
              </a:rPr>
              <a:t> </a:t>
            </a:r>
            <a:r>
              <a:rPr lang="tr-TR" b="0" i="0" dirty="0" err="1">
                <a:solidFill>
                  <a:srgbClr val="4A4A4A"/>
                </a:solidFill>
                <a:effectLst/>
                <a:latin typeface="Open Sans"/>
              </a:rPr>
              <a:t>Phishing</a:t>
            </a:r>
            <a:r>
              <a:rPr lang="tr-TR" b="0" i="0" dirty="0">
                <a:solidFill>
                  <a:srgbClr val="4A4A4A"/>
                </a:solidFill>
                <a:effectLst/>
                <a:latin typeface="Open Sans"/>
              </a:rPr>
              <a:t> </a:t>
            </a:r>
            <a:r>
              <a:rPr lang="tr-TR" b="1" i="0" dirty="0">
                <a:solidFill>
                  <a:srgbClr val="4A4A4A"/>
                </a:solidFill>
                <a:effectLst/>
                <a:latin typeface="Open Sans"/>
              </a:rPr>
              <a:t>belirli bir kişiye, kuruluşa ya da firmaya yönelik elektronik iletişim tekniği</a:t>
            </a:r>
            <a:r>
              <a:rPr lang="tr-TR" b="0" i="0" dirty="0">
                <a:solidFill>
                  <a:srgbClr val="4A4A4A"/>
                </a:solidFill>
                <a:effectLst/>
                <a:latin typeface="Open Sans"/>
              </a:rPr>
              <a:t> ile yapılan saldırıdır. </a:t>
            </a:r>
            <a:endParaRPr lang="tr-TR" dirty="0"/>
          </a:p>
        </p:txBody>
      </p:sp>
      <p:pic>
        <p:nvPicPr>
          <p:cNvPr id="1026" name="Picture 2" descr="Phishing Samples | ITS">
            <a:extLst>
              <a:ext uri="{FF2B5EF4-FFF2-40B4-BE49-F238E27FC236}">
                <a16:creationId xmlns:a16="http://schemas.microsoft.com/office/drawing/2014/main" id="{2DE0F5BE-6F8B-42C1-8218-4FAACF551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582" y="3125572"/>
            <a:ext cx="5715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İçerik Yer Tutucusu 2">
            <a:extLst>
              <a:ext uri="{FF2B5EF4-FFF2-40B4-BE49-F238E27FC236}">
                <a16:creationId xmlns:a16="http://schemas.microsoft.com/office/drawing/2014/main" id="{C1B2EBFB-F9B4-43A2-8C4C-AA06B7D4B7D1}"/>
              </a:ext>
            </a:extLst>
          </p:cNvPr>
          <p:cNvSpPr txBox="1">
            <a:spLocks/>
          </p:cNvSpPr>
          <p:nvPr/>
        </p:nvSpPr>
        <p:spPr>
          <a:xfrm>
            <a:off x="7228316" y="3322040"/>
            <a:ext cx="4052332" cy="3002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14452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C4C029-3053-48D2-8C46-179E5A36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214" y="2781412"/>
            <a:ext cx="10058400" cy="1609344"/>
          </a:xfrm>
        </p:spPr>
        <p:txBody>
          <a:bodyPr/>
          <a:lstStyle/>
          <a:p>
            <a:r>
              <a:rPr lang="tr-TR" dirty="0" err="1"/>
              <a:t>tesekkürler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14343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ahta Yazı">
  <a:themeElements>
    <a:clrScheme name="Tahta Yaz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ahta Yaz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ahta Yaz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TM03090434[[fn=Tahta Yazı]]</Template>
  <TotalTime>88</TotalTime>
  <Words>419</Words>
  <Application>Microsoft Office PowerPoint</Application>
  <PresentationFormat>Geniş ekran</PresentationFormat>
  <Paragraphs>43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5" baseType="lpstr">
      <vt:lpstr>Calibri</vt:lpstr>
      <vt:lpstr>charter</vt:lpstr>
      <vt:lpstr>Open Sans</vt:lpstr>
      <vt:lpstr>Rockwell</vt:lpstr>
      <vt:lpstr>Rockwell Condensed</vt:lpstr>
      <vt:lpstr>Wingdings</vt:lpstr>
      <vt:lpstr>Tahta Yazı</vt:lpstr>
      <vt:lpstr>Siber Güvenlik Kariyeri </vt:lpstr>
      <vt:lpstr>Siber Güvenlik Kariyeri</vt:lpstr>
      <vt:lpstr>Siber Güvenlik Roadmap</vt:lpstr>
      <vt:lpstr>bug bounty (ÖDÜL AVCILIĞI)</vt:lpstr>
      <vt:lpstr> </vt:lpstr>
      <vt:lpstr>Pandemi Döneminde İşe Başlamak </vt:lpstr>
      <vt:lpstr>Bilgi Güvenliği farkındalığı</vt:lpstr>
      <vt:lpstr>tesekkürler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Siber Güvenlik</dc:title>
  <dc:creator>Uğur Baki</dc:creator>
  <cp:lastModifiedBy>Uğur Baki</cp:lastModifiedBy>
  <cp:revision>27</cp:revision>
  <dcterms:created xsi:type="dcterms:W3CDTF">2021-03-08T18:21:35Z</dcterms:created>
  <dcterms:modified xsi:type="dcterms:W3CDTF">2021-03-13T14:48:01Z</dcterms:modified>
</cp:coreProperties>
</file>