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1" r:id="rId5"/>
    <p:sldId id="259" r:id="rId6"/>
    <p:sldId id="264" r:id="rId7"/>
    <p:sldId id="260" r:id="rId8"/>
    <p:sldId id="267" r:id="rId9"/>
    <p:sldId id="266" r:id="rId10"/>
    <p:sldId id="263" r:id="rId11"/>
    <p:sldId id="262" r:id="rId12"/>
    <p:sldId id="268" r:id="rId13"/>
    <p:sldId id="258" r:id="rId14"/>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28.05.2021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3720DD-5B6D-40BF-8493-A6B52D484E6B}" type="datetimeFigureOut">
              <a:rPr lang="tr-TR" smtClean="0"/>
              <a:t>28.05.2021</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pardus.org.t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51984" y="5217404"/>
            <a:ext cx="9195984" cy="1640596"/>
          </a:xfrm>
        </p:spPr>
        <p:txBody>
          <a:bodyPr/>
          <a:lstStyle/>
          <a:p>
            <a:r>
              <a:rPr lang="tr-TR" dirty="0"/>
              <a:t>Cahit Barkın </a:t>
            </a:r>
            <a:r>
              <a:rPr lang="tr-TR" dirty="0" smtClean="0"/>
              <a:t>Özer 2018556059</a:t>
            </a:r>
            <a:endParaRPr lang="tr-TR" dirty="0"/>
          </a:p>
        </p:txBody>
      </p:sp>
      <p:sp>
        <p:nvSpPr>
          <p:cNvPr id="3" name="Alt Başlık 2"/>
          <p:cNvSpPr>
            <a:spLocks noGrp="1"/>
          </p:cNvSpPr>
          <p:nvPr>
            <p:ph type="subTitle" idx="1"/>
          </p:nvPr>
        </p:nvSpPr>
        <p:spPr>
          <a:xfrm>
            <a:off x="1547664" y="3212976"/>
            <a:ext cx="6400800" cy="1752600"/>
          </a:xfrm>
        </p:spPr>
        <p:txBody>
          <a:bodyPr/>
          <a:lstStyle/>
          <a:p>
            <a:endParaRPr lang="tr-TR" dirty="0"/>
          </a:p>
        </p:txBody>
      </p:sp>
      <p:pic>
        <p:nvPicPr>
          <p:cNvPr id="1026" name="Picture 2" descr="C:\Users\barkin\Downloads\flat-wallpaper-01-1024x57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72741"/>
          </a:xfrm>
          <a:prstGeom prst="rect">
            <a:avLst/>
          </a:prstGeom>
          <a:noFill/>
          <a:extLst>
            <a:ext uri="{909E8E84-426E-40DD-AFC4-6F175D3DCCD1}">
              <a14:hiddenFill xmlns:a14="http://schemas.microsoft.com/office/drawing/2010/main">
                <a:solidFill>
                  <a:srgbClr val="FFFFFF"/>
                </a:solidFill>
              </a14:hiddenFill>
            </a:ext>
          </a:extLst>
        </p:spPr>
      </p:pic>
      <p:sp>
        <p:nvSpPr>
          <p:cNvPr id="5" name="Başlık 1"/>
          <p:cNvSpPr txBox="1">
            <a:spLocks/>
          </p:cNvSpPr>
          <p:nvPr/>
        </p:nvSpPr>
        <p:spPr>
          <a:xfrm>
            <a:off x="-51984" y="-18176"/>
            <a:ext cx="9275384" cy="105273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err="1" smtClean="0"/>
              <a:t>Pardus</a:t>
            </a:r>
            <a:r>
              <a:rPr lang="tr-TR" dirty="0" smtClean="0"/>
              <a:t> İşletim Sistemleri</a:t>
            </a:r>
            <a:endParaRPr lang="tr-TR" dirty="0"/>
          </a:p>
        </p:txBody>
      </p:sp>
    </p:spTree>
    <p:extLst>
      <p:ext uri="{BB962C8B-B14F-4D97-AF65-F5344CB8AC3E}">
        <p14:creationId xmlns:p14="http://schemas.microsoft.com/office/powerpoint/2010/main" val="368419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467544" y="764704"/>
            <a:ext cx="8229600" cy="5688632"/>
          </a:xfrm>
        </p:spPr>
        <p:txBody>
          <a:bodyPr>
            <a:normAutofit fontScale="77500" lnSpcReduction="20000"/>
          </a:bodyPr>
          <a:lstStyle/>
          <a:p>
            <a:pPr marL="0" indent="0">
              <a:buNone/>
            </a:pPr>
            <a:r>
              <a:rPr lang="tr-TR" b="1" dirty="0" smtClean="0"/>
              <a:t>Vizyon</a:t>
            </a:r>
          </a:p>
          <a:p>
            <a:pPr marL="0" indent="0">
              <a:buNone/>
            </a:pPr>
            <a:r>
              <a:rPr lang="tr-TR" dirty="0" smtClean="0"/>
              <a:t>Türkiye Bilişim Sektöründe Özgür Yazılımların yaygın ve etkin şekilde kullanılması, bu yazılımların geliştirilmesinde ve yönlendirilmesinde liderlik yapan ülkeler arasında olunması.</a:t>
            </a:r>
          </a:p>
          <a:p>
            <a:pPr marL="0" indent="0">
              <a:buNone/>
            </a:pPr>
            <a:endParaRPr lang="tr-TR" dirty="0" smtClean="0"/>
          </a:p>
          <a:p>
            <a:pPr marL="0" indent="0">
              <a:buNone/>
            </a:pPr>
            <a:r>
              <a:rPr lang="tr-TR" b="1" dirty="0" smtClean="0"/>
              <a:t>Misyon</a:t>
            </a:r>
          </a:p>
          <a:p>
            <a:pPr marL="0" indent="0">
              <a:buNone/>
            </a:pPr>
            <a:r>
              <a:rPr lang="tr-TR" dirty="0" smtClean="0"/>
              <a:t>Bilişim alanında yurtdışına bağımlılığın azaltılması, siber güvenliğin güçlendirilmesi ve tasarruf sağlanması amacıyla kritik sistemlerin üzerinde çalışılabileceği, açık ve standart veri yapılarını destekleyen, kaynak kodlarının gerekli durumlarda incelenmesine imkan veren, farklı ihtiyaçlara göre uyarlanabilecek esnek bir işletim sistemi altyapısı sağlamak.</a:t>
            </a:r>
          </a:p>
          <a:p>
            <a:pPr marL="0" indent="0">
              <a:buNone/>
            </a:pPr>
            <a:r>
              <a:rPr lang="tr-TR" dirty="0" smtClean="0"/>
              <a:t>Özgür yazılımların ihtiyaçlarına  göre uyarlanacak entegrasyonun sağlanması ile Türkiye’nin yazılım teknolojileri konusundaki etkinliğini arttırarak dışa bağımlılığın azaltılmasına katkı sağlamak.</a:t>
            </a:r>
            <a:endParaRPr lang="tr-TR" dirty="0"/>
          </a:p>
        </p:txBody>
      </p:sp>
    </p:spTree>
    <p:extLst>
      <p:ext uri="{BB962C8B-B14F-4D97-AF65-F5344CB8AC3E}">
        <p14:creationId xmlns:p14="http://schemas.microsoft.com/office/powerpoint/2010/main" val="22470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endParaRPr lang="tr-TR"/>
          </a:p>
        </p:txBody>
      </p:sp>
      <p:pic>
        <p:nvPicPr>
          <p:cNvPr id="2050" name="Picture 2" descr="C:\Users\barkin\Desktop\Ekran Görüntüsü (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4664"/>
            <a:ext cx="9145016"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795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normAutofit fontScale="85000" lnSpcReduction="10000"/>
          </a:bodyPr>
          <a:lstStyle/>
          <a:p>
            <a:pPr marL="0" indent="0">
              <a:buNone/>
            </a:pPr>
            <a:r>
              <a:rPr lang="tr-TR" b="1" dirty="0" err="1" smtClean="0"/>
              <a:t>Pardus</a:t>
            </a:r>
            <a:r>
              <a:rPr lang="tr-TR" b="1" dirty="0" smtClean="0"/>
              <a:t> Sürümleri</a:t>
            </a:r>
          </a:p>
          <a:p>
            <a:pPr marL="0" indent="0">
              <a:buNone/>
            </a:pPr>
            <a:r>
              <a:rPr lang="tr-TR" dirty="0" err="1" smtClean="0"/>
              <a:t>Pardus</a:t>
            </a:r>
            <a:r>
              <a:rPr lang="tr-TR" dirty="0" smtClean="0"/>
              <a:t> dağıtımlarında bulunan özgür ve açık kaynak yazılımlar ve kişisel kurumsal ihtiyaçlar, hızlı ve güvenli olarak karşılanmaktadır.</a:t>
            </a:r>
          </a:p>
          <a:p>
            <a:pPr marL="0" indent="0">
              <a:buNone/>
            </a:pPr>
            <a:r>
              <a:rPr lang="tr-TR" dirty="0" err="1" smtClean="0"/>
              <a:t>Pardus</a:t>
            </a:r>
            <a:r>
              <a:rPr lang="tr-TR" dirty="0" smtClean="0"/>
              <a:t> çatısı altında ana sürümler, öncelikli desteğe sahip ürünlerdir. Kurumsal ihtiyaçların yanı sıra kişisel ihtiyaçları da karşılayan bu ürünler XFCE ve Sunucu Sürümleri kurumsal olarak tercih edilen sürümlerdir. GNOME sürümü ise kurumsal çözümlerin yanı sıra topluluk ekosistemine katkıda bulunmak ve son kullanıcı beğenisi sunulan çeşitliliği arttırmak amacıyla yayınlanmaktadır.</a:t>
            </a:r>
            <a:endParaRPr lang="tr-TR" dirty="0"/>
          </a:p>
        </p:txBody>
      </p:sp>
    </p:spTree>
    <p:extLst>
      <p:ext uri="{BB962C8B-B14F-4D97-AF65-F5344CB8AC3E}">
        <p14:creationId xmlns:p14="http://schemas.microsoft.com/office/powerpoint/2010/main" val="3930632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barkin\Desktop\Ekran Görüntüsü (3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2696"/>
            <a:ext cx="9144000" cy="5257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615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endParaRPr lang="tr-TR"/>
          </a:p>
        </p:txBody>
      </p:sp>
      <p:pic>
        <p:nvPicPr>
          <p:cNvPr id="8194" name="Picture 2" descr="C:\Users\barkin\Desktop\Ekran Görüntüsü (3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0" y="956728"/>
            <a:ext cx="9098184" cy="5301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102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barkin\Desktop\Ekran Görüntüsü (4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3552"/>
            <a:ext cx="9144000" cy="295232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barkin\Desktop\Ekran Görüntüsü (41).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3789040"/>
            <a:ext cx="9149712" cy="2708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59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barkin\Desktop\Ekran Görüntüsü (3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5" y="1484784"/>
            <a:ext cx="9139485" cy="3934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2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43488" y="138328"/>
            <a:ext cx="8229600" cy="1143000"/>
          </a:xfrm>
        </p:spPr>
        <p:txBody>
          <a:bodyPr/>
          <a:lstStyle/>
          <a:p>
            <a:r>
              <a:rPr lang="tr-TR" b="1" dirty="0" smtClean="0"/>
              <a:t>Geçmiş Sürümler</a:t>
            </a:r>
            <a:endParaRPr lang="tr-TR" b="1" dirty="0"/>
          </a:p>
        </p:txBody>
      </p:sp>
      <p:pic>
        <p:nvPicPr>
          <p:cNvPr id="9219" name="Picture 3" descr="C:\Users\barkin\Desktop\Ekran Görüntüsü (4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4744"/>
            <a:ext cx="9116576" cy="557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10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endParaRPr lang="tr-TR"/>
          </a:p>
        </p:txBody>
      </p:sp>
      <p:pic>
        <p:nvPicPr>
          <p:cNvPr id="5123" name="Picture 3" descr="C:\Users\barkin\Desktop\Ekran Görüntüsü (4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0728"/>
            <a:ext cx="9144000" cy="5301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87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323528" y="692696"/>
            <a:ext cx="8435280" cy="5805264"/>
          </a:xfrm>
        </p:spPr>
        <p:txBody>
          <a:bodyPr>
            <a:normAutofit fontScale="62500" lnSpcReduction="20000"/>
          </a:bodyPr>
          <a:lstStyle/>
          <a:p>
            <a:pPr marL="0" indent="0">
              <a:buNone/>
            </a:pPr>
            <a:r>
              <a:rPr lang="tr-TR" b="1" dirty="0" smtClean="0"/>
              <a:t>Hedefler</a:t>
            </a:r>
          </a:p>
          <a:p>
            <a:pPr marL="0" indent="0">
              <a:buNone/>
            </a:pPr>
            <a:r>
              <a:rPr lang="tr-TR" dirty="0" smtClean="0"/>
              <a:t>1. </a:t>
            </a:r>
            <a:r>
              <a:rPr lang="tr-TR" dirty="0"/>
              <a:t>K</a:t>
            </a:r>
            <a:r>
              <a:rPr lang="tr-TR" dirty="0" smtClean="0"/>
              <a:t>ullanım kolaylığ</a:t>
            </a:r>
            <a:r>
              <a:rPr lang="tr-TR" dirty="0"/>
              <a:t>ı</a:t>
            </a:r>
            <a:r>
              <a:rPr lang="tr-TR" dirty="0" smtClean="0"/>
              <a:t> ve Türkçe desteği olan tam işletim sistemi dağıtımının düzenli olarak yayımlanması.</a:t>
            </a:r>
          </a:p>
          <a:p>
            <a:pPr marL="0" indent="0">
              <a:buNone/>
            </a:pPr>
            <a:r>
              <a:rPr lang="tr-TR" dirty="0" smtClean="0"/>
              <a:t>2. Mevcut Linux dağıtımlarının üstün taraflarının kullanılması.</a:t>
            </a:r>
          </a:p>
          <a:p>
            <a:pPr marL="0" indent="0">
              <a:buNone/>
            </a:pPr>
            <a:r>
              <a:rPr lang="tr-TR" dirty="0" smtClean="0"/>
              <a:t>3. </a:t>
            </a:r>
            <a:r>
              <a:rPr lang="tr-TR" dirty="0"/>
              <a:t>A</a:t>
            </a:r>
            <a:r>
              <a:rPr lang="tr-TR" dirty="0" smtClean="0"/>
              <a:t>lt </a:t>
            </a:r>
            <a:r>
              <a:rPr lang="tr-TR" dirty="0" smtClean="0"/>
              <a:t>projelere, </a:t>
            </a:r>
            <a:r>
              <a:rPr lang="tr-TR" dirty="0" smtClean="0"/>
              <a:t>ihtiyaç halinde kullanılmasına yönelik gelişmiş, merkezi yönetim, denetim ve izleme yetenekleri sağlayan yazılımların sağlanması.</a:t>
            </a:r>
          </a:p>
          <a:p>
            <a:pPr marL="0" indent="0">
              <a:buNone/>
            </a:pPr>
            <a:r>
              <a:rPr lang="tr-TR" dirty="0" smtClean="0"/>
              <a:t>4. Çoklu ve otomasyon içindeki kurulum yeteneklerinin olması.</a:t>
            </a:r>
          </a:p>
          <a:p>
            <a:pPr marL="0" indent="0">
              <a:buNone/>
            </a:pPr>
            <a:r>
              <a:rPr lang="tr-TR" dirty="0" smtClean="0"/>
              <a:t>5. Son kullanıcılara olabildiğince kolay kurulum ve kullanılabilirlik sağlanması.</a:t>
            </a:r>
          </a:p>
          <a:p>
            <a:pPr marL="0" indent="0">
              <a:buNone/>
            </a:pPr>
            <a:r>
              <a:rPr lang="tr-TR" dirty="0" smtClean="0"/>
              <a:t>6. Farklı maksatlarla kullanıma uygun, modüler ve esnek bir yapıya sahip olunması.</a:t>
            </a:r>
          </a:p>
          <a:p>
            <a:pPr marL="0" indent="0">
              <a:buNone/>
            </a:pPr>
            <a:r>
              <a:rPr lang="tr-TR" dirty="0" smtClean="0"/>
              <a:t>7. Sistem kaynaklarını verimli kullanabilen ve yüksek performanslı bir işletim sistemi olması.</a:t>
            </a:r>
          </a:p>
          <a:p>
            <a:pPr marL="0" indent="0">
              <a:buNone/>
            </a:pPr>
            <a:r>
              <a:rPr lang="tr-TR" dirty="0" smtClean="0"/>
              <a:t>8. Elde edilen kazanımların ana kaynaklara(</a:t>
            </a:r>
            <a:r>
              <a:rPr lang="tr-TR" dirty="0" err="1" smtClean="0"/>
              <a:t>upstream</a:t>
            </a:r>
            <a:r>
              <a:rPr lang="tr-TR" dirty="0" smtClean="0"/>
              <a:t>) aktarılması.</a:t>
            </a:r>
          </a:p>
          <a:p>
            <a:pPr marL="0" indent="0">
              <a:buNone/>
            </a:pPr>
            <a:r>
              <a:rPr lang="tr-TR" dirty="0" smtClean="0"/>
              <a:t>9. Ana kaynak dağıtım olan </a:t>
            </a:r>
            <a:r>
              <a:rPr lang="tr-TR" dirty="0" err="1" smtClean="0"/>
              <a:t>Debian</a:t>
            </a:r>
            <a:r>
              <a:rPr lang="tr-TR" dirty="0" smtClean="0"/>
              <a:t> ile aktif işbirliği sağlanması.</a:t>
            </a:r>
          </a:p>
          <a:p>
            <a:pPr marL="0" indent="0">
              <a:buNone/>
            </a:pPr>
            <a:r>
              <a:rPr lang="tr-TR" dirty="0" smtClean="0"/>
              <a:t>10. Ana kaynak dağıtım olan </a:t>
            </a:r>
            <a:r>
              <a:rPr lang="tr-TR" dirty="0" err="1" smtClean="0"/>
              <a:t>Debian’a</a:t>
            </a:r>
            <a:r>
              <a:rPr lang="tr-TR" dirty="0" smtClean="0"/>
              <a:t> da geliştirici olarak kabul edilmiş geliştiricilere sahip olunması.</a:t>
            </a:r>
          </a:p>
          <a:p>
            <a:pPr marL="0" indent="0">
              <a:buNone/>
            </a:pPr>
            <a:r>
              <a:rPr lang="tr-TR" dirty="0" smtClean="0"/>
              <a:t>11. Hedef kullanıcı kitlesi için odaklanmış ve ayırt edici özelliklere sahip olmak.</a:t>
            </a:r>
          </a:p>
          <a:p>
            <a:pPr marL="0" indent="0">
              <a:buNone/>
            </a:pPr>
            <a:r>
              <a:rPr lang="tr-TR" dirty="0" smtClean="0"/>
              <a:t>12. Dünya genelinde yer edinmiş ve ilgi çeken bir dağıtım olmak.</a:t>
            </a:r>
          </a:p>
          <a:p>
            <a:endParaRPr lang="tr-TR" dirty="0"/>
          </a:p>
        </p:txBody>
      </p:sp>
    </p:spTree>
    <p:extLst>
      <p:ext uri="{BB962C8B-B14F-4D97-AF65-F5344CB8AC3E}">
        <p14:creationId xmlns:p14="http://schemas.microsoft.com/office/powerpoint/2010/main" val="3082623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11560" y="116632"/>
            <a:ext cx="8229600" cy="1143000"/>
          </a:xfrm>
        </p:spPr>
        <p:txBody>
          <a:bodyPr/>
          <a:lstStyle/>
          <a:p>
            <a:r>
              <a:rPr lang="tr-TR" dirty="0" err="1" smtClean="0"/>
              <a:t>Pardus</a:t>
            </a:r>
            <a:r>
              <a:rPr lang="tr-TR" dirty="0" smtClean="0"/>
              <a:t> Hakkında</a:t>
            </a:r>
            <a:endParaRPr lang="tr-TR" dirty="0"/>
          </a:p>
        </p:txBody>
      </p:sp>
      <p:sp>
        <p:nvSpPr>
          <p:cNvPr id="3" name="İçerik Yer Tutucusu 2"/>
          <p:cNvSpPr>
            <a:spLocks noGrp="1"/>
          </p:cNvSpPr>
          <p:nvPr>
            <p:ph idx="1"/>
          </p:nvPr>
        </p:nvSpPr>
        <p:spPr>
          <a:xfrm>
            <a:off x="395536" y="1052736"/>
            <a:ext cx="8229600" cy="5616624"/>
          </a:xfrm>
        </p:spPr>
        <p:txBody>
          <a:bodyPr>
            <a:normAutofit fontScale="62500" lnSpcReduction="20000"/>
          </a:bodyPr>
          <a:lstStyle/>
          <a:p>
            <a:pPr marL="0" indent="0">
              <a:lnSpc>
                <a:spcPct val="120000"/>
              </a:lnSpc>
              <a:buNone/>
            </a:pPr>
            <a:r>
              <a:rPr lang="tr-TR" b="1" dirty="0" smtClean="0"/>
              <a:t>Adı</a:t>
            </a:r>
            <a:r>
              <a:rPr lang="tr-TR" dirty="0"/>
              <a:t>: </a:t>
            </a:r>
            <a:r>
              <a:rPr lang="tr-TR" dirty="0" err="1"/>
              <a:t>Pardus</a:t>
            </a:r>
            <a:r>
              <a:rPr lang="tr-TR" dirty="0"/>
              <a:t/>
            </a:r>
            <a:br>
              <a:rPr lang="tr-TR" dirty="0"/>
            </a:br>
            <a:r>
              <a:rPr lang="tr-TR" b="1" dirty="0"/>
              <a:t>Web sitesi</a:t>
            </a:r>
            <a:r>
              <a:rPr lang="tr-TR" dirty="0"/>
              <a:t>: </a:t>
            </a:r>
            <a:r>
              <a:rPr lang="tr-TR" u="sng" dirty="0">
                <a:hlinkClick r:id="rId2"/>
              </a:rPr>
              <a:t>www.pardus.org.tr</a:t>
            </a:r>
            <a:r>
              <a:rPr lang="tr-TR" dirty="0"/>
              <a:t/>
            </a:r>
            <a:br>
              <a:rPr lang="tr-TR" dirty="0"/>
            </a:br>
            <a:r>
              <a:rPr lang="tr-TR" b="1" dirty="0" err="1"/>
              <a:t>İso</a:t>
            </a:r>
            <a:r>
              <a:rPr lang="tr-TR" b="1" dirty="0"/>
              <a:t> dosya büyüklüğü</a:t>
            </a:r>
            <a:r>
              <a:rPr lang="tr-TR" dirty="0"/>
              <a:t>: </a:t>
            </a:r>
            <a:r>
              <a:rPr lang="tr-TR" dirty="0" err="1"/>
              <a:t>Pardus</a:t>
            </a:r>
            <a:r>
              <a:rPr lang="tr-TR" dirty="0"/>
              <a:t> 19.5 </a:t>
            </a:r>
            <a:r>
              <a:rPr lang="tr-TR" dirty="0" smtClean="0"/>
              <a:t>XFCE ve 19.5 GNOME </a:t>
            </a:r>
            <a:r>
              <a:rPr lang="tr-TR" dirty="0"/>
              <a:t>1,9GB </a:t>
            </a:r>
            <a:r>
              <a:rPr lang="tr-TR" dirty="0" smtClean="0"/>
              <a:t>’</a:t>
            </a:r>
            <a:r>
              <a:rPr lang="tr-TR" dirty="0" err="1" smtClean="0"/>
              <a:t>dır</a:t>
            </a:r>
            <a:r>
              <a:rPr lang="tr-TR" dirty="0"/>
              <a:t/>
            </a:r>
            <a:br>
              <a:rPr lang="tr-TR" dirty="0"/>
            </a:br>
            <a:r>
              <a:rPr lang="tr-TR" b="1" dirty="0"/>
              <a:t>İndirme seçenekleri</a:t>
            </a:r>
            <a:r>
              <a:rPr lang="tr-TR" dirty="0"/>
              <a:t>: Browser üzerinden </a:t>
            </a:r>
            <a:r>
              <a:rPr lang="tr-TR" dirty="0" smtClean="0"/>
              <a:t>indirilebilmektedir</a:t>
            </a:r>
            <a:r>
              <a:rPr lang="tr-TR" dirty="0"/>
              <a:t/>
            </a:r>
            <a:br>
              <a:rPr lang="tr-TR" dirty="0"/>
            </a:br>
            <a:r>
              <a:rPr lang="tr-TR" b="1" dirty="0"/>
              <a:t>Dağıtımın Kökeni</a:t>
            </a:r>
            <a:r>
              <a:rPr lang="tr-TR" dirty="0"/>
              <a:t>: </a:t>
            </a:r>
            <a:r>
              <a:rPr lang="tr-TR" dirty="0" err="1" smtClean="0"/>
              <a:t>Debian’dır</a:t>
            </a:r>
            <a:endParaRPr lang="tr-TR" dirty="0"/>
          </a:p>
          <a:p>
            <a:pPr marL="0" indent="0">
              <a:lnSpc>
                <a:spcPct val="120000"/>
              </a:lnSpc>
              <a:buNone/>
            </a:pPr>
            <a:r>
              <a:rPr lang="tr-TR" b="1" dirty="0"/>
              <a:t>İlk Sürüm Tarihi</a:t>
            </a:r>
            <a:r>
              <a:rPr lang="tr-TR" dirty="0"/>
              <a:t>: </a:t>
            </a:r>
            <a:r>
              <a:rPr lang="tr-TR" dirty="0" smtClean="0"/>
              <a:t>2005(</a:t>
            </a:r>
            <a:r>
              <a:rPr lang="tr-TR" dirty="0" err="1" smtClean="0"/>
              <a:t>Gentoo</a:t>
            </a:r>
            <a:r>
              <a:rPr lang="tr-TR" dirty="0" smtClean="0"/>
              <a:t> tabanlı),2013(</a:t>
            </a:r>
            <a:r>
              <a:rPr lang="tr-TR" dirty="0" err="1" smtClean="0"/>
              <a:t>Debian</a:t>
            </a:r>
            <a:r>
              <a:rPr lang="tr-TR" dirty="0" smtClean="0"/>
              <a:t> tabanlı)</a:t>
            </a:r>
            <a:r>
              <a:rPr lang="tr-TR" dirty="0"/>
              <a:t/>
            </a:r>
            <a:br>
              <a:rPr lang="tr-TR" dirty="0"/>
            </a:br>
            <a:r>
              <a:rPr lang="tr-TR" b="1" dirty="0"/>
              <a:t>Masaüstü ortamı </a:t>
            </a:r>
            <a:r>
              <a:rPr lang="tr-TR" dirty="0"/>
              <a:t>: GNOME, </a:t>
            </a:r>
            <a:r>
              <a:rPr lang="tr-TR" dirty="0" err="1"/>
              <a:t>Xfce</a:t>
            </a:r>
            <a:r>
              <a:rPr lang="tr-TR" dirty="0"/>
              <a:t/>
            </a:r>
            <a:br>
              <a:rPr lang="tr-TR" dirty="0"/>
            </a:br>
            <a:r>
              <a:rPr lang="tr-TR" b="1" dirty="0"/>
              <a:t>Dosya Yöneticisi</a:t>
            </a:r>
            <a:r>
              <a:rPr lang="tr-TR" dirty="0"/>
              <a:t>: </a:t>
            </a:r>
            <a:r>
              <a:rPr lang="tr-TR" dirty="0" smtClean="0"/>
              <a:t>XFCE </a:t>
            </a:r>
            <a:r>
              <a:rPr lang="tr-TR" dirty="0"/>
              <a:t>için </a:t>
            </a:r>
            <a:r>
              <a:rPr lang="tr-TR" dirty="0" err="1" smtClean="0"/>
              <a:t>Thunar</a:t>
            </a:r>
            <a:r>
              <a:rPr lang="tr-TR" dirty="0" smtClean="0"/>
              <a:t>. GNOME için </a:t>
            </a:r>
            <a:r>
              <a:rPr lang="tr-TR" dirty="0" err="1" smtClean="0"/>
              <a:t>Nautilus</a:t>
            </a:r>
            <a:r>
              <a:rPr lang="tr-TR" dirty="0"/>
              <a:t/>
            </a:r>
            <a:br>
              <a:rPr lang="tr-TR" dirty="0"/>
            </a:br>
            <a:r>
              <a:rPr lang="tr-TR" b="1" dirty="0"/>
              <a:t>Paket </a:t>
            </a:r>
            <a:r>
              <a:rPr lang="tr-TR" b="1" dirty="0" smtClean="0"/>
              <a:t>Sistemi</a:t>
            </a:r>
            <a:r>
              <a:rPr lang="tr-TR" dirty="0" smtClean="0"/>
              <a:t>: </a:t>
            </a:r>
            <a:r>
              <a:rPr lang="tr-TR" dirty="0"/>
              <a:t>Apt(</a:t>
            </a:r>
            <a:r>
              <a:rPr lang="tr-TR" dirty="0" err="1"/>
              <a:t>Deb</a:t>
            </a:r>
            <a:r>
              <a:rPr lang="tr-TR" dirty="0"/>
              <a:t>)</a:t>
            </a:r>
            <a:br>
              <a:rPr lang="tr-TR" dirty="0"/>
            </a:br>
            <a:r>
              <a:rPr lang="tr-TR" b="1" dirty="0"/>
              <a:t>Geliştiricisi</a:t>
            </a:r>
            <a:r>
              <a:rPr lang="tr-TR" dirty="0"/>
              <a:t> : TÜBİTAK </a:t>
            </a:r>
            <a:r>
              <a:rPr lang="tr-TR" dirty="0" err="1"/>
              <a:t>Ulakbim</a:t>
            </a:r>
            <a:r>
              <a:rPr lang="tr-TR" dirty="0"/>
              <a:t/>
            </a:r>
            <a:br>
              <a:rPr lang="tr-TR" dirty="0"/>
            </a:br>
            <a:r>
              <a:rPr lang="tr-TR" b="1" dirty="0"/>
              <a:t>Son Sürüm</a:t>
            </a:r>
            <a:r>
              <a:rPr lang="tr-TR" dirty="0"/>
              <a:t>: </a:t>
            </a:r>
            <a:r>
              <a:rPr lang="tr-TR" dirty="0" err="1"/>
              <a:t>Pardus</a:t>
            </a:r>
            <a:r>
              <a:rPr lang="tr-TR" dirty="0"/>
              <a:t> 19.5</a:t>
            </a:r>
            <a:br>
              <a:rPr lang="tr-TR" dirty="0"/>
            </a:br>
            <a:r>
              <a:rPr lang="tr-TR" b="1" dirty="0"/>
              <a:t>Shell(Kabuk) bilgisi</a:t>
            </a:r>
            <a:r>
              <a:rPr lang="tr-TR" dirty="0"/>
              <a:t>: </a:t>
            </a:r>
            <a:r>
              <a:rPr lang="tr-TR" dirty="0" err="1" smtClean="0"/>
              <a:t>Bash</a:t>
            </a:r>
            <a:r>
              <a:rPr lang="tr-TR" dirty="0"/>
              <a:t/>
            </a:r>
            <a:br>
              <a:rPr lang="tr-TR" dirty="0"/>
            </a:br>
            <a:r>
              <a:rPr lang="tr-TR" b="1" dirty="0" err="1"/>
              <a:t>Kernel</a:t>
            </a:r>
            <a:r>
              <a:rPr lang="tr-TR" b="1" dirty="0"/>
              <a:t> Sürümü</a:t>
            </a:r>
            <a:r>
              <a:rPr lang="tr-TR" dirty="0"/>
              <a:t>: 4.19.0–16</a:t>
            </a:r>
            <a:br>
              <a:rPr lang="tr-TR" dirty="0"/>
            </a:br>
            <a:r>
              <a:rPr lang="tr-TR" b="1" dirty="0"/>
              <a:t>Dağıtımın Lisansı</a:t>
            </a:r>
            <a:r>
              <a:rPr lang="tr-TR" dirty="0"/>
              <a:t>: GPL </a:t>
            </a:r>
            <a:r>
              <a:rPr lang="tr-TR" dirty="0" smtClean="0"/>
              <a:t>(</a:t>
            </a:r>
            <a:r>
              <a:rPr lang="tr-TR" dirty="0" smtClean="0"/>
              <a:t>genel kamu lisansı</a:t>
            </a:r>
            <a:r>
              <a:rPr lang="tr-TR" dirty="0" smtClean="0"/>
              <a:t>)</a:t>
            </a:r>
            <a:r>
              <a:rPr lang="tr-TR" dirty="0"/>
              <a:t/>
            </a:r>
            <a:br>
              <a:rPr lang="tr-TR" dirty="0"/>
            </a:br>
            <a:r>
              <a:rPr lang="tr-TR" b="1" dirty="0"/>
              <a:t>Kurulu gelen Ofis yazılımı</a:t>
            </a:r>
            <a:r>
              <a:rPr lang="tr-TR" dirty="0"/>
              <a:t>: </a:t>
            </a:r>
            <a:r>
              <a:rPr lang="tr-TR" dirty="0" err="1"/>
              <a:t>LibreOffice</a:t>
            </a:r>
            <a:r>
              <a:rPr lang="tr-TR" dirty="0"/>
              <a:t/>
            </a:r>
            <a:br>
              <a:rPr lang="tr-TR" dirty="0"/>
            </a:br>
            <a:r>
              <a:rPr lang="tr-TR" b="1" dirty="0"/>
              <a:t>Kurulu gelen metin editörü </a:t>
            </a:r>
            <a:r>
              <a:rPr lang="tr-TR" dirty="0"/>
              <a:t>: VIM ve </a:t>
            </a:r>
            <a:r>
              <a:rPr lang="tr-TR" dirty="0" err="1"/>
              <a:t>N</a:t>
            </a:r>
            <a:r>
              <a:rPr lang="tr-TR" dirty="0" err="1" smtClean="0"/>
              <a:t>ano</a:t>
            </a:r>
            <a:r>
              <a:rPr lang="tr-TR" dirty="0" smtClean="0"/>
              <a:t> </a:t>
            </a:r>
            <a:r>
              <a:rPr lang="tr-TR" dirty="0"/>
              <a:t>editörleri</a:t>
            </a:r>
            <a:br>
              <a:rPr lang="tr-TR" dirty="0"/>
            </a:br>
            <a:r>
              <a:rPr lang="tr-TR" b="1" dirty="0" smtClean="0"/>
              <a:t>Benzer dağıtımlar</a:t>
            </a:r>
            <a:r>
              <a:rPr lang="tr-TR" dirty="0"/>
              <a:t>: </a:t>
            </a:r>
            <a:r>
              <a:rPr lang="tr-TR" dirty="0" err="1" smtClean="0"/>
              <a:t>Debian’a</a:t>
            </a:r>
            <a:r>
              <a:rPr lang="tr-TR" dirty="0" smtClean="0"/>
              <a:t> </a:t>
            </a:r>
            <a:r>
              <a:rPr lang="tr-TR" dirty="0" smtClean="0"/>
              <a:t>benzemektedir</a:t>
            </a:r>
            <a:endParaRPr lang="tr-TR" dirty="0" smtClean="0"/>
          </a:p>
        </p:txBody>
      </p:sp>
    </p:spTree>
    <p:extLst>
      <p:ext uri="{BB962C8B-B14F-4D97-AF65-F5344CB8AC3E}">
        <p14:creationId xmlns:p14="http://schemas.microsoft.com/office/powerpoint/2010/main" val="4018079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Kaynaklar</a:t>
            </a:r>
            <a:endParaRPr lang="tr-TR" dirty="0"/>
          </a:p>
        </p:txBody>
      </p:sp>
      <p:sp>
        <p:nvSpPr>
          <p:cNvPr id="3" name="İçerik Yer Tutucusu 2"/>
          <p:cNvSpPr>
            <a:spLocks noGrp="1"/>
          </p:cNvSpPr>
          <p:nvPr>
            <p:ph idx="1"/>
          </p:nvPr>
        </p:nvSpPr>
        <p:spPr/>
        <p:txBody>
          <a:bodyPr>
            <a:normAutofit fontScale="70000" lnSpcReduction="20000"/>
          </a:bodyPr>
          <a:lstStyle/>
          <a:p>
            <a:pPr marL="0" indent="0">
              <a:buNone/>
            </a:pPr>
            <a:r>
              <a:rPr lang="tr-TR" dirty="0" err="1"/>
              <a:t>Pardus</a:t>
            </a:r>
            <a:r>
              <a:rPr lang="tr-TR" dirty="0"/>
              <a:t> </a:t>
            </a:r>
            <a:r>
              <a:rPr lang="tr-TR" dirty="0" smtClean="0"/>
              <a:t>sitesi</a:t>
            </a:r>
          </a:p>
          <a:p>
            <a:pPr marL="0" indent="0">
              <a:buNone/>
            </a:pPr>
            <a:r>
              <a:rPr lang="tr-TR" dirty="0" smtClean="0">
                <a:solidFill>
                  <a:srgbClr val="0070C0"/>
                </a:solidFill>
              </a:rPr>
              <a:t>[www.pardus.org.tr]</a:t>
            </a:r>
          </a:p>
          <a:p>
            <a:pPr marL="0" indent="0">
              <a:buNone/>
            </a:pPr>
            <a:endParaRPr lang="tr-TR" dirty="0" smtClean="0">
              <a:solidFill>
                <a:srgbClr val="0070C0"/>
              </a:solidFill>
            </a:endParaRPr>
          </a:p>
          <a:p>
            <a:pPr marL="0" indent="0">
              <a:buNone/>
            </a:pPr>
            <a:r>
              <a:rPr lang="tr-TR" dirty="0" err="1" smtClean="0"/>
              <a:t>Distrowatch-Pardus</a:t>
            </a:r>
            <a:endParaRPr lang="tr-TR" dirty="0" smtClean="0"/>
          </a:p>
          <a:p>
            <a:pPr marL="0" indent="0">
              <a:buNone/>
            </a:pPr>
            <a:r>
              <a:rPr lang="tr-TR" dirty="0" smtClean="0">
                <a:solidFill>
                  <a:srgbClr val="0070C0"/>
                </a:solidFill>
              </a:rPr>
              <a:t>[www.distrowatch.com/</a:t>
            </a:r>
            <a:r>
              <a:rPr lang="tr-TR" dirty="0" err="1" smtClean="0">
                <a:solidFill>
                  <a:srgbClr val="0070C0"/>
                </a:solidFill>
              </a:rPr>
              <a:t>pardus</a:t>
            </a:r>
            <a:r>
              <a:rPr lang="tr-TR" dirty="0" smtClean="0">
                <a:solidFill>
                  <a:srgbClr val="0070C0"/>
                </a:solidFill>
              </a:rPr>
              <a:t>]</a:t>
            </a:r>
          </a:p>
          <a:p>
            <a:pPr marL="0" indent="0">
              <a:buNone/>
            </a:pPr>
            <a:endParaRPr lang="tr-TR" dirty="0" smtClean="0">
              <a:solidFill>
                <a:srgbClr val="0070C0"/>
              </a:solidFill>
            </a:endParaRPr>
          </a:p>
          <a:p>
            <a:pPr marL="0" indent="0">
              <a:buNone/>
            </a:pPr>
            <a:r>
              <a:rPr lang="tr-TR" dirty="0" smtClean="0"/>
              <a:t>BTK Akademi- </a:t>
            </a:r>
            <a:r>
              <a:rPr lang="tr-TR" dirty="0" err="1" smtClean="0"/>
              <a:t>Pardus</a:t>
            </a:r>
            <a:r>
              <a:rPr lang="tr-TR" dirty="0" smtClean="0"/>
              <a:t> </a:t>
            </a:r>
            <a:r>
              <a:rPr lang="tr-TR" dirty="0" err="1" smtClean="0"/>
              <a:t>Arayüz</a:t>
            </a:r>
            <a:r>
              <a:rPr lang="tr-TR" dirty="0" smtClean="0"/>
              <a:t> Kullanımı Kursu</a:t>
            </a:r>
          </a:p>
          <a:p>
            <a:pPr marL="0" indent="0">
              <a:buNone/>
            </a:pPr>
            <a:r>
              <a:rPr lang="tr-TR" dirty="0" smtClean="0">
                <a:solidFill>
                  <a:srgbClr val="0070C0"/>
                </a:solidFill>
              </a:rPr>
              <a:t>[www.btkakademi.gov.tr/portal/</a:t>
            </a:r>
            <a:r>
              <a:rPr lang="tr-TR" dirty="0" err="1" smtClean="0">
                <a:solidFill>
                  <a:srgbClr val="0070C0"/>
                </a:solidFill>
              </a:rPr>
              <a:t>course</a:t>
            </a:r>
            <a:r>
              <a:rPr lang="tr-TR" dirty="0" smtClean="0">
                <a:solidFill>
                  <a:srgbClr val="0070C0"/>
                </a:solidFill>
              </a:rPr>
              <a:t>/</a:t>
            </a:r>
            <a:r>
              <a:rPr lang="tr-TR" dirty="0" err="1" smtClean="0">
                <a:solidFill>
                  <a:srgbClr val="0070C0"/>
                </a:solidFill>
              </a:rPr>
              <a:t>pardus</a:t>
            </a:r>
            <a:r>
              <a:rPr lang="tr-TR" dirty="0" smtClean="0">
                <a:solidFill>
                  <a:srgbClr val="0070C0"/>
                </a:solidFill>
              </a:rPr>
              <a:t>-</a:t>
            </a:r>
            <a:r>
              <a:rPr lang="tr-TR" dirty="0" err="1" smtClean="0">
                <a:solidFill>
                  <a:srgbClr val="0070C0"/>
                </a:solidFill>
              </a:rPr>
              <a:t>arayuz</a:t>
            </a:r>
            <a:r>
              <a:rPr lang="tr-TR" dirty="0" smtClean="0">
                <a:solidFill>
                  <a:srgbClr val="0070C0"/>
                </a:solidFill>
              </a:rPr>
              <a:t>-kullan-m-</a:t>
            </a:r>
            <a:r>
              <a:rPr lang="tr-TR" dirty="0">
                <a:solidFill>
                  <a:srgbClr val="0070C0"/>
                </a:solidFill>
              </a:rPr>
              <a:t>-16055#!/about</a:t>
            </a:r>
            <a:r>
              <a:rPr lang="tr-TR" dirty="0" smtClean="0">
                <a:solidFill>
                  <a:srgbClr val="0070C0"/>
                </a:solidFill>
              </a:rPr>
              <a:t>]</a:t>
            </a:r>
          </a:p>
          <a:p>
            <a:pPr marL="0" indent="0">
              <a:buNone/>
            </a:pPr>
            <a:endParaRPr lang="tr-TR" dirty="0" smtClean="0"/>
          </a:p>
          <a:p>
            <a:pPr marL="0" indent="0">
              <a:buNone/>
            </a:pPr>
            <a:r>
              <a:rPr lang="tr-TR" dirty="0" err="1" smtClean="0"/>
              <a:t>Wikipedia</a:t>
            </a:r>
            <a:r>
              <a:rPr lang="tr-TR" dirty="0" smtClean="0"/>
              <a:t>- </a:t>
            </a:r>
            <a:r>
              <a:rPr lang="tr-TR" dirty="0" err="1" smtClean="0"/>
              <a:t>Pardus</a:t>
            </a:r>
            <a:endParaRPr lang="tr-TR" dirty="0" smtClean="0"/>
          </a:p>
          <a:p>
            <a:pPr marL="0" indent="0">
              <a:buNone/>
            </a:pPr>
            <a:r>
              <a:rPr lang="tr-TR" dirty="0" smtClean="0">
                <a:solidFill>
                  <a:srgbClr val="0070C0"/>
                </a:solidFill>
              </a:rPr>
              <a:t>[https</a:t>
            </a:r>
            <a:r>
              <a:rPr lang="tr-TR" dirty="0">
                <a:solidFill>
                  <a:srgbClr val="0070C0"/>
                </a:solidFill>
              </a:rPr>
              <a:t>://tr.wikipedia.org/wiki/Pardus_(i%C5%9Fletim_sistemi</a:t>
            </a:r>
            <a:r>
              <a:rPr lang="tr-TR" dirty="0" smtClean="0">
                <a:solidFill>
                  <a:srgbClr val="0070C0"/>
                </a:solidFill>
              </a:rPr>
              <a:t>)]</a:t>
            </a:r>
            <a:endParaRPr lang="tr-TR" dirty="0">
              <a:solidFill>
                <a:srgbClr val="0070C0"/>
              </a:solidFill>
            </a:endParaRPr>
          </a:p>
        </p:txBody>
      </p:sp>
    </p:spTree>
    <p:extLst>
      <p:ext uri="{BB962C8B-B14F-4D97-AF65-F5344CB8AC3E}">
        <p14:creationId xmlns:p14="http://schemas.microsoft.com/office/powerpoint/2010/main" val="3742224702"/>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370</Words>
  <Application>Microsoft Office PowerPoint</Application>
  <PresentationFormat>Ekran Gösterisi (4:3)</PresentationFormat>
  <Paragraphs>40</Paragraphs>
  <Slides>13</Slides>
  <Notes>0</Notes>
  <HiddenSlides>0</HiddenSlides>
  <MMClips>0</MMClip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Ofis Teması</vt:lpstr>
      <vt:lpstr>Cahit Barkın Özer 2018556059</vt:lpstr>
      <vt:lpstr>PowerPoint Sunusu</vt:lpstr>
      <vt:lpstr>PowerPoint Sunusu</vt:lpstr>
      <vt:lpstr>PowerPoint Sunusu</vt:lpstr>
      <vt:lpstr>PowerPoint Sunusu</vt:lpstr>
      <vt:lpstr>PowerPoint Sunusu</vt:lpstr>
      <vt:lpstr>PowerPoint Sunusu</vt:lpstr>
      <vt:lpstr>PowerPoint Sunusu</vt:lpstr>
      <vt:lpstr>Geçmiş Sürümler</vt:lpstr>
      <vt:lpstr>PowerPoint Sunusu</vt:lpstr>
      <vt:lpstr>PowerPoint Sunusu</vt:lpstr>
      <vt:lpstr>Pardus Hakkında</vt:lpstr>
      <vt:lpstr>Kaynaklar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Cahit Barkın Özer 2018556059</dc:title>
  <dc:creator>barkin</dc:creator>
  <cp:lastModifiedBy>barkin</cp:lastModifiedBy>
  <cp:revision>47</cp:revision>
  <dcterms:created xsi:type="dcterms:W3CDTF">2021-05-23T10:24:34Z</dcterms:created>
  <dcterms:modified xsi:type="dcterms:W3CDTF">2021-05-28T09:13:51Z</dcterms:modified>
</cp:coreProperties>
</file>