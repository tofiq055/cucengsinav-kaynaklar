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tıklayın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FA506-A890-4A98-AB5F-0BC0960859BA}" type="datetimeFigureOut">
              <a:rPr lang="tr-TR" smtClean="0"/>
              <a:t>22.05.2017</a:t>
            </a:fld>
            <a:endParaRPr lang="tr-TR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FC4C8-C3B6-45F8-A20F-968EF55905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53007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tıklayın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FA506-A890-4A98-AB5F-0BC0960859BA}" type="datetimeFigureOut">
              <a:rPr lang="tr-TR" smtClean="0"/>
              <a:t>22.05.2017</a:t>
            </a:fld>
            <a:endParaRPr lang="tr-TR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FC4C8-C3B6-45F8-A20F-968EF55905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35666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tıklayın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FA506-A890-4A98-AB5F-0BC0960859BA}" type="datetimeFigureOut">
              <a:rPr lang="tr-TR" smtClean="0"/>
              <a:t>22.05.2017</a:t>
            </a:fld>
            <a:endParaRPr lang="tr-TR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FC4C8-C3B6-45F8-A20F-968EF55905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69587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tıklayın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FA506-A890-4A98-AB5F-0BC0960859BA}" type="datetimeFigureOut">
              <a:rPr lang="tr-TR" smtClean="0"/>
              <a:t>22.05.2017</a:t>
            </a:fld>
            <a:endParaRPr lang="tr-TR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FC4C8-C3B6-45F8-A20F-968EF55905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28393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 için tıklayın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FA506-A890-4A98-AB5F-0BC0960859BA}" type="datetimeFigureOut">
              <a:rPr lang="tr-TR" smtClean="0"/>
              <a:t>22.05.2017</a:t>
            </a:fld>
            <a:endParaRPr lang="tr-TR"/>
          </a:p>
        </p:txBody>
      </p:sp>
      <p:sp>
        <p:nvSpPr>
          <p:cNvPr id="8" name="Alt 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FC4C8-C3B6-45F8-A20F-968EF55905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66859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tıklayın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FA506-A890-4A98-AB5F-0BC0960859BA}" type="datetimeFigureOut">
              <a:rPr lang="tr-TR" smtClean="0"/>
              <a:t>22.05.2017</a:t>
            </a:fld>
            <a:endParaRPr lang="tr-TR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FC4C8-C3B6-45F8-A20F-968EF55905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62797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FA506-A890-4A98-AB5F-0BC0960859BA}" type="datetimeFigureOut">
              <a:rPr lang="tr-TR" smtClean="0"/>
              <a:t>22.05.2017</a:t>
            </a:fld>
            <a:endParaRPr lang="tr-TR"/>
          </a:p>
        </p:txBody>
      </p:sp>
      <p:sp>
        <p:nvSpPr>
          <p:cNvPr id="3" name="Alt 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FC4C8-C3B6-45F8-A20F-968EF55905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45190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tıklayın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FA506-A890-4A98-AB5F-0BC0960859BA}" type="datetimeFigureOut">
              <a:rPr lang="tr-TR" smtClean="0"/>
              <a:t>22.05.2017</a:t>
            </a:fld>
            <a:endParaRPr lang="tr-TR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FC4C8-C3B6-45F8-A20F-968EF55905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52537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tıklayın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FA506-A890-4A98-AB5F-0BC0960859BA}" type="datetimeFigureOut">
              <a:rPr lang="tr-TR" smtClean="0"/>
              <a:t>22.05.2017</a:t>
            </a:fld>
            <a:endParaRPr lang="tr-TR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FC4C8-C3B6-45F8-A20F-968EF55905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15957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tıklayın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FA506-A890-4A98-AB5F-0BC0960859BA}" type="datetimeFigureOut">
              <a:rPr lang="tr-TR" smtClean="0"/>
              <a:t>22.05.2017</a:t>
            </a:fld>
            <a:endParaRPr lang="tr-TR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FC4C8-C3B6-45F8-A20F-968EF55905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56317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 için tıklayın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FA506-A890-4A98-AB5F-0BC0960859BA}" type="datetimeFigureOut">
              <a:rPr lang="tr-TR" smtClean="0"/>
              <a:t>22.05.2017</a:t>
            </a:fld>
            <a:endParaRPr lang="tr-TR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FC4C8-C3B6-45F8-A20F-968EF55905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5024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tıklayın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CFA506-A890-4A98-AB5F-0BC0960859BA}" type="datetimeFigureOut">
              <a:rPr lang="tr-TR" smtClean="0"/>
              <a:t>22.05.2017</a:t>
            </a:fld>
            <a:endParaRPr lang="tr-TR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FFC4C8-C3B6-45F8-A20F-968EF55905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26139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nvan 3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5524"/>
          </a:xfrm>
        </p:spPr>
        <p:txBody>
          <a:bodyPr>
            <a:normAutofit fontScale="90000"/>
          </a:bodyPr>
          <a:lstStyle/>
          <a:p>
            <a:r>
              <a:rPr lang="tr-TR" dirty="0"/>
              <a:t>Problem 1</a:t>
            </a:r>
          </a:p>
        </p:txBody>
      </p:sp>
      <p:sp>
        <p:nvSpPr>
          <p:cNvPr id="5" name="İçerik Yer Tutucusu 4"/>
          <p:cNvSpPr>
            <a:spLocks noGrp="1"/>
          </p:cNvSpPr>
          <p:nvPr>
            <p:ph idx="1"/>
          </p:nvPr>
        </p:nvSpPr>
        <p:spPr>
          <a:xfrm>
            <a:off x="838200" y="890650"/>
            <a:ext cx="10515600" cy="528631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UDP and TCP use 1s complement for their checksums. Suppose you have the</a:t>
            </a:r>
            <a:r>
              <a:rPr lang="tr-TR" dirty="0"/>
              <a:t> </a:t>
            </a:r>
            <a:r>
              <a:rPr lang="en-US" dirty="0"/>
              <a:t>following three 8-bit bytes: </a:t>
            </a:r>
            <a:endParaRPr lang="tr-TR" dirty="0"/>
          </a:p>
          <a:p>
            <a:pPr marL="0" indent="0">
              <a:buNone/>
            </a:pPr>
            <a:r>
              <a:rPr lang="en-US" sz="5800" dirty="0"/>
              <a:t>01010011, 01100110, 01110100</a:t>
            </a:r>
            <a:endParaRPr lang="tr-TR" sz="5800" dirty="0"/>
          </a:p>
          <a:p>
            <a:pPr marL="0" indent="0">
              <a:buNone/>
            </a:pPr>
            <a:r>
              <a:rPr lang="en-US" dirty="0"/>
              <a:t>What is the 1s</a:t>
            </a:r>
            <a:r>
              <a:rPr lang="tr-TR" dirty="0"/>
              <a:t> </a:t>
            </a:r>
            <a:r>
              <a:rPr lang="en-US" dirty="0"/>
              <a:t>complement of the sum of these 8-bit bytes? 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(Note that although UDP and</a:t>
            </a:r>
            <a:r>
              <a:rPr lang="tr-TR" dirty="0"/>
              <a:t> </a:t>
            </a:r>
            <a:r>
              <a:rPr lang="en-US" dirty="0"/>
              <a:t>TCP use 16-bit words in computing the checksum, for this problem you are</a:t>
            </a:r>
            <a:r>
              <a:rPr lang="tr-TR" dirty="0"/>
              <a:t> </a:t>
            </a:r>
            <a:r>
              <a:rPr lang="en-US" dirty="0"/>
              <a:t>being asked to consider 8-bit sums.) Show all work. </a:t>
            </a:r>
            <a:endParaRPr lang="tr-TR" dirty="0"/>
          </a:p>
          <a:p>
            <a:r>
              <a:rPr lang="en-US" dirty="0"/>
              <a:t>Why is it that UDP takes</a:t>
            </a:r>
            <a:r>
              <a:rPr lang="tr-TR" dirty="0"/>
              <a:t> </a:t>
            </a:r>
            <a:r>
              <a:rPr lang="en-US" dirty="0"/>
              <a:t>the 1s complement of the sum; that is, why not just use the sum? </a:t>
            </a:r>
            <a:endParaRPr lang="tr-TR" dirty="0"/>
          </a:p>
          <a:p>
            <a:r>
              <a:rPr lang="en-US" dirty="0"/>
              <a:t>With the 1s</a:t>
            </a:r>
            <a:r>
              <a:rPr lang="tr-TR" dirty="0"/>
              <a:t> </a:t>
            </a:r>
            <a:r>
              <a:rPr lang="en-US" dirty="0"/>
              <a:t>complement scheme, how does the receiver detect errors? </a:t>
            </a:r>
            <a:endParaRPr lang="tr-TR" dirty="0"/>
          </a:p>
          <a:p>
            <a:r>
              <a:rPr lang="en-US" dirty="0"/>
              <a:t>Is it possible that a</a:t>
            </a:r>
            <a:r>
              <a:rPr lang="tr-TR" dirty="0"/>
              <a:t> </a:t>
            </a:r>
            <a:r>
              <a:rPr lang="en-US" dirty="0"/>
              <a:t>1-bit error will go undetected? </a:t>
            </a:r>
            <a:endParaRPr lang="tr-TR" dirty="0"/>
          </a:p>
          <a:p>
            <a:r>
              <a:rPr lang="en-US" dirty="0"/>
              <a:t>How about a 2-bit error?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43178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7088"/>
          </a:xfrm>
        </p:spPr>
        <p:txBody>
          <a:bodyPr>
            <a:normAutofit fontScale="90000"/>
          </a:bodyPr>
          <a:lstStyle/>
          <a:p>
            <a:r>
              <a:rPr lang="tr-TR" dirty="0"/>
              <a:t>Solution 1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039091"/>
            <a:ext cx="10515600" cy="5137872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  			01010011 (1. </a:t>
            </a:r>
            <a:r>
              <a:rPr lang="tr-TR" dirty="0" err="1"/>
              <a:t>byte</a:t>
            </a:r>
            <a:r>
              <a:rPr lang="tr-TR" dirty="0"/>
              <a:t>)</a:t>
            </a:r>
          </a:p>
          <a:p>
            <a:pPr marL="0" indent="0">
              <a:buNone/>
            </a:pPr>
            <a:r>
              <a:rPr lang="tr-TR" b="0" dirty="0"/>
              <a:t>		</a:t>
            </a:r>
            <a:r>
              <a:rPr lang="tr-TR" dirty="0"/>
              <a:t>        </a:t>
            </a:r>
            <a:r>
              <a:rPr lang="tr-TR" u="sng" dirty="0"/>
              <a:t>+ 01100110 </a:t>
            </a:r>
            <a:r>
              <a:rPr lang="tr-TR" dirty="0"/>
              <a:t>(2. </a:t>
            </a:r>
            <a:r>
              <a:rPr lang="tr-TR" dirty="0" err="1"/>
              <a:t>byte</a:t>
            </a:r>
            <a:r>
              <a:rPr lang="tr-TR" dirty="0"/>
              <a:t>)</a:t>
            </a:r>
            <a:endParaRPr lang="tr-TR" u="sng" dirty="0"/>
          </a:p>
          <a:p>
            <a:pPr marL="0" indent="0">
              <a:buNone/>
            </a:pPr>
            <a:r>
              <a:rPr lang="tr-TR" dirty="0"/>
              <a:t>			10111001</a:t>
            </a:r>
          </a:p>
          <a:p>
            <a:pPr marL="0" indent="0">
              <a:buNone/>
            </a:pPr>
            <a:r>
              <a:rPr lang="tr-TR" dirty="0"/>
              <a:t>		        </a:t>
            </a:r>
            <a:r>
              <a:rPr lang="tr-TR" u="sng" dirty="0"/>
              <a:t>+ 01110100 </a:t>
            </a:r>
            <a:r>
              <a:rPr lang="tr-TR" dirty="0"/>
              <a:t>(3. </a:t>
            </a:r>
            <a:r>
              <a:rPr lang="tr-TR" dirty="0" err="1"/>
              <a:t>byte</a:t>
            </a:r>
            <a:r>
              <a:rPr lang="tr-TR" dirty="0"/>
              <a:t>)</a:t>
            </a:r>
          </a:p>
          <a:p>
            <a:pPr marL="0" indent="0">
              <a:buNone/>
            </a:pPr>
            <a:r>
              <a:rPr lang="tr-TR" dirty="0"/>
              <a:t>			00101101</a:t>
            </a:r>
          </a:p>
          <a:p>
            <a:pPr marL="0" indent="0">
              <a:buNone/>
            </a:pPr>
            <a:r>
              <a:rPr lang="tr-TR" dirty="0"/>
              <a:t>		        </a:t>
            </a:r>
            <a:r>
              <a:rPr lang="tr-TR" u="sng" dirty="0"/>
              <a:t>+ 11010010 </a:t>
            </a:r>
            <a:r>
              <a:rPr lang="tr-TR" dirty="0"/>
              <a:t>(1s </a:t>
            </a:r>
            <a:r>
              <a:rPr lang="tr-TR" dirty="0" err="1"/>
              <a:t>complement</a:t>
            </a:r>
            <a:r>
              <a:rPr lang="tr-TR" dirty="0"/>
              <a:t>) &lt;- </a:t>
            </a:r>
            <a:r>
              <a:rPr lang="tr-TR" dirty="0" err="1"/>
              <a:t>checksum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			11111111</a:t>
            </a:r>
          </a:p>
          <a:p>
            <a:pPr marL="0" indent="0">
              <a:buNone/>
            </a:pPr>
            <a:endParaRPr lang="tr-TR" b="0" dirty="0"/>
          </a:p>
          <a:p>
            <a:pPr marL="0" indent="0">
              <a:buNone/>
            </a:pPr>
            <a:r>
              <a:rPr lang="tr-T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83456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3337"/>
          </a:xfrm>
        </p:spPr>
        <p:txBody>
          <a:bodyPr>
            <a:normAutofit fontScale="90000"/>
          </a:bodyPr>
          <a:lstStyle/>
          <a:p>
            <a:r>
              <a:rPr lang="tr-TR" dirty="0"/>
              <a:t>Problem 2</a:t>
            </a:r>
          </a:p>
        </p:txBody>
      </p:sp>
      <p:pic>
        <p:nvPicPr>
          <p:cNvPr id="5" name="İçerik Yer Tutucus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19" y="908462"/>
            <a:ext cx="6912726" cy="5268913"/>
          </a:xfrm>
        </p:spPr>
      </p:pic>
      <p:sp>
        <p:nvSpPr>
          <p:cNvPr id="6" name="Metin kutusu 5"/>
          <p:cNvSpPr txBox="1"/>
          <p:nvPr/>
        </p:nvSpPr>
        <p:spPr>
          <a:xfrm>
            <a:off x="7575645" y="1107333"/>
            <a:ext cx="44421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eriod"/>
            </a:pPr>
            <a:r>
              <a:rPr lang="tr-TR" dirty="0" err="1"/>
              <a:t>Intervals</a:t>
            </a:r>
            <a:r>
              <a:rPr lang="tr-TR" dirty="0"/>
              <a:t> of time </a:t>
            </a:r>
            <a:r>
              <a:rPr lang="tr-TR" dirty="0" err="1"/>
              <a:t>when</a:t>
            </a:r>
            <a:r>
              <a:rPr lang="tr-TR" dirty="0"/>
              <a:t> TCP </a:t>
            </a:r>
            <a:r>
              <a:rPr lang="tr-TR" dirty="0" err="1"/>
              <a:t>slow</a:t>
            </a:r>
            <a:r>
              <a:rPr lang="tr-TR" dirty="0"/>
              <a:t> start is </a:t>
            </a:r>
            <a:r>
              <a:rPr lang="tr-TR" dirty="0" err="1"/>
              <a:t>operating</a:t>
            </a:r>
            <a:r>
              <a:rPr lang="tr-TR" dirty="0"/>
              <a:t>.</a:t>
            </a:r>
          </a:p>
          <a:p>
            <a:pPr marL="342900" indent="-342900">
              <a:buAutoNum type="alphaLcPeriod"/>
            </a:pPr>
            <a:r>
              <a:rPr lang="tr-TR" dirty="0" err="1"/>
              <a:t>Intervals</a:t>
            </a:r>
            <a:r>
              <a:rPr lang="tr-TR" dirty="0"/>
              <a:t> of time </a:t>
            </a:r>
            <a:r>
              <a:rPr lang="tr-TR" dirty="0" err="1"/>
              <a:t>when</a:t>
            </a:r>
            <a:r>
              <a:rPr lang="tr-TR" dirty="0"/>
              <a:t> TCP </a:t>
            </a:r>
            <a:r>
              <a:rPr lang="tr-TR" dirty="0" err="1"/>
              <a:t>congestion</a:t>
            </a:r>
            <a:r>
              <a:rPr lang="tr-TR" dirty="0"/>
              <a:t> </a:t>
            </a:r>
            <a:r>
              <a:rPr lang="tr-TR" dirty="0" err="1"/>
              <a:t>avoidance</a:t>
            </a:r>
            <a:r>
              <a:rPr lang="tr-TR" dirty="0"/>
              <a:t> is </a:t>
            </a:r>
            <a:r>
              <a:rPr lang="tr-TR" dirty="0" err="1"/>
              <a:t>operating</a:t>
            </a:r>
            <a:r>
              <a:rPr lang="tr-TR" dirty="0"/>
              <a:t>.</a:t>
            </a:r>
          </a:p>
          <a:p>
            <a:pPr marL="342900" indent="-342900">
              <a:buAutoNum type="alphaLcPeriod"/>
            </a:pPr>
            <a:r>
              <a:rPr lang="tr-TR" dirty="0"/>
              <a:t>For </a:t>
            </a:r>
            <a:r>
              <a:rPr lang="tr-TR" dirty="0" err="1"/>
              <a:t>the</a:t>
            </a:r>
            <a:r>
              <a:rPr lang="tr-TR" dirty="0"/>
              <a:t> 16th </a:t>
            </a:r>
            <a:r>
              <a:rPr lang="tr-TR" dirty="0" err="1"/>
              <a:t>and</a:t>
            </a:r>
            <a:r>
              <a:rPr lang="tr-TR" dirty="0"/>
              <a:t> 22nd </a:t>
            </a:r>
            <a:r>
              <a:rPr lang="tr-TR" dirty="0" err="1"/>
              <a:t>transmission</a:t>
            </a:r>
            <a:r>
              <a:rPr lang="tr-TR" dirty="0"/>
              <a:t> </a:t>
            </a:r>
            <a:r>
              <a:rPr lang="tr-TR" dirty="0" err="1"/>
              <a:t>round</a:t>
            </a:r>
            <a:r>
              <a:rPr lang="tr-TR" dirty="0"/>
              <a:t> is </a:t>
            </a:r>
            <a:r>
              <a:rPr lang="tr-TR" dirty="0" err="1"/>
              <a:t>segment</a:t>
            </a:r>
            <a:r>
              <a:rPr lang="tr-TR" dirty="0"/>
              <a:t> </a:t>
            </a:r>
            <a:r>
              <a:rPr lang="tr-TR" dirty="0" err="1"/>
              <a:t>loss</a:t>
            </a:r>
            <a:r>
              <a:rPr lang="tr-TR" dirty="0"/>
              <a:t> </a:t>
            </a:r>
            <a:r>
              <a:rPr lang="tr-TR" dirty="0" err="1"/>
              <a:t>detected</a:t>
            </a:r>
            <a:r>
              <a:rPr lang="tr-TR" dirty="0"/>
              <a:t> </a:t>
            </a:r>
            <a:r>
              <a:rPr lang="tr-TR" u="sng" dirty="0" err="1"/>
              <a:t>by</a:t>
            </a:r>
            <a:r>
              <a:rPr lang="tr-TR" u="sng" dirty="0"/>
              <a:t> a </a:t>
            </a:r>
            <a:r>
              <a:rPr lang="tr-TR" u="sng" dirty="0" err="1"/>
              <a:t>triple</a:t>
            </a:r>
            <a:r>
              <a:rPr lang="tr-TR" u="sng" dirty="0"/>
              <a:t> </a:t>
            </a:r>
            <a:r>
              <a:rPr lang="tr-TR" u="sng" dirty="0" err="1"/>
              <a:t>duplicate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u="sng" dirty="0" err="1"/>
              <a:t>by</a:t>
            </a:r>
            <a:r>
              <a:rPr lang="tr-TR" u="sng" dirty="0"/>
              <a:t> a </a:t>
            </a:r>
            <a:r>
              <a:rPr lang="tr-TR" u="sng" dirty="0" err="1"/>
              <a:t>timeout</a:t>
            </a:r>
            <a:r>
              <a:rPr lang="tr-TR" dirty="0"/>
              <a:t>?</a:t>
            </a:r>
          </a:p>
          <a:p>
            <a:pPr marL="342900" indent="-342900">
              <a:buAutoNum type="alphaLcPeriod"/>
            </a:pPr>
            <a:r>
              <a:rPr lang="tr-TR" dirty="0" err="1"/>
              <a:t>What</a:t>
            </a:r>
            <a:r>
              <a:rPr lang="tr-TR" dirty="0"/>
              <a:t> is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value</a:t>
            </a:r>
            <a:r>
              <a:rPr lang="tr-TR" dirty="0"/>
              <a:t> of </a:t>
            </a:r>
            <a:r>
              <a:rPr lang="tr-TR" i="1" dirty="0" err="1"/>
              <a:t>ssthresh</a:t>
            </a:r>
            <a:r>
              <a:rPr lang="tr-TR" i="1" dirty="0"/>
              <a:t> </a:t>
            </a:r>
          </a:p>
          <a:p>
            <a:pPr marL="800100" lvl="1" indent="-342900">
              <a:buAutoNum type="alphaLcPeriod"/>
            </a:pPr>
            <a:r>
              <a:rPr lang="tr-TR" dirty="0"/>
              <a:t>at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first</a:t>
            </a:r>
            <a:r>
              <a:rPr lang="tr-TR" dirty="0"/>
              <a:t> </a:t>
            </a:r>
            <a:r>
              <a:rPr lang="tr-TR" dirty="0" err="1"/>
              <a:t>transmission</a:t>
            </a:r>
            <a:r>
              <a:rPr lang="tr-TR" dirty="0"/>
              <a:t> </a:t>
            </a:r>
            <a:r>
              <a:rPr lang="tr-TR" dirty="0" err="1"/>
              <a:t>round</a:t>
            </a:r>
            <a:r>
              <a:rPr lang="tr-TR" dirty="0"/>
              <a:t>?</a:t>
            </a:r>
          </a:p>
          <a:p>
            <a:pPr marL="800100" lvl="1" indent="-342900">
              <a:buAutoNum type="alphaLcPeriod"/>
            </a:pPr>
            <a:r>
              <a:rPr lang="tr-TR" dirty="0"/>
              <a:t>at </a:t>
            </a:r>
            <a:r>
              <a:rPr lang="tr-TR" dirty="0" err="1"/>
              <a:t>the</a:t>
            </a:r>
            <a:r>
              <a:rPr lang="tr-TR" dirty="0"/>
              <a:t> 18th </a:t>
            </a:r>
            <a:r>
              <a:rPr lang="tr-TR" dirty="0" err="1"/>
              <a:t>transmission</a:t>
            </a:r>
            <a:r>
              <a:rPr lang="tr-TR" dirty="0"/>
              <a:t> </a:t>
            </a:r>
            <a:r>
              <a:rPr lang="tr-TR" dirty="0" err="1"/>
              <a:t>round</a:t>
            </a:r>
            <a:r>
              <a:rPr lang="tr-TR" dirty="0"/>
              <a:t>?</a:t>
            </a:r>
          </a:p>
          <a:p>
            <a:pPr marL="800100" lvl="1" indent="-342900">
              <a:buAutoNum type="alphaLcPeriod"/>
            </a:pPr>
            <a:r>
              <a:rPr lang="tr-TR" dirty="0"/>
              <a:t>at </a:t>
            </a:r>
            <a:r>
              <a:rPr lang="tr-TR" dirty="0" err="1"/>
              <a:t>the</a:t>
            </a:r>
            <a:r>
              <a:rPr lang="tr-TR" dirty="0"/>
              <a:t> 24th </a:t>
            </a:r>
            <a:r>
              <a:rPr lang="tr-TR" dirty="0" err="1"/>
              <a:t>transmission</a:t>
            </a:r>
            <a:r>
              <a:rPr lang="tr-TR" dirty="0"/>
              <a:t> </a:t>
            </a:r>
            <a:r>
              <a:rPr lang="tr-TR" dirty="0" err="1"/>
              <a:t>round</a:t>
            </a:r>
            <a:r>
              <a:rPr lang="tr-TR" dirty="0"/>
              <a:t>?</a:t>
            </a:r>
          </a:p>
          <a:p>
            <a:pPr marL="342900" indent="-342900">
              <a:buAutoNum type="alphaLcPeriod"/>
            </a:pPr>
            <a:r>
              <a:rPr lang="tr-TR" dirty="0" err="1"/>
              <a:t>During</a:t>
            </a:r>
            <a:r>
              <a:rPr lang="tr-TR" dirty="0"/>
              <a:t> </a:t>
            </a:r>
            <a:r>
              <a:rPr lang="tr-TR" dirty="0" err="1"/>
              <a:t>what</a:t>
            </a:r>
            <a:r>
              <a:rPr lang="tr-TR" dirty="0"/>
              <a:t> </a:t>
            </a:r>
            <a:r>
              <a:rPr lang="tr-TR" dirty="0" err="1"/>
              <a:t>transmission</a:t>
            </a:r>
            <a:r>
              <a:rPr lang="tr-TR" dirty="0"/>
              <a:t> </a:t>
            </a:r>
            <a:r>
              <a:rPr lang="tr-TR" dirty="0" err="1"/>
              <a:t>round</a:t>
            </a:r>
            <a:r>
              <a:rPr lang="tr-TR" dirty="0"/>
              <a:t> is </a:t>
            </a:r>
            <a:r>
              <a:rPr lang="tr-TR" dirty="0" err="1"/>
              <a:t>the</a:t>
            </a:r>
            <a:r>
              <a:rPr lang="tr-TR" dirty="0"/>
              <a:t> 70th </a:t>
            </a:r>
            <a:r>
              <a:rPr lang="tr-TR" dirty="0" err="1"/>
              <a:t>segment</a:t>
            </a:r>
            <a:r>
              <a:rPr lang="tr-TR" dirty="0"/>
              <a:t> sent?</a:t>
            </a:r>
          </a:p>
          <a:p>
            <a:endParaRPr lang="tr-TR" dirty="0"/>
          </a:p>
          <a:p>
            <a:pPr marL="800100" lvl="1" indent="-342900">
              <a:buAutoNum type="alphaLcPeriod"/>
            </a:pPr>
            <a:endParaRPr lang="tr-TR" dirty="0"/>
          </a:p>
          <a:p>
            <a:pPr marL="342900" indent="-342900">
              <a:buAutoNum type="alphaLcPeriod"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56171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8652"/>
          </a:xfrm>
        </p:spPr>
        <p:txBody>
          <a:bodyPr>
            <a:normAutofit fontScale="90000"/>
          </a:bodyPr>
          <a:lstStyle/>
          <a:p>
            <a:r>
              <a:rPr lang="tr-TR" dirty="0"/>
              <a:t>Solution 2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074717"/>
            <a:ext cx="10515600" cy="5102246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lphaLcPeriod"/>
            </a:pPr>
            <a:r>
              <a:rPr lang="en-US" dirty="0"/>
              <a:t>TCP </a:t>
            </a:r>
            <a:r>
              <a:rPr lang="en-US" dirty="0" err="1"/>
              <a:t>slowstart</a:t>
            </a:r>
            <a:r>
              <a:rPr lang="en-US" dirty="0"/>
              <a:t> is operating in the intervals [1,6] and [23,26]</a:t>
            </a:r>
            <a:r>
              <a:rPr lang="tr-TR" dirty="0"/>
              <a:t>.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TCP congestion </a:t>
            </a:r>
            <a:r>
              <a:rPr lang="en-US" dirty="0" err="1"/>
              <a:t>advoidance</a:t>
            </a:r>
            <a:r>
              <a:rPr lang="en-US" dirty="0"/>
              <a:t> is operating in the intervals [6,16] and [17,22]</a:t>
            </a:r>
            <a:endParaRPr lang="tr-TR" dirty="0"/>
          </a:p>
          <a:p>
            <a:pPr marL="514350" indent="-514350">
              <a:buFont typeface="+mj-lt"/>
              <a:buAutoNum type="alphaLcPeriod"/>
            </a:pPr>
            <a:r>
              <a:rPr lang="tr-TR" dirty="0"/>
              <a:t>16th </a:t>
            </a:r>
            <a:r>
              <a:rPr lang="tr-TR" dirty="0" err="1"/>
              <a:t>transmission</a:t>
            </a:r>
            <a:r>
              <a:rPr lang="tr-TR" dirty="0"/>
              <a:t> </a:t>
            </a:r>
            <a:r>
              <a:rPr lang="tr-TR" dirty="0" err="1"/>
              <a:t>round</a:t>
            </a:r>
            <a:r>
              <a:rPr lang="tr-TR" dirty="0"/>
              <a:t> -&gt; a </a:t>
            </a:r>
            <a:r>
              <a:rPr lang="tr-TR" dirty="0" err="1"/>
              <a:t>triple</a:t>
            </a:r>
            <a:r>
              <a:rPr lang="tr-TR" dirty="0"/>
              <a:t> </a:t>
            </a:r>
            <a:r>
              <a:rPr lang="tr-TR" dirty="0" err="1"/>
              <a:t>duplicate</a:t>
            </a:r>
            <a:r>
              <a:rPr lang="tr-TR" dirty="0"/>
              <a:t> ACK, 			22nd </a:t>
            </a:r>
            <a:r>
              <a:rPr lang="tr-TR" dirty="0" err="1"/>
              <a:t>transmission</a:t>
            </a:r>
            <a:r>
              <a:rPr lang="tr-TR" dirty="0"/>
              <a:t> </a:t>
            </a:r>
            <a:r>
              <a:rPr lang="tr-TR" dirty="0" err="1"/>
              <a:t>round</a:t>
            </a:r>
            <a:r>
              <a:rPr lang="tr-TR" dirty="0"/>
              <a:t> -&gt; </a:t>
            </a:r>
            <a:r>
              <a:rPr lang="tr-TR" dirty="0" err="1"/>
              <a:t>timeout</a:t>
            </a:r>
            <a:r>
              <a:rPr lang="tr-TR" dirty="0"/>
              <a:t> (</a:t>
            </a:r>
            <a:r>
              <a:rPr lang="tr-TR" dirty="0" err="1"/>
              <a:t>congestion</a:t>
            </a:r>
            <a:r>
              <a:rPr lang="tr-TR" dirty="0"/>
              <a:t> </a:t>
            </a:r>
            <a:r>
              <a:rPr lang="tr-TR" dirty="0" err="1"/>
              <a:t>window</a:t>
            </a:r>
            <a:r>
              <a:rPr lang="tr-TR" dirty="0"/>
              <a:t> size=1)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The </a:t>
            </a:r>
            <a:r>
              <a:rPr lang="tr-TR" i="1" dirty="0" err="1"/>
              <a:t>ssthresh</a:t>
            </a:r>
            <a:r>
              <a:rPr lang="en-US" dirty="0"/>
              <a:t> </a:t>
            </a:r>
            <a:r>
              <a:rPr lang="tr-TR" dirty="0" err="1"/>
              <a:t>values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:</a:t>
            </a:r>
          </a:p>
          <a:p>
            <a:pPr marL="800100" lvl="1" indent="-342900">
              <a:buAutoNum type="alphaLcPeriod"/>
            </a:pPr>
            <a:r>
              <a:rPr lang="tr-TR" dirty="0"/>
              <a:t>32 at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first</a:t>
            </a:r>
            <a:r>
              <a:rPr lang="tr-TR" dirty="0"/>
              <a:t> </a:t>
            </a:r>
            <a:r>
              <a:rPr lang="tr-TR" dirty="0" err="1"/>
              <a:t>transmission</a:t>
            </a:r>
            <a:r>
              <a:rPr lang="tr-TR" dirty="0"/>
              <a:t> </a:t>
            </a:r>
            <a:r>
              <a:rPr lang="tr-TR" dirty="0" err="1"/>
              <a:t>round</a:t>
            </a:r>
            <a:r>
              <a:rPr lang="tr-TR" dirty="0"/>
              <a:t>. (</a:t>
            </a:r>
            <a:r>
              <a:rPr lang="tr-TR" dirty="0" err="1"/>
              <a:t>congestion</a:t>
            </a:r>
            <a:r>
              <a:rPr lang="tr-TR" dirty="0"/>
              <a:t> </a:t>
            </a:r>
            <a:r>
              <a:rPr lang="tr-TR" dirty="0" err="1"/>
              <a:t>avoidance</a:t>
            </a:r>
            <a:r>
              <a:rPr lang="tr-TR" dirty="0"/>
              <a:t> </a:t>
            </a:r>
            <a:r>
              <a:rPr lang="tr-TR" dirty="0" err="1"/>
              <a:t>starts</a:t>
            </a:r>
            <a:r>
              <a:rPr lang="tr-TR" dirty="0"/>
              <a:t> at 32)</a:t>
            </a:r>
          </a:p>
          <a:p>
            <a:pPr marL="800100" lvl="1" indent="-342900">
              <a:buAutoNum type="alphaLcPeriod"/>
            </a:pPr>
            <a:r>
              <a:rPr lang="tr-TR" dirty="0"/>
              <a:t>21 at </a:t>
            </a:r>
            <a:r>
              <a:rPr lang="tr-TR" dirty="0" err="1"/>
              <a:t>the</a:t>
            </a:r>
            <a:r>
              <a:rPr lang="tr-TR" dirty="0"/>
              <a:t> 18th </a:t>
            </a:r>
            <a:r>
              <a:rPr lang="tr-TR" dirty="0" err="1"/>
              <a:t>transmission</a:t>
            </a:r>
            <a:r>
              <a:rPr lang="tr-TR" dirty="0"/>
              <a:t> </a:t>
            </a:r>
            <a:r>
              <a:rPr lang="tr-TR" dirty="0" err="1"/>
              <a:t>round</a:t>
            </a:r>
            <a:r>
              <a:rPr lang="tr-TR" dirty="0"/>
              <a:t>. (</a:t>
            </a:r>
            <a:r>
              <a:rPr lang="tr-TR" dirty="0" err="1"/>
              <a:t>congestion</a:t>
            </a:r>
            <a:r>
              <a:rPr lang="tr-TR" dirty="0"/>
              <a:t> </a:t>
            </a:r>
            <a:r>
              <a:rPr lang="tr-TR" dirty="0" err="1"/>
              <a:t>window</a:t>
            </a:r>
            <a:r>
              <a:rPr lang="tr-TR" dirty="0"/>
              <a:t> size 42 / 2)</a:t>
            </a:r>
          </a:p>
          <a:p>
            <a:pPr marL="800100" lvl="1" indent="-342900">
              <a:buFont typeface="Arial" panose="020B0604020202020204" pitchFamily="34" charset="0"/>
              <a:buAutoNum type="alphaLcPeriod"/>
            </a:pPr>
            <a:r>
              <a:rPr lang="tr-TR" dirty="0"/>
              <a:t>13 at </a:t>
            </a:r>
            <a:r>
              <a:rPr lang="tr-TR" dirty="0" err="1"/>
              <a:t>the</a:t>
            </a:r>
            <a:r>
              <a:rPr lang="tr-TR" dirty="0"/>
              <a:t> 24th </a:t>
            </a:r>
            <a:r>
              <a:rPr lang="tr-TR" dirty="0" err="1"/>
              <a:t>transmission</a:t>
            </a:r>
            <a:r>
              <a:rPr lang="tr-TR" dirty="0"/>
              <a:t> </a:t>
            </a:r>
            <a:r>
              <a:rPr lang="tr-TR" dirty="0" err="1"/>
              <a:t>round</a:t>
            </a:r>
            <a:r>
              <a:rPr lang="tr-TR" dirty="0"/>
              <a:t>. (</a:t>
            </a:r>
            <a:r>
              <a:rPr lang="tr-TR" dirty="0" err="1"/>
              <a:t>congestion</a:t>
            </a:r>
            <a:r>
              <a:rPr lang="tr-TR" dirty="0"/>
              <a:t> </a:t>
            </a:r>
            <a:r>
              <a:rPr lang="tr-TR" dirty="0" err="1"/>
              <a:t>window</a:t>
            </a:r>
            <a:r>
              <a:rPr lang="tr-TR" dirty="0"/>
              <a:t> size 26 / 2)</a:t>
            </a:r>
          </a:p>
          <a:p>
            <a:pPr marL="342900" indent="-342900">
              <a:buFont typeface="Arial" panose="020B0604020202020204" pitchFamily="34" charset="0"/>
              <a:buAutoNum type="alphaLcPeriod"/>
            </a:pPr>
            <a:r>
              <a:rPr lang="en-US" dirty="0"/>
              <a:t>During the 1st transmission round, packet 1 is sent; packet 2-3 are sent in the </a:t>
            </a:r>
            <a:r>
              <a:rPr lang="tr-TR" dirty="0"/>
              <a:t>2</a:t>
            </a:r>
            <a:r>
              <a:rPr lang="en-US" dirty="0" err="1"/>
              <a:t>nd</a:t>
            </a:r>
            <a:r>
              <a:rPr lang="tr-TR" dirty="0"/>
              <a:t> </a:t>
            </a:r>
            <a:r>
              <a:rPr lang="en-US" dirty="0"/>
              <a:t>transmission round; packets 4-7 are sent in the 3rd transmission round; packets 8-15</a:t>
            </a:r>
            <a:r>
              <a:rPr lang="tr-TR" dirty="0"/>
              <a:t> </a:t>
            </a:r>
            <a:r>
              <a:rPr lang="en-US" dirty="0"/>
              <a:t>are sent in the 4th transmission round; packets</a:t>
            </a:r>
            <a:r>
              <a:rPr lang="tr-TR" dirty="0"/>
              <a:t> </a:t>
            </a:r>
            <a:r>
              <a:rPr lang="en-US" dirty="0"/>
              <a:t>15-31 are sent in the 5th transmission</a:t>
            </a:r>
            <a:r>
              <a:rPr lang="tr-TR" dirty="0"/>
              <a:t> </a:t>
            </a:r>
            <a:r>
              <a:rPr lang="en-US" dirty="0"/>
              <a:t>round; packets 32-63 are sent in the 6th transmission round; packets 64 – 96 are sent</a:t>
            </a:r>
            <a:r>
              <a:rPr lang="tr-TR" dirty="0"/>
              <a:t> </a:t>
            </a:r>
            <a:r>
              <a:rPr lang="en-US" dirty="0"/>
              <a:t>in the 7th transmission round. Thus packet 70 is sent in the 7 </a:t>
            </a:r>
            <a:r>
              <a:rPr lang="en-US" dirty="0" err="1"/>
              <a:t>th</a:t>
            </a:r>
            <a:r>
              <a:rPr lang="en-US" dirty="0"/>
              <a:t> transmission round.</a:t>
            </a:r>
            <a:endParaRPr lang="tr-TR" dirty="0"/>
          </a:p>
          <a:p>
            <a:pPr marL="457200" lvl="1" indent="0">
              <a:buNone/>
            </a:pPr>
            <a:endParaRPr lang="tr-TR" dirty="0"/>
          </a:p>
          <a:p>
            <a:pPr marL="514350" indent="-514350">
              <a:buFont typeface="+mj-lt"/>
              <a:buAutoNum type="alphaLcPeriod"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6020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3337"/>
          </a:xfrm>
        </p:spPr>
        <p:txBody>
          <a:bodyPr>
            <a:normAutofit fontScale="90000"/>
          </a:bodyPr>
          <a:lstStyle/>
          <a:p>
            <a:r>
              <a:rPr lang="tr-TR" dirty="0"/>
              <a:t>Problem 2 </a:t>
            </a:r>
          </a:p>
        </p:txBody>
      </p:sp>
      <p:pic>
        <p:nvPicPr>
          <p:cNvPr id="5" name="İçerik Yer Tutucus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19" y="908462"/>
            <a:ext cx="6912726" cy="5268913"/>
          </a:xfrm>
        </p:spPr>
      </p:pic>
      <p:sp>
        <p:nvSpPr>
          <p:cNvPr id="6" name="Metin kutusu 5"/>
          <p:cNvSpPr txBox="1"/>
          <p:nvPr/>
        </p:nvSpPr>
        <p:spPr>
          <a:xfrm>
            <a:off x="7575645" y="1018268"/>
            <a:ext cx="44421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eriod"/>
            </a:pPr>
            <a:r>
              <a:rPr lang="en-US" dirty="0"/>
              <a:t>Assuming a packet loss is detected after the 26th round by the receipt of a triple duplicate ACK, what will be the values of the congestion window size and of </a:t>
            </a:r>
            <a:r>
              <a:rPr lang="en-US" i="1" dirty="0" err="1"/>
              <a:t>ssthresh</a:t>
            </a:r>
            <a:r>
              <a:rPr lang="en-US" dirty="0"/>
              <a:t>?</a:t>
            </a:r>
            <a:endParaRPr lang="tr-TR" dirty="0"/>
          </a:p>
          <a:p>
            <a:pPr marL="342900" indent="-342900">
              <a:buAutoNum type="alphaLcPeriod"/>
            </a:pPr>
            <a:r>
              <a:rPr lang="en-US" dirty="0"/>
              <a:t>Suppose TCP Tahoe is used (instead of TCP Reno), and assume that triple duplicate ACKs are received at the 16th round. What are the </a:t>
            </a:r>
            <a:r>
              <a:rPr lang="en-US" i="1" dirty="0" err="1"/>
              <a:t>ssthresh</a:t>
            </a:r>
            <a:r>
              <a:rPr lang="en-US" dirty="0"/>
              <a:t> and the congestion window size at the 19th round?</a:t>
            </a:r>
            <a:endParaRPr lang="tr-TR" dirty="0"/>
          </a:p>
          <a:p>
            <a:pPr marL="342900" indent="-342900">
              <a:buAutoNum type="alphaLcPeriod"/>
            </a:pPr>
            <a:r>
              <a:rPr lang="en-US" dirty="0"/>
              <a:t>Again suppose TCP Tahoe is used, and there is a timeout event at 22nd round. How many packets have been sent out from 17th round till 22nd round, inclusive?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76187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8652"/>
          </a:xfrm>
        </p:spPr>
        <p:txBody>
          <a:bodyPr>
            <a:normAutofit fontScale="90000"/>
          </a:bodyPr>
          <a:lstStyle/>
          <a:p>
            <a:r>
              <a:rPr lang="tr-TR" dirty="0"/>
              <a:t>Solution 2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074717"/>
            <a:ext cx="10515600" cy="5102246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tr-TR" dirty="0"/>
          </a:p>
          <a:p>
            <a:pPr marL="514350" indent="-514350">
              <a:buFont typeface="+mj-lt"/>
              <a:buAutoNum type="alphaLcPeriod"/>
            </a:pPr>
            <a:r>
              <a:rPr lang="tr-TR" dirty="0" err="1"/>
              <a:t>Congestion</a:t>
            </a:r>
            <a:r>
              <a:rPr lang="tr-TR" dirty="0"/>
              <a:t> </a:t>
            </a:r>
            <a:r>
              <a:rPr lang="tr-TR" dirty="0" err="1"/>
              <a:t>window</a:t>
            </a:r>
            <a:r>
              <a:rPr lang="tr-TR" dirty="0"/>
              <a:t> size = 8, </a:t>
            </a:r>
            <a:r>
              <a:rPr lang="tr-TR" dirty="0" err="1"/>
              <a:t>ssthresh</a:t>
            </a:r>
            <a:r>
              <a:rPr lang="tr-TR" dirty="0"/>
              <a:t> = 4</a:t>
            </a:r>
          </a:p>
          <a:p>
            <a:pPr marL="514350" indent="-514350">
              <a:buFont typeface="+mj-lt"/>
              <a:buAutoNum type="alphaLcPeriod"/>
            </a:pPr>
            <a:r>
              <a:rPr lang="tr-TR" dirty="0" err="1"/>
              <a:t>ssthresh</a:t>
            </a:r>
            <a:r>
              <a:rPr lang="tr-TR" dirty="0"/>
              <a:t> = 21, </a:t>
            </a:r>
            <a:r>
              <a:rPr lang="tr-TR" dirty="0" err="1"/>
              <a:t>congestion</a:t>
            </a:r>
            <a:r>
              <a:rPr lang="tr-TR" dirty="0"/>
              <a:t> </a:t>
            </a:r>
            <a:r>
              <a:rPr lang="tr-TR" dirty="0" err="1"/>
              <a:t>window</a:t>
            </a:r>
            <a:r>
              <a:rPr lang="tr-TR" dirty="0"/>
              <a:t> size = 4</a:t>
            </a:r>
          </a:p>
          <a:p>
            <a:pPr marL="514350" indent="-514350">
              <a:buFont typeface="+mj-lt"/>
              <a:buAutoNum type="alphaLcPeriod"/>
            </a:pPr>
            <a:r>
              <a:rPr lang="tr-TR" dirty="0"/>
              <a:t>52 </a:t>
            </a:r>
            <a:r>
              <a:rPr lang="tr-TR" dirty="0" err="1"/>
              <a:t>packets</a:t>
            </a:r>
            <a:r>
              <a:rPr lang="tr-TR" dirty="0"/>
              <a:t> sent</a:t>
            </a:r>
          </a:p>
        </p:txBody>
      </p:sp>
    </p:spTree>
    <p:extLst>
      <p:ext uri="{BB962C8B-B14F-4D97-AF65-F5344CB8AC3E}">
        <p14:creationId xmlns:p14="http://schemas.microsoft.com/office/powerpoint/2010/main" val="2808833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372</Words>
  <Application>Microsoft Office PowerPoint</Application>
  <PresentationFormat>Geniş ekran</PresentationFormat>
  <Paragraphs>47</Paragraphs>
  <Slides>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Teması</vt:lpstr>
      <vt:lpstr>Problem 1</vt:lpstr>
      <vt:lpstr>Solution 1</vt:lpstr>
      <vt:lpstr>Problem 2</vt:lpstr>
      <vt:lpstr>Solution 2</vt:lpstr>
      <vt:lpstr>Problem 2 </vt:lpstr>
      <vt:lpstr>Solution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1</dc:title>
  <dc:creator>Erhan TURAN</dc:creator>
  <cp:lastModifiedBy>Erhan TURAN</cp:lastModifiedBy>
  <cp:revision>12</cp:revision>
  <dcterms:created xsi:type="dcterms:W3CDTF">2017-05-22T06:38:03Z</dcterms:created>
  <dcterms:modified xsi:type="dcterms:W3CDTF">2017-05-22T09:44:16Z</dcterms:modified>
</cp:coreProperties>
</file>