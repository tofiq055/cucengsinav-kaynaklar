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8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.xml" ContentType="application/vnd.openxmlformats-officedocument.presentationml.slide+xml"/>
  <Override PartName="/ppt/slides/slide6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0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60" r:id="rId3"/>
    <p:sldId id="262" r:id="rId4"/>
    <p:sldId id="263" r:id="rId5"/>
    <p:sldId id="267" r:id="rId6"/>
    <p:sldId id="268" r:id="rId7"/>
    <p:sldId id="269" r:id="rId8"/>
    <p:sldId id="266" r:id="rId9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7EDE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Orta Stil 2 - Vurgu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Orta Stil 2 - Vurgu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CAF9ED-07DC-4A11-8D7F-57B35C25682E}" styleName="Orta Stil 1 - Vurgu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4" autoAdjust="0"/>
    <p:restoredTop sz="94660"/>
  </p:normalViewPr>
  <p:slideViewPr>
    <p:cSldViewPr snapToGrid="0">
      <p:cViewPr varScale="1">
        <p:scale>
          <a:sx n="69" d="100"/>
          <a:sy n="69" d="100"/>
        </p:scale>
        <p:origin x="-690" y="-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2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ustomXml" Target="../customXml/item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Başlık Slaydı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tr-TR" smtClean="0"/>
              <a:t>Asıl alt başlık stilini düzenlemek için tıklayın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351DF711-0888-4AAF-8376-37B01B8C4A4E}" type="datetimeFigureOut">
              <a:rPr lang="tr-TR" smtClean="0"/>
              <a:pPr/>
              <a:t>31.10.2020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CAA0417F-81C7-441B-910E-1771BA036F3F}" type="slidenum">
              <a:rPr lang="tr-TR" smtClean="0"/>
              <a:pPr/>
              <a:t>‹#›</a:t>
            </a:fld>
            <a:endParaRPr lang="tr-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xmlns="" val="29848972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DF711-0888-4AAF-8376-37B01B8C4A4E}" type="datetimeFigureOut">
              <a:rPr lang="tr-TR" smtClean="0"/>
              <a:pPr/>
              <a:t>31.10.2020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0417F-81C7-441B-910E-1771BA036F3F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xmlns="" val="40107706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DF711-0888-4AAF-8376-37B01B8C4A4E}" type="datetimeFigureOut">
              <a:rPr lang="tr-TR" smtClean="0"/>
              <a:pPr/>
              <a:t>31.10.2020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0417F-81C7-441B-910E-1771BA036F3F}" type="slidenum">
              <a:rPr lang="tr-TR" smtClean="0"/>
              <a:pPr/>
              <a:t>‹#›</a:t>
            </a:fld>
            <a:endParaRPr lang="tr-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xmlns="" val="29966818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DF711-0888-4AAF-8376-37B01B8C4A4E}" type="datetimeFigureOut">
              <a:rPr lang="tr-TR" smtClean="0"/>
              <a:pPr/>
              <a:t>31.10.2020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0417F-81C7-441B-910E-1771BA036F3F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xmlns="" val="6954083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tr-TR" smtClean="0"/>
              <a:t>Asıl metin stillerini düzenle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DF711-0888-4AAF-8376-37B01B8C4A4E}" type="datetimeFigureOut">
              <a:rPr lang="tr-TR" smtClean="0"/>
              <a:pPr/>
              <a:t>31.10.2020</a:t>
            </a:fld>
            <a:endParaRPr lang="tr-T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0417F-81C7-441B-910E-1771BA036F3F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xmlns="" val="27398742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DF711-0888-4AAF-8376-37B01B8C4A4E}" type="datetimeFigureOut">
              <a:rPr lang="tr-TR" smtClean="0"/>
              <a:pPr/>
              <a:t>31.10.2020</a:t>
            </a:fld>
            <a:endParaRPr lang="tr-T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0417F-81C7-441B-910E-1771BA036F3F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xmlns="" val="8070134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DF711-0888-4AAF-8376-37B01B8C4A4E}" type="datetimeFigureOut">
              <a:rPr lang="tr-TR" smtClean="0"/>
              <a:pPr/>
              <a:t>31.10.2020</a:t>
            </a:fld>
            <a:endParaRPr lang="tr-T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0417F-81C7-441B-910E-1771BA036F3F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xmlns="" val="24368759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DF711-0888-4AAF-8376-37B01B8C4A4E}" type="datetimeFigureOut">
              <a:rPr lang="tr-TR" smtClean="0"/>
              <a:pPr/>
              <a:t>31.10.2020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0417F-81C7-441B-910E-1771BA036F3F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xmlns="" val="30245886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tr-TR" smtClean="0"/>
              <a:t>Resim eklemek için simgeyi tıklatın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DF711-0888-4AAF-8376-37B01B8C4A4E}" type="datetimeFigureOut">
              <a:rPr lang="tr-TR" smtClean="0"/>
              <a:pPr/>
              <a:t>31.10.2020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0417F-81C7-441B-910E-1771BA036F3F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xmlns="" val="6329317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DF711-0888-4AAF-8376-37B01B8C4A4E}" type="datetimeFigureOut">
              <a:rPr lang="tr-TR" smtClean="0"/>
              <a:pPr/>
              <a:t>31.10.2020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0417F-81C7-441B-910E-1771BA036F3F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xmlns="" val="6549461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DF711-0888-4AAF-8376-37B01B8C4A4E}" type="datetimeFigureOut">
              <a:rPr lang="tr-TR" smtClean="0"/>
              <a:pPr/>
              <a:t>31.10.2020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0417F-81C7-441B-910E-1771BA036F3F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xmlns="" val="7551065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351DF711-0888-4AAF-8376-37B01B8C4A4E}" type="datetimeFigureOut">
              <a:rPr lang="tr-TR" smtClean="0"/>
              <a:pPr/>
              <a:t>31.10.2020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CAA0417F-81C7-441B-910E-1771BA036F3F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xmlns="" val="35506438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utorialspoint.com/assembly_programming/" TargetMode="External"/><Relationship Id="rId2" Type="http://schemas.openxmlformats.org/officeDocument/2006/relationships/hyperlink" Target="https://github.com/abbaselmas/aa.bbs.tr" TargetMode="Externa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000">
              <a:schemeClr val="accent1">
                <a:lumMod val="5000"/>
                <a:lumOff val="95000"/>
              </a:schemeClr>
            </a:gs>
            <a:gs pos="62000">
              <a:schemeClr val="accent1">
                <a:lumMod val="45000"/>
                <a:lumOff val="55000"/>
              </a:schemeClr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ctrTitle"/>
          </p:nvPr>
        </p:nvSpPr>
        <p:spPr>
          <a:xfrm>
            <a:off x="966651" y="443484"/>
            <a:ext cx="9582911" cy="3218688"/>
          </a:xfrm>
        </p:spPr>
        <p:txBody>
          <a:bodyPr/>
          <a:lstStyle/>
          <a:p>
            <a:r>
              <a:rPr lang="tr-TR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ASSEMBLY LANGUAGE EXAMPLE CODE</a:t>
            </a:r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1261871" y="4271554"/>
            <a:ext cx="3636699" cy="979715"/>
          </a:xfrm>
        </p:spPr>
        <p:txBody>
          <a:bodyPr/>
          <a:lstStyle/>
          <a:p>
            <a:r>
              <a:rPr lang="tr-TR" dirty="0" smtClean="0">
                <a:solidFill>
                  <a:schemeClr val="bg1">
                    <a:lumMod val="95000"/>
                    <a:lumOff val="5000"/>
                  </a:schemeClr>
                </a:solidFill>
              </a:rPr>
              <a:t>Burcu CANBULAT </a:t>
            </a:r>
            <a:endParaRPr lang="tr-TR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5" name="Resim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7176733" y="4041648"/>
            <a:ext cx="3874444" cy="2596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132090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000">
              <a:schemeClr val="accent1">
                <a:lumMod val="5000"/>
                <a:lumOff val="95000"/>
              </a:schemeClr>
            </a:gs>
            <a:gs pos="62000">
              <a:schemeClr val="accent1">
                <a:lumMod val="45000"/>
                <a:lumOff val="55000"/>
              </a:scheme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359614" y="464694"/>
            <a:ext cx="10399876" cy="860867"/>
          </a:xfrm>
        </p:spPr>
        <p:txBody>
          <a:bodyPr>
            <a:normAutofit/>
          </a:bodyPr>
          <a:lstStyle/>
          <a:p>
            <a:r>
              <a:rPr lang="tr-TR" dirty="0" smtClean="0"/>
              <a:t>EXAMPLE CODE 1: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359614" y="1514008"/>
            <a:ext cx="10718117" cy="5343992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/>
              <a:t>Find the output </a:t>
            </a:r>
            <a:r>
              <a:rPr lang="tr-TR" sz="2400" dirty="0" smtClean="0"/>
              <a:t>AL</a:t>
            </a:r>
            <a:r>
              <a:rPr lang="en-US" sz="2400" dirty="0" smtClean="0"/>
              <a:t>,</a:t>
            </a:r>
            <a:r>
              <a:rPr lang="tr-TR" sz="2400" dirty="0" smtClean="0"/>
              <a:t>DL</a:t>
            </a:r>
            <a:r>
              <a:rPr lang="en-US" sz="2400" dirty="0" smtClean="0"/>
              <a:t> </a:t>
            </a:r>
            <a:r>
              <a:rPr lang="en-US" sz="2400" dirty="0"/>
              <a:t>and </a:t>
            </a:r>
            <a:r>
              <a:rPr lang="tr-TR" sz="2400" dirty="0" smtClean="0"/>
              <a:t>CL</a:t>
            </a:r>
            <a:r>
              <a:rPr lang="en-US" sz="2400" dirty="0" smtClean="0"/>
              <a:t> </a:t>
            </a:r>
            <a:r>
              <a:rPr lang="en-US" sz="2400" dirty="0"/>
              <a:t>of the program in assembly language</a:t>
            </a:r>
            <a:r>
              <a:rPr lang="en-US" sz="2400" dirty="0" smtClean="0"/>
              <a:t>.</a:t>
            </a:r>
            <a:endParaRPr lang="tr-TR" sz="2400" dirty="0" smtClean="0"/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endParaRPr lang="tr-TR" dirty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283523" y="2229675"/>
            <a:ext cx="3971550" cy="4171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591244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1">
                <a:lumMod val="45000"/>
                <a:lumOff val="55000"/>
              </a:scheme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Metin Yer Tutucusu 13"/>
          <p:cNvSpPr>
            <a:spLocks noGrp="1"/>
          </p:cNvSpPr>
          <p:nvPr>
            <p:ph type="body" idx="1"/>
          </p:nvPr>
        </p:nvSpPr>
        <p:spPr>
          <a:xfrm>
            <a:off x="1618178" y="3884167"/>
            <a:ext cx="9062014" cy="2777890"/>
          </a:xfrm>
        </p:spPr>
        <p:txBody>
          <a:bodyPr>
            <a:normAutofit/>
          </a:bodyPr>
          <a:lstStyle/>
          <a:p>
            <a:r>
              <a:rPr lang="tr-TR" sz="2000" dirty="0" smtClean="0"/>
              <a:t>MOV</a:t>
            </a:r>
            <a:r>
              <a:rPr lang="en-US" sz="2000" dirty="0" smtClean="0"/>
              <a:t> </a:t>
            </a:r>
            <a:r>
              <a:rPr lang="en-US" sz="2000" dirty="0"/>
              <a:t>is a data transfer command.</a:t>
            </a:r>
            <a:endParaRPr lang="tr-TR" sz="2000" dirty="0" smtClean="0"/>
          </a:p>
          <a:p>
            <a:r>
              <a:rPr lang="tr-TR" sz="2000" dirty="0" smtClean="0"/>
              <a:t>0CCh</a:t>
            </a:r>
            <a:r>
              <a:rPr lang="en-US" sz="2000" dirty="0" smtClean="0"/>
              <a:t> value transferred to </a:t>
            </a:r>
            <a:r>
              <a:rPr lang="tr-TR" sz="2000" dirty="0" smtClean="0"/>
              <a:t>CL </a:t>
            </a:r>
            <a:r>
              <a:rPr lang="en-US" sz="2000" dirty="0" smtClean="0"/>
              <a:t>and 0DDh value transferred to DL. </a:t>
            </a:r>
            <a:endParaRPr lang="tr-TR" sz="2000" dirty="0" smtClean="0"/>
          </a:p>
          <a:p>
            <a:r>
              <a:rPr lang="en-US" sz="2000" dirty="0" smtClean="0"/>
              <a:t>The value in the </a:t>
            </a:r>
            <a:r>
              <a:rPr lang="tr-TR" sz="2000" dirty="0" smtClean="0"/>
              <a:t>CL </a:t>
            </a:r>
            <a:r>
              <a:rPr lang="en-US" sz="2000" dirty="0" smtClean="0"/>
              <a:t>register is transferred to </a:t>
            </a:r>
            <a:r>
              <a:rPr lang="tr-TR" sz="2000" dirty="0" smtClean="0"/>
              <a:t>AL</a:t>
            </a:r>
            <a:r>
              <a:rPr lang="en-US" sz="2000" dirty="0" smtClean="0"/>
              <a:t>.</a:t>
            </a:r>
            <a:endParaRPr lang="tr-TR" sz="2000" dirty="0" smtClean="0"/>
          </a:p>
          <a:p>
            <a:r>
              <a:rPr lang="tr-TR" sz="2000" dirty="0" smtClean="0"/>
              <a:t>CL </a:t>
            </a:r>
            <a:r>
              <a:rPr lang="en-US" sz="2000" dirty="0" smtClean="0"/>
              <a:t>register </a:t>
            </a:r>
            <a:r>
              <a:rPr lang="en-US" sz="2000" dirty="0"/>
              <a:t>gets the value of the </a:t>
            </a:r>
            <a:r>
              <a:rPr lang="tr-TR" sz="2000" dirty="0" smtClean="0"/>
              <a:t>DL </a:t>
            </a:r>
            <a:r>
              <a:rPr lang="en-US" sz="2000" dirty="0" smtClean="0"/>
              <a:t>register.</a:t>
            </a:r>
            <a:endParaRPr lang="tr-TR" sz="2000" dirty="0" smtClean="0"/>
          </a:p>
          <a:p>
            <a:r>
              <a:rPr lang="en-US" sz="2000" dirty="0"/>
              <a:t>The </a:t>
            </a:r>
            <a:r>
              <a:rPr lang="tr-TR" sz="2000" dirty="0" smtClean="0"/>
              <a:t>AL</a:t>
            </a:r>
            <a:r>
              <a:rPr lang="en-US" sz="2000" dirty="0" smtClean="0"/>
              <a:t> </a:t>
            </a:r>
            <a:r>
              <a:rPr lang="en-US" sz="2000" dirty="0"/>
              <a:t>register passes its value to </a:t>
            </a:r>
            <a:r>
              <a:rPr lang="tr-TR" sz="2000" dirty="0" smtClean="0"/>
              <a:t>DL</a:t>
            </a:r>
            <a:r>
              <a:rPr lang="en-US" sz="2000" dirty="0" smtClean="0"/>
              <a:t>.</a:t>
            </a:r>
            <a:endParaRPr lang="tr-TR" sz="2000" dirty="0" smtClean="0"/>
          </a:p>
          <a:p>
            <a:endParaRPr lang="tr-TR" sz="2000" dirty="0"/>
          </a:p>
        </p:txBody>
      </p:sp>
      <p:pic>
        <p:nvPicPr>
          <p:cNvPr id="7" name="İçerik Yer Tutucusu 6"/>
          <p:cNvPicPr>
            <a:picLocks noGrp="1" noChangeAspect="1"/>
          </p:cNvPicPr>
          <p:nvPr>
            <p:ph sz="half" idx="4294967295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7526132" y="472630"/>
            <a:ext cx="3248025" cy="3411537"/>
          </a:xfrm>
        </p:spPr>
      </p:pic>
      <p:graphicFrame>
        <p:nvGraphicFramePr>
          <p:cNvPr id="12" name="İçerik Yer Tutucusu 11"/>
          <p:cNvGraphicFramePr>
            <a:graphicFrameLocks noGrp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xmlns="" val="2101621776"/>
              </p:ext>
            </p:extLst>
          </p:nvPr>
        </p:nvGraphicFramePr>
        <p:xfrm>
          <a:off x="583547" y="548639"/>
          <a:ext cx="5261547" cy="28241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3849">
                  <a:extLst>
                    <a:ext uri="{9D8B030D-6E8A-4147-A177-3AD203B41FA5}">
                      <a16:colId xmlns:a16="http://schemas.microsoft.com/office/drawing/2014/main" xmlns="" val="789350458"/>
                    </a:ext>
                  </a:extLst>
                </a:gridCol>
                <a:gridCol w="1753849">
                  <a:extLst>
                    <a:ext uri="{9D8B030D-6E8A-4147-A177-3AD203B41FA5}">
                      <a16:colId xmlns:a16="http://schemas.microsoft.com/office/drawing/2014/main" xmlns="" val="1645020574"/>
                    </a:ext>
                  </a:extLst>
                </a:gridCol>
                <a:gridCol w="1753849">
                  <a:extLst>
                    <a:ext uri="{9D8B030D-6E8A-4147-A177-3AD203B41FA5}">
                      <a16:colId xmlns:a16="http://schemas.microsoft.com/office/drawing/2014/main" xmlns="" val="1812467271"/>
                    </a:ext>
                  </a:extLst>
                </a:gridCol>
              </a:tblGrid>
              <a:tr h="209863">
                <a:tc>
                  <a:txBody>
                    <a:bodyPr/>
                    <a:lstStyle/>
                    <a:p>
                      <a:r>
                        <a:rPr lang="tr-TR" dirty="0" smtClean="0"/>
                        <a:t>CL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 smtClean="0"/>
                        <a:t>DL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 smtClean="0"/>
                        <a:t>AL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640235499"/>
                  </a:ext>
                </a:extLst>
              </a:tr>
              <a:tr h="614597">
                <a:tc>
                  <a:txBody>
                    <a:bodyPr/>
                    <a:lstStyle/>
                    <a:p>
                      <a:r>
                        <a:rPr lang="tr-TR" dirty="0" smtClean="0"/>
                        <a:t>0CCh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 smtClean="0"/>
                        <a:t>0DDh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 smtClean="0"/>
                        <a:t>-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73989579"/>
                  </a:ext>
                </a:extLst>
              </a:tr>
              <a:tr h="614597">
                <a:tc>
                  <a:txBody>
                    <a:bodyPr/>
                    <a:lstStyle/>
                    <a:p>
                      <a:r>
                        <a:rPr lang="tr-TR" dirty="0" smtClean="0"/>
                        <a:t>-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 smtClean="0"/>
                        <a:t>-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 smtClean="0"/>
                        <a:t>0CCh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911501785"/>
                  </a:ext>
                </a:extLst>
              </a:tr>
              <a:tr h="614597">
                <a:tc>
                  <a:txBody>
                    <a:bodyPr/>
                    <a:lstStyle/>
                    <a:p>
                      <a:r>
                        <a:rPr lang="tr-TR" dirty="0" smtClean="0"/>
                        <a:t>0DDh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 smtClean="0"/>
                        <a:t>-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 smtClean="0"/>
                        <a:t>-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035302575"/>
                  </a:ext>
                </a:extLst>
              </a:tr>
              <a:tr h="614597">
                <a:tc>
                  <a:txBody>
                    <a:bodyPr/>
                    <a:lstStyle/>
                    <a:p>
                      <a:r>
                        <a:rPr lang="tr-TR" dirty="0" smtClean="0"/>
                        <a:t>-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 smtClean="0"/>
                        <a:t>0CCh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 smtClean="0"/>
                        <a:t>-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884582471"/>
                  </a:ext>
                </a:extLst>
              </a:tr>
            </a:tbl>
          </a:graphicData>
        </a:graphic>
      </p:graphicFrame>
      <p:cxnSp>
        <p:nvCxnSpPr>
          <p:cNvPr id="18" name="Düz Ok Bağlayıcısı 17"/>
          <p:cNvCxnSpPr/>
          <p:nvPr/>
        </p:nvCxnSpPr>
        <p:spPr>
          <a:xfrm flipV="1">
            <a:off x="6080750" y="1183098"/>
            <a:ext cx="1187766" cy="2853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Düz Ok Bağlayıcısı 19"/>
          <p:cNvCxnSpPr/>
          <p:nvPr/>
        </p:nvCxnSpPr>
        <p:spPr>
          <a:xfrm>
            <a:off x="6145743" y="1778162"/>
            <a:ext cx="1122773" cy="117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Dirsek Bağlayıcısı 23"/>
          <p:cNvCxnSpPr/>
          <p:nvPr/>
        </p:nvCxnSpPr>
        <p:spPr>
          <a:xfrm flipV="1">
            <a:off x="6203455" y="2025868"/>
            <a:ext cx="1065061" cy="465393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Dirsek Bağlayıcısı 28"/>
          <p:cNvCxnSpPr/>
          <p:nvPr/>
        </p:nvCxnSpPr>
        <p:spPr>
          <a:xfrm flipV="1">
            <a:off x="6354116" y="2348586"/>
            <a:ext cx="914400" cy="786982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Akış Çizelgesi: Bağlayıcı 3"/>
          <p:cNvSpPr/>
          <p:nvPr/>
        </p:nvSpPr>
        <p:spPr>
          <a:xfrm>
            <a:off x="6427665" y="846676"/>
            <a:ext cx="338156" cy="336422"/>
          </a:xfrm>
          <a:prstGeom prst="flowChartConnector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dirty="0"/>
              <a:t>1</a:t>
            </a:r>
          </a:p>
        </p:txBody>
      </p:sp>
      <p:sp>
        <p:nvSpPr>
          <p:cNvPr id="5" name="Akış Çizelgesi: Bağlayıcı 4"/>
          <p:cNvSpPr/>
          <p:nvPr/>
        </p:nvSpPr>
        <p:spPr>
          <a:xfrm>
            <a:off x="6463758" y="1458973"/>
            <a:ext cx="297662" cy="320361"/>
          </a:xfrm>
          <a:prstGeom prst="flowChartConnector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dirty="0"/>
              <a:t>2</a:t>
            </a:r>
          </a:p>
        </p:txBody>
      </p:sp>
      <p:sp>
        <p:nvSpPr>
          <p:cNvPr id="6" name="Akış Çizelgesi: Bağlayıcı 5"/>
          <p:cNvSpPr/>
          <p:nvPr/>
        </p:nvSpPr>
        <p:spPr>
          <a:xfrm>
            <a:off x="6341578" y="2152854"/>
            <a:ext cx="282030" cy="329784"/>
          </a:xfrm>
          <a:prstGeom prst="flowChartConnector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/>
              <a:t>3</a:t>
            </a:r>
          </a:p>
        </p:txBody>
      </p:sp>
      <p:sp>
        <p:nvSpPr>
          <p:cNvPr id="8" name="Akış Çizelgesi: Bağlayıcı 7"/>
          <p:cNvSpPr/>
          <p:nvPr/>
        </p:nvSpPr>
        <p:spPr>
          <a:xfrm>
            <a:off x="6354116" y="2865692"/>
            <a:ext cx="297662" cy="259331"/>
          </a:xfrm>
          <a:prstGeom prst="flowChartConnector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dirty="0"/>
              <a:t>4</a:t>
            </a:r>
          </a:p>
        </p:txBody>
      </p:sp>
      <p:sp>
        <p:nvSpPr>
          <p:cNvPr id="25" name="Akış Çizelgesi: Bağlayıcı 24"/>
          <p:cNvSpPr/>
          <p:nvPr/>
        </p:nvSpPr>
        <p:spPr>
          <a:xfrm>
            <a:off x="583547" y="4376057"/>
            <a:ext cx="274320" cy="283046"/>
          </a:xfrm>
          <a:prstGeom prst="flowChartConnector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dirty="0"/>
              <a:t>1</a:t>
            </a:r>
          </a:p>
        </p:txBody>
      </p:sp>
      <p:sp>
        <p:nvSpPr>
          <p:cNvPr id="26" name="Sağ Ok 25"/>
          <p:cNvSpPr/>
          <p:nvPr/>
        </p:nvSpPr>
        <p:spPr>
          <a:xfrm>
            <a:off x="1003700" y="4376057"/>
            <a:ext cx="498530" cy="28304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7" name="Akış Çizelgesi: Bağlayıcı 26"/>
          <p:cNvSpPr/>
          <p:nvPr/>
        </p:nvSpPr>
        <p:spPr>
          <a:xfrm>
            <a:off x="559561" y="4859383"/>
            <a:ext cx="298306" cy="300446"/>
          </a:xfrm>
          <a:prstGeom prst="flowChartConnector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/>
              <a:t>2</a:t>
            </a:r>
          </a:p>
        </p:txBody>
      </p:sp>
      <p:sp>
        <p:nvSpPr>
          <p:cNvPr id="28" name="Sağ Ok 27"/>
          <p:cNvSpPr/>
          <p:nvPr/>
        </p:nvSpPr>
        <p:spPr>
          <a:xfrm>
            <a:off x="988494" y="4859384"/>
            <a:ext cx="513736" cy="30044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30" name="Akış Çizelgesi: Bağlayıcı 29"/>
          <p:cNvSpPr/>
          <p:nvPr/>
        </p:nvSpPr>
        <p:spPr>
          <a:xfrm>
            <a:off x="532366" y="5329323"/>
            <a:ext cx="325502" cy="333050"/>
          </a:xfrm>
          <a:prstGeom prst="flowChartConnector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/>
              <a:t>3</a:t>
            </a:r>
          </a:p>
        </p:txBody>
      </p:sp>
      <p:sp>
        <p:nvSpPr>
          <p:cNvPr id="31" name="Sağ Ok 30"/>
          <p:cNvSpPr/>
          <p:nvPr/>
        </p:nvSpPr>
        <p:spPr>
          <a:xfrm>
            <a:off x="988495" y="5329323"/>
            <a:ext cx="513736" cy="33305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32" name="Akış Çizelgesi: Bağlayıcı 31"/>
          <p:cNvSpPr/>
          <p:nvPr/>
        </p:nvSpPr>
        <p:spPr>
          <a:xfrm>
            <a:off x="532366" y="5830049"/>
            <a:ext cx="325501" cy="315650"/>
          </a:xfrm>
          <a:prstGeom prst="flowChartConnector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dirty="0"/>
              <a:t>4</a:t>
            </a:r>
          </a:p>
        </p:txBody>
      </p:sp>
      <p:sp>
        <p:nvSpPr>
          <p:cNvPr id="33" name="Sağ Ok 32"/>
          <p:cNvSpPr/>
          <p:nvPr/>
        </p:nvSpPr>
        <p:spPr>
          <a:xfrm>
            <a:off x="988493" y="5806439"/>
            <a:ext cx="509450" cy="33926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34" name="5-Nokta Yıldız 33"/>
          <p:cNvSpPr/>
          <p:nvPr/>
        </p:nvSpPr>
        <p:spPr>
          <a:xfrm>
            <a:off x="1050706" y="3814042"/>
            <a:ext cx="447237" cy="35883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xmlns="" val="457849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1">
                <a:lumMod val="45000"/>
                <a:lumOff val="55000"/>
              </a:scheme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Unvan 5"/>
          <p:cNvSpPr>
            <a:spLocks noGrp="1"/>
          </p:cNvSpPr>
          <p:nvPr>
            <p:ph type="title"/>
          </p:nvPr>
        </p:nvSpPr>
        <p:spPr>
          <a:xfrm>
            <a:off x="773949" y="620593"/>
            <a:ext cx="9470486" cy="788483"/>
          </a:xfrm>
        </p:spPr>
        <p:txBody>
          <a:bodyPr/>
          <a:lstStyle/>
          <a:p>
            <a:r>
              <a:rPr lang="tr-TR" dirty="0" err="1" smtClean="0"/>
              <a:t>Output</a:t>
            </a:r>
            <a:r>
              <a:rPr lang="tr-TR" dirty="0" smtClean="0"/>
              <a:t>:</a:t>
            </a:r>
            <a:endParaRPr lang="tr-TR" dirty="0"/>
          </a:p>
        </p:txBody>
      </p:sp>
      <p:pic>
        <p:nvPicPr>
          <p:cNvPr id="9" name="İçerik Yer Tutucusu 8"/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773949" y="1528997"/>
            <a:ext cx="7003878" cy="4845291"/>
          </a:xfrm>
        </p:spPr>
      </p:pic>
      <p:sp>
        <p:nvSpPr>
          <p:cNvPr id="8" name="İçerik Yer Tutucusu 7"/>
          <p:cNvSpPr>
            <a:spLocks noGrp="1"/>
          </p:cNvSpPr>
          <p:nvPr>
            <p:ph sz="half" idx="2"/>
          </p:nvPr>
        </p:nvSpPr>
        <p:spPr>
          <a:xfrm>
            <a:off x="584615" y="1528997"/>
            <a:ext cx="3147935" cy="4601980"/>
          </a:xfrm>
        </p:spPr>
        <p:txBody>
          <a:bodyPr/>
          <a:lstStyle/>
          <a:p>
            <a:endParaRPr lang="tr-TR" dirty="0" smtClean="0"/>
          </a:p>
          <a:p>
            <a:pPr marL="0" indent="0">
              <a:buNone/>
            </a:pPr>
            <a:r>
              <a:rPr lang="tr-TR" dirty="0" smtClean="0"/>
              <a:t> </a:t>
            </a:r>
            <a:endParaRPr lang="tr-TR" dirty="0"/>
          </a:p>
        </p:txBody>
      </p:sp>
      <p:sp>
        <p:nvSpPr>
          <p:cNvPr id="7" name="Sağ Ok 6"/>
          <p:cNvSpPr/>
          <p:nvPr/>
        </p:nvSpPr>
        <p:spPr>
          <a:xfrm>
            <a:off x="299681" y="2076994"/>
            <a:ext cx="569868" cy="143691"/>
          </a:xfrm>
          <a:prstGeom prst="rightArrow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0" name="Sağ Ok 9"/>
          <p:cNvSpPr/>
          <p:nvPr/>
        </p:nvSpPr>
        <p:spPr>
          <a:xfrm>
            <a:off x="299681" y="2769327"/>
            <a:ext cx="569868" cy="182880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1" name="Sağ Ok 10"/>
          <p:cNvSpPr/>
          <p:nvPr/>
        </p:nvSpPr>
        <p:spPr>
          <a:xfrm>
            <a:off x="299681" y="3095897"/>
            <a:ext cx="569868" cy="169817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xmlns="" val="1400744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297833" y="0"/>
            <a:ext cx="10523438" cy="1181871"/>
          </a:xfrm>
        </p:spPr>
        <p:txBody>
          <a:bodyPr/>
          <a:lstStyle/>
          <a:p>
            <a:r>
              <a:rPr lang="tr-TR" dirty="0"/>
              <a:t>EXAMPLE CODE </a:t>
            </a:r>
            <a:r>
              <a:rPr lang="tr-TR" dirty="0" smtClean="0"/>
              <a:t>2:</a:t>
            </a:r>
            <a:endParaRPr lang="tr-TR" dirty="0"/>
          </a:p>
        </p:txBody>
      </p:sp>
      <p:sp>
        <p:nvSpPr>
          <p:cNvPr id="5" name="İçerik Yer Tutucusu 4"/>
          <p:cNvSpPr>
            <a:spLocks noGrp="1"/>
          </p:cNvSpPr>
          <p:nvPr>
            <p:ph idx="1"/>
          </p:nvPr>
        </p:nvSpPr>
        <p:spPr>
          <a:xfrm>
            <a:off x="297833" y="1410790"/>
            <a:ext cx="9559399" cy="4769348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/>
              <a:t>Find the output of the program implemented in assembly language. </a:t>
            </a:r>
            <a:endParaRPr lang="tr-TR" sz="2000" dirty="0"/>
          </a:p>
          <a:p>
            <a:pPr marL="0" indent="0">
              <a:buNone/>
            </a:pPr>
            <a:endParaRPr lang="tr-TR" dirty="0"/>
          </a:p>
        </p:txBody>
      </p:sp>
      <p:pic>
        <p:nvPicPr>
          <p:cNvPr id="6" name="Resim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834641" y="2121457"/>
            <a:ext cx="4255708" cy="4195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220241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Unvan 27"/>
          <p:cNvSpPr>
            <a:spLocks noGrp="1"/>
          </p:cNvSpPr>
          <p:nvPr>
            <p:ph type="title"/>
          </p:nvPr>
        </p:nvSpPr>
        <p:spPr>
          <a:xfrm>
            <a:off x="624081" y="157877"/>
            <a:ext cx="2398428" cy="659569"/>
          </a:xfrm>
        </p:spPr>
        <p:txBody>
          <a:bodyPr>
            <a:noAutofit/>
          </a:bodyPr>
          <a:lstStyle/>
          <a:p>
            <a:r>
              <a:rPr lang="tr-TR" sz="2400" b="1" dirty="0" smtClean="0"/>
              <a:t>ANSWER: </a:t>
            </a:r>
            <a:endParaRPr lang="tr-TR" sz="2400" b="1" dirty="0"/>
          </a:p>
        </p:txBody>
      </p:sp>
      <p:sp>
        <p:nvSpPr>
          <p:cNvPr id="29" name="Metin Yer Tutucusu 28"/>
          <p:cNvSpPr>
            <a:spLocks noGrp="1"/>
          </p:cNvSpPr>
          <p:nvPr>
            <p:ph type="body" idx="1"/>
          </p:nvPr>
        </p:nvSpPr>
        <p:spPr>
          <a:xfrm>
            <a:off x="4330663" y="5303888"/>
            <a:ext cx="2427404" cy="579115"/>
          </a:xfrm>
        </p:spPr>
        <p:txBody>
          <a:bodyPr>
            <a:noAutofit/>
          </a:bodyPr>
          <a:lstStyle/>
          <a:p>
            <a:r>
              <a:rPr lang="tr-TR" b="1" dirty="0" smtClean="0">
                <a:solidFill>
                  <a:schemeClr val="tx1"/>
                </a:solidFill>
              </a:rPr>
              <a:t>34 + EF = 123</a:t>
            </a:r>
            <a:endParaRPr lang="tr-TR" b="1" dirty="0">
              <a:solidFill>
                <a:schemeClr val="tx1"/>
              </a:solidFill>
            </a:endParaRPr>
          </a:p>
        </p:txBody>
      </p:sp>
      <p:pic>
        <p:nvPicPr>
          <p:cNvPr id="4" name="İçerik Yer Tutucusu 3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47192" y="1051736"/>
            <a:ext cx="3795221" cy="3477880"/>
          </a:xfrm>
        </p:spPr>
      </p:pic>
      <p:sp>
        <p:nvSpPr>
          <p:cNvPr id="30" name="Metin Yer Tutucusu 29"/>
          <p:cNvSpPr>
            <a:spLocks noGrp="1"/>
          </p:cNvSpPr>
          <p:nvPr>
            <p:ph type="body" sz="quarter" idx="3"/>
          </p:nvPr>
        </p:nvSpPr>
        <p:spPr>
          <a:xfrm>
            <a:off x="4935443" y="6094765"/>
            <a:ext cx="817237" cy="292601"/>
          </a:xfrm>
        </p:spPr>
        <p:txBody>
          <a:bodyPr>
            <a:normAutofit/>
          </a:bodyPr>
          <a:lstStyle/>
          <a:p>
            <a:r>
              <a:rPr lang="tr-TR" sz="1200" dirty="0" smtClean="0"/>
              <a:t>CARRY</a:t>
            </a:r>
            <a:endParaRPr lang="tr-TR" sz="1200" dirty="0"/>
          </a:p>
        </p:txBody>
      </p:sp>
      <p:pic>
        <p:nvPicPr>
          <p:cNvPr id="7" name="İçerik Yer Tutucusu 6"/>
          <p:cNvPicPr>
            <a:picLocks noGrp="1" noChangeAspect="1"/>
          </p:cNvPicPr>
          <p:nvPr>
            <p:ph sz="quarter" idx="4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370820" y="2173044"/>
            <a:ext cx="4481512" cy="960860"/>
          </a:xfrm>
        </p:spPr>
      </p:pic>
      <p:sp>
        <p:nvSpPr>
          <p:cNvPr id="55" name="Yukarı Bükülü Ok 54"/>
          <p:cNvSpPr/>
          <p:nvPr/>
        </p:nvSpPr>
        <p:spPr>
          <a:xfrm>
            <a:off x="4155369" y="3670702"/>
            <a:ext cx="5906124" cy="693574"/>
          </a:xfrm>
          <a:prstGeom prst="bent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56" name="Yukarı Bükülü Ok 55"/>
          <p:cNvSpPr/>
          <p:nvPr/>
        </p:nvSpPr>
        <p:spPr>
          <a:xfrm>
            <a:off x="4155369" y="3337836"/>
            <a:ext cx="5066676" cy="480431"/>
          </a:xfrm>
          <a:prstGeom prst="bent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59" name="Yukarı Bükülü Ok 58"/>
          <p:cNvSpPr/>
          <p:nvPr/>
        </p:nvSpPr>
        <p:spPr>
          <a:xfrm flipV="1">
            <a:off x="4155369" y="1348957"/>
            <a:ext cx="3623829" cy="389213"/>
          </a:xfrm>
          <a:prstGeom prst="bent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60" name="Yukarı Bükülü Ok 59"/>
          <p:cNvSpPr/>
          <p:nvPr/>
        </p:nvSpPr>
        <p:spPr>
          <a:xfrm flipV="1">
            <a:off x="4155369" y="1064903"/>
            <a:ext cx="2845038" cy="636814"/>
          </a:xfrm>
          <a:prstGeom prst="ben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62" name="Yukarı Bükülü Ok 61"/>
          <p:cNvSpPr/>
          <p:nvPr/>
        </p:nvSpPr>
        <p:spPr>
          <a:xfrm>
            <a:off x="4155369" y="3167926"/>
            <a:ext cx="4122295" cy="298844"/>
          </a:xfrm>
          <a:prstGeom prst="bent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graphicFrame>
        <p:nvGraphicFramePr>
          <p:cNvPr id="63" name="Tablo 6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68295427"/>
              </p:ext>
            </p:extLst>
          </p:nvPr>
        </p:nvGraphicFramePr>
        <p:xfrm>
          <a:off x="6370820" y="1786672"/>
          <a:ext cx="3912431" cy="366916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782486">
                  <a:extLst>
                    <a:ext uri="{9D8B030D-6E8A-4147-A177-3AD203B41FA5}">
                      <a16:colId xmlns:a16="http://schemas.microsoft.com/office/drawing/2014/main" xmlns="" val="3572992713"/>
                    </a:ext>
                  </a:extLst>
                </a:gridCol>
                <a:gridCol w="782486">
                  <a:extLst>
                    <a:ext uri="{9D8B030D-6E8A-4147-A177-3AD203B41FA5}">
                      <a16:colId xmlns:a16="http://schemas.microsoft.com/office/drawing/2014/main" xmlns="" val="307604710"/>
                    </a:ext>
                  </a:extLst>
                </a:gridCol>
                <a:gridCol w="714203">
                  <a:extLst>
                    <a:ext uri="{9D8B030D-6E8A-4147-A177-3AD203B41FA5}">
                      <a16:colId xmlns:a16="http://schemas.microsoft.com/office/drawing/2014/main" xmlns="" val="1317312107"/>
                    </a:ext>
                  </a:extLst>
                </a:gridCol>
                <a:gridCol w="850770">
                  <a:extLst>
                    <a:ext uri="{9D8B030D-6E8A-4147-A177-3AD203B41FA5}">
                      <a16:colId xmlns:a16="http://schemas.microsoft.com/office/drawing/2014/main" xmlns="" val="1923603750"/>
                    </a:ext>
                  </a:extLst>
                </a:gridCol>
                <a:gridCol w="782486">
                  <a:extLst>
                    <a:ext uri="{9D8B030D-6E8A-4147-A177-3AD203B41FA5}">
                      <a16:colId xmlns:a16="http://schemas.microsoft.com/office/drawing/2014/main" xmlns="" val="3360203475"/>
                    </a:ext>
                  </a:extLst>
                </a:gridCol>
              </a:tblGrid>
              <a:tr h="366916">
                <a:tc>
                  <a:txBody>
                    <a:bodyPr/>
                    <a:lstStyle/>
                    <a:p>
                      <a:r>
                        <a:rPr lang="tr-TR" sz="1400" dirty="0" smtClean="0"/>
                        <a:t>Line1</a:t>
                      </a:r>
                      <a:endParaRPr lang="tr-T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400" dirty="0" smtClean="0"/>
                        <a:t>Line2</a:t>
                      </a:r>
                      <a:endParaRPr lang="tr-T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400" dirty="0" smtClean="0"/>
                        <a:t>Line</a:t>
                      </a:r>
                      <a:r>
                        <a:rPr lang="tr-TR" sz="1400" baseline="0" dirty="0" smtClean="0"/>
                        <a:t>3</a:t>
                      </a:r>
                      <a:endParaRPr lang="tr-T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400" dirty="0" smtClean="0"/>
                        <a:t>Line4</a:t>
                      </a:r>
                      <a:endParaRPr lang="tr-T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400" dirty="0" smtClean="0"/>
                        <a:t>Line5</a:t>
                      </a:r>
                      <a:endParaRPr lang="tr-T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029825470"/>
                  </a:ext>
                </a:extLst>
              </a:tr>
            </a:tbl>
          </a:graphicData>
        </a:graphic>
      </p:graphicFrame>
      <p:pic>
        <p:nvPicPr>
          <p:cNvPr id="65" name="Resim 6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47192" y="5371296"/>
            <a:ext cx="2591162" cy="762106"/>
          </a:xfrm>
          <a:prstGeom prst="rect">
            <a:avLst/>
          </a:prstGeom>
        </p:spPr>
      </p:pic>
      <p:sp>
        <p:nvSpPr>
          <p:cNvPr id="66" name="Sağ Ok 65"/>
          <p:cNvSpPr/>
          <p:nvPr/>
        </p:nvSpPr>
        <p:spPr>
          <a:xfrm>
            <a:off x="3127750" y="5435415"/>
            <a:ext cx="978408" cy="484632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cxnSp>
        <p:nvCxnSpPr>
          <p:cNvPr id="68" name="Düz Ok Bağlayıcısı 67"/>
          <p:cNvCxnSpPr/>
          <p:nvPr/>
        </p:nvCxnSpPr>
        <p:spPr>
          <a:xfrm flipH="1">
            <a:off x="5544365" y="5883003"/>
            <a:ext cx="208315" cy="2117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pic>
        <p:nvPicPr>
          <p:cNvPr id="69" name="Resim 6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7190887" y="4821116"/>
            <a:ext cx="3744207" cy="1544003"/>
          </a:xfrm>
          <a:prstGeom prst="rect">
            <a:avLst/>
          </a:prstGeom>
        </p:spPr>
      </p:pic>
      <p:sp>
        <p:nvSpPr>
          <p:cNvPr id="70" name="Sağ Ok 69"/>
          <p:cNvSpPr/>
          <p:nvPr/>
        </p:nvSpPr>
        <p:spPr>
          <a:xfrm>
            <a:off x="6278382" y="5464376"/>
            <a:ext cx="685156" cy="455671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xmlns="" val="1376897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3556299" y="2819477"/>
            <a:ext cx="2682279" cy="696165"/>
          </a:xfrm>
        </p:spPr>
        <p:txBody>
          <a:bodyPr>
            <a:normAutofit/>
          </a:bodyPr>
          <a:lstStyle/>
          <a:p>
            <a:r>
              <a:rPr lang="tr-TR" b="1" dirty="0" smtClean="0"/>
              <a:t>1 + 12 + 12 = </a:t>
            </a:r>
            <a:r>
              <a:rPr lang="tr-TR" b="1" dirty="0" smtClean="0">
                <a:solidFill>
                  <a:schemeClr val="accent3">
                    <a:lumMod val="50000"/>
                  </a:schemeClr>
                </a:solidFill>
              </a:rPr>
              <a:t>25</a:t>
            </a:r>
            <a:endParaRPr lang="tr-TR" b="1" dirty="0">
              <a:solidFill>
                <a:schemeClr val="accent3">
                  <a:lumMod val="50000"/>
                </a:schemeClr>
              </a:solidFill>
            </a:endParaRPr>
          </a:p>
        </p:txBody>
      </p:sp>
      <p:pic>
        <p:nvPicPr>
          <p:cNvPr id="7" name="İçerik Yer Tutucusu 6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60123" y="709285"/>
            <a:ext cx="3168141" cy="784346"/>
          </a:xfrm>
        </p:spPr>
      </p:pic>
      <p:sp>
        <p:nvSpPr>
          <p:cNvPr id="5" name="Metin Yer Tutucusu 4"/>
          <p:cNvSpPr>
            <a:spLocks noGrp="1"/>
          </p:cNvSpPr>
          <p:nvPr>
            <p:ph type="body" sz="quarter" idx="3"/>
          </p:nvPr>
        </p:nvSpPr>
        <p:spPr>
          <a:xfrm>
            <a:off x="3774769" y="4936565"/>
            <a:ext cx="4480560" cy="731520"/>
          </a:xfrm>
        </p:spPr>
        <p:txBody>
          <a:bodyPr/>
          <a:lstStyle/>
          <a:p>
            <a:r>
              <a:rPr lang="tr-TR" b="1" dirty="0" smtClean="0"/>
              <a:t>OUTPUT : 25</a:t>
            </a:r>
            <a:endParaRPr lang="tr-TR" b="1" dirty="0"/>
          </a:p>
        </p:txBody>
      </p:sp>
      <p:pic>
        <p:nvPicPr>
          <p:cNvPr id="10" name="İçerik Yer Tutucusu 9"/>
          <p:cNvPicPr>
            <a:picLocks noGrp="1" noChangeAspect="1"/>
          </p:cNvPicPr>
          <p:nvPr>
            <p:ph sz="quarter" idx="4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238578" y="290314"/>
            <a:ext cx="4256364" cy="2106167"/>
          </a:xfrm>
        </p:spPr>
      </p:pic>
      <p:cxnSp>
        <p:nvCxnSpPr>
          <p:cNvPr id="9" name="Düz Ok Bağlayıcısı 8"/>
          <p:cNvCxnSpPr/>
          <p:nvPr/>
        </p:nvCxnSpPr>
        <p:spPr>
          <a:xfrm flipV="1">
            <a:off x="3780100" y="1146429"/>
            <a:ext cx="1693888" cy="1499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" name="Düz Ok Bağlayıcısı 11"/>
          <p:cNvCxnSpPr/>
          <p:nvPr/>
        </p:nvCxnSpPr>
        <p:spPr>
          <a:xfrm>
            <a:off x="7412639" y="1224676"/>
            <a:ext cx="1843790" cy="97795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pic>
        <p:nvPicPr>
          <p:cNvPr id="19" name="Resim 1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60123" y="3259420"/>
            <a:ext cx="3168141" cy="718698"/>
          </a:xfrm>
          <a:prstGeom prst="rect">
            <a:avLst/>
          </a:prstGeom>
        </p:spPr>
      </p:pic>
      <p:cxnSp>
        <p:nvCxnSpPr>
          <p:cNvPr id="21" name="Düz Ok Bağlayıcısı 20"/>
          <p:cNvCxnSpPr/>
          <p:nvPr/>
        </p:nvCxnSpPr>
        <p:spPr>
          <a:xfrm>
            <a:off x="3870461" y="3618769"/>
            <a:ext cx="159195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35" name="Resim 3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015049" y="2934154"/>
            <a:ext cx="4942764" cy="3414849"/>
          </a:xfrm>
          <a:prstGeom prst="rect">
            <a:avLst/>
          </a:prstGeom>
        </p:spPr>
      </p:pic>
      <p:pic>
        <p:nvPicPr>
          <p:cNvPr id="36" name="Resim 3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60123" y="5173700"/>
            <a:ext cx="3196176" cy="943107"/>
          </a:xfrm>
          <a:prstGeom prst="rect">
            <a:avLst/>
          </a:prstGeom>
        </p:spPr>
      </p:pic>
      <p:cxnSp>
        <p:nvCxnSpPr>
          <p:cNvPr id="38" name="Düz Ok Bağlayıcısı 37"/>
          <p:cNvCxnSpPr/>
          <p:nvPr/>
        </p:nvCxnSpPr>
        <p:spPr>
          <a:xfrm>
            <a:off x="3870461" y="5771213"/>
            <a:ext cx="1591955" cy="1499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6" name="Yukarı Bükülü Ok 45"/>
          <p:cNvSpPr/>
          <p:nvPr/>
        </p:nvSpPr>
        <p:spPr>
          <a:xfrm flipH="1" flipV="1">
            <a:off x="7062369" y="5561350"/>
            <a:ext cx="2456384" cy="344773"/>
          </a:xfrm>
          <a:prstGeom prst="bentUpArrow">
            <a:avLst>
              <a:gd name="adj1" fmla="val 50000"/>
              <a:gd name="adj2" fmla="val 50000"/>
              <a:gd name="adj3" fmla="val 36404"/>
            </a:avLst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cxnSp>
        <p:nvCxnSpPr>
          <p:cNvPr id="48" name="Düz Ok Bağlayıcısı 47"/>
          <p:cNvCxnSpPr/>
          <p:nvPr/>
        </p:nvCxnSpPr>
        <p:spPr>
          <a:xfrm>
            <a:off x="9099030" y="3978118"/>
            <a:ext cx="644577" cy="95844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0" name="Düz Ok Bağlayıcısı 49"/>
          <p:cNvCxnSpPr/>
          <p:nvPr/>
        </p:nvCxnSpPr>
        <p:spPr>
          <a:xfrm flipV="1">
            <a:off x="10133351" y="4407108"/>
            <a:ext cx="361591" cy="61656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1" name="Aşağı Bükülü Ok 50"/>
          <p:cNvSpPr/>
          <p:nvPr/>
        </p:nvSpPr>
        <p:spPr>
          <a:xfrm rot="5400000">
            <a:off x="10223194" y="5341634"/>
            <a:ext cx="301761" cy="387650"/>
          </a:xfrm>
          <a:prstGeom prst="curved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2272239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1156940" y="534399"/>
            <a:ext cx="9418321" cy="1653630"/>
          </a:xfrm>
        </p:spPr>
        <p:txBody>
          <a:bodyPr>
            <a:normAutofit/>
          </a:bodyPr>
          <a:lstStyle/>
          <a:p>
            <a:r>
              <a:rPr lang="tr-TR" sz="5400" dirty="0" smtClean="0"/>
              <a:t>REFERENCE </a:t>
            </a:r>
            <a:endParaRPr lang="tr-TR" sz="5400" dirty="0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1261872" y="2508069"/>
            <a:ext cx="9418320" cy="3984171"/>
          </a:xfrm>
        </p:spPr>
        <p:txBody>
          <a:bodyPr/>
          <a:lstStyle/>
          <a:p>
            <a:r>
              <a:rPr lang="tr-TR" sz="2400" dirty="0">
                <a:hlinkClick r:id="rId2"/>
              </a:rPr>
              <a:t>https://</a:t>
            </a:r>
            <a:r>
              <a:rPr lang="tr-TR" sz="2400" dirty="0" smtClean="0">
                <a:hlinkClick r:id="rId2"/>
              </a:rPr>
              <a:t>github.com/abbaselmas/aa.bbs.tr</a:t>
            </a:r>
            <a:endParaRPr lang="tr-TR" sz="2400" dirty="0" smtClean="0"/>
          </a:p>
          <a:p>
            <a:r>
              <a:rPr lang="tr-TR" sz="2400" dirty="0">
                <a:hlinkClick r:id="rId3"/>
              </a:rPr>
              <a:t>https://</a:t>
            </a:r>
            <a:r>
              <a:rPr lang="tr-TR" sz="2400" dirty="0" smtClean="0">
                <a:hlinkClick r:id="rId3"/>
              </a:rPr>
              <a:t>www.tutorialspoint.com/assembly_programming/</a:t>
            </a:r>
            <a:endParaRPr lang="tr-TR" sz="2400" dirty="0" smtClean="0"/>
          </a:p>
          <a:p>
            <a:endParaRPr lang="tr-TR" sz="2400" dirty="0"/>
          </a:p>
          <a:p>
            <a:endParaRPr lang="tr-TR" sz="2400" dirty="0" smtClean="0"/>
          </a:p>
          <a:p>
            <a:endParaRPr lang="tr-TR" sz="3200" dirty="0"/>
          </a:p>
          <a:p>
            <a:r>
              <a:rPr lang="tr-TR" sz="3200" dirty="0" smtClean="0"/>
              <a:t>THANK </a:t>
            </a:r>
            <a:r>
              <a:rPr lang="tr-TR" sz="3200" dirty="0"/>
              <a:t>YOU FOR LISTENING.</a:t>
            </a:r>
          </a:p>
          <a:p>
            <a:endParaRPr lang="tr-TR" dirty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206105" y="5460275"/>
            <a:ext cx="1905376" cy="1247404"/>
          </a:xfrm>
          <a:prstGeom prst="rect">
            <a:avLst/>
          </a:prstGeom>
        </p:spPr>
      </p:pic>
      <p:sp>
        <p:nvSpPr>
          <p:cNvPr id="6" name="Sağ Ok 5"/>
          <p:cNvSpPr/>
          <p:nvPr/>
        </p:nvSpPr>
        <p:spPr>
          <a:xfrm>
            <a:off x="723361" y="3148149"/>
            <a:ext cx="538512" cy="32957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7" name="Sağ Ok 6"/>
          <p:cNvSpPr/>
          <p:nvPr/>
        </p:nvSpPr>
        <p:spPr>
          <a:xfrm>
            <a:off x="723360" y="2655721"/>
            <a:ext cx="538511" cy="27698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xmlns="" val="707776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View" id="{BA0EB5A6-F2D4-4F82-977B-64ADEE4A2A69}" vid="{3969A8A2-35DB-4E3B-8885-16FD20568674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Belge" ma:contentTypeID="0x01010022DDE17DC32DC54EB010413460834BFE" ma:contentTypeVersion="2" ma:contentTypeDescription="Yeni belge oluşturun." ma:contentTypeScope="" ma:versionID="f0e3d91972186a053038bdf45065f1ee">
  <xsd:schema xmlns:xsd="http://www.w3.org/2001/XMLSchema" xmlns:xs="http://www.w3.org/2001/XMLSchema" xmlns:p="http://schemas.microsoft.com/office/2006/metadata/properties" xmlns:ns2="ecabdfc0-4a02-4d75-8d22-fdc26463eb0a" targetNamespace="http://schemas.microsoft.com/office/2006/metadata/properties" ma:root="true" ma:fieldsID="b55a7095206caf5b532e4ae8c7c05c5c" ns2:_="">
    <xsd:import namespace="ecabdfc0-4a02-4d75-8d22-fdc26463eb0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abdfc0-4a02-4d75-8d22-fdc26463eb0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İçerik Türü"/>
        <xsd:element ref="dc:title" minOccurs="0" maxOccurs="1" ma:index="4" ma:displayName="Başlık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2248598-67CB-4539-A959-7B950B7B2E87}"/>
</file>

<file path=customXml/itemProps2.xml><?xml version="1.0" encoding="utf-8"?>
<ds:datastoreItem xmlns:ds="http://schemas.openxmlformats.org/officeDocument/2006/customXml" ds:itemID="{806D5DEC-A9D8-4FEF-A7DA-57AD0982F246}"/>
</file>

<file path=customXml/itemProps3.xml><?xml version="1.0" encoding="utf-8"?>
<ds:datastoreItem xmlns:ds="http://schemas.openxmlformats.org/officeDocument/2006/customXml" ds:itemID="{9125C541-5670-4D41-A75C-0358771A8BEB}"/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TM03457515[[fn=Manzara]]</Template>
  <TotalTime>585</TotalTime>
  <Words>151</Words>
  <Application>Microsoft Office PowerPoint</Application>
  <PresentationFormat>Özel</PresentationFormat>
  <Paragraphs>54</Paragraphs>
  <Slides>8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Slayt Başlıkları</vt:lpstr>
      </vt:variant>
      <vt:variant>
        <vt:i4>8</vt:i4>
      </vt:variant>
    </vt:vector>
  </HeadingPairs>
  <TitlesOfParts>
    <vt:vector size="9" baseType="lpstr">
      <vt:lpstr>View</vt:lpstr>
      <vt:lpstr>ASSEMBLY LANGUAGE EXAMPLE CODE</vt:lpstr>
      <vt:lpstr>EXAMPLE CODE 1:</vt:lpstr>
      <vt:lpstr>Slayt 3</vt:lpstr>
      <vt:lpstr>Output:</vt:lpstr>
      <vt:lpstr>EXAMPLE CODE 2:</vt:lpstr>
      <vt:lpstr>ANSWER: </vt:lpstr>
      <vt:lpstr>Slayt 7</vt:lpstr>
      <vt:lpstr>REFERENCE </vt:lpstr>
    </vt:vector>
  </TitlesOfParts>
  <Company>Microsoft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ASSEMBLY LANGUAGE EXAMPLE CODE</dc:title>
  <dc:creator>burcu canbulayt</dc:creator>
  <cp:lastModifiedBy>Fatih Akay</cp:lastModifiedBy>
  <cp:revision>40</cp:revision>
  <dcterms:created xsi:type="dcterms:W3CDTF">2020-10-22T10:16:39Z</dcterms:created>
  <dcterms:modified xsi:type="dcterms:W3CDTF">2020-10-31T07:17:19Z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0x01010022DDE17DC32DC54EB010413460834BFE</vt:lpwstr>
  </property>
</Properties>
</file>