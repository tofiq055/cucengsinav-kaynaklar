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7" r:id="rId10"/>
    <p:sldId id="272" r:id="rId11"/>
    <p:sldId id="269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8" autoAdjust="0"/>
    <p:restoredTop sz="94660"/>
  </p:normalViewPr>
  <p:slideViewPr>
    <p:cSldViewPr snapToGrid="0">
      <p:cViewPr>
        <p:scale>
          <a:sx n="50" d="100"/>
          <a:sy n="50" d="100"/>
        </p:scale>
        <p:origin x="-1404" y="-5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C638AC8F-5A93-4CD3-BEE7-22B1EA8BD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xmlns="" id="{3BF8741F-70C8-43CD-9B11-CF17999AD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GB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xmlns="" id="{34D70B36-1F82-45A2-B543-B9F3FAB1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34A3-EF31-4F6A-BA64-915EC5C6F400}" type="datetimeFigureOut">
              <a:rPr lang="en-GB" smtClean="0"/>
              <a:pPr/>
              <a:t>01/11/2020</a:t>
            </a:fld>
            <a:endParaRPr lang="en-GB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xmlns="" id="{3C308ECA-18F0-443D-BB47-B14845B02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xmlns="" id="{509691B3-D555-4E5B-9CD5-481146CFE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36EC-F874-4F87-94AA-773F2188000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543719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7B1E7627-9917-4594-A848-46A6FE84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AA762556-ABC0-4C95-A320-2FA6D53E6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xmlns="" id="{78C24739-A4C8-4A28-B28C-B4CE5DAF0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34A3-EF31-4F6A-BA64-915EC5C6F400}" type="datetimeFigureOut">
              <a:rPr lang="en-GB" smtClean="0"/>
              <a:pPr/>
              <a:t>01/11/2020</a:t>
            </a:fld>
            <a:endParaRPr lang="en-GB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xmlns="" id="{525CDA81-10E1-4640-A604-9C6BAF79F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xmlns="" id="{48D51EFC-B8B0-4ABC-A211-6144F69A5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36EC-F874-4F87-94AA-773F2188000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91585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7087F0FE-D2FA-42B6-B753-E461EAE9B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xmlns="" id="{FD74D6F2-B750-4C65-9875-E99002EBF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xmlns="" id="{96B25471-9E5C-471C-8A09-F1FB7332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34A3-EF31-4F6A-BA64-915EC5C6F400}" type="datetimeFigureOut">
              <a:rPr lang="en-GB" smtClean="0"/>
              <a:pPr/>
              <a:t>01/11/2020</a:t>
            </a:fld>
            <a:endParaRPr lang="en-GB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xmlns="" id="{D4C7E6B5-0408-41CF-9C7F-E5E75B196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xmlns="" id="{59AFB23E-2E0E-4F9A-A813-F25CB3D29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36EC-F874-4F87-94AA-773F2188000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72200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84BA368F-A87E-4BAD-9C73-96AD91EB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ACE7315F-F125-4A09-BBA8-617D5AE13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xmlns="" id="{75B165BC-4EB8-4D2B-99CC-B22F51756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xmlns="" id="{056CB3E7-DB9C-4795-A9BE-52619863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34A3-EF31-4F6A-BA64-915EC5C6F400}" type="datetimeFigureOut">
              <a:rPr lang="en-GB" smtClean="0"/>
              <a:pPr/>
              <a:t>01/11/2020</a:t>
            </a:fld>
            <a:endParaRPr lang="en-GB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xmlns="" id="{7D41AAFA-88FA-404A-A9EC-6C0A89A88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xmlns="" id="{9C6C558E-F46B-437A-9FE2-5FB3EEFB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36EC-F874-4F87-94AA-773F2188000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50103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311C6228-90F2-4CF0-AE80-DC7D22D90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xmlns="" id="{9A4F6A27-7E0D-420D-982C-DA18BD5EF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xmlns="" id="{BF955FED-94C7-4ED2-89C8-033A120B8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xmlns="" id="{208268AB-76A4-44CF-B3BB-D1C7B4162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xmlns="" id="{540D9D5D-7C0D-420D-BB66-F5EEA4A8D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xmlns="" id="{3054A865-6D43-45B0-B677-CAC537F0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34A3-EF31-4F6A-BA64-915EC5C6F400}" type="datetimeFigureOut">
              <a:rPr lang="en-GB" smtClean="0"/>
              <a:pPr/>
              <a:t>01/11/2020</a:t>
            </a:fld>
            <a:endParaRPr lang="en-GB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xmlns="" id="{0E9DAE6A-23A1-48FF-BAB8-C0E9DC088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xmlns="" id="{EF150FA2-319B-4A2B-A7E6-1E37FB119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36EC-F874-4F87-94AA-773F2188000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957691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0C4F0F0F-DD73-4659-A608-67FC90F5A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xmlns="" id="{D5D88DCA-4179-4054-8C69-A04912C5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34A3-EF31-4F6A-BA64-915EC5C6F400}" type="datetimeFigureOut">
              <a:rPr lang="en-GB" smtClean="0"/>
              <a:pPr/>
              <a:t>01/11/2020</a:t>
            </a:fld>
            <a:endParaRPr lang="en-GB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xmlns="" id="{A1651A46-0B94-4FBF-87D5-2E85EAB7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xmlns="" id="{DCE3083F-F78B-4D0C-82C1-CD3C26B9C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36EC-F874-4F87-94AA-773F2188000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889139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xmlns="" id="{70BA0A53-EB06-4461-9ECB-B9AD9EF29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34A3-EF31-4F6A-BA64-915EC5C6F400}" type="datetimeFigureOut">
              <a:rPr lang="en-GB" smtClean="0"/>
              <a:pPr/>
              <a:t>01/11/2020</a:t>
            </a:fld>
            <a:endParaRPr lang="en-GB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xmlns="" id="{B6A8C6D8-DF18-4A44-B6D2-32C51F86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xmlns="" id="{A8F054F9-AD70-4948-A6A0-77D9E0D4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36EC-F874-4F87-94AA-773F2188000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950712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D6018438-477F-4113-B91F-916E061C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C399CB32-8D35-4521-9D91-9EF5FEAAB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xmlns="" id="{BA51C650-0A04-4D30-AF03-1359A3A15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xmlns="" id="{516D5BA9-BCA8-4B2E-8758-1C446BC74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34A3-EF31-4F6A-BA64-915EC5C6F400}" type="datetimeFigureOut">
              <a:rPr lang="en-GB" smtClean="0"/>
              <a:pPr/>
              <a:t>01/11/2020</a:t>
            </a:fld>
            <a:endParaRPr lang="en-GB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xmlns="" id="{E93D9357-825F-46F4-B328-67C087D96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xmlns="" id="{E08D1AC4-0BF2-4734-B8A5-9E5CF4F13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36EC-F874-4F87-94AA-773F2188000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703125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1D6393FA-A5F4-4061-9541-DE9A6CBB8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xmlns="" id="{48551617-115C-4D58-AFDB-E453AF496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xmlns="" id="{D0565EC2-8977-4F86-936C-201808072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xmlns="" id="{4677E23E-73F8-46A6-A1D8-B3856AAE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34A3-EF31-4F6A-BA64-915EC5C6F400}" type="datetimeFigureOut">
              <a:rPr lang="en-GB" smtClean="0"/>
              <a:pPr/>
              <a:t>01/11/2020</a:t>
            </a:fld>
            <a:endParaRPr lang="en-GB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xmlns="" id="{8884580A-0F65-4E44-B870-3D341A00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xmlns="" id="{1DC15BEB-51ED-47F8-AC7C-7A48B36C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36EC-F874-4F87-94AA-773F2188000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25182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F3F5EB85-6DC3-4C7C-9D3F-61648E523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xmlns="" id="{600A66C2-5A4B-4986-B279-76017A5BE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xmlns="" id="{593922D8-E797-4DCF-A101-20E3FF4B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34A3-EF31-4F6A-BA64-915EC5C6F400}" type="datetimeFigureOut">
              <a:rPr lang="en-GB" smtClean="0"/>
              <a:pPr/>
              <a:t>01/11/2020</a:t>
            </a:fld>
            <a:endParaRPr lang="en-GB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xmlns="" id="{3C49C82A-50D8-4E7A-98CE-1922E6868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xmlns="" id="{E934EE05-8D80-4C8A-B6F0-FC4E4307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36EC-F874-4F87-94AA-773F2188000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390735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xmlns="" id="{54136371-10B8-4683-A994-C9B8B0A00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xmlns="" id="{A3C9D45B-CE12-4A13-8C84-5D26EFFB6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xmlns="" id="{FBFFDF1B-9AA0-47FA-85E2-E5113D19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34A3-EF31-4F6A-BA64-915EC5C6F400}" type="datetimeFigureOut">
              <a:rPr lang="en-GB" smtClean="0"/>
              <a:pPr/>
              <a:t>01/11/2020</a:t>
            </a:fld>
            <a:endParaRPr lang="en-GB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xmlns="" id="{8C97D522-04ED-4843-B13C-69DF9917A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xmlns="" id="{E960146D-DD99-4DC3-BCB4-F785DA67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36EC-F874-4F87-94AA-773F2188000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742081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xmlns="" id="{B15A5618-B31F-4197-907A-932CE57CC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xmlns="" id="{7E78C482-860C-4516-B626-BAC7C86BC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xmlns="" id="{5EF623EA-341A-4939-88DA-D5804C4D1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F34A3-EF31-4F6A-BA64-915EC5C6F400}" type="datetimeFigureOut">
              <a:rPr lang="en-GB" smtClean="0"/>
              <a:pPr/>
              <a:t>01/11/2020</a:t>
            </a:fld>
            <a:endParaRPr lang="en-GB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xmlns="" id="{404F9973-B213-45C2-9299-C565F39F8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xmlns="" id="{4C05D44E-7203-4033-8DBF-B50DFBD1B0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A36EC-F874-4F87-94AA-773F2188000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996030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storage.techtarget.com/definition/virtual-memory" TargetMode="External"/><Relationship Id="rId2" Type="http://schemas.openxmlformats.org/officeDocument/2006/relationships/hyperlink" Target="https://www.enterprisestorageforum.com/storage-hardware/paging-and-segmentation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virtual-memory-in-operating-syste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3962611-DFD5-4092-AAFD-559E3DFC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270F1FA-0425-408F-9861-80BF5AFB2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42C3A6BD-C3A5-4B41-91DF-BDB9CD420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403" y="2777182"/>
            <a:ext cx="6105194" cy="1275425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FFFFFF"/>
                </a:solidFill>
              </a:rPr>
              <a:t>VIRTUAL MEMORY</a:t>
            </a: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41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D292CF73-4427-45EC-BFB1-48782F97F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WHAT IS THE VIRTUAL MEMORY?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F660B69B-C1BE-418A-A2E0-E224FBCB7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Virtual memory is a memory management technique where secondary memory can be used as if it</a:t>
            </a:r>
            <a:r>
              <a:rPr lang="tr-T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is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 part of the main memory. </a:t>
            </a:r>
            <a:endParaRPr lang="tr-TR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Virtual memory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is a very common technique used in the operating systems of computers.</a:t>
            </a:r>
            <a:r>
              <a:rPr lang="en-GB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8" name="Grup 7">
            <a:extLst>
              <a:ext uri="{FF2B5EF4-FFF2-40B4-BE49-F238E27FC236}">
                <a16:creationId xmlns:a16="http://schemas.microsoft.com/office/drawing/2014/main" xmlns="" id="{B5033D21-E6A0-46CA-A1B1-47FAD1B7FAE9}"/>
              </a:ext>
            </a:extLst>
          </p:cNvPr>
          <p:cNvGrpSpPr/>
          <p:nvPr/>
        </p:nvGrpSpPr>
        <p:grpSpPr>
          <a:xfrm>
            <a:off x="10663558" y="-972620"/>
            <a:ext cx="2396996" cy="10559224"/>
            <a:chOff x="10663558" y="-655120"/>
            <a:chExt cx="2396996" cy="10559224"/>
          </a:xfrm>
        </p:grpSpPr>
        <p:sp>
          <p:nvSpPr>
            <p:cNvPr id="9" name="Dikdörtgen 8">
              <a:extLst>
                <a:ext uri="{FF2B5EF4-FFF2-40B4-BE49-F238E27FC236}">
                  <a16:creationId xmlns:a16="http://schemas.microsoft.com/office/drawing/2014/main" xmlns="" id="{C355FC27-F956-4215-8BA2-61CE6E4B53F1}"/>
                </a:ext>
              </a:extLst>
            </p:cNvPr>
            <p:cNvSpPr/>
            <p:nvPr/>
          </p:nvSpPr>
          <p:spPr>
            <a:xfrm rot="705858" flipH="1">
              <a:off x="11489768" y="-655120"/>
              <a:ext cx="934736" cy="8212120"/>
            </a:xfrm>
            <a:prstGeom prst="rect">
              <a:avLst/>
            </a:prstGeom>
            <a:solidFill>
              <a:srgbClr val="BDBC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0" name="Dikdörtgen 9">
              <a:extLst>
                <a:ext uri="{FF2B5EF4-FFF2-40B4-BE49-F238E27FC236}">
                  <a16:creationId xmlns:a16="http://schemas.microsoft.com/office/drawing/2014/main" xmlns="" id="{A07372B9-23B5-431F-8C47-5142E5CFB64C}"/>
                </a:ext>
              </a:extLst>
            </p:cNvPr>
            <p:cNvSpPr/>
            <p:nvPr/>
          </p:nvSpPr>
          <p:spPr>
            <a:xfrm rot="1787388" flipH="1">
              <a:off x="10663558" y="1324874"/>
              <a:ext cx="1208292" cy="8579230"/>
            </a:xfrm>
            <a:prstGeom prst="rect">
              <a:avLst/>
            </a:prstGeom>
            <a:solidFill>
              <a:srgbClr val="676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1" name="Dikdörtgen 10">
              <a:extLst>
                <a:ext uri="{FF2B5EF4-FFF2-40B4-BE49-F238E27FC236}">
                  <a16:creationId xmlns:a16="http://schemas.microsoft.com/office/drawing/2014/main" xmlns="" id="{BF7F54A5-2F5E-4B26-9A8C-07D75DD71FE2}"/>
                </a:ext>
              </a:extLst>
            </p:cNvPr>
            <p:cNvSpPr/>
            <p:nvPr/>
          </p:nvSpPr>
          <p:spPr>
            <a:xfrm rot="983158">
              <a:off x="11492228" y="589045"/>
              <a:ext cx="1568326" cy="7583235"/>
            </a:xfrm>
            <a:prstGeom prst="rect">
              <a:avLst/>
            </a:prstGeom>
            <a:solidFill>
              <a:srgbClr val="0F72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xmlns="" val="124836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45DE7444-7C5D-47D7-8648-2B840FF9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185" y="1454726"/>
            <a:ext cx="7196051" cy="3749039"/>
          </a:xfrm>
        </p:spPr>
        <p:txBody>
          <a:bodyPr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b="0" i="0" dirty="0">
                <a:effectLst/>
                <a:latin typeface="Arial" panose="020B0604020202020204" pitchFamily="34" charset="0"/>
              </a:rPr>
              <a:t>Virtual memory uses hardware and software to allow a computer to compensate for physical memory shortages by temporarily transferring data from random access memory</a:t>
            </a:r>
            <a:r>
              <a:rPr lang="en-GB" sz="28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2800" b="0" i="0" dirty="0">
                <a:effectLst/>
                <a:latin typeface="Arial" panose="020B0604020202020204" pitchFamily="34" charset="0"/>
              </a:rPr>
              <a:t>to disk storage.</a:t>
            </a:r>
            <a:r>
              <a:rPr lang="tr-TR" sz="2800" b="0" i="0" dirty="0">
                <a:effectLst/>
                <a:latin typeface="Arial" panose="020B0604020202020204" pitchFamily="34" charset="0"/>
              </a:rPr>
              <a:t> </a:t>
            </a:r>
            <a:endParaRPr lang="en-GB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553261BA-BBE7-492E-87D9-E2A53760C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356763" y="864523"/>
            <a:ext cx="2957946" cy="45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 3">
            <a:extLst>
              <a:ext uri="{FF2B5EF4-FFF2-40B4-BE49-F238E27FC236}">
                <a16:creationId xmlns:a16="http://schemas.microsoft.com/office/drawing/2014/main" xmlns="" id="{DDFCC308-3118-4C97-89BD-993F5881067D}"/>
              </a:ext>
            </a:extLst>
          </p:cNvPr>
          <p:cNvGrpSpPr/>
          <p:nvPr/>
        </p:nvGrpSpPr>
        <p:grpSpPr>
          <a:xfrm>
            <a:off x="10663558" y="-972620"/>
            <a:ext cx="2396996" cy="10559224"/>
            <a:chOff x="10663558" y="-655120"/>
            <a:chExt cx="2396996" cy="10559224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xmlns="" id="{ACAE3114-5BEA-4054-BDB9-1EE144CAA980}"/>
                </a:ext>
              </a:extLst>
            </p:cNvPr>
            <p:cNvSpPr/>
            <p:nvPr/>
          </p:nvSpPr>
          <p:spPr>
            <a:xfrm rot="705858" flipH="1">
              <a:off x="11489768" y="-655120"/>
              <a:ext cx="934736" cy="8212120"/>
            </a:xfrm>
            <a:prstGeom prst="rect">
              <a:avLst/>
            </a:prstGeom>
            <a:solidFill>
              <a:srgbClr val="BDBC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xmlns="" id="{2EF8F9CA-33A5-47A3-A221-466B8C4546C9}"/>
                </a:ext>
              </a:extLst>
            </p:cNvPr>
            <p:cNvSpPr/>
            <p:nvPr/>
          </p:nvSpPr>
          <p:spPr>
            <a:xfrm rot="1787388" flipH="1">
              <a:off x="10663558" y="1324874"/>
              <a:ext cx="1208292" cy="8579230"/>
            </a:xfrm>
            <a:prstGeom prst="rect">
              <a:avLst/>
            </a:prstGeom>
            <a:solidFill>
              <a:srgbClr val="676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xmlns="" id="{92713350-5761-4BAD-B02D-33AD4B82D17D}"/>
                </a:ext>
              </a:extLst>
            </p:cNvPr>
            <p:cNvSpPr/>
            <p:nvPr/>
          </p:nvSpPr>
          <p:spPr>
            <a:xfrm rot="983158">
              <a:off x="11492228" y="589045"/>
              <a:ext cx="1568326" cy="7583235"/>
            </a:xfrm>
            <a:prstGeom prst="rect">
              <a:avLst/>
            </a:prstGeom>
            <a:solidFill>
              <a:srgbClr val="0F72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xmlns="" val="2125021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>
            <a:extLst>
              <a:ext uri="{FF2B5EF4-FFF2-40B4-BE49-F238E27FC236}">
                <a16:creationId xmlns:a16="http://schemas.microsoft.com/office/drawing/2014/main" xmlns="" id="{3A2D6610-65A4-488C-BE05-AE4408999593}"/>
              </a:ext>
            </a:extLst>
          </p:cNvPr>
          <p:cNvGrpSpPr/>
          <p:nvPr/>
        </p:nvGrpSpPr>
        <p:grpSpPr>
          <a:xfrm>
            <a:off x="10663558" y="-972620"/>
            <a:ext cx="2396996" cy="10559224"/>
            <a:chOff x="10663558" y="-655120"/>
            <a:chExt cx="2396996" cy="10559224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xmlns="" id="{9C23E14D-8729-4E11-ADFE-6090236641D1}"/>
                </a:ext>
              </a:extLst>
            </p:cNvPr>
            <p:cNvSpPr/>
            <p:nvPr/>
          </p:nvSpPr>
          <p:spPr>
            <a:xfrm rot="705858" flipH="1">
              <a:off x="11489768" y="-655120"/>
              <a:ext cx="934736" cy="8212120"/>
            </a:xfrm>
            <a:prstGeom prst="rect">
              <a:avLst/>
            </a:prstGeom>
            <a:solidFill>
              <a:srgbClr val="BDBC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xmlns="" id="{566E56F3-DF23-4D97-8305-240F366E66C1}"/>
                </a:ext>
              </a:extLst>
            </p:cNvPr>
            <p:cNvSpPr/>
            <p:nvPr/>
          </p:nvSpPr>
          <p:spPr>
            <a:xfrm rot="1787388" flipH="1">
              <a:off x="10663558" y="1324874"/>
              <a:ext cx="1208292" cy="8579230"/>
            </a:xfrm>
            <a:prstGeom prst="rect">
              <a:avLst/>
            </a:prstGeom>
            <a:solidFill>
              <a:srgbClr val="676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xmlns="" id="{17CC4200-B43A-4654-8490-F8F18CD029E5}"/>
                </a:ext>
              </a:extLst>
            </p:cNvPr>
            <p:cNvSpPr/>
            <p:nvPr/>
          </p:nvSpPr>
          <p:spPr>
            <a:xfrm rot="983158">
              <a:off x="11492228" y="589045"/>
              <a:ext cx="1568326" cy="7583235"/>
            </a:xfrm>
            <a:prstGeom prst="rect">
              <a:avLst/>
            </a:prstGeom>
            <a:solidFill>
              <a:srgbClr val="0F72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871B92A3-13BF-43C5-B855-1A0434F8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HOW VIRTUAL MEMORY WORKS?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DDEC9485-2E4C-44B0-95B5-815CEAAF0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GB" b="0" i="0" dirty="0">
                <a:effectLst/>
                <a:latin typeface="Arial" panose="020B0604020202020204" pitchFamily="34" charset="0"/>
              </a:rPr>
              <a:t>Virtual memory uses both computer hardware and software to work. When an application is in use</a:t>
            </a:r>
            <a:r>
              <a:rPr lang="tr-TR" b="0" i="0" dirty="0">
                <a:effectLst/>
                <a:latin typeface="Arial" panose="020B0604020202020204" pitchFamily="34" charset="0"/>
              </a:rPr>
              <a:t>d</a:t>
            </a:r>
            <a:r>
              <a:rPr lang="en-GB" b="0" i="0" dirty="0">
                <a:effectLst/>
                <a:latin typeface="Arial" panose="020B0604020202020204" pitchFamily="34" charset="0"/>
              </a:rPr>
              <a:t>, data from that program is stored in a physical address using RAM. More specifically, </a:t>
            </a:r>
            <a:r>
              <a:rPr lang="tr-TR" b="0" i="0" dirty="0">
                <a:effectLst/>
                <a:latin typeface="Arial" panose="020B0604020202020204" pitchFamily="34" charset="0"/>
              </a:rPr>
              <a:t>v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irtual</a:t>
            </a:r>
            <a:r>
              <a:rPr lang="en-GB" b="0" i="0" dirty="0">
                <a:effectLst/>
                <a:latin typeface="Arial" panose="020B0604020202020204" pitchFamily="34" charset="0"/>
              </a:rPr>
              <a:t> memory will map that address to RAM using a memory management unit </a:t>
            </a:r>
            <a:r>
              <a:rPr lang="tr-TR" b="0" i="0" dirty="0">
                <a:effectLst/>
                <a:latin typeface="Arial" panose="020B0604020202020204" pitchFamily="34" charset="0"/>
              </a:rPr>
              <a:t>.</a:t>
            </a:r>
            <a:r>
              <a:rPr lang="en-GB" b="0" i="0" dirty="0">
                <a:effectLst/>
                <a:latin typeface="Arial" panose="020B0604020202020204" pitchFamily="34" charset="0"/>
              </a:rPr>
              <a:t>The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operating</a:t>
            </a:r>
            <a:r>
              <a:rPr lang="tr-TR" b="0" i="0" dirty="0">
                <a:effectLst/>
                <a:latin typeface="Arial" panose="020B0604020202020204" pitchFamily="34" charset="0"/>
              </a:rPr>
              <a:t>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systems</a:t>
            </a:r>
            <a:r>
              <a:rPr lang="en-GB" b="0" i="0" dirty="0">
                <a:effectLst/>
                <a:latin typeface="Arial" panose="020B0604020202020204" pitchFamily="34" charset="0"/>
              </a:rPr>
              <a:t> will make and manage memory mappings by using page tables and other data structures. The</a:t>
            </a:r>
            <a:r>
              <a:rPr lang="tr-TR" b="0" i="0" dirty="0">
                <a:effectLst/>
                <a:latin typeface="Arial" panose="020B0604020202020204" pitchFamily="34" charset="0"/>
              </a:rPr>
              <a:t>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memory</a:t>
            </a:r>
            <a:r>
              <a:rPr lang="tr-TR" b="0" i="0" dirty="0">
                <a:effectLst/>
                <a:latin typeface="Arial" panose="020B0604020202020204" pitchFamily="34" charset="0"/>
              </a:rPr>
              <a:t>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management</a:t>
            </a:r>
            <a:r>
              <a:rPr lang="tr-TR" b="0" i="0" dirty="0">
                <a:effectLst/>
                <a:latin typeface="Arial" panose="020B0604020202020204" pitchFamily="34" charset="0"/>
              </a:rPr>
              <a:t>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unit</a:t>
            </a:r>
            <a:r>
              <a:rPr lang="en-GB" b="0" i="0" dirty="0">
                <a:effectLst/>
                <a:latin typeface="Arial" panose="020B0604020202020204" pitchFamily="34" charset="0"/>
              </a:rPr>
              <a:t>, which acts as an address translation hardware, will 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automaticall</a:t>
            </a:r>
            <a:r>
              <a:rPr lang="tr-TR" dirty="0">
                <a:latin typeface="Arial" panose="020B0604020202020204" pitchFamily="34" charset="0"/>
              </a:rPr>
              <a:t>y</a:t>
            </a:r>
            <a:r>
              <a:rPr lang="en-GB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>
                <a:effectLst/>
                <a:latin typeface="Arial" panose="020B0604020202020204" pitchFamily="34" charset="0"/>
              </a:rPr>
              <a:t>translate the addresses.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92133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4833DA6F-D5A7-42C4-ABB7-7FEA44C6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TYPES OF VIRTUAL MEMORY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C67D4806-25B1-4926-885B-6C21491A3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Arial" panose="020B0604020202020204" pitchFamily="34" charset="0"/>
              </a:rPr>
              <a:t>There are two ways in which virtual memory is handled: </a:t>
            </a:r>
            <a:r>
              <a:rPr lang="tr-TR" b="0" i="0" dirty="0">
                <a:effectLst/>
                <a:latin typeface="Arial" panose="020B0604020202020204" pitchFamily="34" charset="0"/>
              </a:rPr>
              <a:t/>
            </a:r>
            <a:br>
              <a:rPr lang="tr-TR" b="0" i="0" dirty="0">
                <a:effectLst/>
                <a:latin typeface="Arial" panose="020B0604020202020204" pitchFamily="34" charset="0"/>
              </a:rPr>
            </a:br>
            <a:r>
              <a:rPr lang="tr-TR" b="0" i="0" dirty="0">
                <a:effectLst/>
                <a:latin typeface="Arial" panose="020B0604020202020204" pitchFamily="34" charset="0"/>
              </a:rPr>
              <a:t/>
            </a:r>
            <a:br>
              <a:rPr lang="tr-TR" b="0" i="0" dirty="0">
                <a:effectLst/>
                <a:latin typeface="Arial" panose="020B0604020202020204" pitchFamily="34" charset="0"/>
              </a:rPr>
            </a:br>
            <a:r>
              <a:rPr lang="tr-TR" b="0" i="0" dirty="0">
                <a:effectLst/>
                <a:latin typeface="Arial" panose="020B0604020202020204" pitchFamily="34" charset="0"/>
              </a:rPr>
              <a:t>- </a:t>
            </a:r>
            <a:r>
              <a:rPr lang="tr-TR" dirty="0" err="1">
                <a:latin typeface="Arial" panose="020B0604020202020204" pitchFamily="34" charset="0"/>
              </a:rPr>
              <a:t>P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aged</a:t>
            </a:r>
            <a:r>
              <a:rPr lang="tr-TR" b="0" i="0" dirty="0">
                <a:effectLst/>
                <a:latin typeface="Arial" panose="020B0604020202020204" pitchFamily="34" charset="0"/>
              </a:rPr>
              <a:t> </a:t>
            </a:r>
            <a:r>
              <a:rPr lang="tr-TR" dirty="0">
                <a:latin typeface="Arial" panose="020B0604020202020204" pitchFamily="34" charset="0"/>
              </a:rPr>
              <a:t/>
            </a:r>
            <a:br>
              <a:rPr lang="tr-TR" dirty="0">
                <a:latin typeface="Arial" panose="020B0604020202020204" pitchFamily="34" charset="0"/>
              </a:rPr>
            </a:br>
            <a:r>
              <a:rPr lang="tr-TR" dirty="0">
                <a:latin typeface="Arial" panose="020B0604020202020204" pitchFamily="34" charset="0"/>
              </a:rPr>
              <a:t>- </a:t>
            </a:r>
            <a:r>
              <a:rPr lang="tr-TR" dirty="0" err="1">
                <a:latin typeface="Arial" panose="020B0604020202020204" pitchFamily="34" charset="0"/>
              </a:rPr>
              <a:t>Segmented</a:t>
            </a:r>
            <a:r>
              <a:rPr lang="tr-TR" dirty="0"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xmlns="" id="{1E70CBDA-4330-472C-9B84-A4FC1734CF08}"/>
              </a:ext>
            </a:extLst>
          </p:cNvPr>
          <p:cNvGrpSpPr/>
          <p:nvPr/>
        </p:nvGrpSpPr>
        <p:grpSpPr>
          <a:xfrm>
            <a:off x="10663558" y="-972620"/>
            <a:ext cx="2396996" cy="10559224"/>
            <a:chOff x="10663558" y="-655120"/>
            <a:chExt cx="2396996" cy="10559224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xmlns="" id="{2769D739-E496-46DB-BE26-D3CBF5C2321E}"/>
                </a:ext>
              </a:extLst>
            </p:cNvPr>
            <p:cNvSpPr/>
            <p:nvPr/>
          </p:nvSpPr>
          <p:spPr>
            <a:xfrm rot="705858" flipH="1">
              <a:off x="11489768" y="-655120"/>
              <a:ext cx="934736" cy="8212120"/>
            </a:xfrm>
            <a:prstGeom prst="rect">
              <a:avLst/>
            </a:prstGeom>
            <a:solidFill>
              <a:srgbClr val="BDBC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xmlns="" id="{1B702DA8-C9ED-43FD-A50C-F31C240CB745}"/>
                </a:ext>
              </a:extLst>
            </p:cNvPr>
            <p:cNvSpPr/>
            <p:nvPr/>
          </p:nvSpPr>
          <p:spPr>
            <a:xfrm rot="1787388" flipH="1">
              <a:off x="10663558" y="1324874"/>
              <a:ext cx="1208292" cy="8579230"/>
            </a:xfrm>
            <a:prstGeom prst="rect">
              <a:avLst/>
            </a:prstGeom>
            <a:solidFill>
              <a:srgbClr val="676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xmlns="" id="{1DA59219-560C-465E-92CB-AF0EFC04C819}"/>
                </a:ext>
              </a:extLst>
            </p:cNvPr>
            <p:cNvSpPr/>
            <p:nvPr/>
          </p:nvSpPr>
          <p:spPr>
            <a:xfrm rot="983158">
              <a:off x="11492228" y="589045"/>
              <a:ext cx="1568326" cy="7583235"/>
            </a:xfrm>
            <a:prstGeom prst="rect">
              <a:avLst/>
            </a:prstGeom>
            <a:solidFill>
              <a:srgbClr val="0F72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xmlns="" val="190504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64AFE6C1-1E1E-469F-B40D-C52A86733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PAGING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DEDD9EE2-A6F0-4050-A0B6-63C4748BE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07" y="1911926"/>
            <a:ext cx="9935095" cy="4172989"/>
          </a:xfrm>
        </p:spPr>
        <p:txBody>
          <a:bodyPr/>
          <a:lstStyle/>
          <a:p>
            <a:r>
              <a:rPr lang="en-GB" b="0" i="0" dirty="0">
                <a:effectLst/>
                <a:latin typeface="Arial" panose="020B0604020202020204" pitchFamily="34" charset="0"/>
              </a:rPr>
              <a:t>Paging divides</a:t>
            </a:r>
            <a:r>
              <a:rPr lang="tr-TR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>
                <a:effectLst/>
                <a:latin typeface="Arial" panose="020B0604020202020204" pitchFamily="34" charset="0"/>
              </a:rPr>
              <a:t>memory into sections or paging file</a:t>
            </a:r>
            <a:r>
              <a:rPr lang="tr-TR" dirty="0">
                <a:latin typeface="Arial" panose="020B0604020202020204" pitchFamily="34" charset="0"/>
              </a:rPr>
              <a:t>s </a:t>
            </a:r>
            <a:r>
              <a:rPr lang="tr-TR" dirty="0" err="1">
                <a:latin typeface="Arial" panose="020B0604020202020204" pitchFamily="34" charset="0"/>
              </a:rPr>
              <a:t>which</a:t>
            </a:r>
            <a:r>
              <a:rPr lang="tr-TR" dirty="0">
                <a:latin typeface="Arial" panose="020B0604020202020204" pitchFamily="34" charset="0"/>
              </a:rPr>
              <a:t> size is </a:t>
            </a:r>
            <a:r>
              <a:rPr lang="en-GB" b="0" i="0" dirty="0">
                <a:effectLst/>
                <a:latin typeface="Arial" panose="020B0604020202020204" pitchFamily="34" charset="0"/>
              </a:rPr>
              <a:t>approximately 4 KB. When a computer uses up its RAM,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the</a:t>
            </a:r>
            <a:r>
              <a:rPr lang="tr-TR" b="0" i="0" dirty="0">
                <a:effectLst/>
                <a:latin typeface="Arial" panose="020B0604020202020204" pitchFamily="34" charset="0"/>
              </a:rPr>
              <a:t> </a:t>
            </a:r>
            <a:r>
              <a:rPr lang="en-GB" b="0" i="0" dirty="0">
                <a:effectLst/>
                <a:latin typeface="Arial" panose="020B0604020202020204" pitchFamily="34" charset="0"/>
              </a:rPr>
              <a:t>pages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which</a:t>
            </a:r>
            <a:r>
              <a:rPr lang="tr-TR" b="0" i="0" dirty="0">
                <a:effectLst/>
                <a:latin typeface="Arial" panose="020B0604020202020204" pitchFamily="34" charset="0"/>
              </a:rPr>
              <a:t> is </a:t>
            </a:r>
            <a:r>
              <a:rPr lang="en-GB" b="0" i="0" dirty="0">
                <a:effectLst/>
                <a:latin typeface="Arial" panose="020B0604020202020204" pitchFamily="34" charset="0"/>
              </a:rPr>
              <a:t>not in use</a:t>
            </a:r>
            <a:r>
              <a:rPr lang="tr-TR" b="0" i="0" dirty="0">
                <a:effectLst/>
                <a:latin typeface="Arial" panose="020B0604020202020204" pitchFamily="34" charset="0"/>
              </a:rPr>
              <a:t>d</a:t>
            </a:r>
            <a:r>
              <a:rPr lang="en-GB" b="0" i="0" dirty="0">
                <a:effectLst/>
                <a:latin typeface="Arial" panose="020B0604020202020204" pitchFamily="34" charset="0"/>
              </a:rPr>
              <a:t> are transferred to the section of the hard drive designated for virtual memory using a swap file.</a:t>
            </a:r>
            <a:r>
              <a:rPr lang="en-GB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>
                <a:effectLst/>
                <a:latin typeface="Arial" panose="020B0604020202020204" pitchFamily="34" charset="0"/>
              </a:rPr>
              <a:t>When the swap file is needed, it</a:t>
            </a:r>
            <a:r>
              <a:rPr lang="tr-TR" b="0" i="0" dirty="0">
                <a:effectLst/>
                <a:latin typeface="Arial" panose="020B0604020202020204" pitchFamily="34" charset="0"/>
              </a:rPr>
              <a:t> i</a:t>
            </a:r>
            <a:r>
              <a:rPr lang="en-GB" b="0" i="0" dirty="0">
                <a:effectLst/>
                <a:latin typeface="Arial" panose="020B0604020202020204" pitchFamily="34" charset="0"/>
              </a:rPr>
              <a:t>s sent back to RAM using a process called page swapping. This system ensures that the computer’s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operating</a:t>
            </a:r>
            <a:r>
              <a:rPr lang="tr-TR" b="0" i="0" dirty="0">
                <a:effectLst/>
                <a:latin typeface="Arial" panose="020B0604020202020204" pitchFamily="34" charset="0"/>
              </a:rPr>
              <a:t>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system</a:t>
            </a:r>
            <a:r>
              <a:rPr lang="en-GB" b="0" i="0" dirty="0">
                <a:effectLst/>
                <a:latin typeface="Arial" panose="020B0604020202020204" pitchFamily="34" charset="0"/>
              </a:rPr>
              <a:t> and applications do</a:t>
            </a:r>
            <a:r>
              <a:rPr lang="tr-TR" b="0" i="0" dirty="0">
                <a:effectLst/>
                <a:latin typeface="Arial" panose="020B0604020202020204" pitchFamily="34" charset="0"/>
              </a:rPr>
              <a:t> not</a:t>
            </a:r>
            <a:r>
              <a:rPr lang="en-GB" b="0" i="0" dirty="0">
                <a:effectLst/>
                <a:latin typeface="Arial" panose="020B0604020202020204" pitchFamily="34" charset="0"/>
              </a:rPr>
              <a:t> run out of real memory.</a:t>
            </a:r>
            <a:r>
              <a:rPr lang="tr-TR" b="0" i="0" dirty="0">
                <a:effectLst/>
                <a:latin typeface="Arial" panose="020B0604020202020204" pitchFamily="34" charset="0"/>
              </a:rPr>
              <a:t>  </a:t>
            </a:r>
            <a:endParaRPr lang="en-GB" dirty="0"/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xmlns="" id="{D0E15063-221D-4B77-AA97-576D8BFCA513}"/>
              </a:ext>
            </a:extLst>
          </p:cNvPr>
          <p:cNvGrpSpPr/>
          <p:nvPr/>
        </p:nvGrpSpPr>
        <p:grpSpPr>
          <a:xfrm>
            <a:off x="10663558" y="-972620"/>
            <a:ext cx="2396996" cy="10559224"/>
            <a:chOff x="10663558" y="-655120"/>
            <a:chExt cx="2396996" cy="10559224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xmlns="" id="{5319476A-7B6B-46FD-B7F4-69D69F66EA09}"/>
                </a:ext>
              </a:extLst>
            </p:cNvPr>
            <p:cNvSpPr/>
            <p:nvPr/>
          </p:nvSpPr>
          <p:spPr>
            <a:xfrm rot="705858" flipH="1">
              <a:off x="11489768" y="-655120"/>
              <a:ext cx="934736" cy="8212120"/>
            </a:xfrm>
            <a:prstGeom prst="rect">
              <a:avLst/>
            </a:prstGeom>
            <a:solidFill>
              <a:srgbClr val="BDBC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xmlns="" id="{6A13AFF0-B122-4A7A-8C89-E9CB8AFD25B8}"/>
                </a:ext>
              </a:extLst>
            </p:cNvPr>
            <p:cNvSpPr/>
            <p:nvPr/>
          </p:nvSpPr>
          <p:spPr>
            <a:xfrm rot="1787388" flipH="1">
              <a:off x="10663558" y="1324874"/>
              <a:ext cx="1208292" cy="8579230"/>
            </a:xfrm>
            <a:prstGeom prst="rect">
              <a:avLst/>
            </a:prstGeom>
            <a:solidFill>
              <a:srgbClr val="676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xmlns="" id="{54FE8674-B73B-4656-B87F-215AEC8EB2EF}"/>
                </a:ext>
              </a:extLst>
            </p:cNvPr>
            <p:cNvSpPr/>
            <p:nvPr/>
          </p:nvSpPr>
          <p:spPr>
            <a:xfrm rot="983158">
              <a:off x="11492228" y="589045"/>
              <a:ext cx="1568326" cy="7583235"/>
            </a:xfrm>
            <a:prstGeom prst="rect">
              <a:avLst/>
            </a:prstGeom>
            <a:solidFill>
              <a:srgbClr val="0F72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xmlns="" val="3139953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 11">
            <a:extLst>
              <a:ext uri="{FF2B5EF4-FFF2-40B4-BE49-F238E27FC236}">
                <a16:creationId xmlns:a16="http://schemas.microsoft.com/office/drawing/2014/main" xmlns="" id="{38E0622A-60AB-4952-A273-9D5FEBF9EB3E}"/>
              </a:ext>
            </a:extLst>
          </p:cNvPr>
          <p:cNvGrpSpPr/>
          <p:nvPr/>
        </p:nvGrpSpPr>
        <p:grpSpPr>
          <a:xfrm rot="569823" flipH="1">
            <a:off x="-1372577" y="-914200"/>
            <a:ext cx="2396996" cy="10559224"/>
            <a:chOff x="10663558" y="-655120"/>
            <a:chExt cx="2396996" cy="10559224"/>
          </a:xfrm>
        </p:grpSpPr>
        <p:sp>
          <p:nvSpPr>
            <p:cNvPr id="13" name="Dikdörtgen 12">
              <a:extLst>
                <a:ext uri="{FF2B5EF4-FFF2-40B4-BE49-F238E27FC236}">
                  <a16:creationId xmlns:a16="http://schemas.microsoft.com/office/drawing/2014/main" xmlns="" id="{950B6705-1A65-4BC8-B203-FCFEFF97067F}"/>
                </a:ext>
              </a:extLst>
            </p:cNvPr>
            <p:cNvSpPr/>
            <p:nvPr/>
          </p:nvSpPr>
          <p:spPr>
            <a:xfrm rot="705858" flipH="1">
              <a:off x="11489768" y="-655120"/>
              <a:ext cx="934736" cy="8212120"/>
            </a:xfrm>
            <a:prstGeom prst="rect">
              <a:avLst/>
            </a:prstGeom>
            <a:solidFill>
              <a:srgbClr val="BDBC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4" name="Dikdörtgen 13">
              <a:extLst>
                <a:ext uri="{FF2B5EF4-FFF2-40B4-BE49-F238E27FC236}">
                  <a16:creationId xmlns:a16="http://schemas.microsoft.com/office/drawing/2014/main" xmlns="" id="{C83DC6A3-3332-46A2-898B-55E2F8B7AF84}"/>
                </a:ext>
              </a:extLst>
            </p:cNvPr>
            <p:cNvSpPr/>
            <p:nvPr/>
          </p:nvSpPr>
          <p:spPr>
            <a:xfrm rot="1787388" flipH="1">
              <a:off x="10663558" y="1324874"/>
              <a:ext cx="1208292" cy="8579230"/>
            </a:xfrm>
            <a:prstGeom prst="rect">
              <a:avLst/>
            </a:prstGeom>
            <a:solidFill>
              <a:srgbClr val="676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5" name="Dikdörtgen 14">
              <a:extLst>
                <a:ext uri="{FF2B5EF4-FFF2-40B4-BE49-F238E27FC236}">
                  <a16:creationId xmlns:a16="http://schemas.microsoft.com/office/drawing/2014/main" xmlns="" id="{FAB92E06-5762-41C1-BB5F-F53F1095A4D4}"/>
                </a:ext>
              </a:extLst>
            </p:cNvPr>
            <p:cNvSpPr/>
            <p:nvPr/>
          </p:nvSpPr>
          <p:spPr>
            <a:xfrm rot="983158">
              <a:off x="11492228" y="589045"/>
              <a:ext cx="1568326" cy="7583235"/>
            </a:xfrm>
            <a:prstGeom prst="rect">
              <a:avLst/>
            </a:prstGeom>
            <a:solidFill>
              <a:srgbClr val="0F72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EFB6F49F-98A8-48FF-841B-05BF76EAF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411"/>
            <a:ext cx="4648200" cy="4863552"/>
          </a:xfrm>
        </p:spPr>
        <p:txBody>
          <a:bodyPr/>
          <a:lstStyle/>
          <a:p>
            <a:r>
              <a:rPr lang="en-GB" b="0" i="0" dirty="0">
                <a:effectLst/>
                <a:latin typeface="Arial" panose="020B0604020202020204" pitchFamily="34" charset="0"/>
              </a:rPr>
              <a:t>The paging process includes the use of page tables, which translate the virtual addresses that the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operating</a:t>
            </a:r>
            <a:r>
              <a:rPr lang="tr-TR" b="0" i="0" dirty="0">
                <a:effectLst/>
                <a:latin typeface="Arial" panose="020B0604020202020204" pitchFamily="34" charset="0"/>
              </a:rPr>
              <a:t>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systems</a:t>
            </a:r>
            <a:r>
              <a:rPr lang="en-GB" b="0" i="0" dirty="0">
                <a:effectLst/>
                <a:latin typeface="Arial" panose="020B0604020202020204" pitchFamily="34" charset="0"/>
              </a:rPr>
              <a:t> and applications use into the physical addresses that the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memory</a:t>
            </a:r>
            <a:r>
              <a:rPr lang="tr-TR" b="0" i="0" dirty="0">
                <a:effectLst/>
                <a:latin typeface="Arial" panose="020B0604020202020204" pitchFamily="34" charset="0"/>
              </a:rPr>
              <a:t>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management</a:t>
            </a:r>
            <a:r>
              <a:rPr lang="tr-TR" b="0" i="0" dirty="0">
                <a:effectLst/>
                <a:latin typeface="Arial" panose="020B0604020202020204" pitchFamily="34" charset="0"/>
              </a:rPr>
              <a:t> </a:t>
            </a:r>
            <a:r>
              <a:rPr lang="tr-TR" b="0" i="0" dirty="0" err="1">
                <a:effectLst/>
                <a:latin typeface="Arial" panose="020B0604020202020204" pitchFamily="34" charset="0"/>
              </a:rPr>
              <a:t>unit</a:t>
            </a:r>
            <a:r>
              <a:rPr lang="en-GB" b="0" i="0" dirty="0">
                <a:effectLst/>
                <a:latin typeface="Arial" panose="020B0604020202020204" pitchFamily="34" charset="0"/>
              </a:rPr>
              <a:t> uses. Entries</a:t>
            </a:r>
            <a:r>
              <a:rPr lang="tr-TR" b="0" i="0" dirty="0">
                <a:effectLst/>
                <a:latin typeface="Arial" panose="020B0604020202020204" pitchFamily="34" charset="0"/>
              </a:rPr>
              <a:t> </a:t>
            </a:r>
            <a:r>
              <a:rPr lang="en-GB" b="0" i="0" dirty="0">
                <a:effectLst/>
                <a:latin typeface="Arial" panose="020B0604020202020204" pitchFamily="34" charset="0"/>
              </a:rPr>
              <a:t>in the page table indicate whether the page is in real memory.</a:t>
            </a:r>
            <a:endParaRPr lang="en-GB" dirty="0"/>
          </a:p>
        </p:txBody>
      </p:sp>
      <p:pic>
        <p:nvPicPr>
          <p:cNvPr id="6" name="Picture 2" descr="enter image description here">
            <a:extLst>
              <a:ext uri="{FF2B5EF4-FFF2-40B4-BE49-F238E27FC236}">
                <a16:creationId xmlns:a16="http://schemas.microsoft.com/office/drawing/2014/main" xmlns="" id="{9F64FBC3-8ACA-48BF-A73F-FFC0087B8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62113" y="1274078"/>
            <a:ext cx="6323668" cy="472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785515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17B99F50-37A2-4EBF-A315-B52BE20F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F6B36D6C-053D-417A-ACD0-CC48A92B0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49931" cy="4351338"/>
          </a:xfrm>
        </p:spPr>
        <p:txBody>
          <a:bodyPr>
            <a:normAutofit/>
          </a:bodyPr>
          <a:lstStyle/>
          <a:p>
            <a:r>
              <a:rPr lang="en-GB" b="0" i="1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r>
              <a:rPr lang="en-GB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is a virtual process that creates address spaces of various sizes in a computer system, called segments. </a:t>
            </a:r>
            <a:endParaRPr lang="tr-TR" dirty="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100" name="Picture 4" descr="segmentation">
            <a:extLst>
              <a:ext uri="{FF2B5EF4-FFF2-40B4-BE49-F238E27FC236}">
                <a16:creationId xmlns:a16="http://schemas.microsoft.com/office/drawing/2014/main" xmlns="" id="{B7F46D7D-3BAE-4A99-9E3A-06081A54C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47927" y="1376363"/>
            <a:ext cx="695325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up 4">
            <a:extLst>
              <a:ext uri="{FF2B5EF4-FFF2-40B4-BE49-F238E27FC236}">
                <a16:creationId xmlns:a16="http://schemas.microsoft.com/office/drawing/2014/main" xmlns="" id="{C4BBB2AA-6E17-4469-BEEC-CAC2E03BBA7E}"/>
              </a:ext>
            </a:extLst>
          </p:cNvPr>
          <p:cNvGrpSpPr/>
          <p:nvPr/>
        </p:nvGrpSpPr>
        <p:grpSpPr>
          <a:xfrm rot="569823" flipH="1">
            <a:off x="-1372577" y="-914200"/>
            <a:ext cx="2396996" cy="10559224"/>
            <a:chOff x="10663558" y="-655120"/>
            <a:chExt cx="2396996" cy="10559224"/>
          </a:xfrm>
        </p:grpSpPr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xmlns="" id="{9ECBD117-CDC9-47D6-AF41-9DCD1D86545F}"/>
                </a:ext>
              </a:extLst>
            </p:cNvPr>
            <p:cNvSpPr/>
            <p:nvPr/>
          </p:nvSpPr>
          <p:spPr>
            <a:xfrm rot="705858" flipH="1">
              <a:off x="11489768" y="-655120"/>
              <a:ext cx="934736" cy="8212120"/>
            </a:xfrm>
            <a:prstGeom prst="rect">
              <a:avLst/>
            </a:prstGeom>
            <a:solidFill>
              <a:srgbClr val="BDBC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xmlns="" id="{474A0404-83F3-4A32-A545-E8D016B63102}"/>
                </a:ext>
              </a:extLst>
            </p:cNvPr>
            <p:cNvSpPr/>
            <p:nvPr/>
          </p:nvSpPr>
          <p:spPr>
            <a:xfrm rot="1787388" flipH="1">
              <a:off x="10663558" y="1324874"/>
              <a:ext cx="1208292" cy="8579230"/>
            </a:xfrm>
            <a:prstGeom prst="rect">
              <a:avLst/>
            </a:prstGeom>
            <a:solidFill>
              <a:srgbClr val="676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>
              <a:extLst>
                <a:ext uri="{FF2B5EF4-FFF2-40B4-BE49-F238E27FC236}">
                  <a16:creationId xmlns:a16="http://schemas.microsoft.com/office/drawing/2014/main" xmlns="" id="{ABDDBF70-66B8-4959-84DF-8FC8414C4514}"/>
                </a:ext>
              </a:extLst>
            </p:cNvPr>
            <p:cNvSpPr/>
            <p:nvPr/>
          </p:nvSpPr>
          <p:spPr>
            <a:xfrm rot="983158">
              <a:off x="11492228" y="589045"/>
              <a:ext cx="1568326" cy="7583235"/>
            </a:xfrm>
            <a:prstGeom prst="rect">
              <a:avLst/>
            </a:prstGeom>
            <a:solidFill>
              <a:srgbClr val="0F72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xmlns="" val="1001164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74D319AF-A7C6-48BC-AE96-5245E2DDE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segment is a different virtual address space that directly corresponds to process objects.</a:t>
            </a:r>
            <a:r>
              <a:rPr lang="tr-TR" dirty="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a process executes, assigns related data into segments for faster processing. The segmentation function maintains a segment table that includes physical addresses of the segment, size, and other data</a:t>
            </a:r>
            <a:r>
              <a:rPr lang="tr-TR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xmlns="" id="{08250302-519B-434C-8620-3E222EB4146F}"/>
              </a:ext>
            </a:extLst>
          </p:cNvPr>
          <p:cNvGrpSpPr/>
          <p:nvPr/>
        </p:nvGrpSpPr>
        <p:grpSpPr>
          <a:xfrm rot="569823" flipH="1">
            <a:off x="-1372577" y="-914200"/>
            <a:ext cx="2396996" cy="10559224"/>
            <a:chOff x="10663558" y="-655120"/>
            <a:chExt cx="2396996" cy="10559224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xmlns="" id="{F386FFAE-B0F5-483C-92BA-2138CCCEEDFD}"/>
                </a:ext>
              </a:extLst>
            </p:cNvPr>
            <p:cNvSpPr/>
            <p:nvPr/>
          </p:nvSpPr>
          <p:spPr>
            <a:xfrm rot="705858" flipH="1">
              <a:off x="11489768" y="-655120"/>
              <a:ext cx="934736" cy="8212120"/>
            </a:xfrm>
            <a:prstGeom prst="rect">
              <a:avLst/>
            </a:prstGeom>
            <a:solidFill>
              <a:srgbClr val="BDBC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xmlns="" id="{891D6604-A786-4142-ACFC-CF86160E3A32}"/>
                </a:ext>
              </a:extLst>
            </p:cNvPr>
            <p:cNvSpPr/>
            <p:nvPr/>
          </p:nvSpPr>
          <p:spPr>
            <a:xfrm rot="1787388" flipH="1">
              <a:off x="10663558" y="1324874"/>
              <a:ext cx="1208292" cy="8579230"/>
            </a:xfrm>
            <a:prstGeom prst="rect">
              <a:avLst/>
            </a:prstGeom>
            <a:solidFill>
              <a:srgbClr val="676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xmlns="" id="{77A82B1B-2C81-497A-BBBD-9BFBB51BAD83}"/>
                </a:ext>
              </a:extLst>
            </p:cNvPr>
            <p:cNvSpPr/>
            <p:nvPr/>
          </p:nvSpPr>
          <p:spPr>
            <a:xfrm rot="983158">
              <a:off x="11492228" y="589045"/>
              <a:ext cx="1568326" cy="7583235"/>
            </a:xfrm>
            <a:prstGeom prst="rect">
              <a:avLst/>
            </a:prstGeom>
            <a:solidFill>
              <a:srgbClr val="0F72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xmlns="" val="4289787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9C998108-5D8F-4CE9-8354-8729CD4C4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 of Virtual Memory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11EC4E32-046E-4F10-B403-3983943FF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Allows more than one program to be executed at the same time.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Common data or code may be shared between memory.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Offloading tasks from main memory.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Virtual memory increases the overall memory on a system without adding RAM.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Eliminates external fragmentation.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Less input/output is required</a:t>
            </a:r>
          </a:p>
          <a:p>
            <a:endParaRPr lang="en-GB" dirty="0"/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xmlns="" id="{C9E0194B-95B1-4E3E-ACBD-AD143EB4B89F}"/>
              </a:ext>
            </a:extLst>
          </p:cNvPr>
          <p:cNvGrpSpPr/>
          <p:nvPr/>
        </p:nvGrpSpPr>
        <p:grpSpPr>
          <a:xfrm rot="569823" flipH="1">
            <a:off x="-1372577" y="-914200"/>
            <a:ext cx="2396996" cy="10559224"/>
            <a:chOff x="10663558" y="-655120"/>
            <a:chExt cx="2396996" cy="10559224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xmlns="" id="{3F078722-3E56-409B-9E26-CF6DF6E3DF1A}"/>
                </a:ext>
              </a:extLst>
            </p:cNvPr>
            <p:cNvSpPr/>
            <p:nvPr/>
          </p:nvSpPr>
          <p:spPr>
            <a:xfrm rot="705858" flipH="1">
              <a:off x="11489768" y="-655120"/>
              <a:ext cx="934736" cy="8212120"/>
            </a:xfrm>
            <a:prstGeom prst="rect">
              <a:avLst/>
            </a:prstGeom>
            <a:solidFill>
              <a:srgbClr val="BDBC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xmlns="" id="{3DE38060-8393-43F2-9AD1-9680D5F1FC8C}"/>
                </a:ext>
              </a:extLst>
            </p:cNvPr>
            <p:cNvSpPr/>
            <p:nvPr/>
          </p:nvSpPr>
          <p:spPr>
            <a:xfrm rot="1787388" flipH="1">
              <a:off x="10663558" y="1324874"/>
              <a:ext cx="1208292" cy="8579230"/>
            </a:xfrm>
            <a:prstGeom prst="rect">
              <a:avLst/>
            </a:prstGeom>
            <a:solidFill>
              <a:srgbClr val="676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xmlns="" id="{17C5529E-7F7F-4776-9BE9-F41DD4CB9948}"/>
                </a:ext>
              </a:extLst>
            </p:cNvPr>
            <p:cNvSpPr/>
            <p:nvPr/>
          </p:nvSpPr>
          <p:spPr>
            <a:xfrm rot="983158">
              <a:off x="11492228" y="589045"/>
              <a:ext cx="1568326" cy="7583235"/>
            </a:xfrm>
            <a:prstGeom prst="rect">
              <a:avLst/>
            </a:prstGeom>
            <a:solidFill>
              <a:srgbClr val="0F72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xmlns="" val="1147993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C1BC90C9-5F54-4170-82E4-CDED8AD9D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virtual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4FB49525-C02D-456A-87C1-0D6D1643A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If the system relies to much on virtual memory, it may cause a decrease in performance.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more virtual memory that’s being used, the less disk space a user has for storage.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Time it takes to read from a magnetic disk is greater than the time to access RAM, therefore swapping should be avoided wherever performance is important. </a:t>
            </a:r>
            <a:endParaRPr lang="en-GB" dirty="0"/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xmlns="" id="{751F7F5E-4960-44DD-92AC-921B63303099}"/>
              </a:ext>
            </a:extLst>
          </p:cNvPr>
          <p:cNvGrpSpPr/>
          <p:nvPr/>
        </p:nvGrpSpPr>
        <p:grpSpPr>
          <a:xfrm rot="569823" flipH="1">
            <a:off x="-1372577" y="-914200"/>
            <a:ext cx="2396996" cy="10559224"/>
            <a:chOff x="10663558" y="-655120"/>
            <a:chExt cx="2396996" cy="10559224"/>
          </a:xfrm>
        </p:grpSpPr>
        <p:sp>
          <p:nvSpPr>
            <p:cNvPr id="5" name="Dikdörtgen 4">
              <a:extLst>
                <a:ext uri="{FF2B5EF4-FFF2-40B4-BE49-F238E27FC236}">
                  <a16:creationId xmlns:a16="http://schemas.microsoft.com/office/drawing/2014/main" xmlns="" id="{B9369118-7760-4C2D-B817-93A10514999B}"/>
                </a:ext>
              </a:extLst>
            </p:cNvPr>
            <p:cNvSpPr/>
            <p:nvPr/>
          </p:nvSpPr>
          <p:spPr>
            <a:xfrm rot="705858" flipH="1">
              <a:off x="11489768" y="-655120"/>
              <a:ext cx="934736" cy="8212120"/>
            </a:xfrm>
            <a:prstGeom prst="rect">
              <a:avLst/>
            </a:prstGeom>
            <a:solidFill>
              <a:srgbClr val="BDBC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xmlns="" id="{8984C5F7-6859-413E-9715-72E6C8FA49F6}"/>
                </a:ext>
              </a:extLst>
            </p:cNvPr>
            <p:cNvSpPr/>
            <p:nvPr/>
          </p:nvSpPr>
          <p:spPr>
            <a:xfrm rot="1787388" flipH="1">
              <a:off x="10663558" y="1324874"/>
              <a:ext cx="1208292" cy="8579230"/>
            </a:xfrm>
            <a:prstGeom prst="rect">
              <a:avLst/>
            </a:prstGeom>
            <a:solidFill>
              <a:srgbClr val="676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xmlns="" id="{56153E09-A916-4879-8C61-FA4CFC84C36C}"/>
                </a:ext>
              </a:extLst>
            </p:cNvPr>
            <p:cNvSpPr/>
            <p:nvPr/>
          </p:nvSpPr>
          <p:spPr>
            <a:xfrm rot="983158">
              <a:off x="11492228" y="589045"/>
              <a:ext cx="1568326" cy="7583235"/>
            </a:xfrm>
            <a:prstGeom prst="rect">
              <a:avLst/>
            </a:prstGeom>
            <a:solidFill>
              <a:srgbClr val="0F72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xmlns="" val="3382022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>
            <a:extLst>
              <a:ext uri="{FF2B5EF4-FFF2-40B4-BE49-F238E27FC236}">
                <a16:creationId xmlns:a16="http://schemas.microsoft.com/office/drawing/2014/main" xmlns="" id="{C4751A43-631C-4AF1-B330-3B1AC836E76E}"/>
              </a:ext>
            </a:extLst>
          </p:cNvPr>
          <p:cNvGrpSpPr/>
          <p:nvPr/>
        </p:nvGrpSpPr>
        <p:grpSpPr>
          <a:xfrm rot="569823" flipH="1">
            <a:off x="-1372577" y="-914200"/>
            <a:ext cx="2396996" cy="10559224"/>
            <a:chOff x="10663558" y="-655120"/>
            <a:chExt cx="2396996" cy="10559224"/>
          </a:xfrm>
        </p:grpSpPr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xmlns="" id="{BEA2C5A4-E2FF-45CF-917E-0916EE51E900}"/>
                </a:ext>
              </a:extLst>
            </p:cNvPr>
            <p:cNvSpPr/>
            <p:nvPr/>
          </p:nvSpPr>
          <p:spPr>
            <a:xfrm rot="705858" flipH="1">
              <a:off x="11489768" y="-655120"/>
              <a:ext cx="934736" cy="8212120"/>
            </a:xfrm>
            <a:prstGeom prst="rect">
              <a:avLst/>
            </a:prstGeom>
            <a:solidFill>
              <a:srgbClr val="BDBC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xmlns="" id="{82C0FA82-EDC3-44FD-AE55-866E934A272B}"/>
                </a:ext>
              </a:extLst>
            </p:cNvPr>
            <p:cNvSpPr/>
            <p:nvPr/>
          </p:nvSpPr>
          <p:spPr>
            <a:xfrm rot="1787388" flipH="1">
              <a:off x="10663558" y="1324874"/>
              <a:ext cx="1208292" cy="8579230"/>
            </a:xfrm>
            <a:prstGeom prst="rect">
              <a:avLst/>
            </a:prstGeom>
            <a:solidFill>
              <a:srgbClr val="676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>
              <a:extLst>
                <a:ext uri="{FF2B5EF4-FFF2-40B4-BE49-F238E27FC236}">
                  <a16:creationId xmlns:a16="http://schemas.microsoft.com/office/drawing/2014/main" xmlns="" id="{1AC72D91-0BE1-4479-85E2-0267D63316FF}"/>
                </a:ext>
              </a:extLst>
            </p:cNvPr>
            <p:cNvSpPr/>
            <p:nvPr/>
          </p:nvSpPr>
          <p:spPr>
            <a:xfrm rot="983158">
              <a:off x="11492228" y="589045"/>
              <a:ext cx="1568326" cy="7583235"/>
            </a:xfrm>
            <a:prstGeom prst="rect">
              <a:avLst/>
            </a:prstGeom>
            <a:solidFill>
              <a:srgbClr val="0F72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19534DEF-C2E6-44B3-9054-60F4B73AE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14046"/>
          </a:xfrm>
        </p:spPr>
        <p:txBody>
          <a:bodyPr/>
          <a:lstStyle/>
          <a:p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xmlns="" id="{89D58C81-0175-4A8A-BE7A-7A473839C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https://www.enterprisestorageforum.com/storage-hardware/paging-and-segmentation.html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GB" dirty="0"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https://searchstorage.techtarget.com/definition/virtual-memory#:~:text=Virtual%20memory%20is%20a%20very,(RAM)%20to%20disk%20storage</a:t>
            </a:r>
            <a:r>
              <a:rPr lang="en-GB" dirty="0"/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GB" dirty="0"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https://www.geeksforgeeks.org/virtual-memory-in-operating-system/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https://teachcomputerscience.com/virtual-memory/</a:t>
            </a:r>
          </a:p>
        </p:txBody>
      </p:sp>
    </p:spTree>
    <p:extLst>
      <p:ext uri="{BB962C8B-B14F-4D97-AF65-F5344CB8AC3E}">
        <p14:creationId xmlns:p14="http://schemas.microsoft.com/office/powerpoint/2010/main" xmlns="" val="276710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22DDE17DC32DC54EB010413460834BFE" ma:contentTypeVersion="2" ma:contentTypeDescription="Yeni belge oluşturun." ma:contentTypeScope="" ma:versionID="f0e3d91972186a053038bdf45065f1ee">
  <xsd:schema xmlns:xsd="http://www.w3.org/2001/XMLSchema" xmlns:xs="http://www.w3.org/2001/XMLSchema" xmlns:p="http://schemas.microsoft.com/office/2006/metadata/properties" xmlns:ns2="ecabdfc0-4a02-4d75-8d22-fdc26463eb0a" targetNamespace="http://schemas.microsoft.com/office/2006/metadata/properties" ma:root="true" ma:fieldsID="b55a7095206caf5b532e4ae8c7c05c5c" ns2:_="">
    <xsd:import namespace="ecabdfc0-4a02-4d75-8d22-fdc26463eb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abdfc0-4a02-4d75-8d22-fdc26463eb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7652751-0E7B-4879-8BA5-2AD2C61BB41F}"/>
</file>

<file path=customXml/itemProps2.xml><?xml version="1.0" encoding="utf-8"?>
<ds:datastoreItem xmlns:ds="http://schemas.openxmlformats.org/officeDocument/2006/customXml" ds:itemID="{CD0F83CD-5E94-42E4-BBBA-E8618797FEE6}"/>
</file>

<file path=customXml/itemProps3.xml><?xml version="1.0" encoding="utf-8"?>
<ds:datastoreItem xmlns:ds="http://schemas.openxmlformats.org/officeDocument/2006/customXml" ds:itemID="{53BF7EF0-E25C-4475-BC41-11FB65D4D43B}"/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463</Words>
  <Application>Microsoft Office PowerPoint</Application>
  <PresentationFormat>Özel</PresentationFormat>
  <Paragraphs>36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3" baseType="lpstr">
      <vt:lpstr>Office Teması</vt:lpstr>
      <vt:lpstr>VIRTUAL MEMORY</vt:lpstr>
      <vt:lpstr>WHAT IS THE VIRTUAL MEMORY?</vt:lpstr>
      <vt:lpstr>Virtual memory uses hardware and software to allow a computer to compensate for physical memory shortages by temporarily transferring data from random access memory to disk storage. </vt:lpstr>
      <vt:lpstr>HOW VIRTUAL MEMORY WORKS?</vt:lpstr>
      <vt:lpstr>TYPES OF VIRTUAL MEMORY</vt:lpstr>
      <vt:lpstr>PAGING</vt:lpstr>
      <vt:lpstr>Slayt 7</vt:lpstr>
      <vt:lpstr>SEGMENTATION</vt:lpstr>
      <vt:lpstr>Slayt 9</vt:lpstr>
      <vt:lpstr>Advantages of Virtual Memory</vt:lpstr>
      <vt:lpstr>Disadvantages of virtual memory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</dc:title>
  <dc:creator>Aydan aydan</dc:creator>
  <cp:lastModifiedBy>Fatih Akay</cp:lastModifiedBy>
  <cp:revision>36</cp:revision>
  <dcterms:created xsi:type="dcterms:W3CDTF">2020-10-29T12:42:25Z</dcterms:created>
  <dcterms:modified xsi:type="dcterms:W3CDTF">2020-11-01T14:18:03Z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0x01010022DDE17DC32DC54EB010413460834BFE</vt:lpwstr>
  </property>
</Properties>
</file>