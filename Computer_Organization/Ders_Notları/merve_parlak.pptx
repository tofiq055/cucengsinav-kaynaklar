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7" r:id="rId11"/>
    <p:sldId id="265" r:id="rId12"/>
    <p:sldId id="270" r:id="rId13"/>
    <p:sldId id="269" r:id="rId14"/>
    <p:sldId id="266" r:id="rId15"/>
    <p:sldId id="268" r:id="rId16"/>
    <p:sldId id="271" r:id="rId17"/>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7D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386" autoAdjust="0"/>
    <p:restoredTop sz="94660"/>
  </p:normalViewPr>
  <p:slideViewPr>
    <p:cSldViewPr>
      <p:cViewPr varScale="1">
        <p:scale>
          <a:sx n="64" d="100"/>
          <a:sy n="64" d="100"/>
        </p:scale>
        <p:origin x="-1818" y="-102"/>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4"/>
            <a:ext cx="7315200" cy="2595025"/>
          </a:xfrm>
        </p:spPr>
        <p:txBody>
          <a:bodyPr>
            <a:normAutofit/>
          </a:bodyPr>
          <a:lstStyle>
            <a:lvl1pPr>
              <a:defRPr sz="4800"/>
            </a:lvl1pPr>
          </a:lstStyle>
          <a:p>
            <a:r>
              <a:rPr lang="tr-TR" smtClean="0"/>
              <a:t>Asıl başlık stili için tıklatın</a:t>
            </a:r>
            <a:endParaRPr lang="en-US"/>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7" name="Date Placeholder 6"/>
          <p:cNvSpPr>
            <a:spLocks noGrp="1"/>
          </p:cNvSpPr>
          <p:nvPr>
            <p:ph type="dt" sz="half" idx="10"/>
          </p:nvPr>
        </p:nvSpPr>
        <p:spPr/>
        <p:txBody>
          <a:bodyPr/>
          <a:lstStyle/>
          <a:p>
            <a:fld id="{0B3D8BA2-6F3A-4DBD-8BCC-750115513875}" type="datetimeFigureOut">
              <a:rPr lang="tr-TR" smtClean="0"/>
              <a:pPr/>
              <a:t>27.10.2020</a:t>
            </a:fld>
            <a:endParaRPr lang="tr-TR"/>
          </a:p>
        </p:txBody>
      </p:sp>
      <p:sp>
        <p:nvSpPr>
          <p:cNvPr id="8" name="Slide Number Placeholder 7"/>
          <p:cNvSpPr>
            <a:spLocks noGrp="1"/>
          </p:cNvSpPr>
          <p:nvPr>
            <p:ph type="sldNum" sz="quarter" idx="11"/>
          </p:nvPr>
        </p:nvSpPr>
        <p:spPr/>
        <p:txBody>
          <a:bodyPr/>
          <a:lstStyle/>
          <a:p>
            <a:fld id="{A9BDDC36-CDD6-49D1-9E6A-0098CC91599D}" type="slidenum">
              <a:rPr lang="tr-TR" smtClean="0"/>
              <a:pPr/>
              <a:t>‹#›</a:t>
            </a:fld>
            <a:endParaRPr lang="tr-TR"/>
          </a:p>
        </p:txBody>
      </p:sp>
      <p:sp>
        <p:nvSpPr>
          <p:cNvPr id="9" name="Footer Placeholder 8"/>
          <p:cNvSpPr>
            <a:spLocks noGrp="1"/>
          </p:cNvSpPr>
          <p:nvPr>
            <p:ph type="ftr" sz="quarter" idx="12"/>
          </p:nvPr>
        </p:nvSpPr>
        <p:spPr/>
        <p:txBody>
          <a:bodyPr/>
          <a:lstStyle/>
          <a:p>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Content Placeholder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0B3D8BA2-6F3A-4DBD-8BCC-750115513875}" type="datetimeFigureOut">
              <a:rPr lang="tr-TR" smtClean="0"/>
              <a:pPr/>
              <a:t>27.10.2020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9BDDC36-CDD6-49D1-9E6A-0098CC91599D}"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4000" b="0" cap="none"/>
            </a:lvl1pPr>
          </a:lstStyle>
          <a:p>
            <a:r>
              <a:rPr lang="tr-TR" smtClean="0"/>
              <a:t>Asıl başlık stili için tıklatın</a:t>
            </a:r>
            <a:endParaRPr lang="en-US"/>
          </a:p>
        </p:txBody>
      </p:sp>
      <p:sp>
        <p:nvSpPr>
          <p:cNvPr id="3" name="Text Placeholder 2"/>
          <p:cNvSpPr>
            <a:spLocks noGrp="1"/>
          </p:cNvSpPr>
          <p:nvPr>
            <p:ph type="body" idx="1"/>
          </p:nvPr>
        </p:nvSpPr>
        <p:spPr>
          <a:xfrm>
            <a:off x="914400" y="3865097"/>
            <a:ext cx="7315200" cy="109843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0B3D8BA2-6F3A-4DBD-8BCC-750115513875}" type="datetimeFigureOut">
              <a:rPr lang="tr-TR" smtClean="0"/>
              <a:pPr/>
              <a:t>27.10.2020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9BDDC36-CDD6-49D1-9E6A-0098CC91599D}"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B3D8BA2-6F3A-4DBD-8BCC-750115513875}" type="datetimeFigureOut">
              <a:rPr lang="tr-TR" smtClean="0"/>
              <a:pPr/>
              <a:t>27.10.2020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9BDDC36-CDD6-49D1-9E6A-0098CC91599D}" type="slidenum">
              <a:rPr lang="tr-TR" smtClean="0"/>
              <a:pPr/>
              <a:t>‹#›</a:t>
            </a:fld>
            <a:endParaRPr lang="tr-TR"/>
          </a:p>
        </p:txBody>
      </p:sp>
      <p:sp>
        <p:nvSpPr>
          <p:cNvPr id="9" name="Title 8"/>
          <p:cNvSpPr>
            <a:spLocks noGrp="1"/>
          </p:cNvSpPr>
          <p:nvPr>
            <p:ph type="title"/>
          </p:nvPr>
        </p:nvSpPr>
        <p:spPr>
          <a:xfrm>
            <a:off x="914400" y="1544715"/>
            <a:ext cx="7315200" cy="1154097"/>
          </a:xfrm>
        </p:spPr>
        <p:txBody>
          <a:bodyPr/>
          <a:lstStyle/>
          <a:p>
            <a:r>
              <a:rPr lang="tr-TR" smtClean="0"/>
              <a:t>Asıl başlık stili için tıklatın</a:t>
            </a:r>
            <a:endParaRPr lang="en-US"/>
          </a:p>
        </p:txBody>
      </p:sp>
      <p:sp>
        <p:nvSpPr>
          <p:cNvPr id="8" name="Content Placeholder 7"/>
          <p:cNvSpPr>
            <a:spLocks noGrp="1"/>
          </p:cNvSpPr>
          <p:nvPr>
            <p:ph sz="quarter" idx="13"/>
          </p:nvPr>
        </p:nvSpPr>
        <p:spPr>
          <a:xfrm>
            <a:off x="914400" y="2743200"/>
            <a:ext cx="3566160" cy="3593592"/>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81728" y="2743200"/>
            <a:ext cx="3566160" cy="3595687"/>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5" name="Text Placeholder 4"/>
          <p:cNvSpPr>
            <a:spLocks noGrp="1"/>
          </p:cNvSpPr>
          <p:nvPr>
            <p:ph type="body" sz="quarter" idx="3"/>
          </p:nvPr>
        </p:nvSpPr>
        <p:spPr>
          <a:xfrm>
            <a:off x="4885144" y="2743200"/>
            <a:ext cx="336206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7" name="Date Placeholder 6"/>
          <p:cNvSpPr>
            <a:spLocks noGrp="1"/>
          </p:cNvSpPr>
          <p:nvPr>
            <p:ph type="dt" sz="half" idx="10"/>
          </p:nvPr>
        </p:nvSpPr>
        <p:spPr/>
        <p:txBody>
          <a:bodyPr/>
          <a:lstStyle/>
          <a:p>
            <a:fld id="{0B3D8BA2-6F3A-4DBD-8BCC-750115513875}" type="datetimeFigureOut">
              <a:rPr lang="tr-TR" smtClean="0"/>
              <a:pPr/>
              <a:t>27.10.2020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A9BDDC36-CDD6-49D1-9E6A-0098CC91599D}" type="slidenum">
              <a:rPr lang="tr-TR" smtClean="0"/>
              <a:pPr/>
              <a:t>‹#›</a:t>
            </a:fld>
            <a:endParaRPr lang="tr-TR"/>
          </a:p>
        </p:txBody>
      </p:sp>
      <p:sp>
        <p:nvSpPr>
          <p:cNvPr id="10" name="Title 9"/>
          <p:cNvSpPr>
            <a:spLocks noGrp="1"/>
          </p:cNvSpPr>
          <p:nvPr>
            <p:ph type="title"/>
          </p:nvPr>
        </p:nvSpPr>
        <p:spPr>
          <a:xfrm>
            <a:off x="914400" y="1544715"/>
            <a:ext cx="7315200" cy="1154097"/>
          </a:xfrm>
        </p:spPr>
        <p:txBody>
          <a:bodyPr/>
          <a:lstStyle/>
          <a:p>
            <a:r>
              <a:rPr lang="tr-TR" smtClean="0"/>
              <a:t>Asıl başlık stili için tıklatın</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Date Placeholder 2"/>
          <p:cNvSpPr>
            <a:spLocks noGrp="1"/>
          </p:cNvSpPr>
          <p:nvPr>
            <p:ph type="dt" sz="half" idx="10"/>
          </p:nvPr>
        </p:nvSpPr>
        <p:spPr/>
        <p:txBody>
          <a:bodyPr/>
          <a:lstStyle/>
          <a:p>
            <a:fld id="{0B3D8BA2-6F3A-4DBD-8BCC-750115513875}" type="datetimeFigureOut">
              <a:rPr lang="tr-TR" smtClean="0"/>
              <a:pPr/>
              <a:t>27.10.2020</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A9BDDC36-CDD6-49D1-9E6A-0098CC91599D}"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3D8BA2-6F3A-4DBD-8BCC-750115513875}" type="datetimeFigureOut">
              <a:rPr lang="tr-TR" smtClean="0"/>
              <a:pPr/>
              <a:t>27.10.2020</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A9BDDC36-CDD6-49D1-9E6A-0098CC91599D}"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2"/>
            <a:ext cx="2950936" cy="2173015"/>
          </a:xfrm>
        </p:spPr>
        <p:txBody>
          <a:bodyPr anchor="b">
            <a:normAutofit/>
          </a:bodyPr>
          <a:lstStyle>
            <a:lvl1pPr algn="l">
              <a:defRPr sz="2800" b="0"/>
            </a:lvl1pPr>
          </a:lstStyle>
          <a:p>
            <a:r>
              <a:rPr lang="tr-TR" smtClean="0"/>
              <a:t>Asıl başlık stili için tıklatın</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914400" y="4061095"/>
            <a:ext cx="2950936" cy="2245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0B3D8BA2-6F3A-4DBD-8BCC-750115513875}" type="datetimeFigureOut">
              <a:rPr lang="tr-TR" smtClean="0"/>
              <a:pPr/>
              <a:t>27.10.2020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9BDDC36-CDD6-49D1-9E6A-0098CC91599D}"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800" b="0"/>
            </a:lvl1pPr>
          </a:lstStyle>
          <a:p>
            <a:r>
              <a:rPr lang="tr-TR" smtClean="0"/>
              <a:t>Asıl başlık stili için tıklatın</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0B3D8BA2-6F3A-4DBD-8BCC-750115513875}" type="datetimeFigureOut">
              <a:rPr lang="tr-TR" smtClean="0"/>
              <a:pPr/>
              <a:t>27.10.2020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9BDDC36-CDD6-49D1-9E6A-0098CC91599D}"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0B3D8BA2-6F3A-4DBD-8BCC-750115513875}" type="datetimeFigureOut">
              <a:rPr lang="tr-TR" smtClean="0"/>
              <a:pPr/>
              <a:t>27.10.2020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9BDDC36-CDD6-49D1-9E6A-0098CC91599D}"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0" y="1826709"/>
            <a:ext cx="1492499" cy="4484454"/>
          </a:xfrm>
        </p:spPr>
        <p:txBody>
          <a:bodyPr vert="eaVert"/>
          <a:lstStyle/>
          <a:p>
            <a:r>
              <a:rPr lang="tr-TR" smtClean="0"/>
              <a:t>Asıl başlık stili için tıklatın</a:t>
            </a:r>
            <a:endParaRPr lang="en-US"/>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0B3D8BA2-6F3A-4DBD-8BCC-750115513875}" type="datetimeFigureOut">
              <a:rPr lang="tr-TR" smtClean="0"/>
              <a:pPr/>
              <a:t>27.10.2020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9BDDC36-CDD6-49D1-9E6A-0098CC91599D}"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14400" y="1544715"/>
            <a:ext cx="7315200" cy="1154097"/>
          </a:xfrm>
          <a:prstGeom prst="rect">
            <a:avLst/>
          </a:prstGeom>
        </p:spPr>
        <p:txBody>
          <a:bodyPr vert="horz" lIns="91440" tIns="45720" rIns="91440" bIns="45720" rtlCol="0" anchor="b">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914400" y="2769833"/>
            <a:ext cx="7315200" cy="3539527"/>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smtClean="0"/>
          </a:p>
        </p:txBody>
      </p:sp>
      <p:sp>
        <p:nvSpPr>
          <p:cNvPr id="4" name="Date Placeholder 3"/>
          <p:cNvSpPr>
            <a:spLocks noGrp="1"/>
          </p:cNvSpPr>
          <p:nvPr>
            <p:ph type="dt" sz="half" idx="2"/>
          </p:nvPr>
        </p:nvSpPr>
        <p:spPr>
          <a:xfrm>
            <a:off x="6007690" y="548797"/>
            <a:ext cx="1189132" cy="297918"/>
          </a:xfrm>
          <a:prstGeom prst="rect">
            <a:avLst/>
          </a:prstGeom>
        </p:spPr>
        <p:txBody>
          <a:bodyPr vert="horz" lIns="91440" tIns="45720" rIns="91440" bIns="45720" rtlCol="0" anchor="ctr"/>
          <a:lstStyle>
            <a:lvl1pPr algn="l">
              <a:defRPr sz="1200">
                <a:solidFill>
                  <a:schemeClr val="tx1">
                    <a:alpha val="50000"/>
                  </a:schemeClr>
                </a:solidFill>
              </a:defRPr>
            </a:lvl1pPr>
          </a:lstStyle>
          <a:p>
            <a:fld id="{0B3D8BA2-6F3A-4DBD-8BCC-750115513875}" type="datetimeFigureOut">
              <a:rPr lang="tr-TR" smtClean="0"/>
              <a:pPr/>
              <a:t>27.10.2020</a:t>
            </a:fld>
            <a:endParaRPr lang="tr-TR"/>
          </a:p>
        </p:txBody>
      </p:sp>
      <p:sp>
        <p:nvSpPr>
          <p:cNvPr id="6" name="Slide Number Placeholder 5"/>
          <p:cNvSpPr>
            <a:spLocks noGrp="1"/>
          </p:cNvSpPr>
          <p:nvPr>
            <p:ph type="sldNum" sz="quarter" idx="4"/>
          </p:nvPr>
        </p:nvSpPr>
        <p:spPr>
          <a:xfrm>
            <a:off x="7314415" y="548797"/>
            <a:ext cx="941203" cy="301752"/>
          </a:xfrm>
          <a:prstGeom prst="rect">
            <a:avLst/>
          </a:prstGeom>
        </p:spPr>
        <p:txBody>
          <a:bodyPr vert="horz" lIns="91440" tIns="45720" rIns="91440" bIns="45720" rtlCol="0" anchor="ctr"/>
          <a:lstStyle>
            <a:lvl1pPr algn="r">
              <a:defRPr sz="1200">
                <a:solidFill>
                  <a:schemeClr val="tx1"/>
                </a:solidFill>
              </a:defRPr>
            </a:lvl1pPr>
          </a:lstStyle>
          <a:p>
            <a:fld id="{A9BDDC36-CDD6-49D1-9E6A-0098CC91599D}" type="slidenum">
              <a:rPr lang="tr-TR" smtClean="0"/>
              <a:pPr/>
              <a:t>‹#›</a:t>
            </a:fld>
            <a:endParaRPr lang="tr-TR"/>
          </a:p>
        </p:txBody>
      </p:sp>
      <p:sp>
        <p:nvSpPr>
          <p:cNvPr id="5" name="Footer Placeholder 4"/>
          <p:cNvSpPr>
            <a:spLocks noGrp="1"/>
          </p:cNvSpPr>
          <p:nvPr>
            <p:ph type="ftr" sz="quarter" idx="3"/>
          </p:nvPr>
        </p:nvSpPr>
        <p:spPr>
          <a:xfrm>
            <a:off x="6008688" y="855956"/>
            <a:ext cx="2246489" cy="301227"/>
          </a:xfrm>
          <a:prstGeom prst="rect">
            <a:avLst/>
          </a:prstGeom>
        </p:spPr>
        <p:txBody>
          <a:bodyPr vert="horz" lIns="91440" tIns="0" rIns="91440" bIns="45720" rtlCol="0" anchor="t"/>
          <a:lstStyle>
            <a:lvl1pPr algn="l">
              <a:defRPr sz="1000">
                <a:solidFill>
                  <a:schemeClr val="tx1"/>
                </a:solidFill>
              </a:defRPr>
            </a:lvl1pPr>
          </a:lstStyle>
          <a:p>
            <a:endParaRPr lang="tr-TR"/>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s://computer.howstuffworks.com/rom.htm" TargetMode="External"/><Relationship Id="rId2" Type="http://schemas.openxmlformats.org/officeDocument/2006/relationships/hyperlink" Target="https://teachcomputerscience.com/ram-rom/" TargetMode="External"/><Relationship Id="rId1" Type="http://schemas.openxmlformats.org/officeDocument/2006/relationships/slideLayout" Target="../slideLayouts/slideLayout8.xml"/><Relationship Id="rId4" Type="http://schemas.openxmlformats.org/officeDocument/2006/relationships/hyperlink" Target="https://www.eeeguide.com/read-only-memor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a:lstStyle/>
          <a:p>
            <a:pPr marL="685800" indent="-685800">
              <a:buFont typeface="Wingdings" pitchFamily="2" charset="2"/>
              <a:buChar char="q"/>
            </a:pPr>
            <a:r>
              <a:rPr lang="tr-TR" b="1" dirty="0" smtClean="0"/>
              <a:t>ROM</a:t>
            </a:r>
            <a:endParaRPr lang="tr-TR" b="1" dirty="0"/>
          </a:p>
        </p:txBody>
      </p:sp>
      <p:sp>
        <p:nvSpPr>
          <p:cNvPr id="3" name="Alt Başlık 2"/>
          <p:cNvSpPr>
            <a:spLocks noGrp="1"/>
          </p:cNvSpPr>
          <p:nvPr>
            <p:ph type="subTitle" idx="1"/>
          </p:nvPr>
        </p:nvSpPr>
        <p:spPr/>
        <p:txBody>
          <a:bodyPr/>
          <a:lstStyle/>
          <a:p>
            <a:pPr marL="342900" indent="-342900">
              <a:buFont typeface="Wingdings" pitchFamily="2" charset="2"/>
              <a:buChar char="§"/>
            </a:pPr>
            <a:r>
              <a:rPr lang="tr-TR" b="1" dirty="0" smtClean="0"/>
              <a:t>ROM,ROM TYPES &amp; ROM DESIGN</a:t>
            </a:r>
            <a:endParaRPr lang="tr-TR" b="1" dirty="0"/>
          </a:p>
        </p:txBody>
      </p:sp>
    </p:spTree>
    <p:extLst>
      <p:ext uri="{BB962C8B-B14F-4D97-AF65-F5344CB8AC3E}">
        <p14:creationId xmlns:p14="http://schemas.microsoft.com/office/powerpoint/2010/main" xmlns="" val="6518316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914400" y="692697"/>
            <a:ext cx="7315200" cy="936103"/>
          </a:xfrm>
        </p:spPr>
        <p:txBody>
          <a:bodyPr>
            <a:normAutofit/>
          </a:bodyPr>
          <a:lstStyle/>
          <a:p>
            <a:pPr marL="571500" indent="-571500">
              <a:buFont typeface="Wingdings" pitchFamily="2" charset="2"/>
              <a:buChar char="§"/>
            </a:pPr>
            <a:r>
              <a:rPr lang="tr-TR" b="1" dirty="0" smtClean="0"/>
              <a:t>WHAT IS ROM?</a:t>
            </a:r>
            <a:endParaRPr lang="tr-TR" b="1" dirty="0"/>
          </a:p>
        </p:txBody>
      </p:sp>
      <p:sp>
        <p:nvSpPr>
          <p:cNvPr id="3" name="İçerik Yer Tutucusu 2"/>
          <p:cNvSpPr>
            <a:spLocks noGrp="1"/>
          </p:cNvSpPr>
          <p:nvPr>
            <p:ph idx="1"/>
          </p:nvPr>
        </p:nvSpPr>
        <p:spPr>
          <a:xfrm>
            <a:off x="914400" y="2060848"/>
            <a:ext cx="7315200" cy="4248512"/>
          </a:xfrm>
        </p:spPr>
        <p:txBody>
          <a:bodyPr/>
          <a:lstStyle/>
          <a:p>
            <a:r>
              <a:rPr lang="en-US" b="1" dirty="0"/>
              <a:t>ROM, which stands for </a:t>
            </a:r>
            <a:r>
              <a:rPr lang="en-US" b="1" dirty="0">
                <a:solidFill>
                  <a:srgbClr val="FA7D00"/>
                </a:solidFill>
              </a:rPr>
              <a:t>read only memory</a:t>
            </a:r>
            <a:r>
              <a:rPr lang="en-US" b="1" dirty="0"/>
              <a:t>, is a memory device or storage medium that stores information </a:t>
            </a:r>
            <a:r>
              <a:rPr lang="en-US" b="1" dirty="0">
                <a:solidFill>
                  <a:schemeClr val="tx2"/>
                </a:solidFill>
              </a:rPr>
              <a:t>permanently</a:t>
            </a:r>
            <a:r>
              <a:rPr lang="en-US" b="1" dirty="0"/>
              <a:t>. It is also the primary memory unit of a computer along with the random access memory (RAM). It is called read only memory as </a:t>
            </a:r>
            <a:r>
              <a:rPr lang="en-US" b="1" dirty="0">
                <a:solidFill>
                  <a:schemeClr val="tx2"/>
                </a:solidFill>
              </a:rPr>
              <a:t>we can only read the programs</a:t>
            </a:r>
            <a:r>
              <a:rPr lang="en-US" b="1" dirty="0"/>
              <a:t> and data stored on it but </a:t>
            </a:r>
            <a:r>
              <a:rPr lang="en-US" b="1" dirty="0">
                <a:solidFill>
                  <a:schemeClr val="tx2"/>
                </a:solidFill>
              </a:rPr>
              <a:t>cannot write on it</a:t>
            </a:r>
            <a:r>
              <a:rPr lang="en-US" b="1" dirty="0"/>
              <a:t>. It is restricted to reading words that are permanently stored within the unit</a:t>
            </a:r>
            <a:r>
              <a:rPr lang="en-US" b="1" dirty="0" smtClean="0"/>
              <a:t>.</a:t>
            </a:r>
            <a:endParaRPr lang="tr-TR" b="1" dirty="0" smtClean="0"/>
          </a:p>
          <a:p>
            <a:r>
              <a:rPr lang="en-US" b="1" dirty="0">
                <a:latin typeface="+mj-lt"/>
              </a:rPr>
              <a:t>It is a </a:t>
            </a:r>
            <a:r>
              <a:rPr lang="en-US" b="1" dirty="0">
                <a:solidFill>
                  <a:schemeClr val="tx2"/>
                </a:solidFill>
                <a:latin typeface="+mj-lt"/>
              </a:rPr>
              <a:t>non-volatile</a:t>
            </a:r>
            <a:r>
              <a:rPr lang="en-US" b="1" dirty="0">
                <a:latin typeface="+mj-lt"/>
              </a:rPr>
              <a:t> memory</a:t>
            </a:r>
            <a:r>
              <a:rPr lang="tr-TR" b="1" dirty="0">
                <a:latin typeface="+mj-lt"/>
              </a:rPr>
              <a:t> </a:t>
            </a:r>
            <a:r>
              <a:rPr lang="en-US" b="1" dirty="0">
                <a:latin typeface="+mj-lt"/>
              </a:rPr>
              <a:t>and so the data is retained even when the power is switched </a:t>
            </a:r>
            <a:r>
              <a:rPr lang="en-US" b="1" dirty="0" smtClean="0">
                <a:latin typeface="+mj-lt"/>
              </a:rPr>
              <a:t>off</a:t>
            </a:r>
            <a:r>
              <a:rPr lang="tr-TR" b="1" dirty="0" smtClean="0">
                <a:latin typeface="+mj-lt"/>
              </a:rPr>
              <a:t>.</a:t>
            </a:r>
          </a:p>
          <a:p>
            <a:pPr marL="45720" indent="0">
              <a:buNone/>
            </a:pPr>
            <a:endParaRPr lang="tr-TR" b="1" dirty="0">
              <a:latin typeface="+mj-lt"/>
            </a:endParaRPr>
          </a:p>
        </p:txBody>
      </p:sp>
    </p:spTree>
    <p:extLst>
      <p:ext uri="{BB962C8B-B14F-4D97-AF65-F5344CB8AC3E}">
        <p14:creationId xmlns:p14="http://schemas.microsoft.com/office/powerpoint/2010/main" xmlns="" val="38272274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914400" y="1544715"/>
            <a:ext cx="7315200" cy="372117"/>
          </a:xfrm>
        </p:spPr>
        <p:txBody>
          <a:bodyPr>
            <a:noAutofit/>
          </a:bodyPr>
          <a:lstStyle/>
          <a:p>
            <a:pPr marL="457200" indent="-457200">
              <a:buFont typeface="Wingdings" pitchFamily="2" charset="2"/>
              <a:buChar char="§"/>
            </a:pPr>
            <a:r>
              <a:rPr lang="en-US" sz="2800" b="1" dirty="0"/>
              <a:t>It contains the basic instructions for what needs to happen when a computer is powered on.</a:t>
            </a:r>
            <a:endParaRPr lang="tr-TR" sz="2800" b="1" dirty="0"/>
          </a:p>
        </p:txBody>
      </p:sp>
      <p:pic>
        <p:nvPicPr>
          <p:cNvPr id="4" name="İçerik Yer Tutucusu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827585" y="2132855"/>
            <a:ext cx="7564954" cy="4130995"/>
          </a:xfrm>
          <a:prstGeom prst="rect">
            <a:avLst/>
          </a:prstGeom>
        </p:spPr>
      </p:pic>
    </p:spTree>
    <p:extLst>
      <p:ext uri="{BB962C8B-B14F-4D97-AF65-F5344CB8AC3E}">
        <p14:creationId xmlns:p14="http://schemas.microsoft.com/office/powerpoint/2010/main" xmlns="" val="12927567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914400" y="1124745"/>
            <a:ext cx="7315200" cy="864095"/>
          </a:xfrm>
        </p:spPr>
        <p:txBody>
          <a:bodyPr>
            <a:normAutofit/>
          </a:bodyPr>
          <a:lstStyle/>
          <a:p>
            <a:pPr marL="571500" indent="-571500">
              <a:buFont typeface="Wingdings" pitchFamily="2" charset="2"/>
              <a:buChar char="§"/>
            </a:pPr>
            <a:r>
              <a:rPr lang="tr-TR" b="1" dirty="0" smtClean="0"/>
              <a:t>TYPES OF ROM</a:t>
            </a:r>
            <a:endParaRPr lang="tr-TR" b="1" dirty="0"/>
          </a:p>
        </p:txBody>
      </p:sp>
      <p:sp>
        <p:nvSpPr>
          <p:cNvPr id="3" name="İçerik Yer Tutucusu 2"/>
          <p:cNvSpPr>
            <a:spLocks noGrp="1"/>
          </p:cNvSpPr>
          <p:nvPr>
            <p:ph idx="1"/>
          </p:nvPr>
        </p:nvSpPr>
        <p:spPr>
          <a:xfrm>
            <a:off x="914400" y="2492895"/>
            <a:ext cx="7315200" cy="3816465"/>
          </a:xfrm>
        </p:spPr>
        <p:txBody>
          <a:bodyPr/>
          <a:lstStyle/>
          <a:p>
            <a:r>
              <a:rPr lang="en-US" sz="2400" b="1" dirty="0">
                <a:latin typeface="+mj-lt"/>
              </a:rPr>
              <a:t>1) Masked Read Only Memory (MROM</a:t>
            </a:r>
            <a:r>
              <a:rPr lang="en-US" sz="2400" b="1" dirty="0" smtClean="0">
                <a:latin typeface="+mj-lt"/>
              </a:rPr>
              <a:t>)</a:t>
            </a:r>
            <a:endParaRPr lang="en-US" sz="2400" b="1" dirty="0">
              <a:latin typeface="+mj-lt"/>
            </a:endParaRPr>
          </a:p>
          <a:p>
            <a:r>
              <a:rPr lang="en-US" sz="2400" b="1" dirty="0">
                <a:latin typeface="+mj-lt"/>
              </a:rPr>
              <a:t>2) Programmable Read Only Memory (PROM</a:t>
            </a:r>
            <a:r>
              <a:rPr lang="en-US" sz="2400" b="1" dirty="0" smtClean="0">
                <a:latin typeface="+mj-lt"/>
              </a:rPr>
              <a:t>)</a:t>
            </a:r>
            <a:endParaRPr lang="en-US" sz="2400" b="1" dirty="0">
              <a:latin typeface="+mj-lt"/>
            </a:endParaRPr>
          </a:p>
          <a:p>
            <a:r>
              <a:rPr lang="en-US" sz="2400" b="1" dirty="0">
                <a:latin typeface="+mj-lt"/>
              </a:rPr>
              <a:t>3) Erasable and Programmable Read Only Memory (EPROM</a:t>
            </a:r>
            <a:r>
              <a:rPr lang="en-US" sz="2400" b="1" dirty="0" smtClean="0">
                <a:latin typeface="+mj-lt"/>
              </a:rPr>
              <a:t>)</a:t>
            </a:r>
            <a:endParaRPr lang="en-US" sz="2400" b="1" dirty="0">
              <a:latin typeface="+mj-lt"/>
            </a:endParaRPr>
          </a:p>
          <a:p>
            <a:r>
              <a:rPr lang="en-US" sz="2400" b="1" dirty="0">
                <a:latin typeface="+mj-lt"/>
              </a:rPr>
              <a:t>Electrically Erasable and Programmable Read Only Memory (EEPROM)</a:t>
            </a:r>
          </a:p>
          <a:p>
            <a:r>
              <a:rPr lang="tr-TR" sz="2400" b="1" dirty="0">
                <a:latin typeface="+mj-lt"/>
              </a:rPr>
              <a:t>5) FLASH ROM</a:t>
            </a:r>
          </a:p>
          <a:p>
            <a:endParaRPr lang="tr-TR" dirty="0"/>
          </a:p>
        </p:txBody>
      </p:sp>
    </p:spTree>
    <p:extLst>
      <p:ext uri="{BB962C8B-B14F-4D97-AF65-F5344CB8AC3E}">
        <p14:creationId xmlns:p14="http://schemas.microsoft.com/office/powerpoint/2010/main" xmlns="" val="25582764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914400" y="620689"/>
            <a:ext cx="7185992" cy="1080119"/>
          </a:xfrm>
        </p:spPr>
        <p:txBody>
          <a:bodyPr>
            <a:normAutofit/>
          </a:bodyPr>
          <a:lstStyle/>
          <a:p>
            <a:r>
              <a:rPr lang="en-US" sz="2800" b="1" dirty="0"/>
              <a:t>1) Masked Read Only Memory (MROM)</a:t>
            </a:r>
            <a:r>
              <a:rPr lang="en-US" dirty="0"/>
              <a:t/>
            </a:r>
            <a:br>
              <a:rPr lang="en-US" dirty="0"/>
            </a:br>
            <a:endParaRPr lang="tr-TR" dirty="0"/>
          </a:p>
        </p:txBody>
      </p:sp>
      <p:sp>
        <p:nvSpPr>
          <p:cNvPr id="3" name="İçerik Yer Tutucusu 2"/>
          <p:cNvSpPr>
            <a:spLocks noGrp="1"/>
          </p:cNvSpPr>
          <p:nvPr>
            <p:ph idx="1"/>
          </p:nvPr>
        </p:nvSpPr>
        <p:spPr>
          <a:xfrm>
            <a:off x="4139952" y="1988840"/>
            <a:ext cx="4207848" cy="3744416"/>
          </a:xfrm>
        </p:spPr>
        <p:txBody>
          <a:bodyPr>
            <a:normAutofit lnSpcReduction="10000"/>
          </a:bodyPr>
          <a:lstStyle/>
          <a:p>
            <a:pPr>
              <a:buFont typeface="Wingdings" pitchFamily="2" charset="2"/>
              <a:buChar char="§"/>
            </a:pPr>
            <a:r>
              <a:rPr lang="en-US" b="1" dirty="0" smtClean="0">
                <a:latin typeface="+mj-lt"/>
              </a:rPr>
              <a:t>It </a:t>
            </a:r>
            <a:r>
              <a:rPr lang="en-US" b="1" dirty="0">
                <a:latin typeface="+mj-lt"/>
              </a:rPr>
              <a:t>is a hardware memory device in which programs and instructions are stored at the time of manufacturing by the manufacturer. So it is programmed during the manufacturing process and can't be modified, reprogrammed, or erased later</a:t>
            </a:r>
            <a:r>
              <a:rPr lang="en-US" b="1" dirty="0" smtClean="0">
                <a:latin typeface="+mj-lt"/>
              </a:rPr>
              <a:t>.</a:t>
            </a:r>
            <a:endParaRPr lang="tr-TR" b="1" dirty="0" smtClean="0">
              <a:latin typeface="+mj-lt"/>
            </a:endParaRPr>
          </a:p>
          <a:p>
            <a:pPr marL="45720" indent="0">
              <a:buNone/>
            </a:pPr>
            <a:endParaRPr lang="tr-TR" b="1" dirty="0" smtClean="0">
              <a:latin typeface="+mj-lt"/>
            </a:endParaRPr>
          </a:p>
          <a:p>
            <a:pPr>
              <a:buFont typeface="Wingdings" pitchFamily="2" charset="2"/>
              <a:buChar char="§"/>
            </a:pPr>
            <a:r>
              <a:rPr lang="en-US" b="1" dirty="0">
                <a:latin typeface="+mj-lt"/>
              </a:rPr>
              <a:t>The MROM chips are made of integrated circuits.</a:t>
            </a:r>
            <a:endParaRPr lang="tr-TR" b="1" dirty="0">
              <a:latin typeface="+mj-lt"/>
            </a:endParaRPr>
          </a:p>
        </p:txBody>
      </p:sp>
      <p:pic>
        <p:nvPicPr>
          <p:cNvPr id="1026" name="Picture 2" descr="C:\Users\Asus\Desktop\s-l300.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7544" y="2128129"/>
            <a:ext cx="3600400" cy="27003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056876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395536" y="692696"/>
            <a:ext cx="8136904" cy="720080"/>
          </a:xfrm>
        </p:spPr>
        <p:txBody>
          <a:bodyPr>
            <a:normAutofit fontScale="90000"/>
          </a:bodyPr>
          <a:lstStyle/>
          <a:p>
            <a:r>
              <a:rPr lang="en-US" sz="3100" b="1" dirty="0" smtClean="0"/>
              <a:t>2)Programmable </a:t>
            </a:r>
            <a:r>
              <a:rPr lang="en-US" sz="3100" b="1" dirty="0"/>
              <a:t>Read Only Memory (PROM)</a:t>
            </a:r>
            <a:r>
              <a:rPr lang="en-US" dirty="0"/>
              <a:t/>
            </a:r>
            <a:br>
              <a:rPr lang="en-US" dirty="0"/>
            </a:br>
            <a:endParaRPr lang="tr-TR" dirty="0"/>
          </a:p>
        </p:txBody>
      </p:sp>
      <p:sp>
        <p:nvSpPr>
          <p:cNvPr id="4" name="Metin Yer Tutucusu 3"/>
          <p:cNvSpPr>
            <a:spLocks noGrp="1"/>
          </p:cNvSpPr>
          <p:nvPr>
            <p:ph type="body" sz="half" idx="2"/>
          </p:nvPr>
        </p:nvSpPr>
        <p:spPr>
          <a:xfrm>
            <a:off x="5292080" y="1700808"/>
            <a:ext cx="3096344" cy="4464496"/>
          </a:xfrm>
        </p:spPr>
        <p:txBody>
          <a:bodyPr>
            <a:normAutofit/>
          </a:bodyPr>
          <a:lstStyle/>
          <a:p>
            <a:pPr marL="285750" indent="-285750">
              <a:buFont typeface="Wingdings" pitchFamily="2" charset="2"/>
              <a:buChar char="§"/>
            </a:pPr>
            <a:r>
              <a:rPr lang="en-US" sz="1800" b="1" dirty="0"/>
              <a:t>The process of programming a PROM is </a:t>
            </a:r>
            <a:r>
              <a:rPr lang="en-US" sz="1800" b="1" dirty="0" smtClean="0"/>
              <a:t>called </a:t>
            </a:r>
            <a:r>
              <a:rPr lang="en-US" sz="1800" b="1" dirty="0"/>
              <a:t>burning the </a:t>
            </a:r>
            <a:r>
              <a:rPr lang="en-US" sz="1800" b="1" dirty="0" smtClean="0"/>
              <a:t>PROM</a:t>
            </a:r>
            <a:endParaRPr lang="tr-TR" sz="1800" b="1" dirty="0" smtClean="0"/>
          </a:p>
          <a:p>
            <a:endParaRPr lang="tr-TR" sz="1800" b="1" dirty="0" smtClean="0"/>
          </a:p>
          <a:p>
            <a:pPr marL="285750" indent="-285750">
              <a:buFont typeface="Wingdings" pitchFamily="2" charset="2"/>
              <a:buChar char="§"/>
            </a:pPr>
            <a:r>
              <a:rPr lang="en-US" sz="1800" b="1" dirty="0"/>
              <a:t>There are </a:t>
            </a:r>
            <a:r>
              <a:rPr lang="tr-TR" sz="1800" b="1" dirty="0" err="1" smtClean="0"/>
              <a:t>small</a:t>
            </a:r>
            <a:r>
              <a:rPr lang="en-US" sz="1800" b="1" dirty="0" smtClean="0"/>
              <a:t> </a:t>
            </a:r>
            <a:r>
              <a:rPr lang="en-US" sz="1800" b="1" dirty="0"/>
              <a:t>fuses in a PROM chip which are burnt open during programming</a:t>
            </a:r>
            <a:r>
              <a:rPr lang="tr-TR" sz="1800" b="1" dirty="0" smtClean="0"/>
              <a:t>.</a:t>
            </a:r>
          </a:p>
          <a:p>
            <a:endParaRPr lang="tr-TR" sz="1800" b="1" dirty="0"/>
          </a:p>
          <a:p>
            <a:pPr marL="285750" indent="-285750">
              <a:buFont typeface="Wingdings" pitchFamily="2" charset="2"/>
              <a:buChar char="§"/>
            </a:pPr>
            <a:r>
              <a:rPr lang="en-US" sz="1800" b="1" dirty="0"/>
              <a:t>The data can be programmed only once and cannot be altered. So it is called one- time programming device.</a:t>
            </a:r>
            <a:endParaRPr lang="tr-TR" sz="1800" b="1" dirty="0"/>
          </a:p>
          <a:p>
            <a:pPr marL="285750" indent="-285750">
              <a:buFont typeface="Wingdings" pitchFamily="2" charset="2"/>
              <a:buChar char="§"/>
            </a:pPr>
            <a:endParaRPr lang="tr-TR" sz="1800" dirty="0"/>
          </a:p>
        </p:txBody>
      </p:sp>
      <p:pic>
        <p:nvPicPr>
          <p:cNvPr id="5" name="Picture 2" descr="https://richelectronics.co.uk/wp-content/uploads/imported/9/Texas-TMS27PC256-20NL-One-time-Programmable-ROM-DIL-28-OMA46G-391505307449.JPG"/>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5536" y="1772816"/>
            <a:ext cx="4208462" cy="315634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1913262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1072" y="908720"/>
            <a:ext cx="9289032" cy="1152128"/>
          </a:xfrm>
        </p:spPr>
        <p:txBody>
          <a:bodyPr>
            <a:normAutofit fontScale="90000"/>
          </a:bodyPr>
          <a:lstStyle/>
          <a:p>
            <a:r>
              <a:rPr lang="en-US" sz="2700" b="1" dirty="0"/>
              <a:t>3) Erasable and Programmable Read Only Memory (EPROM):</a:t>
            </a:r>
            <a:r>
              <a:rPr lang="en-US" dirty="0"/>
              <a:t/>
            </a:r>
            <a:br>
              <a:rPr lang="en-US" dirty="0"/>
            </a:br>
            <a:endParaRPr lang="tr-TR" dirty="0"/>
          </a:p>
        </p:txBody>
      </p:sp>
      <p:sp>
        <p:nvSpPr>
          <p:cNvPr id="3" name="İçerik Yer Tutucusu 2"/>
          <p:cNvSpPr>
            <a:spLocks noGrp="1"/>
          </p:cNvSpPr>
          <p:nvPr>
            <p:ph idx="1"/>
          </p:nvPr>
        </p:nvSpPr>
        <p:spPr>
          <a:xfrm>
            <a:off x="4021752" y="1700808"/>
            <a:ext cx="4207848" cy="5157192"/>
          </a:xfrm>
        </p:spPr>
        <p:txBody>
          <a:bodyPr>
            <a:normAutofit/>
          </a:bodyPr>
          <a:lstStyle/>
          <a:p>
            <a:pPr>
              <a:buFont typeface="Wingdings" pitchFamily="2" charset="2"/>
              <a:buChar char="§"/>
            </a:pPr>
            <a:r>
              <a:rPr lang="en-US" b="1" dirty="0"/>
              <a:t>EPROM is a type of ROM that can be reprogramed and erased many times. The method to erase the data is very different; it comes with a quartz window through which a specific frequency of ultraviolet light is passed for around 40 minutes to erase the </a:t>
            </a:r>
            <a:r>
              <a:rPr lang="en-US" b="1" dirty="0" smtClean="0"/>
              <a:t>data</a:t>
            </a:r>
            <a:r>
              <a:rPr lang="tr-TR" b="1" dirty="0" smtClean="0"/>
              <a:t>.</a:t>
            </a:r>
          </a:p>
          <a:p>
            <a:pPr>
              <a:buFont typeface="Wingdings" pitchFamily="2" charset="2"/>
              <a:buChar char="§"/>
            </a:pPr>
            <a:r>
              <a:rPr lang="en-US" b="1" dirty="0"/>
              <a:t>So, it retains its content until it is exposed to the ultraviolet light. You need a special device called a PROM programmer or PROM burner to reprogram the EPROM</a:t>
            </a:r>
            <a:r>
              <a:rPr lang="en-US" dirty="0"/>
              <a:t>.</a:t>
            </a:r>
            <a:endParaRPr lang="tr-TR" b="1" dirty="0"/>
          </a:p>
        </p:txBody>
      </p:sp>
      <p:pic>
        <p:nvPicPr>
          <p:cNvPr id="5" name="Picture 2" descr="https://www.alpesmachines.net/wp-content/uploads/2018/07/27c256-2-eprom-cmos-256kbit-28dip.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5536" y="2132857"/>
            <a:ext cx="3680225" cy="309634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964074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0" y="332657"/>
            <a:ext cx="8460432" cy="1728192"/>
          </a:xfrm>
        </p:spPr>
        <p:txBody>
          <a:bodyPr>
            <a:normAutofit/>
          </a:bodyPr>
          <a:lstStyle/>
          <a:p>
            <a:r>
              <a:rPr lang="en-US" b="1" dirty="0"/>
              <a:t>4) Electrically Erasable and Programmable Read Only Memory (EEPROM):</a:t>
            </a:r>
            <a:r>
              <a:rPr lang="en-US" dirty="0"/>
              <a:t/>
            </a:r>
            <a:br>
              <a:rPr lang="en-US" dirty="0"/>
            </a:br>
            <a:endParaRPr lang="tr-TR" dirty="0"/>
          </a:p>
        </p:txBody>
      </p:sp>
      <p:sp>
        <p:nvSpPr>
          <p:cNvPr id="3" name="İçerik Yer Tutucusu 2"/>
          <p:cNvSpPr>
            <a:spLocks noGrp="1"/>
          </p:cNvSpPr>
          <p:nvPr>
            <p:ph idx="1"/>
          </p:nvPr>
        </p:nvSpPr>
        <p:spPr>
          <a:xfrm>
            <a:off x="4021752" y="1826709"/>
            <a:ext cx="4207848" cy="4338595"/>
          </a:xfrm>
        </p:spPr>
        <p:txBody>
          <a:bodyPr>
            <a:normAutofit lnSpcReduction="10000"/>
          </a:bodyPr>
          <a:lstStyle/>
          <a:p>
            <a:pPr>
              <a:buFont typeface="Wingdings" pitchFamily="2" charset="2"/>
              <a:buChar char="§"/>
            </a:pPr>
            <a:r>
              <a:rPr lang="en-US" b="1" dirty="0"/>
              <a:t>This type of memory can be erased and reprogrammed only by using an electrical charge</a:t>
            </a:r>
            <a:r>
              <a:rPr lang="en-US" b="1" dirty="0" smtClean="0"/>
              <a:t>.</a:t>
            </a:r>
            <a:endParaRPr lang="tr-TR" b="1" dirty="0" smtClean="0"/>
          </a:p>
          <a:p>
            <a:pPr marL="45720" indent="0">
              <a:buNone/>
            </a:pPr>
            <a:endParaRPr lang="tr-TR" b="1" dirty="0" smtClean="0"/>
          </a:p>
          <a:p>
            <a:pPr>
              <a:buFont typeface="Wingdings" pitchFamily="2" charset="2"/>
              <a:buChar char="§"/>
            </a:pPr>
            <a:r>
              <a:rPr lang="en-US" b="1" dirty="0" smtClean="0"/>
              <a:t>It </a:t>
            </a:r>
            <a:r>
              <a:rPr lang="en-US" b="1" dirty="0"/>
              <a:t>is erased and programmed electrically i.e. it uses electrical signals instead of ultra violet </a:t>
            </a:r>
            <a:r>
              <a:rPr lang="en-US" b="1" dirty="0" smtClean="0"/>
              <a:t>rays</a:t>
            </a:r>
            <a:endParaRPr lang="tr-TR" b="1" dirty="0" smtClean="0"/>
          </a:p>
          <a:p>
            <a:pPr>
              <a:buFont typeface="Wingdings" pitchFamily="2" charset="2"/>
              <a:buChar char="§"/>
            </a:pPr>
            <a:endParaRPr lang="tr-TR" b="1" dirty="0"/>
          </a:p>
          <a:p>
            <a:pPr>
              <a:buFont typeface="Wingdings" pitchFamily="2" charset="2"/>
              <a:buChar char="§"/>
            </a:pPr>
            <a:r>
              <a:rPr lang="en-US" b="1" dirty="0"/>
              <a:t>The use of EEPROM allows the computer system to update the BIOS without the need to open the computer system or remove any chips.</a:t>
            </a:r>
          </a:p>
          <a:p>
            <a:pPr>
              <a:buFont typeface="Wingdings" pitchFamily="2" charset="2"/>
              <a:buChar char="§"/>
            </a:pPr>
            <a:endParaRPr lang="tr-TR" b="1" dirty="0"/>
          </a:p>
        </p:txBody>
      </p:sp>
      <p:pic>
        <p:nvPicPr>
          <p:cNvPr id="2050" name="Picture 2" descr="C:\Users\Asus\Desktop\F0454331-01.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40720" y="2204864"/>
            <a:ext cx="3102007" cy="259228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0191180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914400" y="404665"/>
            <a:ext cx="3297560" cy="1152128"/>
          </a:xfrm>
        </p:spPr>
        <p:txBody>
          <a:bodyPr>
            <a:normAutofit/>
          </a:bodyPr>
          <a:lstStyle/>
          <a:p>
            <a:r>
              <a:rPr lang="tr-TR" b="1" dirty="0"/>
              <a:t>5) FLASH ROM:</a:t>
            </a:r>
            <a:r>
              <a:rPr lang="tr-TR" dirty="0"/>
              <a:t/>
            </a:r>
            <a:br>
              <a:rPr lang="tr-TR" dirty="0"/>
            </a:br>
            <a:endParaRPr lang="tr-TR" dirty="0"/>
          </a:p>
        </p:txBody>
      </p:sp>
      <p:sp>
        <p:nvSpPr>
          <p:cNvPr id="3" name="İçerik Yer Tutucusu 2"/>
          <p:cNvSpPr>
            <a:spLocks noGrp="1"/>
          </p:cNvSpPr>
          <p:nvPr>
            <p:ph idx="1"/>
          </p:nvPr>
        </p:nvSpPr>
        <p:spPr>
          <a:xfrm>
            <a:off x="4021752" y="980728"/>
            <a:ext cx="4207848" cy="5544616"/>
          </a:xfrm>
        </p:spPr>
        <p:txBody>
          <a:bodyPr/>
          <a:lstStyle/>
          <a:p>
            <a:r>
              <a:rPr lang="en-US" b="1" dirty="0">
                <a:latin typeface="+mj-lt"/>
              </a:rPr>
              <a:t>It is an advanced version of EEPROM. It stores information in an arrangement or array of memory cells made from floating-gate transistors. The advantage of using this memory is that you can delete or write blocks of data around 512 bytes at a particular time</a:t>
            </a:r>
            <a:r>
              <a:rPr lang="en-US" b="1" dirty="0" smtClean="0">
                <a:latin typeface="+mj-lt"/>
              </a:rPr>
              <a:t>.</a:t>
            </a:r>
            <a:endParaRPr lang="tr-TR" b="1" dirty="0" smtClean="0">
              <a:latin typeface="+mj-lt"/>
            </a:endParaRPr>
          </a:p>
          <a:p>
            <a:pPr marL="45720" indent="0">
              <a:buNone/>
            </a:pPr>
            <a:r>
              <a:rPr lang="en-US" b="1" dirty="0">
                <a:latin typeface="+mj-lt"/>
              </a:rPr>
              <a:t> </a:t>
            </a:r>
            <a:endParaRPr lang="tr-TR" b="1" dirty="0" smtClean="0">
              <a:latin typeface="+mj-lt"/>
            </a:endParaRPr>
          </a:p>
          <a:p>
            <a:r>
              <a:rPr lang="en-US" b="1" dirty="0"/>
              <a:t>Whereas, in EEPROM, you can delete or write only 1 byte of data at a time. So, this memory is faster than EEPROM.</a:t>
            </a:r>
            <a:endParaRPr lang="tr-TR" b="1" dirty="0" smtClean="0">
              <a:latin typeface="+mj-lt"/>
            </a:endParaRPr>
          </a:p>
          <a:p>
            <a:endParaRPr lang="tr-TR" b="1" dirty="0">
              <a:latin typeface="+mj-lt"/>
            </a:endParaRPr>
          </a:p>
        </p:txBody>
      </p:sp>
      <p:pic>
        <p:nvPicPr>
          <p:cNvPr id="3074" name="Picture 2" descr="C:\Users\Asus\Desktop\GC5A444272_nand_flash_memory_mobile.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2204865"/>
            <a:ext cx="3571264" cy="237626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3814620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914400" y="764705"/>
            <a:ext cx="6033864" cy="1008112"/>
          </a:xfrm>
        </p:spPr>
        <p:txBody>
          <a:bodyPr>
            <a:normAutofit/>
          </a:bodyPr>
          <a:lstStyle/>
          <a:p>
            <a:pPr marL="457200" indent="-457200">
              <a:buFont typeface="Wingdings" pitchFamily="2" charset="2"/>
              <a:buChar char="§"/>
            </a:pPr>
            <a:r>
              <a:rPr lang="tr-TR" sz="3200" b="1" dirty="0" smtClean="0"/>
              <a:t>HOW </a:t>
            </a:r>
            <a:r>
              <a:rPr lang="tr-TR" sz="3200" b="1" dirty="0"/>
              <a:t>DOES ROM WORK?</a:t>
            </a:r>
          </a:p>
        </p:txBody>
      </p:sp>
      <p:sp>
        <p:nvSpPr>
          <p:cNvPr id="3" name="İçerik Yer Tutucusu 2"/>
          <p:cNvSpPr>
            <a:spLocks noGrp="1"/>
          </p:cNvSpPr>
          <p:nvPr>
            <p:ph idx="1"/>
          </p:nvPr>
        </p:nvSpPr>
        <p:spPr>
          <a:xfrm>
            <a:off x="899592" y="4653136"/>
            <a:ext cx="7330008" cy="1650186"/>
          </a:xfrm>
        </p:spPr>
        <p:txBody>
          <a:bodyPr>
            <a:normAutofit lnSpcReduction="10000"/>
          </a:bodyPr>
          <a:lstStyle/>
          <a:p>
            <a:r>
              <a:rPr lang="en-US" b="1" dirty="0"/>
              <a:t>ROM chips </a:t>
            </a:r>
            <a:r>
              <a:rPr lang="en-US" b="1" dirty="0" smtClean="0"/>
              <a:t>contain </a:t>
            </a:r>
            <a:r>
              <a:rPr lang="en-US" b="1" dirty="0"/>
              <a:t>a grid of columns and </a:t>
            </a:r>
            <a:r>
              <a:rPr lang="en-US" b="1" dirty="0" smtClean="0"/>
              <a:t>rows</a:t>
            </a:r>
            <a:r>
              <a:rPr lang="tr-TR" b="1" dirty="0"/>
              <a:t> </a:t>
            </a:r>
            <a:r>
              <a:rPr lang="en-US" b="1" dirty="0"/>
              <a:t>to turn </a:t>
            </a:r>
            <a:r>
              <a:rPr lang="en-US" b="1" dirty="0">
                <a:solidFill>
                  <a:schemeClr val="tx2"/>
                </a:solidFill>
              </a:rPr>
              <a:t>on </a:t>
            </a:r>
            <a:r>
              <a:rPr lang="en-US" b="1" dirty="0"/>
              <a:t>or </a:t>
            </a:r>
            <a:r>
              <a:rPr lang="en-US" b="1" dirty="0" smtClean="0">
                <a:solidFill>
                  <a:schemeClr val="tx2"/>
                </a:solidFill>
              </a:rPr>
              <a:t>off</a:t>
            </a:r>
            <a:r>
              <a:rPr lang="tr-TR" b="1" dirty="0" smtClean="0"/>
              <a:t>.</a:t>
            </a:r>
          </a:p>
          <a:p>
            <a:pPr marL="45720" indent="0">
              <a:buNone/>
            </a:pPr>
            <a:endParaRPr lang="tr-TR" b="1" dirty="0" smtClean="0"/>
          </a:p>
          <a:p>
            <a:r>
              <a:rPr lang="en-US" b="1" dirty="0"/>
              <a:t>ROM uses a </a:t>
            </a:r>
            <a:r>
              <a:rPr lang="en-US" b="1" dirty="0">
                <a:solidFill>
                  <a:schemeClr val="tx2"/>
                </a:solidFill>
              </a:rPr>
              <a:t>diode</a:t>
            </a:r>
            <a:r>
              <a:rPr lang="en-US" b="1" dirty="0"/>
              <a:t> to connect the lines if the value is 1. If the value is 0, then the lines are not connected at all.</a:t>
            </a:r>
            <a:endParaRPr lang="tr-TR" b="1" dirty="0" smtClean="0"/>
          </a:p>
          <a:p>
            <a:endParaRPr lang="tr-TR" b="1" dirty="0" smtClean="0"/>
          </a:p>
          <a:p>
            <a:endParaRPr lang="tr-TR" b="1" dirty="0"/>
          </a:p>
        </p:txBody>
      </p:sp>
      <p:pic>
        <p:nvPicPr>
          <p:cNvPr id="5122" name="Picture 2" descr="C:\Users\Asus\Desktop\rom.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87624" y="1988840"/>
            <a:ext cx="5783530" cy="207243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8818877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914400" y="476673"/>
            <a:ext cx="4881736" cy="1008111"/>
          </a:xfrm>
        </p:spPr>
        <p:txBody>
          <a:bodyPr>
            <a:normAutofit/>
          </a:bodyPr>
          <a:lstStyle/>
          <a:p>
            <a:pPr marL="457200" indent="-457200">
              <a:buFont typeface="Wingdings" pitchFamily="2" charset="2"/>
              <a:buChar char="§"/>
            </a:pPr>
            <a:r>
              <a:rPr lang="tr-TR" sz="4000" b="1" dirty="0" smtClean="0"/>
              <a:t>ROM DESIGN</a:t>
            </a:r>
            <a:endParaRPr lang="tr-TR" sz="4000" b="1" dirty="0"/>
          </a:p>
        </p:txBody>
      </p:sp>
      <p:sp>
        <p:nvSpPr>
          <p:cNvPr id="3" name="İçerik Yer Tutucusu 2"/>
          <p:cNvSpPr>
            <a:spLocks noGrp="1"/>
          </p:cNvSpPr>
          <p:nvPr>
            <p:ph idx="1"/>
          </p:nvPr>
        </p:nvSpPr>
        <p:spPr>
          <a:xfrm>
            <a:off x="4021752" y="2060848"/>
            <a:ext cx="4207848" cy="4242475"/>
          </a:xfrm>
        </p:spPr>
        <p:txBody>
          <a:bodyPr>
            <a:normAutofit/>
          </a:bodyPr>
          <a:lstStyle/>
          <a:p>
            <a:r>
              <a:rPr lang="en-US" b="1" dirty="0"/>
              <a:t>The address of a binary number refers to one of the addresses of n variables. So, the number of possible addresses with 'n' input variables is </a:t>
            </a:r>
            <a:r>
              <a:rPr lang="tr-TR" dirty="0"/>
              <a:t>2ⁿ </a:t>
            </a:r>
            <a:r>
              <a:rPr lang="tr-TR" dirty="0" smtClean="0"/>
              <a:t>.</a:t>
            </a:r>
            <a:r>
              <a:rPr lang="en-US" b="1" dirty="0" smtClean="0"/>
              <a:t>An </a:t>
            </a:r>
            <a:r>
              <a:rPr lang="en-US" b="1" dirty="0"/>
              <a:t>output word has a unique address, and as there are 2ⁿ distinct addresses in a ROM, there are 2ⁿ separate words in the ROM. The words on the output lines at a given time depends on the address value applied to the input lines.</a:t>
            </a:r>
            <a:endParaRPr lang="tr-TR" b="1" dirty="0"/>
          </a:p>
        </p:txBody>
      </p:sp>
      <p:sp>
        <p:nvSpPr>
          <p:cNvPr id="4" name="Metin Yer Tutucusu 3"/>
          <p:cNvSpPr>
            <a:spLocks noGrp="1"/>
          </p:cNvSpPr>
          <p:nvPr>
            <p:ph type="body" sz="half" idx="2"/>
          </p:nvPr>
        </p:nvSpPr>
        <p:spPr>
          <a:xfrm>
            <a:off x="611560" y="1628800"/>
            <a:ext cx="4464496" cy="792088"/>
          </a:xfrm>
        </p:spPr>
        <p:txBody>
          <a:bodyPr>
            <a:normAutofit/>
          </a:bodyPr>
          <a:lstStyle/>
          <a:p>
            <a:pPr marL="285750" indent="-285750">
              <a:buFont typeface="Wingdings" pitchFamily="2" charset="2"/>
              <a:buChar char="§"/>
            </a:pPr>
            <a:r>
              <a:rPr lang="tr-TR" sz="2000" b="1" dirty="0" smtClean="0">
                <a:latin typeface="+mj-lt"/>
              </a:rPr>
              <a:t>BLOCK STRUCTURE OF ROM</a:t>
            </a:r>
            <a:endParaRPr lang="tr-TR" sz="2000" b="1" dirty="0">
              <a:latin typeface="+mj-lt"/>
            </a:endParaRPr>
          </a:p>
        </p:txBody>
      </p:sp>
      <p:pic>
        <p:nvPicPr>
          <p:cNvPr id="4098" name="Picture 2" descr="C:\Users\Asus\Desktop\Read-Only-Memory.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9553" y="2276872"/>
            <a:ext cx="3262370" cy="289567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8956067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395536" y="1268761"/>
            <a:ext cx="7834064" cy="4248472"/>
          </a:xfrm>
        </p:spPr>
        <p:txBody>
          <a:bodyPr/>
          <a:lstStyle/>
          <a:p>
            <a:pPr>
              <a:buFont typeface="Wingdings" pitchFamily="2" charset="2"/>
              <a:buChar char="§"/>
            </a:pPr>
            <a:r>
              <a:rPr lang="en-US" b="1" dirty="0"/>
              <a:t>Let us consider 64 x 4 ROM. The Read Only Memory consists of 64 words of 4 bits each</a:t>
            </a:r>
            <a:r>
              <a:rPr lang="en-US" b="1" dirty="0" smtClean="0"/>
              <a:t>.</a:t>
            </a:r>
            <a:endParaRPr lang="tr-TR" b="1" dirty="0" smtClean="0"/>
          </a:p>
          <a:p>
            <a:pPr marL="45720" indent="0">
              <a:buNone/>
            </a:pPr>
            <a:endParaRPr lang="tr-TR" b="1" dirty="0" smtClean="0"/>
          </a:p>
          <a:p>
            <a:pPr>
              <a:buFont typeface="Wingdings" pitchFamily="2" charset="2"/>
              <a:buChar char="§"/>
            </a:pPr>
            <a:r>
              <a:rPr lang="en-US" b="1" dirty="0" smtClean="0"/>
              <a:t> </a:t>
            </a:r>
            <a:r>
              <a:rPr lang="en-US" b="1" dirty="0"/>
              <a:t>This means that there are four output lines and particular word from 64 words presently available on the </a:t>
            </a:r>
            <a:r>
              <a:rPr lang="tr-TR" b="1" dirty="0" err="1" smtClean="0">
                <a:solidFill>
                  <a:schemeClr val="tx2"/>
                </a:solidFill>
              </a:rPr>
              <a:t>output</a:t>
            </a:r>
            <a:r>
              <a:rPr lang="tr-TR" b="1" dirty="0" smtClean="0">
                <a:solidFill>
                  <a:schemeClr val="tx2"/>
                </a:solidFill>
              </a:rPr>
              <a:t> </a:t>
            </a:r>
            <a:r>
              <a:rPr lang="tr-TR" b="1" dirty="0" err="1" smtClean="0">
                <a:solidFill>
                  <a:schemeClr val="tx2"/>
                </a:solidFill>
              </a:rPr>
              <a:t>lines</a:t>
            </a:r>
            <a:r>
              <a:rPr lang="en-US" b="1" dirty="0"/>
              <a:t> is determined from the six input lines. </a:t>
            </a:r>
            <a:endParaRPr lang="tr-TR" b="1" dirty="0" smtClean="0"/>
          </a:p>
          <a:p>
            <a:pPr marL="45720" indent="0">
              <a:buNone/>
            </a:pPr>
            <a:endParaRPr lang="tr-TR" b="1" dirty="0" smtClean="0"/>
          </a:p>
          <a:p>
            <a:pPr>
              <a:buFont typeface="Wingdings" pitchFamily="2" charset="2"/>
              <a:buChar char="§"/>
            </a:pPr>
            <a:r>
              <a:rPr lang="en-US" b="1" dirty="0" smtClean="0"/>
              <a:t>There </a:t>
            </a:r>
            <a:r>
              <a:rPr lang="en-US" b="1" dirty="0"/>
              <a:t>are only six inputs in a 64 x 4 ROM because 2</a:t>
            </a:r>
            <a:r>
              <a:rPr lang="en-US" b="1" baseline="30000" dirty="0"/>
              <a:t>6</a:t>
            </a:r>
            <a:r>
              <a:rPr lang="en-US" b="1" dirty="0"/>
              <a:t> = 64, and with six variables, we can specify 64 addresses </a:t>
            </a:r>
            <a:r>
              <a:rPr lang="en-US" b="1" dirty="0" smtClean="0"/>
              <a:t>or</a:t>
            </a:r>
            <a:r>
              <a:rPr lang="tr-TR" b="1" dirty="0" smtClean="0"/>
              <a:t> </a:t>
            </a:r>
            <a:r>
              <a:rPr lang="tr-TR" b="1" dirty="0" err="1" smtClean="0">
                <a:solidFill>
                  <a:schemeClr val="tx2"/>
                </a:solidFill>
              </a:rPr>
              <a:t>minterms</a:t>
            </a:r>
            <a:r>
              <a:rPr lang="en-US" b="1" dirty="0" smtClean="0">
                <a:solidFill>
                  <a:schemeClr val="tx2"/>
                </a:solidFill>
              </a:rPr>
              <a:t>.</a:t>
            </a:r>
            <a:endParaRPr lang="tr-TR" b="1" dirty="0">
              <a:solidFill>
                <a:schemeClr val="tx2"/>
              </a:solidFill>
            </a:endParaRPr>
          </a:p>
        </p:txBody>
      </p:sp>
    </p:spTree>
    <p:extLst>
      <p:ext uri="{BB962C8B-B14F-4D97-AF65-F5344CB8AC3E}">
        <p14:creationId xmlns:p14="http://schemas.microsoft.com/office/powerpoint/2010/main" xmlns="" val="3688622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5508104" y="1268760"/>
            <a:ext cx="3369568" cy="5184576"/>
          </a:xfrm>
        </p:spPr>
        <p:txBody>
          <a:bodyPr>
            <a:normAutofit/>
          </a:bodyPr>
          <a:lstStyle/>
          <a:p>
            <a:r>
              <a:rPr lang="en-US" b="1" dirty="0"/>
              <a:t>The internal structure comprises two basic components: decoder and OR gates. A decoder is a circuit that decodes an encoded form (such as binary coded decimal, BCD) to a decimal form. So, the input is in binary form, and the output is its decimal equivalent. All the OR gates present in the ROM will have outputs of the decoder as their output</a:t>
            </a:r>
            <a:endParaRPr lang="tr-TR" b="1" dirty="0"/>
          </a:p>
        </p:txBody>
      </p:sp>
      <p:sp>
        <p:nvSpPr>
          <p:cNvPr id="4" name="Metin Yer Tutucusu 3"/>
          <p:cNvSpPr>
            <a:spLocks noGrp="1"/>
          </p:cNvSpPr>
          <p:nvPr>
            <p:ph type="body" sz="half" idx="2"/>
          </p:nvPr>
        </p:nvSpPr>
        <p:spPr>
          <a:xfrm>
            <a:off x="251520" y="548680"/>
            <a:ext cx="6264696" cy="504056"/>
          </a:xfrm>
        </p:spPr>
        <p:txBody>
          <a:bodyPr>
            <a:normAutofit/>
          </a:bodyPr>
          <a:lstStyle/>
          <a:p>
            <a:pPr marL="342900" indent="-342900">
              <a:buFont typeface="Wingdings" pitchFamily="2" charset="2"/>
              <a:buChar char="§"/>
            </a:pPr>
            <a:r>
              <a:rPr lang="tr-TR" sz="2000" b="1" dirty="0"/>
              <a:t>INTERNAL STRUCTURE OF ROM:</a:t>
            </a:r>
          </a:p>
          <a:p>
            <a:endParaRPr lang="tr-TR" dirty="0"/>
          </a:p>
        </p:txBody>
      </p:sp>
      <p:pic>
        <p:nvPicPr>
          <p:cNvPr id="8194" name="Picture 2" descr="C:\Users\Asus\Desktop\rom-6-638.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3124" y="1628799"/>
            <a:ext cx="5400600" cy="405468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8587768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539552" y="4869160"/>
            <a:ext cx="7690048" cy="1728192"/>
          </a:xfrm>
        </p:spPr>
        <p:txBody>
          <a:bodyPr>
            <a:normAutofit/>
          </a:bodyPr>
          <a:lstStyle/>
          <a:p>
            <a:r>
              <a:rPr lang="tr-TR" b="1" dirty="0" err="1" smtClean="0"/>
              <a:t>The</a:t>
            </a:r>
            <a:r>
              <a:rPr lang="tr-TR" b="1" dirty="0" smtClean="0"/>
              <a:t> 32x8 ROM </a:t>
            </a:r>
            <a:r>
              <a:rPr lang="tr-TR" b="1" dirty="0" err="1" smtClean="0"/>
              <a:t>consists</a:t>
            </a:r>
            <a:r>
              <a:rPr lang="tr-TR" b="1" dirty="0" smtClean="0"/>
              <a:t> of 32 </a:t>
            </a:r>
            <a:r>
              <a:rPr lang="tr-TR" b="1" dirty="0" err="1" smtClean="0"/>
              <a:t>words</a:t>
            </a:r>
            <a:r>
              <a:rPr lang="tr-TR" b="1" dirty="0" smtClean="0"/>
              <a:t> of bit size 8.</a:t>
            </a:r>
          </a:p>
          <a:p>
            <a:r>
              <a:rPr lang="tr-TR" b="1" dirty="0" err="1" smtClean="0"/>
              <a:t>There</a:t>
            </a:r>
            <a:r>
              <a:rPr lang="tr-TR" b="1" dirty="0" smtClean="0"/>
              <a:t> </a:t>
            </a:r>
            <a:r>
              <a:rPr lang="tr-TR" b="1" dirty="0" err="1" smtClean="0"/>
              <a:t>are</a:t>
            </a:r>
            <a:r>
              <a:rPr lang="tr-TR" b="1" dirty="0" smtClean="0"/>
              <a:t> 32 </a:t>
            </a:r>
            <a:r>
              <a:rPr lang="tr-TR" b="1" dirty="0" err="1" smtClean="0"/>
              <a:t>distinct</a:t>
            </a:r>
            <a:r>
              <a:rPr lang="tr-TR" b="1" dirty="0" smtClean="0"/>
              <a:t> </a:t>
            </a:r>
            <a:r>
              <a:rPr lang="tr-TR" b="1" dirty="0" err="1" smtClean="0"/>
              <a:t>words</a:t>
            </a:r>
            <a:r>
              <a:rPr lang="tr-TR" b="1" dirty="0" smtClean="0"/>
              <a:t> </a:t>
            </a:r>
            <a:r>
              <a:rPr lang="tr-TR" b="1" dirty="0" err="1" smtClean="0"/>
              <a:t>stored</a:t>
            </a:r>
            <a:r>
              <a:rPr lang="tr-TR" b="1" dirty="0" smtClean="0"/>
              <a:t> </a:t>
            </a:r>
            <a:r>
              <a:rPr lang="tr-TR" b="1" dirty="0" err="1" smtClean="0"/>
              <a:t>which</a:t>
            </a:r>
            <a:r>
              <a:rPr lang="tr-TR" b="1" dirty="0" smtClean="0"/>
              <a:t> </a:t>
            </a:r>
            <a:r>
              <a:rPr lang="tr-TR" b="1" dirty="0" err="1" smtClean="0"/>
              <a:t>may</a:t>
            </a:r>
            <a:r>
              <a:rPr lang="tr-TR" b="1" dirty="0" smtClean="0"/>
              <a:t> be </a:t>
            </a:r>
            <a:r>
              <a:rPr lang="tr-TR" b="1" dirty="0" err="1" smtClean="0"/>
              <a:t>available</a:t>
            </a:r>
            <a:r>
              <a:rPr lang="tr-TR" b="1" dirty="0" smtClean="0"/>
              <a:t> </a:t>
            </a:r>
            <a:r>
              <a:rPr lang="tr-TR" b="1" dirty="0" err="1" smtClean="0"/>
              <a:t>through</a:t>
            </a:r>
            <a:r>
              <a:rPr lang="tr-TR" b="1" dirty="0" smtClean="0"/>
              <a:t> </a:t>
            </a:r>
            <a:r>
              <a:rPr lang="tr-TR" b="1" dirty="0" err="1" smtClean="0"/>
              <a:t>eight</a:t>
            </a:r>
            <a:r>
              <a:rPr lang="tr-TR" b="1" dirty="0" smtClean="0"/>
              <a:t> </a:t>
            </a:r>
            <a:r>
              <a:rPr lang="tr-TR" b="1" dirty="0" err="1" smtClean="0"/>
              <a:t>output</a:t>
            </a:r>
            <a:r>
              <a:rPr lang="tr-TR" b="1" dirty="0" smtClean="0"/>
              <a:t> </a:t>
            </a:r>
            <a:r>
              <a:rPr lang="tr-TR" b="1" dirty="0" err="1" smtClean="0"/>
              <a:t>lines</a:t>
            </a:r>
            <a:r>
              <a:rPr lang="tr-TR" b="1" dirty="0" smtClean="0"/>
              <a:t>.</a:t>
            </a:r>
            <a:endParaRPr lang="tr-TR" b="1" dirty="0"/>
          </a:p>
        </p:txBody>
      </p:sp>
      <p:pic>
        <p:nvPicPr>
          <p:cNvPr id="6146" name="Picture 2" descr="C:\Users\Asus\Pictures\Screenshots\Ekran Görüntüsü (40).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5452" y="404664"/>
            <a:ext cx="8259763" cy="409575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9854969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323528" y="5013176"/>
            <a:ext cx="8496944" cy="1656184"/>
          </a:xfrm>
        </p:spPr>
        <p:txBody>
          <a:bodyPr>
            <a:normAutofit fontScale="92500" lnSpcReduction="20000"/>
          </a:bodyPr>
          <a:lstStyle/>
          <a:p>
            <a:r>
              <a:rPr lang="tr-TR" b="1" dirty="0" smtClean="0"/>
              <a:t>T</a:t>
            </a:r>
            <a:r>
              <a:rPr lang="en-US" b="1" dirty="0" smtClean="0"/>
              <a:t>his </a:t>
            </a:r>
            <a:r>
              <a:rPr lang="tr-TR" b="1" dirty="0" smtClean="0"/>
              <a:t>ROM </a:t>
            </a:r>
            <a:r>
              <a:rPr lang="en-US" b="1" dirty="0" smtClean="0"/>
              <a:t>consists </a:t>
            </a:r>
            <a:r>
              <a:rPr lang="en-US" b="1" dirty="0"/>
              <a:t>of 64 words of 4 bits </a:t>
            </a:r>
            <a:r>
              <a:rPr lang="en-US" b="1" dirty="0" smtClean="0"/>
              <a:t>each</a:t>
            </a:r>
            <a:r>
              <a:rPr lang="tr-TR" b="1" dirty="0" smtClean="0"/>
              <a:t>.</a:t>
            </a:r>
            <a:r>
              <a:rPr lang="en-US" b="1" dirty="0" smtClean="0"/>
              <a:t>The </a:t>
            </a:r>
            <a:r>
              <a:rPr lang="en-US" b="1" dirty="0"/>
              <a:t>six input variables are decoded in 64 lines by means of 64 AND gates and 6 </a:t>
            </a:r>
            <a:r>
              <a:rPr lang="tr-TR" b="1" dirty="0" err="1" smtClean="0">
                <a:solidFill>
                  <a:schemeClr val="tx2"/>
                </a:solidFill>
              </a:rPr>
              <a:t>inverters</a:t>
            </a:r>
            <a:r>
              <a:rPr lang="tr-TR" b="1" dirty="0" smtClean="0">
                <a:solidFill>
                  <a:schemeClr val="tx2"/>
                </a:solidFill>
              </a:rPr>
              <a:t>.</a:t>
            </a:r>
          </a:p>
          <a:p>
            <a:r>
              <a:rPr lang="en-US" b="1" dirty="0" smtClean="0"/>
              <a:t> </a:t>
            </a:r>
            <a:r>
              <a:rPr lang="en-US" b="1" dirty="0"/>
              <a:t>The 64 outputs of the decoder are connected through fuses to each </a:t>
            </a:r>
            <a:r>
              <a:rPr lang="en-US" b="1" dirty="0">
                <a:solidFill>
                  <a:schemeClr val="tx2"/>
                </a:solidFill>
              </a:rPr>
              <a:t>OR</a:t>
            </a:r>
            <a:r>
              <a:rPr lang="en-US" b="1" dirty="0"/>
              <a:t> gate. Only four of these fuses are shown in the diagram, but actually each OR gate has 64 inputs and each input goes through a fuse that can be blown as desired.</a:t>
            </a:r>
            <a:endParaRPr lang="tr-TR" b="1" dirty="0"/>
          </a:p>
        </p:txBody>
      </p:sp>
      <p:pic>
        <p:nvPicPr>
          <p:cNvPr id="7170" name="Picture 2" descr="C:\Users\Asus\Desktop\rom3.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26622"/>
            <a:ext cx="7992888" cy="473469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5104169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914400" y="692697"/>
            <a:ext cx="3585592" cy="792088"/>
          </a:xfrm>
        </p:spPr>
        <p:txBody>
          <a:bodyPr>
            <a:normAutofit/>
          </a:bodyPr>
          <a:lstStyle/>
          <a:p>
            <a:pPr marL="457200" indent="-457200">
              <a:buFont typeface="Wingdings" pitchFamily="2" charset="2"/>
              <a:buChar char="§"/>
            </a:pPr>
            <a:r>
              <a:rPr lang="tr-TR" b="1" dirty="0" smtClean="0"/>
              <a:t>REFERENCES</a:t>
            </a:r>
            <a:endParaRPr lang="tr-TR" b="1" dirty="0"/>
          </a:p>
        </p:txBody>
      </p:sp>
      <p:sp>
        <p:nvSpPr>
          <p:cNvPr id="3" name="İçerik Yer Tutucusu 2"/>
          <p:cNvSpPr>
            <a:spLocks noGrp="1"/>
          </p:cNvSpPr>
          <p:nvPr>
            <p:ph idx="1"/>
          </p:nvPr>
        </p:nvSpPr>
        <p:spPr>
          <a:xfrm>
            <a:off x="899592" y="1826709"/>
            <a:ext cx="7330008" cy="4476614"/>
          </a:xfrm>
        </p:spPr>
        <p:txBody>
          <a:bodyPr/>
          <a:lstStyle/>
          <a:p>
            <a:r>
              <a:rPr lang="tr-TR" b="1" dirty="0">
                <a:hlinkClick r:id="rId2"/>
              </a:rPr>
              <a:t>https://teachcomputerscience.com/ram-rom</a:t>
            </a:r>
            <a:r>
              <a:rPr lang="tr-TR" b="1" dirty="0" smtClean="0">
                <a:hlinkClick r:id="rId2"/>
              </a:rPr>
              <a:t>/</a:t>
            </a:r>
            <a:endParaRPr lang="tr-TR" b="1" dirty="0" smtClean="0"/>
          </a:p>
          <a:p>
            <a:pPr marL="45720" indent="0">
              <a:buNone/>
            </a:pPr>
            <a:endParaRPr lang="tr-TR" b="1" dirty="0" smtClean="0"/>
          </a:p>
          <a:p>
            <a:r>
              <a:rPr lang="tr-TR" b="1" dirty="0">
                <a:hlinkClick r:id="rId3"/>
              </a:rPr>
              <a:t>https://</a:t>
            </a:r>
            <a:r>
              <a:rPr lang="tr-TR" b="1" dirty="0" smtClean="0">
                <a:hlinkClick r:id="rId3"/>
              </a:rPr>
              <a:t>computer.howstuffworks.com/rom.htm#pt5</a:t>
            </a:r>
            <a:endParaRPr lang="tr-TR" b="1" dirty="0" smtClean="0"/>
          </a:p>
          <a:p>
            <a:pPr marL="45720" indent="0">
              <a:buNone/>
            </a:pPr>
            <a:endParaRPr lang="tr-TR" b="1" dirty="0"/>
          </a:p>
          <a:p>
            <a:pPr>
              <a:buFont typeface="Wingdings" pitchFamily="2" charset="2"/>
              <a:buChar char="§"/>
            </a:pPr>
            <a:r>
              <a:rPr lang="tr-TR" b="1" dirty="0">
                <a:hlinkClick r:id="rId4"/>
              </a:rPr>
              <a:t>https://www.eeeguide.com/read-only-memory</a:t>
            </a:r>
            <a:r>
              <a:rPr lang="tr-TR" b="1" dirty="0" smtClean="0">
                <a:hlinkClick r:id="rId4"/>
              </a:rPr>
              <a:t>/</a:t>
            </a:r>
            <a:endParaRPr lang="tr-TR" b="1" dirty="0" smtClean="0"/>
          </a:p>
          <a:p>
            <a:pPr marL="45720" indent="0">
              <a:buNone/>
            </a:pPr>
            <a:endParaRPr lang="tr-TR" b="1" dirty="0" smtClean="0"/>
          </a:p>
          <a:p>
            <a:endParaRPr lang="tr-TR" b="1" dirty="0"/>
          </a:p>
        </p:txBody>
      </p:sp>
    </p:spTree>
    <p:extLst>
      <p:ext uri="{BB962C8B-B14F-4D97-AF65-F5344CB8AC3E}">
        <p14:creationId xmlns:p14="http://schemas.microsoft.com/office/powerpoint/2010/main" xmlns="" val="358213207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spektif">
  <a:themeElements>
    <a:clrScheme name="Perspektif">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is Klasik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ktif">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22DDE17DC32DC54EB010413460834BFE" ma:contentTypeVersion="2" ma:contentTypeDescription="Yeni belge oluşturun." ma:contentTypeScope="" ma:versionID="f0e3d91972186a053038bdf45065f1ee">
  <xsd:schema xmlns:xsd="http://www.w3.org/2001/XMLSchema" xmlns:xs="http://www.w3.org/2001/XMLSchema" xmlns:p="http://schemas.microsoft.com/office/2006/metadata/properties" xmlns:ns2="ecabdfc0-4a02-4d75-8d22-fdc26463eb0a" targetNamespace="http://schemas.microsoft.com/office/2006/metadata/properties" ma:root="true" ma:fieldsID="b55a7095206caf5b532e4ae8c7c05c5c" ns2:_="">
    <xsd:import namespace="ecabdfc0-4a02-4d75-8d22-fdc26463eb0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abdfc0-4a02-4d75-8d22-fdc26463eb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1B28BFE-FF3F-402B-AA3C-CD9C2E8FA3F2}"/>
</file>

<file path=customXml/itemProps2.xml><?xml version="1.0" encoding="utf-8"?>
<ds:datastoreItem xmlns:ds="http://schemas.openxmlformats.org/officeDocument/2006/customXml" ds:itemID="{70F38DC4-1F3A-412A-9CBD-F1995F15B88F}"/>
</file>

<file path=customXml/itemProps3.xml><?xml version="1.0" encoding="utf-8"?>
<ds:datastoreItem xmlns:ds="http://schemas.openxmlformats.org/officeDocument/2006/customXml" ds:itemID="{94ABD1E7-DCCC-4A50-BAB6-385551682D4D}"/>
</file>

<file path=docProps/app.xml><?xml version="1.0" encoding="utf-8"?>
<Properties xmlns="http://schemas.openxmlformats.org/officeDocument/2006/extended-properties" xmlns:vt="http://schemas.openxmlformats.org/officeDocument/2006/docPropsVTypes">
  <Template>Perspective</Template>
  <TotalTime>411</TotalTime>
  <Words>792</Words>
  <Application>Microsoft Office PowerPoint</Application>
  <PresentationFormat>Ekran Gösterisi (4:3)</PresentationFormat>
  <Paragraphs>59</Paragraphs>
  <Slides>16</Slides>
  <Notes>0</Notes>
  <HiddenSlides>0</HiddenSlides>
  <MMClips>0</MMClips>
  <ScaleCrop>false</ScaleCrop>
  <HeadingPairs>
    <vt:vector size="4" baseType="variant">
      <vt:variant>
        <vt:lpstr>Tema</vt:lpstr>
      </vt:variant>
      <vt:variant>
        <vt:i4>1</vt:i4>
      </vt:variant>
      <vt:variant>
        <vt:lpstr>Slayt Başlıkları</vt:lpstr>
      </vt:variant>
      <vt:variant>
        <vt:i4>16</vt:i4>
      </vt:variant>
    </vt:vector>
  </HeadingPairs>
  <TitlesOfParts>
    <vt:vector size="17" baseType="lpstr">
      <vt:lpstr>Perspektif</vt:lpstr>
      <vt:lpstr>ROM</vt:lpstr>
      <vt:lpstr>WHAT IS ROM?</vt:lpstr>
      <vt:lpstr>It contains the basic instructions for what needs to happen when a computer is powered on.</vt:lpstr>
      <vt:lpstr>TYPES OF ROM</vt:lpstr>
      <vt:lpstr>1) Masked Read Only Memory (MROM) </vt:lpstr>
      <vt:lpstr>2)Programmable Read Only Memory (PROM) </vt:lpstr>
      <vt:lpstr>3) Erasable and Programmable Read Only Memory (EPROM): </vt:lpstr>
      <vt:lpstr>4) Electrically Erasable and Programmable Read Only Memory (EEPROM): </vt:lpstr>
      <vt:lpstr>5) FLASH ROM: </vt:lpstr>
      <vt:lpstr>HOW DOES ROM WORK?</vt:lpstr>
      <vt:lpstr>ROM DESIGN</vt:lpstr>
      <vt:lpstr>Slayt 12</vt:lpstr>
      <vt:lpstr>Slayt 13</vt:lpstr>
      <vt:lpstr>Slayt 14</vt:lpstr>
      <vt:lpstr>Slayt 15</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ROM</dc:title>
  <dc:creator>Asus</dc:creator>
  <cp:lastModifiedBy>Fatih Akay</cp:lastModifiedBy>
  <cp:revision>16</cp:revision>
  <dcterms:created xsi:type="dcterms:W3CDTF">2020-10-26T13:29:17Z</dcterms:created>
  <dcterms:modified xsi:type="dcterms:W3CDTF">2020-10-27T05:56:23Z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0x01010022DDE17DC32DC54EB010413460834BFE</vt:lpwstr>
  </property>
</Properties>
</file>