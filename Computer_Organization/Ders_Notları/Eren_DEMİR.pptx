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7" r:id="rId3"/>
    <p:sldId id="268" r:id="rId4"/>
    <p:sldId id="274" r:id="rId5"/>
    <p:sldId id="270" r:id="rId6"/>
    <p:sldId id="269" r:id="rId7"/>
    <p:sldId id="273" r:id="rId8"/>
    <p:sldId id="272" r:id="rId9"/>
    <p:sldId id="271" r:id="rId10"/>
    <p:sldId id="275" r:id="rId1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58167-1A54-42C1-9B64-9F3AFEF9039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B1ADC-9C48-47E7-88F2-AAAB1620A7D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307220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64EBB-AE36-41B8-A768-D829AF0E5F61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1AB1A-CE58-4600-A8BC-4BE99D9B367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3166193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AB1A-CE58-4600-A8BC-4BE99D9B3677}" type="slidenum">
              <a:rPr lang="tr-TR" smtClean="0"/>
              <a:pPr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173499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AB1A-CE58-4600-A8BC-4BE99D9B3677}" type="slidenum">
              <a:rPr lang="tr-TR" smtClean="0"/>
              <a:pPr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173499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AB1A-CE58-4600-A8BC-4BE99D9B3677}" type="slidenum">
              <a:rPr lang="tr-TR" smtClean="0"/>
              <a:pPr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173499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AB1A-CE58-4600-A8BC-4BE99D9B3677}" type="slidenum">
              <a:rPr lang="tr-TR" smtClean="0"/>
              <a:pPr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173499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AB1A-CE58-4600-A8BC-4BE99D9B3677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173499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AB1A-CE58-4600-A8BC-4BE99D9B3677}" type="slidenum">
              <a:rPr lang="tr-TR" smtClean="0"/>
              <a:pPr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173499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AB1A-CE58-4600-A8BC-4BE99D9B3677}" type="slidenum">
              <a:rPr lang="tr-TR" smtClean="0"/>
              <a:pPr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173499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1AB1A-CE58-4600-A8BC-4BE99D9B3677}" type="slidenum">
              <a:rPr lang="tr-TR" smtClean="0"/>
              <a:pPr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173499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23720DD-5B6D-40BF-8493-A6B52D484E6B}" type="datetimeFigureOut">
              <a:rPr lang="tr-TR" smtClean="0"/>
              <a:pPr/>
              <a:t>7.11.2020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302176B-0E47-46AC-8F43-DAB4B8A37D06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39552" y="3589864"/>
            <a:ext cx="8056880" cy="2376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dirty="0" smtClean="0"/>
              <a:t>AN </a:t>
            </a:r>
            <a:r>
              <a:rPr lang="tr-TR" dirty="0"/>
              <a:t>ASSEMBLY LANGUAGE </a:t>
            </a:r>
            <a:r>
              <a:rPr lang="tr-TR" dirty="0" smtClean="0"/>
              <a:t>EXAMPLE WITH EMU8086</a:t>
            </a:r>
            <a:endParaRPr lang="tr-TR" b="1" dirty="0"/>
          </a:p>
        </p:txBody>
      </p:sp>
      <p:pic>
        <p:nvPicPr>
          <p:cNvPr id="1027" name="Picture 3" descr="C:\Users\E.D\Desktop\sunum\emu 808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15816" y="519698"/>
            <a:ext cx="3117750" cy="311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1561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7"/>
          <p:cNvSpPr txBox="1">
            <a:spLocks/>
          </p:cNvSpPr>
          <p:nvPr/>
        </p:nvSpPr>
        <p:spPr>
          <a:xfrm>
            <a:off x="323528" y="260648"/>
            <a:ext cx="8712968" cy="64087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8988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20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65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860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87752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Georgia" pitchFamily="18" charset="0"/>
              <a:buNone/>
            </a:pPr>
            <a:r>
              <a:rPr lang="tr-TR" dirty="0" smtClean="0"/>
              <a:t> </a:t>
            </a:r>
          </a:p>
          <a:p>
            <a:pPr marL="45720" indent="0">
              <a:buFont typeface="Georgia" pitchFamily="18" charset="0"/>
              <a:buNone/>
            </a:pP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sz="half" idx="2"/>
          </p:nvPr>
        </p:nvSpPr>
        <p:spPr>
          <a:xfrm>
            <a:off x="323528" y="260648"/>
            <a:ext cx="4356484" cy="612068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tr-TR" b="1" i="1" dirty="0" smtClean="0"/>
          </a:p>
          <a:p>
            <a:pPr marL="45720" indent="0">
              <a:buNone/>
            </a:pPr>
            <a:r>
              <a:rPr lang="tr-TR" b="1" i="1" dirty="0" smtClean="0"/>
              <a:t>data </a:t>
            </a:r>
            <a:r>
              <a:rPr lang="tr-TR" b="1" i="1" dirty="0" err="1"/>
              <a:t>segment</a:t>
            </a:r>
            <a:endParaRPr lang="tr-TR" b="1" i="1" dirty="0"/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 smtClean="0"/>
              <a:t>message</a:t>
            </a:r>
            <a:r>
              <a:rPr lang="tr-TR" dirty="0" smtClean="0"/>
              <a:t> </a:t>
            </a:r>
            <a:r>
              <a:rPr lang="tr-TR" dirty="0" err="1"/>
              <a:t>db</a:t>
            </a:r>
            <a:r>
              <a:rPr lang="tr-TR" dirty="0"/>
              <a:t> "</a:t>
            </a:r>
            <a:r>
              <a:rPr lang="tr-TR" dirty="0" err="1"/>
              <a:t>Enter</a:t>
            </a:r>
            <a:r>
              <a:rPr lang="tr-TR" dirty="0"/>
              <a:t> a </a:t>
            </a:r>
            <a:r>
              <a:rPr lang="tr-TR" dirty="0" err="1"/>
              <a:t>word</a:t>
            </a:r>
            <a:r>
              <a:rPr lang="tr-TR" dirty="0"/>
              <a:t>:","$" </a:t>
            </a:r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 smtClean="0"/>
              <a:t>word</a:t>
            </a:r>
            <a:r>
              <a:rPr lang="tr-TR" dirty="0" smtClean="0"/>
              <a:t> </a:t>
            </a:r>
            <a:r>
              <a:rPr lang="tr-TR" dirty="0" err="1"/>
              <a:t>db</a:t>
            </a:r>
            <a:r>
              <a:rPr lang="tr-TR" dirty="0"/>
              <a:t> 10,?,10 </a:t>
            </a:r>
            <a:r>
              <a:rPr lang="tr-TR" dirty="0" err="1"/>
              <a:t>dup</a:t>
            </a:r>
            <a:r>
              <a:rPr lang="tr-TR" dirty="0"/>
              <a:t>(' ')</a:t>
            </a:r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 smtClean="0"/>
              <a:t>wordEnd</a:t>
            </a:r>
            <a:r>
              <a:rPr lang="tr-TR" dirty="0" smtClean="0"/>
              <a:t> </a:t>
            </a:r>
            <a:r>
              <a:rPr lang="tr-TR" dirty="0" err="1"/>
              <a:t>db</a:t>
            </a:r>
            <a:r>
              <a:rPr lang="tr-TR" dirty="0"/>
              <a:t> 0</a:t>
            </a:r>
          </a:p>
          <a:p>
            <a:pPr marL="45720" indent="0">
              <a:buNone/>
            </a:pPr>
            <a:r>
              <a:rPr lang="tr-TR" dirty="0" err="1" smtClean="0"/>
              <a:t>Ends</a:t>
            </a:r>
            <a:endParaRPr lang="tr-TR" dirty="0" smtClean="0"/>
          </a:p>
          <a:p>
            <a:pPr marL="45720" indent="0">
              <a:buNone/>
            </a:pPr>
            <a:endParaRPr lang="tr-TR" dirty="0"/>
          </a:p>
          <a:p>
            <a:pPr marL="45720" indent="0">
              <a:buNone/>
            </a:pPr>
            <a:endParaRPr lang="tr-TR" dirty="0" smtClean="0"/>
          </a:p>
          <a:p>
            <a:pPr marL="45720" indent="0">
              <a:buNone/>
            </a:pPr>
            <a:endParaRPr lang="tr-TR" dirty="0"/>
          </a:p>
          <a:p>
            <a:pPr marL="45720" indent="0">
              <a:buNone/>
            </a:pPr>
            <a:endParaRPr lang="tr-TR" dirty="0"/>
          </a:p>
          <a:p>
            <a:pPr marL="45720" indent="0">
              <a:buNone/>
            </a:pPr>
            <a:r>
              <a:rPr lang="tr-TR" b="1" i="1" dirty="0" err="1"/>
              <a:t>stack</a:t>
            </a:r>
            <a:r>
              <a:rPr lang="tr-TR" b="1" i="1" dirty="0"/>
              <a:t> </a:t>
            </a:r>
            <a:r>
              <a:rPr lang="tr-TR" b="1" i="1" dirty="0" err="1"/>
              <a:t>segment</a:t>
            </a:r>
            <a:endParaRPr lang="tr-TR" b="1" i="1" dirty="0"/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/>
              <a:t>dw</a:t>
            </a:r>
            <a:r>
              <a:rPr lang="tr-TR" dirty="0"/>
              <a:t>   128  </a:t>
            </a:r>
            <a:r>
              <a:rPr lang="tr-TR" dirty="0" err="1"/>
              <a:t>dup</a:t>
            </a:r>
            <a:r>
              <a:rPr lang="tr-TR" dirty="0"/>
              <a:t>(0)</a:t>
            </a:r>
          </a:p>
          <a:p>
            <a:pPr marL="45720" indent="0">
              <a:buNone/>
            </a:pPr>
            <a:r>
              <a:rPr lang="tr-TR" dirty="0" err="1"/>
              <a:t>ends</a:t>
            </a:r>
            <a:endParaRPr lang="tr-TR" dirty="0"/>
          </a:p>
        </p:txBody>
      </p:sp>
      <p:sp>
        <p:nvSpPr>
          <p:cNvPr id="7" name="İçerik Yer Tutucusu 6"/>
          <p:cNvSpPr>
            <a:spLocks noGrp="1"/>
          </p:cNvSpPr>
          <p:nvPr>
            <p:ph sz="quarter" idx="4"/>
          </p:nvPr>
        </p:nvSpPr>
        <p:spPr>
          <a:xfrm>
            <a:off x="4572000" y="188640"/>
            <a:ext cx="4392488" cy="61926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tr-TR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tr-TR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dirty="0" smtClean="0">
                <a:solidFill>
                  <a:schemeClr val="tx1"/>
                </a:solidFill>
              </a:rPr>
              <a:t>D</a:t>
            </a:r>
            <a:r>
              <a:rPr lang="en-US" dirty="0" err="1" smtClean="0">
                <a:solidFill>
                  <a:schemeClr val="tx1"/>
                </a:solidFill>
              </a:rPr>
              <a:t>ata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segment refers to the segment </a:t>
            </a:r>
            <a:r>
              <a:rPr lang="en-US" dirty="0" smtClean="0">
                <a:solidFill>
                  <a:schemeClr val="tx1"/>
                </a:solidFill>
              </a:rPr>
              <a:t>where </a:t>
            </a:r>
            <a:r>
              <a:rPr lang="en-US" dirty="0">
                <a:solidFill>
                  <a:schemeClr val="tx1"/>
                </a:solidFill>
              </a:rPr>
              <a:t>the variables are defined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tr-TR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dirty="0" smtClean="0">
                <a:solidFill>
                  <a:schemeClr val="tx1"/>
                </a:solidFill>
              </a:rPr>
              <a:t>«</a:t>
            </a:r>
            <a:r>
              <a:rPr lang="tr-TR" dirty="0" err="1" smtClean="0">
                <a:solidFill>
                  <a:schemeClr val="tx1"/>
                </a:solidFill>
              </a:rPr>
              <a:t>message</a:t>
            </a:r>
            <a:r>
              <a:rPr lang="tr-TR" dirty="0" smtClean="0">
                <a:solidFill>
                  <a:schemeClr val="tx1"/>
                </a:solidFill>
              </a:rPr>
              <a:t>»,»</a:t>
            </a:r>
            <a:r>
              <a:rPr lang="tr-TR" dirty="0" err="1" smtClean="0">
                <a:solidFill>
                  <a:schemeClr val="tx1"/>
                </a:solidFill>
              </a:rPr>
              <a:t>word</a:t>
            </a:r>
            <a:r>
              <a:rPr lang="tr-TR" dirty="0" smtClean="0">
                <a:solidFill>
                  <a:schemeClr val="tx1"/>
                </a:solidFill>
              </a:rPr>
              <a:t>» </a:t>
            </a:r>
            <a:r>
              <a:rPr lang="tr-TR" dirty="0" err="1" smtClean="0">
                <a:solidFill>
                  <a:schemeClr val="tx1"/>
                </a:solidFill>
              </a:rPr>
              <a:t>and</a:t>
            </a:r>
            <a:r>
              <a:rPr lang="tr-TR" dirty="0" smtClean="0">
                <a:solidFill>
                  <a:schemeClr val="tx1"/>
                </a:solidFill>
              </a:rPr>
              <a:t> «</a:t>
            </a:r>
            <a:r>
              <a:rPr lang="tr-TR" dirty="0" err="1" smtClean="0">
                <a:solidFill>
                  <a:schemeClr val="tx1"/>
                </a:solidFill>
              </a:rPr>
              <a:t>wordEnd</a:t>
            </a:r>
            <a:r>
              <a:rPr lang="tr-TR" dirty="0" smtClean="0">
                <a:solidFill>
                  <a:schemeClr val="tx1"/>
                </a:solidFill>
              </a:rPr>
              <a:t>» </a:t>
            </a:r>
            <a:r>
              <a:rPr lang="tr-TR" dirty="0" err="1" smtClean="0">
                <a:solidFill>
                  <a:schemeClr val="tx1"/>
                </a:solidFill>
              </a:rPr>
              <a:t>are</a:t>
            </a:r>
            <a:r>
              <a:rPr lang="tr-TR" dirty="0" smtClean="0">
                <a:solidFill>
                  <a:schemeClr val="tx1"/>
                </a:solidFill>
              </a:rPr>
              <a:t> </a:t>
            </a:r>
            <a:r>
              <a:rPr lang="tr-TR" dirty="0" err="1" smtClean="0">
                <a:solidFill>
                  <a:schemeClr val="tx1"/>
                </a:solidFill>
              </a:rPr>
              <a:t>defined</a:t>
            </a:r>
            <a:r>
              <a:rPr lang="tr-TR" dirty="0" smtClean="0">
                <a:solidFill>
                  <a:schemeClr val="tx1"/>
                </a:solidFill>
              </a:rPr>
              <a:t> here.</a:t>
            </a:r>
          </a:p>
          <a:p>
            <a:pPr>
              <a:buFont typeface="Wingdings" panose="05000000000000000000" pitchFamily="2" charset="2"/>
              <a:buChar char="Ø"/>
            </a:pPr>
            <a:endParaRPr lang="tr-TR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tr-TR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tr-TR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tr-TR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tr-TR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Stack </a:t>
            </a:r>
            <a:r>
              <a:rPr lang="tr-TR" dirty="0" smtClean="0">
                <a:solidFill>
                  <a:schemeClr val="tx1"/>
                </a:solidFill>
              </a:rPr>
              <a:t>s</a:t>
            </a:r>
            <a:r>
              <a:rPr lang="en-US" dirty="0" err="1" smtClean="0">
                <a:solidFill>
                  <a:schemeClr val="tx1"/>
                </a:solidFill>
              </a:rPr>
              <a:t>egment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tr-TR" dirty="0" smtClean="0">
                <a:solidFill>
                  <a:schemeClr val="tx1"/>
                </a:solidFill>
              </a:rPr>
              <a:t>i</a:t>
            </a:r>
            <a:r>
              <a:rPr lang="en-US" dirty="0" err="1" smtClean="0">
                <a:solidFill>
                  <a:schemeClr val="tx1"/>
                </a:solidFill>
              </a:rPr>
              <a:t>ndicates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where the stack is located. This segment is set automatically by the EMU8086 program.</a:t>
            </a:r>
            <a:r>
              <a:rPr lang="tr-TR" dirty="0" smtClean="0">
                <a:solidFill>
                  <a:schemeClr val="tx1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tr-TR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97831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İçerik Yer Tutucusu 10"/>
          <p:cNvSpPr>
            <a:spLocks noGrp="1"/>
          </p:cNvSpPr>
          <p:nvPr>
            <p:ph sz="quarter" idx="13"/>
          </p:nvPr>
        </p:nvSpPr>
        <p:spPr>
          <a:xfrm>
            <a:off x="179512" y="188640"/>
            <a:ext cx="4310191" cy="648071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tr-TR" b="1" i="1" dirty="0" smtClean="0"/>
          </a:p>
          <a:p>
            <a:pPr marL="45720" indent="0">
              <a:buNone/>
            </a:pPr>
            <a:r>
              <a:rPr lang="tr-TR" b="1" i="1" dirty="0" err="1" smtClean="0"/>
              <a:t>code</a:t>
            </a:r>
            <a:r>
              <a:rPr lang="tr-TR" b="1" i="1" dirty="0" smtClean="0"/>
              <a:t> </a:t>
            </a:r>
            <a:r>
              <a:rPr lang="tr-TR" b="1" i="1" dirty="0" err="1"/>
              <a:t>segment</a:t>
            </a:r>
            <a:endParaRPr lang="tr-TR" b="1" i="1" dirty="0"/>
          </a:p>
          <a:p>
            <a:pPr marL="45720" indent="0">
              <a:buNone/>
            </a:pPr>
            <a:r>
              <a:rPr lang="tr-TR" dirty="0"/>
              <a:t>start</a:t>
            </a:r>
            <a:r>
              <a:rPr lang="tr-TR" dirty="0" smtClean="0"/>
              <a:t>:</a:t>
            </a:r>
          </a:p>
          <a:p>
            <a:pPr marL="45720" indent="0">
              <a:buNone/>
            </a:pPr>
            <a:r>
              <a:rPr lang="tr-TR" dirty="0" smtClean="0"/>
              <a:t>    </a:t>
            </a:r>
            <a:r>
              <a:rPr lang="tr-TR" dirty="0" err="1" smtClean="0"/>
              <a:t>mov</a:t>
            </a:r>
            <a:r>
              <a:rPr lang="tr-TR" dirty="0" smtClean="0"/>
              <a:t> </a:t>
            </a:r>
            <a:r>
              <a:rPr lang="tr-TR" dirty="0" err="1" smtClean="0"/>
              <a:t>ax</a:t>
            </a:r>
            <a:r>
              <a:rPr lang="tr-TR" dirty="0" smtClean="0"/>
              <a:t>, data</a:t>
            </a:r>
          </a:p>
          <a:p>
            <a:pPr marL="45720" indent="0">
              <a:buNone/>
            </a:pPr>
            <a:r>
              <a:rPr lang="tr-TR" dirty="0" smtClean="0"/>
              <a:t>    </a:t>
            </a:r>
            <a:r>
              <a:rPr lang="tr-TR" dirty="0" err="1"/>
              <a:t>mov</a:t>
            </a:r>
            <a:r>
              <a:rPr lang="tr-TR" dirty="0"/>
              <a:t> </a:t>
            </a:r>
            <a:r>
              <a:rPr lang="tr-TR" dirty="0" err="1"/>
              <a:t>ds</a:t>
            </a:r>
            <a:r>
              <a:rPr lang="tr-TR" dirty="0"/>
              <a:t>, </a:t>
            </a:r>
            <a:r>
              <a:rPr lang="tr-TR" dirty="0" err="1"/>
              <a:t>ax</a:t>
            </a:r>
            <a:r>
              <a:rPr lang="tr-TR" dirty="0"/>
              <a:t> </a:t>
            </a:r>
          </a:p>
          <a:p>
            <a:pPr marL="45720" indent="0">
              <a:buNone/>
            </a:pPr>
            <a:r>
              <a:rPr lang="tr-TR" dirty="0"/>
              <a:t>    </a:t>
            </a:r>
            <a:endParaRPr lang="tr-TR" dirty="0" smtClean="0"/>
          </a:p>
          <a:p>
            <a:pPr marL="45720" indent="0">
              <a:buNone/>
            </a:pPr>
            <a:endParaRPr lang="tr-TR" dirty="0"/>
          </a:p>
          <a:p>
            <a:pPr marL="45720" indent="0">
              <a:buNone/>
            </a:pPr>
            <a:endParaRPr lang="tr-TR" dirty="0" smtClean="0"/>
          </a:p>
          <a:p>
            <a:pPr marL="45720" indent="0">
              <a:buNone/>
            </a:pPr>
            <a:endParaRPr lang="tr-TR" dirty="0"/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/>
              <a:t>mov</a:t>
            </a:r>
            <a:r>
              <a:rPr lang="tr-TR" dirty="0"/>
              <a:t> ah,09h</a:t>
            </a:r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/>
              <a:t>mov</a:t>
            </a:r>
            <a:r>
              <a:rPr lang="tr-TR" dirty="0"/>
              <a:t> </a:t>
            </a:r>
            <a:r>
              <a:rPr lang="tr-TR" dirty="0" err="1"/>
              <a:t>dx,offset</a:t>
            </a:r>
            <a:r>
              <a:rPr lang="tr-TR" dirty="0"/>
              <a:t> </a:t>
            </a:r>
            <a:r>
              <a:rPr lang="tr-TR" dirty="0" err="1" smtClean="0"/>
              <a:t>message</a:t>
            </a:r>
            <a:endParaRPr lang="tr-TR" dirty="0"/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/>
              <a:t>int</a:t>
            </a:r>
            <a:r>
              <a:rPr lang="tr-TR" dirty="0"/>
              <a:t> 21h </a:t>
            </a:r>
            <a:endParaRPr lang="tr-TR" dirty="0" smtClean="0"/>
          </a:p>
          <a:p>
            <a:pPr marL="45720" indent="0">
              <a:buNone/>
            </a:pPr>
            <a:endParaRPr lang="tr-TR" dirty="0"/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smtClean="0"/>
              <a:t>    </a:t>
            </a:r>
            <a:endParaRPr lang="tr-TR" dirty="0"/>
          </a:p>
        </p:txBody>
      </p:sp>
      <p:sp>
        <p:nvSpPr>
          <p:cNvPr id="12" name="İçerik Yer Tutucusu 11"/>
          <p:cNvSpPr>
            <a:spLocks noGrp="1"/>
          </p:cNvSpPr>
          <p:nvPr>
            <p:ph sz="quarter" idx="14"/>
          </p:nvPr>
        </p:nvSpPr>
        <p:spPr>
          <a:xfrm>
            <a:off x="4645152" y="188640"/>
            <a:ext cx="4319336" cy="64807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Code segment indicates the section where the program is located.</a:t>
            </a: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tr-TR" dirty="0" smtClean="0"/>
              <a:t>S</a:t>
            </a:r>
            <a:r>
              <a:rPr lang="en-US" dirty="0" err="1" smtClean="0"/>
              <a:t>egment</a:t>
            </a:r>
            <a:r>
              <a:rPr lang="en-US" dirty="0" smtClean="0"/>
              <a:t> </a:t>
            </a:r>
            <a:r>
              <a:rPr lang="tr-TR" dirty="0" err="1" smtClean="0"/>
              <a:t>registers</a:t>
            </a:r>
            <a:r>
              <a:rPr lang="en-US" dirty="0" smtClean="0"/>
              <a:t> </a:t>
            </a:r>
            <a:r>
              <a:rPr lang="en-US" dirty="0"/>
              <a:t>are set automatically by the EMU8086 </a:t>
            </a:r>
            <a:r>
              <a:rPr lang="en-US" dirty="0" smtClean="0"/>
              <a:t>program</a:t>
            </a: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endParaRPr lang="tr-TR" dirty="0"/>
          </a:p>
          <a:p>
            <a:pPr marL="45720" indent="0">
              <a:buNone/>
            </a:pP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tr-TR" dirty="0" smtClean="0"/>
              <a:t>T</a:t>
            </a:r>
            <a:r>
              <a:rPr lang="en-US" dirty="0" smtClean="0"/>
              <a:t>he </a:t>
            </a:r>
            <a:r>
              <a:rPr lang="en-US" dirty="0"/>
              <a:t>text in the </a:t>
            </a:r>
            <a:r>
              <a:rPr lang="tr-TR" dirty="0" smtClean="0"/>
              <a:t>«</a:t>
            </a:r>
            <a:r>
              <a:rPr lang="en-US" dirty="0" smtClean="0"/>
              <a:t>message</a:t>
            </a:r>
            <a:r>
              <a:rPr lang="tr-TR" dirty="0" smtClean="0"/>
              <a:t>» </a:t>
            </a:r>
            <a:r>
              <a:rPr lang="en-US" dirty="0" smtClean="0"/>
              <a:t>variable </a:t>
            </a:r>
            <a:r>
              <a:rPr lang="en-US" dirty="0"/>
              <a:t>is printed on the screen by </a:t>
            </a:r>
            <a:r>
              <a:rPr lang="en-US" dirty="0" smtClean="0"/>
              <a:t>interrupt</a:t>
            </a:r>
            <a:r>
              <a:rPr lang="tr-TR" dirty="0" smtClean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/>
              <a:t>E</a:t>
            </a:r>
            <a:r>
              <a:rPr lang="en-US" dirty="0" smtClean="0"/>
              <a:t>ach </a:t>
            </a:r>
            <a:r>
              <a:rPr lang="en-US" dirty="0"/>
              <a:t>interrupt has a interrupt number and a function number</a:t>
            </a:r>
            <a:r>
              <a:rPr lang="en-US" dirty="0" smtClean="0"/>
              <a:t>.</a:t>
            </a:r>
            <a:r>
              <a:rPr lang="tr-TR" dirty="0" smtClean="0"/>
              <a:t> </a:t>
            </a:r>
            <a:r>
              <a:rPr lang="tr-TR" dirty="0" err="1" smtClean="0"/>
              <a:t>Interrupt</a:t>
            </a:r>
            <a:r>
              <a:rPr lang="tr-TR" dirty="0" smtClean="0"/>
              <a:t> No:21h  </a:t>
            </a:r>
            <a:r>
              <a:rPr lang="tr-TR" dirty="0" err="1" smtClean="0"/>
              <a:t>Function</a:t>
            </a:r>
            <a:r>
              <a:rPr lang="tr-TR" dirty="0" smtClean="0"/>
              <a:t> No: AH=09h</a:t>
            </a:r>
          </a:p>
          <a:p>
            <a:pPr>
              <a:buFont typeface="Wingdings" panose="05000000000000000000" pitchFamily="2" charset="2"/>
              <a:buChar char="Ø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xmlns="" val="3492440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37704" y="620688"/>
            <a:ext cx="7501947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58741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İçerik Yer Tutucusu 10"/>
          <p:cNvSpPr>
            <a:spLocks noGrp="1"/>
          </p:cNvSpPr>
          <p:nvPr>
            <p:ph sz="quarter" idx="13"/>
          </p:nvPr>
        </p:nvSpPr>
        <p:spPr>
          <a:xfrm>
            <a:off x="179512" y="188640"/>
            <a:ext cx="4310191" cy="648071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tr-TR" dirty="0" err="1"/>
              <a:t>mov</a:t>
            </a:r>
            <a:r>
              <a:rPr lang="tr-TR" dirty="0"/>
              <a:t> </a:t>
            </a:r>
            <a:r>
              <a:rPr lang="tr-TR" dirty="0" err="1"/>
              <a:t>dx,offset</a:t>
            </a:r>
            <a:r>
              <a:rPr lang="tr-TR" dirty="0"/>
              <a:t> </a:t>
            </a:r>
            <a:r>
              <a:rPr lang="tr-TR" dirty="0" err="1"/>
              <a:t>word</a:t>
            </a:r>
            <a:endParaRPr lang="tr-TR" dirty="0"/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/>
              <a:t>mov</a:t>
            </a:r>
            <a:r>
              <a:rPr lang="tr-TR" dirty="0"/>
              <a:t> ah,0Ah</a:t>
            </a:r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/>
              <a:t>int</a:t>
            </a:r>
            <a:r>
              <a:rPr lang="tr-TR" dirty="0"/>
              <a:t> 21h</a:t>
            </a:r>
          </a:p>
          <a:p>
            <a:pPr marL="45720" indent="0">
              <a:buNone/>
            </a:pPr>
            <a:endParaRPr lang="tr-TR" dirty="0"/>
          </a:p>
        </p:txBody>
      </p:sp>
      <p:sp>
        <p:nvSpPr>
          <p:cNvPr id="12" name="İçerik Yer Tutucusu 11"/>
          <p:cNvSpPr>
            <a:spLocks noGrp="1"/>
          </p:cNvSpPr>
          <p:nvPr>
            <p:ph sz="quarter" idx="14"/>
          </p:nvPr>
        </p:nvSpPr>
        <p:spPr>
          <a:xfrm>
            <a:off x="4645152" y="188640"/>
            <a:ext cx="4319336" cy="64807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endParaRPr lang="tr-TR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 </a:t>
            </a:r>
            <a:r>
              <a:rPr lang="en-US" dirty="0"/>
              <a:t>string is printed on "word" variable  with the </a:t>
            </a:r>
            <a:r>
              <a:rPr lang="en-US" dirty="0" smtClean="0"/>
              <a:t>interrupt</a:t>
            </a:r>
            <a:r>
              <a:rPr lang="tr-TR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tr-TR" dirty="0"/>
          </a:p>
          <a:p>
            <a:pPr marL="45720" indent="0">
              <a:buNone/>
            </a:pPr>
            <a:endParaRPr lang="tr-TR" dirty="0"/>
          </a:p>
          <a:p>
            <a:pPr marL="45720" indent="0">
              <a:buNone/>
            </a:pP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tr-TR" dirty="0" err="1"/>
              <a:t>Interrupt</a:t>
            </a:r>
            <a:r>
              <a:rPr lang="tr-TR" dirty="0"/>
              <a:t> No:21h  </a:t>
            </a:r>
            <a:r>
              <a:rPr lang="tr-TR" dirty="0" err="1"/>
              <a:t>Function</a:t>
            </a:r>
            <a:r>
              <a:rPr lang="tr-TR" dirty="0"/>
              <a:t> No: </a:t>
            </a:r>
            <a:r>
              <a:rPr lang="tr-TR" dirty="0" smtClean="0"/>
              <a:t>AH=0Ah</a:t>
            </a:r>
            <a:endParaRPr lang="tr-TR" dirty="0"/>
          </a:p>
          <a:p>
            <a:pPr>
              <a:buFont typeface="Wingdings" panose="05000000000000000000" pitchFamily="2" charset="2"/>
              <a:buChar char="Ø"/>
            </a:pPr>
            <a:endParaRPr lang="tr-T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34165"/>
            <a:ext cx="4248472" cy="4466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492440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İçerik Yer Tutucusu 10"/>
          <p:cNvSpPr>
            <a:spLocks noGrp="1"/>
          </p:cNvSpPr>
          <p:nvPr>
            <p:ph sz="quarter" idx="13"/>
          </p:nvPr>
        </p:nvSpPr>
        <p:spPr>
          <a:xfrm>
            <a:off x="179512" y="188640"/>
            <a:ext cx="4310191" cy="648071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tr-TR" dirty="0" smtClean="0"/>
          </a:p>
          <a:p>
            <a:pPr marL="45720" indent="0">
              <a:buNone/>
            </a:pPr>
            <a:r>
              <a:rPr lang="tr-TR" dirty="0" err="1" smtClean="0"/>
              <a:t>mov</a:t>
            </a:r>
            <a:r>
              <a:rPr lang="tr-TR" dirty="0" smtClean="0"/>
              <a:t> </a:t>
            </a:r>
            <a:r>
              <a:rPr lang="tr-TR" dirty="0" err="1" smtClean="0"/>
              <a:t>cx,wordEnd-word</a:t>
            </a:r>
            <a:endParaRPr lang="tr-TR" dirty="0" smtClean="0"/>
          </a:p>
          <a:p>
            <a:pPr marL="45720" indent="0">
              <a:buNone/>
            </a:pPr>
            <a:endParaRPr lang="tr-TR" dirty="0"/>
          </a:p>
          <a:p>
            <a:pPr marL="45720" indent="0">
              <a:buNone/>
            </a:pPr>
            <a:r>
              <a:rPr lang="tr-TR" dirty="0"/>
              <a:t>   </a:t>
            </a:r>
            <a:endParaRPr lang="tr-TR" dirty="0" smtClean="0"/>
          </a:p>
          <a:p>
            <a:pPr marL="45720" indent="0">
              <a:buNone/>
            </a:pPr>
            <a:endParaRPr lang="tr-TR" dirty="0"/>
          </a:p>
          <a:p>
            <a:pPr marL="45720" indent="0">
              <a:buNone/>
            </a:pPr>
            <a:endParaRPr lang="tr-TR" dirty="0" smtClean="0"/>
          </a:p>
          <a:p>
            <a:pPr marL="45720" indent="0">
              <a:buNone/>
            </a:pPr>
            <a:endParaRPr lang="tr-TR" dirty="0"/>
          </a:p>
          <a:p>
            <a:pPr marL="45720" indent="0">
              <a:buNone/>
            </a:pPr>
            <a:endParaRPr lang="tr-TR" dirty="0" smtClean="0"/>
          </a:p>
          <a:p>
            <a:pPr marL="45720" indent="0">
              <a:buNone/>
            </a:pPr>
            <a:endParaRPr lang="tr-TR" dirty="0" smtClean="0"/>
          </a:p>
          <a:p>
            <a:pPr marL="45720" indent="0">
              <a:buNone/>
            </a:pPr>
            <a:r>
              <a:rPr lang="tr-TR" dirty="0" smtClean="0"/>
              <a:t> </a:t>
            </a:r>
            <a:r>
              <a:rPr lang="tr-TR" dirty="0" err="1"/>
              <a:t>lea</a:t>
            </a:r>
            <a:r>
              <a:rPr lang="tr-TR" dirty="0"/>
              <a:t> </a:t>
            </a:r>
            <a:r>
              <a:rPr lang="tr-TR" dirty="0" err="1" smtClean="0"/>
              <a:t>si,word</a:t>
            </a:r>
            <a:endParaRPr lang="tr-TR" dirty="0"/>
          </a:p>
          <a:p>
            <a:pPr marL="45720" indent="0">
              <a:buNone/>
            </a:pPr>
            <a:r>
              <a:rPr lang="tr-TR" dirty="0"/>
              <a:t>    </a:t>
            </a:r>
          </a:p>
        </p:txBody>
      </p:sp>
      <p:sp>
        <p:nvSpPr>
          <p:cNvPr id="12" name="İçerik Yer Tutucusu 11"/>
          <p:cNvSpPr>
            <a:spLocks noGrp="1"/>
          </p:cNvSpPr>
          <p:nvPr>
            <p:ph sz="quarter" idx="14"/>
          </p:nvPr>
        </p:nvSpPr>
        <p:spPr>
          <a:xfrm>
            <a:off x="4645152" y="188640"/>
            <a:ext cx="4319336" cy="64807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tr-TR" dirty="0" smtClean="0"/>
              <a:t>I</a:t>
            </a:r>
            <a:r>
              <a:rPr lang="en-US" dirty="0" smtClean="0"/>
              <a:t>t </a:t>
            </a:r>
            <a:r>
              <a:rPr lang="en-US" dirty="0"/>
              <a:t>is necessary to use a counter for </a:t>
            </a:r>
            <a:r>
              <a:rPr lang="en-US" dirty="0" smtClean="0"/>
              <a:t>loop</a:t>
            </a:r>
            <a:r>
              <a:rPr lang="tr-TR" dirty="0" smtClean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counter</a:t>
            </a:r>
            <a:r>
              <a:rPr lang="tr-TR" dirty="0" smtClean="0"/>
              <a:t> is «CX» </a:t>
            </a:r>
            <a:r>
              <a:rPr lang="tr-TR" dirty="0" err="1" smtClean="0"/>
              <a:t>register</a:t>
            </a:r>
            <a:r>
              <a:rPr lang="tr-TR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value of the </a:t>
            </a:r>
            <a:r>
              <a:rPr lang="tr-TR" dirty="0" smtClean="0"/>
              <a:t>«CX» </a:t>
            </a:r>
            <a:r>
              <a:rPr lang="tr-TR" dirty="0" err="1" smtClean="0"/>
              <a:t>register</a:t>
            </a:r>
            <a:r>
              <a:rPr lang="en-US" dirty="0" smtClean="0"/>
              <a:t> </a:t>
            </a:r>
            <a:r>
              <a:rPr lang="en-US" dirty="0"/>
              <a:t>is </a:t>
            </a:r>
            <a:r>
              <a:rPr lang="en-US" dirty="0" smtClean="0"/>
              <a:t>calculated</a:t>
            </a:r>
            <a:r>
              <a:rPr lang="tr-TR" dirty="0" smtClean="0"/>
              <a:t>.</a:t>
            </a:r>
          </a:p>
          <a:p>
            <a:pPr marL="45720" indent="0">
              <a:buNone/>
            </a:pPr>
            <a:endParaRPr lang="tr-TR" dirty="0" smtClean="0"/>
          </a:p>
          <a:p>
            <a:pPr marL="45720" indent="0">
              <a:buNone/>
            </a:pPr>
            <a:endParaRPr lang="tr-TR" dirty="0" smtClean="0"/>
          </a:p>
          <a:p>
            <a:pPr marL="45720" indent="0">
              <a:buNone/>
            </a:pP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address of the </a:t>
            </a:r>
            <a:r>
              <a:rPr lang="tr-TR" dirty="0" smtClean="0"/>
              <a:t>«</a:t>
            </a:r>
            <a:r>
              <a:rPr lang="en-US" dirty="0" smtClean="0"/>
              <a:t>word</a:t>
            </a:r>
            <a:r>
              <a:rPr lang="tr-TR" dirty="0" smtClean="0"/>
              <a:t>»</a:t>
            </a:r>
            <a:r>
              <a:rPr lang="en-US" dirty="0" smtClean="0"/>
              <a:t> </a:t>
            </a:r>
            <a:r>
              <a:rPr lang="en-US" dirty="0"/>
              <a:t>variable is assigned to the </a:t>
            </a:r>
            <a:r>
              <a:rPr lang="tr-TR" dirty="0" smtClean="0"/>
              <a:t>«SI» </a:t>
            </a:r>
            <a:r>
              <a:rPr lang="en-US" dirty="0" smtClean="0"/>
              <a:t>register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«LEA» </a:t>
            </a:r>
            <a:r>
              <a:rPr lang="tr-TR" dirty="0" err="1" smtClean="0"/>
              <a:t>instruction</a:t>
            </a: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xmlns="" val="3492440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İçerik Yer Tutucusu 10"/>
          <p:cNvSpPr>
            <a:spLocks noGrp="1"/>
          </p:cNvSpPr>
          <p:nvPr>
            <p:ph sz="quarter" idx="13"/>
          </p:nvPr>
        </p:nvSpPr>
        <p:spPr>
          <a:xfrm>
            <a:off x="179512" y="188640"/>
            <a:ext cx="4310191" cy="6480719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tr-TR" b="1" dirty="0" err="1"/>
              <a:t>dongu</a:t>
            </a:r>
            <a:r>
              <a:rPr lang="tr-TR" b="1" dirty="0"/>
              <a:t>:</a:t>
            </a:r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/>
              <a:t>mov</a:t>
            </a:r>
            <a:r>
              <a:rPr lang="tr-TR" dirty="0"/>
              <a:t> dl,[si]</a:t>
            </a:r>
          </a:p>
          <a:p>
            <a:pPr marL="45720" indent="0">
              <a:buNone/>
            </a:pPr>
            <a:r>
              <a:rPr lang="tr-TR" dirty="0"/>
              <a:t>    </a:t>
            </a:r>
          </a:p>
          <a:p>
            <a:pPr marL="45720" indent="0">
              <a:buNone/>
            </a:pPr>
            <a:r>
              <a:rPr lang="tr-TR" dirty="0" smtClean="0"/>
              <a:t>    </a:t>
            </a:r>
            <a:r>
              <a:rPr lang="tr-TR" dirty="0" err="1" smtClean="0"/>
              <a:t>mov</a:t>
            </a:r>
            <a:r>
              <a:rPr lang="tr-TR" dirty="0" smtClean="0"/>
              <a:t> </a:t>
            </a:r>
            <a:r>
              <a:rPr lang="tr-TR" dirty="0"/>
              <a:t>ah,02h</a:t>
            </a:r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/>
              <a:t>int</a:t>
            </a:r>
            <a:r>
              <a:rPr lang="tr-TR" dirty="0"/>
              <a:t> 21h</a:t>
            </a:r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/>
              <a:t>inc</a:t>
            </a:r>
            <a:r>
              <a:rPr lang="tr-TR" dirty="0"/>
              <a:t> </a:t>
            </a:r>
            <a:r>
              <a:rPr lang="tr-TR" dirty="0" smtClean="0"/>
              <a:t>si</a:t>
            </a:r>
          </a:p>
          <a:p>
            <a:pPr marL="45720" indent="0">
              <a:buNone/>
            </a:pPr>
            <a:endParaRPr lang="tr-TR" dirty="0"/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/>
              <a:t>mov</a:t>
            </a:r>
            <a:r>
              <a:rPr lang="tr-TR" dirty="0"/>
              <a:t> ah,02h</a:t>
            </a:r>
          </a:p>
          <a:p>
            <a:pPr marL="45720" indent="0">
              <a:buNone/>
            </a:pPr>
            <a:r>
              <a:rPr lang="tr-TR" dirty="0" smtClean="0"/>
              <a:t>    </a:t>
            </a:r>
            <a:r>
              <a:rPr lang="tr-TR" dirty="0" err="1" smtClean="0"/>
              <a:t>mov</a:t>
            </a:r>
            <a:r>
              <a:rPr lang="tr-TR" dirty="0" smtClean="0"/>
              <a:t> </a:t>
            </a:r>
            <a:r>
              <a:rPr lang="tr-TR" dirty="0"/>
              <a:t>dl,10 </a:t>
            </a:r>
            <a:endParaRPr lang="tr-TR" dirty="0" smtClean="0"/>
          </a:p>
          <a:p>
            <a:pPr marL="45720" indent="0">
              <a:buNone/>
            </a:pPr>
            <a:r>
              <a:rPr lang="tr-TR" dirty="0"/>
              <a:t> </a:t>
            </a:r>
            <a:r>
              <a:rPr lang="tr-TR" dirty="0" smtClean="0"/>
              <a:t>   </a:t>
            </a:r>
            <a:r>
              <a:rPr lang="tr-TR" dirty="0" err="1" smtClean="0"/>
              <a:t>int</a:t>
            </a:r>
            <a:r>
              <a:rPr lang="tr-TR" dirty="0" smtClean="0"/>
              <a:t> 21h</a:t>
            </a:r>
          </a:p>
          <a:p>
            <a:pPr marL="45720" indent="0">
              <a:buNone/>
            </a:pPr>
            <a:endParaRPr lang="tr-TR" dirty="0" smtClean="0"/>
          </a:p>
          <a:p>
            <a:pPr marL="45720" indent="0">
              <a:buNone/>
            </a:pPr>
            <a:r>
              <a:rPr lang="tr-TR" dirty="0" smtClean="0"/>
              <a:t>    </a:t>
            </a:r>
            <a:r>
              <a:rPr lang="tr-TR" dirty="0" err="1" smtClean="0"/>
              <a:t>mov</a:t>
            </a:r>
            <a:r>
              <a:rPr lang="tr-TR" dirty="0" smtClean="0"/>
              <a:t> </a:t>
            </a:r>
            <a:r>
              <a:rPr lang="tr-TR" dirty="0"/>
              <a:t>ah,02h</a:t>
            </a:r>
          </a:p>
          <a:p>
            <a:pPr marL="45720" indent="0">
              <a:buNone/>
            </a:pPr>
            <a:r>
              <a:rPr lang="tr-TR" dirty="0" smtClean="0"/>
              <a:t>    </a:t>
            </a:r>
            <a:r>
              <a:rPr lang="tr-TR" dirty="0" err="1" smtClean="0"/>
              <a:t>mov</a:t>
            </a:r>
            <a:r>
              <a:rPr lang="tr-TR" dirty="0" smtClean="0"/>
              <a:t> </a:t>
            </a:r>
            <a:r>
              <a:rPr lang="tr-TR" dirty="0"/>
              <a:t>dl,13 </a:t>
            </a:r>
          </a:p>
          <a:p>
            <a:pPr marL="45720" indent="0">
              <a:buNone/>
            </a:pPr>
            <a:r>
              <a:rPr lang="tr-TR" dirty="0" smtClean="0"/>
              <a:t>    </a:t>
            </a:r>
            <a:r>
              <a:rPr lang="tr-TR" dirty="0" err="1" smtClean="0"/>
              <a:t>int</a:t>
            </a:r>
            <a:r>
              <a:rPr lang="tr-TR" dirty="0" smtClean="0"/>
              <a:t> </a:t>
            </a:r>
            <a:r>
              <a:rPr lang="tr-TR" dirty="0"/>
              <a:t>21h</a:t>
            </a:r>
          </a:p>
          <a:p>
            <a:pPr marL="45720" indent="0">
              <a:buNone/>
            </a:pPr>
            <a:r>
              <a:rPr lang="tr-TR" dirty="0"/>
              <a:t>    </a:t>
            </a:r>
            <a:r>
              <a:rPr lang="tr-TR" dirty="0" err="1"/>
              <a:t>loop</a:t>
            </a:r>
            <a:r>
              <a:rPr lang="tr-TR" dirty="0"/>
              <a:t> </a:t>
            </a:r>
            <a:r>
              <a:rPr lang="tr-TR" b="1" dirty="0" err="1"/>
              <a:t>dongu</a:t>
            </a:r>
            <a:endParaRPr lang="tr-TR" b="1" dirty="0"/>
          </a:p>
          <a:p>
            <a:pPr marL="45720" indent="0">
              <a:buNone/>
            </a:pPr>
            <a:endParaRPr lang="tr-TR" dirty="0"/>
          </a:p>
        </p:txBody>
      </p:sp>
      <p:sp>
        <p:nvSpPr>
          <p:cNvPr id="12" name="İçerik Yer Tutucusu 11"/>
          <p:cNvSpPr>
            <a:spLocks noGrp="1"/>
          </p:cNvSpPr>
          <p:nvPr>
            <p:ph sz="quarter" idx="14"/>
          </p:nvPr>
        </p:nvSpPr>
        <p:spPr>
          <a:xfrm>
            <a:off x="4645152" y="188640"/>
            <a:ext cx="4319336" cy="648072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Loop is used to write the letters of the string to the screen</a:t>
            </a:r>
            <a:r>
              <a:rPr lang="en-US" dirty="0" smtClean="0"/>
              <a:t>.</a:t>
            </a: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beginning of the loop is determined by </a:t>
            </a:r>
            <a:r>
              <a:rPr lang="tr-TR" dirty="0" err="1" smtClean="0"/>
              <a:t>the</a:t>
            </a:r>
            <a:r>
              <a:rPr lang="tr-TR" dirty="0" smtClean="0"/>
              <a:t> «</a:t>
            </a:r>
            <a:r>
              <a:rPr lang="tr-TR" dirty="0" err="1" smtClean="0"/>
              <a:t>dongu</a:t>
            </a:r>
            <a:r>
              <a:rPr lang="tr-TR" dirty="0" smtClean="0"/>
              <a:t>»</a:t>
            </a:r>
            <a:r>
              <a:rPr lang="en-US" dirty="0" smtClean="0"/>
              <a:t> </a:t>
            </a:r>
            <a:r>
              <a:rPr lang="en-US" dirty="0"/>
              <a:t>label, and its end by the </a:t>
            </a:r>
            <a:r>
              <a:rPr lang="tr-TR" dirty="0" smtClean="0"/>
              <a:t>«</a:t>
            </a:r>
            <a:r>
              <a:rPr lang="en-US" dirty="0" smtClean="0"/>
              <a:t>loop</a:t>
            </a:r>
            <a:r>
              <a:rPr lang="tr-TR" dirty="0" smtClean="0"/>
              <a:t>»</a:t>
            </a:r>
            <a:r>
              <a:rPr lang="en-US" dirty="0" smtClean="0"/>
              <a:t> </a:t>
            </a:r>
            <a:r>
              <a:rPr lang="tr-TR" dirty="0" err="1" smtClean="0"/>
              <a:t>instruction</a:t>
            </a:r>
            <a:r>
              <a:rPr lang="en-US" dirty="0" smtClean="0"/>
              <a:t>.</a:t>
            </a: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tr-TR" dirty="0" smtClean="0"/>
              <a:t>W</a:t>
            </a:r>
            <a:r>
              <a:rPr lang="en-US" dirty="0" err="1" smtClean="0"/>
              <a:t>ith</a:t>
            </a:r>
            <a:r>
              <a:rPr lang="en-US" dirty="0" smtClean="0"/>
              <a:t> </a:t>
            </a:r>
            <a:r>
              <a:rPr lang="en-US" dirty="0"/>
              <a:t>the first </a:t>
            </a:r>
            <a:r>
              <a:rPr lang="tr-TR" dirty="0" err="1" smtClean="0"/>
              <a:t>interrupt</a:t>
            </a:r>
            <a:r>
              <a:rPr lang="en-US" dirty="0" smtClean="0"/>
              <a:t>, </a:t>
            </a:r>
            <a:r>
              <a:rPr lang="en-US" dirty="0"/>
              <a:t>the character is printed on the </a:t>
            </a:r>
            <a:r>
              <a:rPr lang="en-US" dirty="0" smtClean="0"/>
              <a:t>screen</a:t>
            </a:r>
            <a:r>
              <a:rPr lang="tr-TR" dirty="0" smtClean="0"/>
              <a:t> (</a:t>
            </a:r>
            <a:r>
              <a:rPr lang="tr-TR" dirty="0" err="1"/>
              <a:t>Interrupt</a:t>
            </a:r>
            <a:r>
              <a:rPr lang="tr-TR" dirty="0"/>
              <a:t> No:21h  </a:t>
            </a:r>
            <a:r>
              <a:rPr lang="tr-TR" dirty="0" err="1"/>
              <a:t>Function</a:t>
            </a:r>
            <a:r>
              <a:rPr lang="tr-TR" dirty="0"/>
              <a:t> No: </a:t>
            </a:r>
            <a:r>
              <a:rPr lang="tr-TR" dirty="0" smtClean="0"/>
              <a:t>AH=02h)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With the second </a:t>
            </a:r>
            <a:r>
              <a:rPr lang="tr-TR" dirty="0" err="1"/>
              <a:t>interrupt</a:t>
            </a:r>
            <a:r>
              <a:rPr lang="en-US" dirty="0" smtClean="0"/>
              <a:t>, </a:t>
            </a:r>
            <a:r>
              <a:rPr lang="en-US" dirty="0"/>
              <a:t>go to the bottom row</a:t>
            </a:r>
            <a:r>
              <a:rPr lang="en-US" dirty="0" smtClean="0"/>
              <a:t>.</a:t>
            </a:r>
            <a:r>
              <a:rPr lang="tr-TR" dirty="0" smtClean="0"/>
              <a:t>(</a:t>
            </a:r>
            <a:r>
              <a:rPr lang="tr-TR" dirty="0" err="1"/>
              <a:t>Interrupt</a:t>
            </a:r>
            <a:r>
              <a:rPr lang="tr-TR" dirty="0"/>
              <a:t> </a:t>
            </a:r>
            <a:r>
              <a:rPr lang="tr-TR" dirty="0" smtClean="0"/>
              <a:t>No:21h, </a:t>
            </a:r>
            <a:r>
              <a:rPr lang="tr-TR" dirty="0" err="1"/>
              <a:t>Function</a:t>
            </a:r>
            <a:r>
              <a:rPr lang="tr-TR" dirty="0"/>
              <a:t> No: </a:t>
            </a:r>
            <a:r>
              <a:rPr lang="tr-TR" dirty="0" smtClean="0"/>
              <a:t>AH=02h,DL=10)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With the </a:t>
            </a:r>
            <a:r>
              <a:rPr lang="tr-TR" dirty="0" err="1" smtClean="0"/>
              <a:t>thir</a:t>
            </a:r>
            <a:r>
              <a:rPr lang="en-US" dirty="0" smtClean="0"/>
              <a:t>d </a:t>
            </a:r>
            <a:r>
              <a:rPr lang="tr-TR" dirty="0" err="1" smtClean="0"/>
              <a:t>interrupt</a:t>
            </a:r>
            <a:r>
              <a:rPr lang="tr-TR" dirty="0" smtClean="0"/>
              <a:t>, </a:t>
            </a:r>
            <a:r>
              <a:rPr lang="tr-TR" dirty="0" err="1" smtClean="0"/>
              <a:t>column</a:t>
            </a:r>
            <a:r>
              <a:rPr lang="tr-TR" dirty="0" smtClean="0"/>
              <a:t> </a:t>
            </a:r>
            <a:r>
              <a:rPr lang="tr-TR" dirty="0" err="1"/>
              <a:t>count</a:t>
            </a:r>
            <a:r>
              <a:rPr lang="tr-TR" dirty="0"/>
              <a:t> is </a:t>
            </a:r>
            <a:r>
              <a:rPr lang="tr-TR" dirty="0" err="1" smtClean="0"/>
              <a:t>reset</a:t>
            </a:r>
            <a:r>
              <a:rPr lang="tr-TR" dirty="0" smtClean="0"/>
              <a:t>.</a:t>
            </a:r>
            <a:r>
              <a:rPr lang="tr-TR" dirty="0"/>
              <a:t> (</a:t>
            </a:r>
            <a:r>
              <a:rPr lang="tr-TR" dirty="0" err="1"/>
              <a:t>Interrupt</a:t>
            </a:r>
            <a:r>
              <a:rPr lang="tr-TR" dirty="0"/>
              <a:t> No:21h, </a:t>
            </a:r>
            <a:r>
              <a:rPr lang="tr-TR" dirty="0" err="1"/>
              <a:t>Function</a:t>
            </a:r>
            <a:r>
              <a:rPr lang="tr-TR" dirty="0"/>
              <a:t> No: </a:t>
            </a:r>
            <a:r>
              <a:rPr lang="tr-TR" dirty="0" smtClean="0"/>
              <a:t>AH=02h,DL=13)</a:t>
            </a:r>
            <a:endParaRPr lang="tr-TR" dirty="0"/>
          </a:p>
          <a:p>
            <a:pPr>
              <a:buFont typeface="Wingdings" panose="05000000000000000000" pitchFamily="2" charset="2"/>
              <a:buChar char="Ø"/>
            </a:pPr>
            <a:endParaRPr lang="tr-TR" dirty="0"/>
          </a:p>
          <a:p>
            <a:pPr>
              <a:buFont typeface="Wingdings" panose="05000000000000000000" pitchFamily="2" charset="2"/>
              <a:buChar char="Ø"/>
            </a:pP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endParaRPr lang="tr-TR" dirty="0" smtClean="0"/>
          </a:p>
          <a:p>
            <a:pPr marL="4572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xmlns="" val="2911285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03647" y="692696"/>
            <a:ext cx="6883775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492440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İçerik Yer Tutucusu 10"/>
          <p:cNvSpPr>
            <a:spLocks noGrp="1"/>
          </p:cNvSpPr>
          <p:nvPr>
            <p:ph sz="quarter" idx="13"/>
          </p:nvPr>
        </p:nvSpPr>
        <p:spPr>
          <a:xfrm>
            <a:off x="179512" y="188640"/>
            <a:ext cx="4310191" cy="6480719"/>
          </a:xfrm>
        </p:spPr>
        <p:txBody>
          <a:bodyPr/>
          <a:lstStyle/>
          <a:p>
            <a:pPr marL="45720" indent="0">
              <a:buNone/>
            </a:pPr>
            <a:endParaRPr lang="tr-TR" dirty="0" smtClean="0"/>
          </a:p>
          <a:p>
            <a:pPr marL="45720" indent="0">
              <a:buNone/>
            </a:pPr>
            <a:r>
              <a:rPr lang="en-US" dirty="0" err="1" smtClean="0"/>
              <a:t>mov</a:t>
            </a:r>
            <a:r>
              <a:rPr lang="en-US" dirty="0" smtClean="0"/>
              <a:t> </a:t>
            </a:r>
            <a:r>
              <a:rPr lang="en-US" dirty="0"/>
              <a:t>ax, 4c00h </a:t>
            </a:r>
            <a:endParaRPr lang="tr-TR" dirty="0" smtClean="0"/>
          </a:p>
          <a:p>
            <a:pPr marL="4572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21h    </a:t>
            </a:r>
          </a:p>
          <a:p>
            <a:pPr marL="45720" indent="0">
              <a:buNone/>
            </a:pPr>
            <a:r>
              <a:rPr lang="en-US" dirty="0"/>
              <a:t>ends</a:t>
            </a:r>
          </a:p>
          <a:p>
            <a:pPr marL="45720" indent="0">
              <a:buNone/>
            </a:pPr>
            <a:endParaRPr lang="tr-TR" dirty="0" smtClean="0"/>
          </a:p>
          <a:p>
            <a:pPr marL="45720" indent="0">
              <a:buNone/>
            </a:pPr>
            <a:endParaRPr lang="tr-TR" dirty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end </a:t>
            </a:r>
            <a:r>
              <a:rPr lang="en-US" dirty="0" smtClean="0"/>
              <a:t>start</a:t>
            </a:r>
            <a:endParaRPr lang="tr-TR" dirty="0"/>
          </a:p>
        </p:txBody>
      </p:sp>
      <p:sp>
        <p:nvSpPr>
          <p:cNvPr id="12" name="İçerik Yer Tutucusu 11"/>
          <p:cNvSpPr>
            <a:spLocks noGrp="1"/>
          </p:cNvSpPr>
          <p:nvPr>
            <p:ph sz="quarter" idx="14"/>
          </p:nvPr>
        </p:nvSpPr>
        <p:spPr>
          <a:xfrm>
            <a:off x="4645152" y="188640"/>
            <a:ext cx="4319336" cy="64807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is returned to the operating system with the </a:t>
            </a:r>
            <a:r>
              <a:rPr lang="tr-TR" dirty="0" err="1" smtClean="0"/>
              <a:t>last</a:t>
            </a:r>
            <a:r>
              <a:rPr lang="en-US" dirty="0" smtClean="0"/>
              <a:t> </a:t>
            </a:r>
            <a:r>
              <a:rPr lang="tr-TR" dirty="0" err="1" smtClean="0"/>
              <a:t>interrupt</a:t>
            </a:r>
            <a:r>
              <a:rPr lang="en-US" dirty="0" smtClean="0"/>
              <a:t>.</a:t>
            </a:r>
            <a:r>
              <a:rPr lang="tr-TR" dirty="0"/>
              <a:t> (</a:t>
            </a:r>
            <a:r>
              <a:rPr lang="tr-TR" dirty="0" err="1"/>
              <a:t>Interrupt</a:t>
            </a:r>
            <a:r>
              <a:rPr lang="tr-TR" dirty="0"/>
              <a:t> No:21h, </a:t>
            </a:r>
            <a:r>
              <a:rPr lang="tr-TR" dirty="0" err="1"/>
              <a:t>Function</a:t>
            </a:r>
            <a:r>
              <a:rPr lang="tr-TR" dirty="0"/>
              <a:t> No: </a:t>
            </a:r>
            <a:r>
              <a:rPr lang="tr-TR" dirty="0" smtClean="0"/>
              <a:t>AX=4C00h)</a:t>
            </a:r>
          </a:p>
          <a:p>
            <a:pPr marL="45720" indent="0">
              <a:buNone/>
            </a:pP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endParaRPr lang="tr-TR" dirty="0"/>
          </a:p>
          <a:p>
            <a:pPr>
              <a:buFont typeface="Wingdings" panose="05000000000000000000" pitchFamily="2" charset="2"/>
              <a:buChar char="Ø"/>
            </a:pP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/>
              <a:t>program is </a:t>
            </a:r>
            <a:r>
              <a:rPr lang="tr-TR" dirty="0" err="1"/>
              <a:t>terminated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xmlns="" val="3492440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İçerik Yer Tutucusu 11"/>
          <p:cNvSpPr>
            <a:spLocks noGrp="1"/>
          </p:cNvSpPr>
          <p:nvPr>
            <p:ph sz="quarter" idx="14"/>
          </p:nvPr>
        </p:nvSpPr>
        <p:spPr>
          <a:xfrm>
            <a:off x="251520" y="188640"/>
            <a:ext cx="8712968" cy="6480720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tr-TR" sz="9600" dirty="0" smtClean="0">
                <a:solidFill>
                  <a:schemeClr val="accent1">
                    <a:lumMod val="75000"/>
                  </a:schemeClr>
                </a:solidFill>
                <a:latin typeface="Bernard MT Condensed" panose="02050806060905020404" pitchFamily="18" charset="0"/>
              </a:rPr>
              <a:t>THANK YOU </a:t>
            </a:r>
          </a:p>
          <a:p>
            <a:pPr marL="45720" indent="0" algn="ctr">
              <a:buNone/>
            </a:pPr>
            <a:r>
              <a:rPr lang="tr-TR" sz="9600" dirty="0" smtClean="0">
                <a:solidFill>
                  <a:schemeClr val="accent1">
                    <a:lumMod val="75000"/>
                  </a:schemeClr>
                </a:solidFill>
                <a:latin typeface="Bernard MT Condensed" panose="02050806060905020404" pitchFamily="18" charset="0"/>
              </a:rPr>
              <a:t>FOR </a:t>
            </a:r>
          </a:p>
          <a:p>
            <a:pPr marL="45720" indent="0" algn="ctr">
              <a:buNone/>
            </a:pPr>
            <a:r>
              <a:rPr lang="tr-TR" sz="9600" dirty="0">
                <a:solidFill>
                  <a:schemeClr val="accent1">
                    <a:lumMod val="75000"/>
                  </a:schemeClr>
                </a:solidFill>
                <a:latin typeface="Bernard MT Condensed" panose="02050806060905020404" pitchFamily="18" charset="0"/>
              </a:rPr>
              <a:t> </a:t>
            </a:r>
            <a:r>
              <a:rPr lang="tr-TR" sz="9600" dirty="0" smtClean="0">
                <a:solidFill>
                  <a:schemeClr val="accent1">
                    <a:lumMod val="75000"/>
                  </a:schemeClr>
                </a:solidFill>
                <a:latin typeface="Bernard MT Condensed" panose="02050806060905020404" pitchFamily="18" charset="0"/>
              </a:rPr>
              <a:t>     LISTENING…</a:t>
            </a:r>
          </a:p>
          <a:p>
            <a:pPr marL="45720" indent="0" algn="ctr">
              <a:buNone/>
            </a:pPr>
            <a:r>
              <a:rPr lang="tr-TR" sz="3200" dirty="0" smtClean="0">
                <a:solidFill>
                  <a:schemeClr val="tx1"/>
                </a:solidFill>
                <a:latin typeface="Bernard MT Condensed" panose="02050806060905020404" pitchFamily="18" charset="0"/>
              </a:rPr>
              <a:t>EREN DEMİR</a:t>
            </a:r>
            <a:endParaRPr lang="tr-TR" sz="3200" dirty="0">
              <a:solidFill>
                <a:schemeClr val="tx1"/>
              </a:solidFill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5526427"/>
      </p:ext>
    </p:extLst>
  </p:cSld>
  <p:clrMapOvr>
    <a:masterClrMapping/>
  </p:clrMapOvr>
</p:sld>
</file>

<file path=ppt/theme/theme1.xml><?xml version="1.0" encoding="utf-8"?>
<a:theme xmlns:a="http://schemas.openxmlformats.org/drawingml/2006/main" name="Hava Akımı">
  <a:themeElements>
    <a:clrScheme name="Hava Akımı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Hava Akımı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va Akımı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22DDE17DC32DC54EB010413460834BFE" ma:contentTypeVersion="2" ma:contentTypeDescription="Yeni belge oluşturun." ma:contentTypeScope="" ma:versionID="f0e3d91972186a053038bdf45065f1ee">
  <xsd:schema xmlns:xsd="http://www.w3.org/2001/XMLSchema" xmlns:xs="http://www.w3.org/2001/XMLSchema" xmlns:p="http://schemas.microsoft.com/office/2006/metadata/properties" xmlns:ns2="ecabdfc0-4a02-4d75-8d22-fdc26463eb0a" targetNamespace="http://schemas.microsoft.com/office/2006/metadata/properties" ma:root="true" ma:fieldsID="b55a7095206caf5b532e4ae8c7c05c5c" ns2:_="">
    <xsd:import namespace="ecabdfc0-4a02-4d75-8d22-fdc26463eb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abdfc0-4a02-4d75-8d22-fdc26463eb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6774DB-91AC-4295-8FA5-66642021B78C}"/>
</file>

<file path=customXml/itemProps2.xml><?xml version="1.0" encoding="utf-8"?>
<ds:datastoreItem xmlns:ds="http://schemas.openxmlformats.org/officeDocument/2006/customXml" ds:itemID="{E91F3A8F-D10B-4CDB-AD5C-6AA8C187AC7B}"/>
</file>

<file path=customXml/itemProps3.xml><?xml version="1.0" encoding="utf-8"?>
<ds:datastoreItem xmlns:ds="http://schemas.openxmlformats.org/officeDocument/2006/customXml" ds:itemID="{EEB3B402-6615-4CF0-B5F8-F6019A4EAEC4}"/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365</TotalTime>
  <Words>436</Words>
  <Application>Microsoft Office PowerPoint</Application>
  <PresentationFormat>Ekran Gösterisi (4:3)</PresentationFormat>
  <Paragraphs>123</Paragraphs>
  <Slides>10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1" baseType="lpstr">
      <vt:lpstr>Hava Akımı</vt:lpstr>
      <vt:lpstr> AN ASSEMBLY LANGUAGE EXAMPLE WITH EMU8086</vt:lpstr>
      <vt:lpstr>Slayt 2</vt:lpstr>
      <vt:lpstr>Slayt 3</vt:lpstr>
      <vt:lpstr>Slayt 4</vt:lpstr>
      <vt:lpstr>Slayt 5</vt:lpstr>
      <vt:lpstr>Slayt 6</vt:lpstr>
      <vt:lpstr>Slayt 7</vt:lpstr>
      <vt:lpstr>Slayt 8</vt:lpstr>
      <vt:lpstr>Slayt 9</vt:lpstr>
      <vt:lpstr>Slayt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 CALCULATOR                   WITH ASSEMBLY LANGUAGE</dc:title>
  <dc:creator>E.D</dc:creator>
  <cp:lastModifiedBy>Fatih Akay</cp:lastModifiedBy>
  <cp:revision>22</cp:revision>
  <cp:lastPrinted>2020-11-03T11:54:17Z</cp:lastPrinted>
  <dcterms:created xsi:type="dcterms:W3CDTF">2020-11-01T09:14:47Z</dcterms:created>
  <dcterms:modified xsi:type="dcterms:W3CDTF">2020-11-07T06:26:44Z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0x01010022DDE17DC32DC54EB010413460834BFE</vt:lpwstr>
  </property>
</Properties>
</file>