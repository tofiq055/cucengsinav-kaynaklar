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9" r:id="rId2"/>
    <p:sldId id="258" r:id="rId3"/>
    <p:sldId id="260" r:id="rId4"/>
    <p:sldId id="261" r:id="rId5"/>
    <p:sldId id="263" r:id="rId6"/>
    <p:sldId id="276" r:id="rId7"/>
    <p:sldId id="262" r:id="rId8"/>
    <p:sldId id="269" r:id="rId9"/>
    <p:sldId id="270" r:id="rId10"/>
    <p:sldId id="271" r:id="rId11"/>
    <p:sldId id="273" r:id="rId12"/>
    <p:sldId id="274" r:id="rId13"/>
    <p:sldId id="265" r:id="rId14"/>
    <p:sldId id="266" r:id="rId15"/>
    <p:sldId id="278" r:id="rId16"/>
    <p:sldId id="267" r:id="rId17"/>
    <p:sldId id="268" r:id="rId18"/>
    <p:sldId id="277" r:id="rId1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İkizkenar Üçgen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tr-TR"/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ik Üçgen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İkizkenar Üçgen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  <p:cxnSp>
        <p:nvCxnSpPr>
          <p:cNvPr id="11" name="10 Düz Bağlayıcı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9 Düz Bağlayıcı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Karşılaştırm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Dik Üçgen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7 Düz Bağlayıcı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8 Düz Bağlayıcı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E0851C96-9B05-42C7-9A4B-452EC8DABD50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tr-TR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0C174D3-5E6F-4824-9BB3-021257F61640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endParaRPr lang="tr-TR" dirty="0" smtClean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 smtClean="0">
                <a:solidFill>
                  <a:srgbClr val="FF0000"/>
                </a:solidFill>
              </a:rPr>
              <a:t>      -WHAT IS THE ASSEMBLY LANGUAGE?</a:t>
            </a:r>
            <a:endParaRPr lang="tr-T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   </a:t>
            </a:r>
            <a:r>
              <a:rPr lang="tr-TR" b="1" dirty="0" err="1" smtClean="0"/>
              <a:t>Assembly</a:t>
            </a:r>
            <a:r>
              <a:rPr lang="tr-TR" b="1" dirty="0" smtClean="0"/>
              <a:t> </a:t>
            </a:r>
            <a:r>
              <a:rPr lang="tr-TR" b="1" dirty="0" err="1"/>
              <a:t>language</a:t>
            </a:r>
            <a:r>
              <a:rPr lang="tr-TR" dirty="0"/>
              <a:t> (</a:t>
            </a:r>
            <a:r>
              <a:rPr lang="tr-TR" dirty="0" err="1"/>
              <a:t>or</a:t>
            </a:r>
            <a:r>
              <a:rPr lang="tr-TR" dirty="0"/>
              <a:t> </a:t>
            </a:r>
            <a:r>
              <a:rPr lang="tr-TR" b="1" dirty="0" err="1"/>
              <a:t>assembler</a:t>
            </a:r>
            <a:r>
              <a:rPr lang="tr-TR" b="1" dirty="0"/>
              <a:t> </a:t>
            </a:r>
            <a:r>
              <a:rPr lang="tr-TR" b="1" dirty="0" err="1"/>
              <a:t>language</a:t>
            </a:r>
            <a:r>
              <a:rPr lang="tr-TR" dirty="0" smtClean="0"/>
              <a:t>),</a:t>
            </a:r>
            <a:r>
              <a:rPr lang="en-US" dirty="0"/>
              <a:t> is </a:t>
            </a:r>
            <a:r>
              <a:rPr lang="tr-TR" dirty="0" smtClean="0"/>
              <a:t> </a:t>
            </a:r>
            <a:r>
              <a:rPr lang="en-US" dirty="0" smtClean="0"/>
              <a:t>any</a:t>
            </a:r>
            <a:r>
              <a:rPr lang="en-US" dirty="0"/>
              <a:t> </a:t>
            </a:r>
            <a:r>
              <a:rPr lang="tr-TR" u="sng" dirty="0" err="1" smtClean="0"/>
              <a:t>low</a:t>
            </a:r>
            <a:r>
              <a:rPr lang="tr-TR" u="sng" dirty="0" smtClean="0"/>
              <a:t> </a:t>
            </a:r>
            <a:r>
              <a:rPr lang="tr-TR" u="sng" dirty="0" err="1" smtClean="0"/>
              <a:t>level</a:t>
            </a:r>
            <a:r>
              <a:rPr lang="tr-TR" u="sng" dirty="0" smtClean="0"/>
              <a:t> </a:t>
            </a:r>
            <a:r>
              <a:rPr lang="tr-TR" u="sng" dirty="0" err="1" smtClean="0"/>
              <a:t>programming</a:t>
            </a:r>
            <a:r>
              <a:rPr lang="tr-TR" u="sng" dirty="0" smtClean="0"/>
              <a:t> </a:t>
            </a:r>
            <a:r>
              <a:rPr lang="tr-TR" u="sng" dirty="0" err="1" smtClean="0"/>
              <a:t>language</a:t>
            </a:r>
            <a:r>
              <a:rPr lang="en-US" dirty="0"/>
              <a:t> in which there </a:t>
            </a:r>
            <a:r>
              <a:rPr lang="tr-TR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a very strong correspondence between the </a:t>
            </a:r>
            <a:r>
              <a:rPr lang="tr-TR" dirty="0" smtClean="0"/>
              <a:t> </a:t>
            </a:r>
            <a:r>
              <a:rPr lang="en-US" dirty="0" smtClean="0"/>
              <a:t>instructions </a:t>
            </a:r>
            <a:r>
              <a:rPr lang="en-US" dirty="0"/>
              <a:t>in the </a:t>
            </a:r>
            <a:r>
              <a:rPr lang="en-US" dirty="0" smtClean="0"/>
              <a:t>language</a:t>
            </a:r>
            <a:r>
              <a:rPr lang="tr-TR" dirty="0"/>
              <a:t> b</a:t>
            </a:r>
            <a:r>
              <a:rPr lang="en-US" dirty="0" err="1" smtClean="0"/>
              <a:t>ecause</a:t>
            </a:r>
            <a:r>
              <a:rPr lang="en-US" dirty="0" smtClean="0"/>
              <a:t> </a:t>
            </a:r>
            <a:r>
              <a:rPr lang="en-US" dirty="0"/>
              <a:t>assembly depends on the machine code instructions, every assembly language is designed for exactly one specific computer architecture. Assembly language may also be called </a:t>
            </a:r>
            <a:r>
              <a:rPr lang="en-US" i="1" dirty="0"/>
              <a:t>symbolic machine code</a:t>
            </a:r>
            <a:r>
              <a:rPr lang="en-US" dirty="0" smtClean="0"/>
              <a:t>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1"/>
            <a:ext cx="9144000" cy="6858000"/>
          </a:xfrm>
        </p:spPr>
        <p:txBody>
          <a:bodyPr/>
          <a:lstStyle/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 smtClean="0"/>
              <a:t>		</a:t>
            </a:r>
            <a:r>
              <a:rPr lang="tr-TR" dirty="0" smtClean="0">
                <a:solidFill>
                  <a:srgbClr val="FF0000"/>
                </a:solidFill>
              </a:rPr>
              <a:t>-WHAT IS THE MACHINE CODE?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 smtClean="0"/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214282" y="214290"/>
            <a:ext cx="8715436" cy="6429420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  </a:t>
            </a:r>
            <a:r>
              <a:rPr lang="en-US" b="1" dirty="0" smtClean="0"/>
              <a:t>Machine language</a:t>
            </a:r>
            <a:r>
              <a:rPr lang="en-US" dirty="0" smtClean="0"/>
              <a:t>, or </a:t>
            </a:r>
            <a:r>
              <a:rPr lang="en-US" b="1" dirty="0" smtClean="0"/>
              <a:t>machine code</a:t>
            </a:r>
            <a:r>
              <a:rPr lang="en-US" dirty="0" smtClean="0"/>
              <a:t>, is a low-level </a:t>
            </a:r>
            <a:r>
              <a:rPr lang="en-US" b="1" dirty="0" smtClean="0"/>
              <a:t>language</a:t>
            </a:r>
            <a:r>
              <a:rPr lang="en-US" dirty="0" smtClean="0"/>
              <a:t> comprised of binary digits (ones and zeros)</a:t>
            </a:r>
            <a:r>
              <a:rPr lang="tr-TR" dirty="0" smtClean="0"/>
              <a:t>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tr-TR" dirty="0" smtClean="0"/>
              <a:t>M</a:t>
            </a:r>
            <a:r>
              <a:rPr lang="en-US" dirty="0" err="1" smtClean="0"/>
              <a:t>achine</a:t>
            </a:r>
            <a:r>
              <a:rPr lang="en-US" dirty="0" smtClean="0"/>
              <a:t> language is often confused with assembly language</a:t>
            </a:r>
            <a:r>
              <a:rPr lang="tr-TR" dirty="0" smtClean="0"/>
              <a:t> but </a:t>
            </a:r>
            <a:r>
              <a:rPr lang="tr-TR" dirty="0" err="1" smtClean="0"/>
              <a:t>there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some</a:t>
            </a:r>
            <a:r>
              <a:rPr lang="tr-TR" dirty="0" smtClean="0"/>
              <a:t> </a:t>
            </a:r>
            <a:r>
              <a:rPr lang="tr-TR" dirty="0" err="1" smtClean="0"/>
              <a:t>differences</a:t>
            </a:r>
            <a:r>
              <a:rPr lang="tr-TR" dirty="0" smtClean="0"/>
              <a:t> </a:t>
            </a:r>
            <a:r>
              <a:rPr lang="tr-TR" dirty="0" err="1" smtClean="0"/>
              <a:t>between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assembly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machine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.</a:t>
            </a:r>
            <a:r>
              <a:rPr lang="tr-TR" dirty="0" err="1" smtClean="0"/>
              <a:t>What</a:t>
            </a:r>
            <a:r>
              <a:rPr lang="tr-TR" dirty="0" smtClean="0"/>
              <a:t> is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difference</a:t>
            </a:r>
            <a:r>
              <a:rPr lang="tr-TR" dirty="0" smtClean="0"/>
              <a:t>?</a:t>
            </a:r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tr-TR" dirty="0" smtClean="0">
                <a:solidFill>
                  <a:srgbClr val="FF0000"/>
                </a:solidFill>
              </a:rPr>
              <a:t>            WHAT IS THE ASSEMBLER?   </a:t>
            </a:r>
          </a:p>
          <a:p>
            <a:pPr>
              <a:buNone/>
            </a:pPr>
            <a:r>
              <a:rPr lang="tr-TR" dirty="0" smtClean="0"/>
              <a:t>  S</a:t>
            </a:r>
            <a:r>
              <a:rPr lang="en-US" dirty="0" err="1" smtClean="0"/>
              <a:t>oftware</a:t>
            </a:r>
            <a:r>
              <a:rPr lang="en-US" dirty="0" smtClean="0"/>
              <a:t> tools are needed for editing assembling linking and debugging assembly language programs</a:t>
            </a:r>
            <a:r>
              <a:rPr lang="tr-TR" dirty="0" smtClean="0"/>
              <a:t>.</a:t>
            </a:r>
          </a:p>
          <a:p>
            <a:pPr>
              <a:buNone/>
            </a:pPr>
            <a:r>
              <a:rPr lang="tr-TR" dirty="0" smtClean="0"/>
              <a:t>  A</a:t>
            </a:r>
            <a:r>
              <a:rPr lang="en-US" dirty="0" smtClean="0"/>
              <a:t>n assembler is a program that converts source code programs written in assembly language into objects files in machine language</a:t>
            </a:r>
            <a:r>
              <a:rPr lang="tr-TR" dirty="0" smtClean="0"/>
              <a:t>.</a:t>
            </a:r>
          </a:p>
          <a:p>
            <a:pPr>
              <a:buNone/>
            </a:pPr>
            <a:r>
              <a:rPr lang="tr-TR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İçerik Yer Tutucusu" descr="Assembly-Language-vs-Machine-Language-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assembly-language-5-63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-3585"/>
            <a:ext cx="9353510" cy="70224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tr-TR" dirty="0" smtClean="0"/>
              <a:t>INSTRUCTIONS AND MACHINE LANGUAGE</a:t>
            </a:r>
          </a:p>
          <a:p>
            <a:r>
              <a:rPr lang="tr-TR" dirty="0" err="1" smtClean="0"/>
              <a:t>Each</a:t>
            </a:r>
            <a:r>
              <a:rPr lang="tr-TR" dirty="0" smtClean="0"/>
              <a:t> </a:t>
            </a:r>
            <a:r>
              <a:rPr lang="tr-TR" dirty="0" err="1" smtClean="0"/>
              <a:t>command</a:t>
            </a:r>
            <a:r>
              <a:rPr lang="tr-TR" dirty="0" smtClean="0"/>
              <a:t> of program is </a:t>
            </a:r>
            <a:r>
              <a:rPr lang="tr-TR" dirty="0" err="1" smtClean="0"/>
              <a:t>called</a:t>
            </a:r>
            <a:r>
              <a:rPr lang="tr-TR" dirty="0" smtClean="0"/>
              <a:t> an </a:t>
            </a:r>
            <a:r>
              <a:rPr lang="tr-TR" dirty="0" err="1" smtClean="0"/>
              <a:t>instructs</a:t>
            </a:r>
            <a:endParaRPr lang="tr-TR" dirty="0" smtClean="0"/>
          </a:p>
          <a:p>
            <a:r>
              <a:rPr lang="tr-TR" dirty="0" err="1" smtClean="0"/>
              <a:t>Computers</a:t>
            </a:r>
            <a:r>
              <a:rPr lang="tr-TR" dirty="0" smtClean="0"/>
              <a:t> </a:t>
            </a:r>
            <a:r>
              <a:rPr lang="tr-TR" dirty="0" err="1" smtClean="0"/>
              <a:t>only</a:t>
            </a:r>
            <a:r>
              <a:rPr lang="tr-TR" dirty="0" smtClean="0"/>
              <a:t> </a:t>
            </a:r>
            <a:r>
              <a:rPr lang="tr-TR" dirty="0" err="1" smtClean="0"/>
              <a:t>deal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binary</a:t>
            </a:r>
            <a:r>
              <a:rPr lang="tr-TR" dirty="0" smtClean="0"/>
              <a:t> data,</a:t>
            </a:r>
            <a:r>
              <a:rPr lang="tr-TR" dirty="0" err="1" smtClean="0"/>
              <a:t>hence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instructions</a:t>
            </a:r>
            <a:r>
              <a:rPr lang="tr-TR" dirty="0" smtClean="0"/>
              <a:t> </a:t>
            </a:r>
            <a:r>
              <a:rPr lang="tr-TR" dirty="0" err="1" smtClean="0"/>
              <a:t>must</a:t>
            </a:r>
            <a:r>
              <a:rPr lang="tr-TR" dirty="0" smtClean="0"/>
              <a:t> be </a:t>
            </a:r>
            <a:r>
              <a:rPr lang="tr-TR" dirty="0" err="1" smtClean="0"/>
              <a:t>binary</a:t>
            </a:r>
            <a:r>
              <a:rPr lang="tr-TR" dirty="0" smtClean="0"/>
              <a:t> format</a:t>
            </a:r>
          </a:p>
          <a:p>
            <a:r>
              <a:rPr lang="tr-TR" dirty="0" err="1" smtClean="0"/>
              <a:t>The</a:t>
            </a:r>
            <a:r>
              <a:rPr lang="tr-TR" dirty="0" smtClean="0"/>
              <a:t> set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instructions</a:t>
            </a:r>
            <a:r>
              <a:rPr lang="tr-TR" dirty="0" smtClean="0"/>
              <a:t> </a:t>
            </a:r>
            <a:r>
              <a:rPr lang="tr-TR" dirty="0" err="1" smtClean="0"/>
              <a:t>makes</a:t>
            </a:r>
            <a:r>
              <a:rPr lang="tr-TR" dirty="0" smtClean="0"/>
              <a:t> </a:t>
            </a:r>
            <a:r>
              <a:rPr lang="tr-TR" dirty="0" err="1" smtClean="0"/>
              <a:t>up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computer’s</a:t>
            </a:r>
            <a:r>
              <a:rPr lang="tr-TR" dirty="0" smtClean="0"/>
              <a:t> </a:t>
            </a:r>
            <a:r>
              <a:rPr lang="tr-TR" dirty="0" err="1" smtClean="0"/>
              <a:t>machine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.</a:t>
            </a:r>
            <a:r>
              <a:rPr lang="tr-TR" dirty="0" err="1" smtClean="0"/>
              <a:t>This</a:t>
            </a:r>
            <a:r>
              <a:rPr lang="tr-TR" dirty="0" smtClean="0"/>
              <a:t> is </a:t>
            </a:r>
            <a:r>
              <a:rPr lang="tr-TR" dirty="0" err="1" smtClean="0"/>
              <a:t>also</a:t>
            </a:r>
            <a:r>
              <a:rPr lang="tr-TR" dirty="0" smtClean="0"/>
              <a:t> </a:t>
            </a:r>
            <a:r>
              <a:rPr lang="tr-TR" dirty="0" err="1" smtClean="0"/>
              <a:t>referred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as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instruction</a:t>
            </a:r>
            <a:r>
              <a:rPr lang="tr-TR" dirty="0" smtClean="0"/>
              <a:t> set.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tr-TR" dirty="0" smtClean="0"/>
              <a:t>INSTRUCTION FIELDS</a:t>
            </a:r>
          </a:p>
          <a:p>
            <a:r>
              <a:rPr lang="tr-TR" dirty="0" err="1" smtClean="0"/>
              <a:t>Machine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instructions</a:t>
            </a:r>
            <a:r>
              <a:rPr lang="tr-TR" dirty="0" smtClean="0"/>
              <a:t> </a:t>
            </a:r>
            <a:r>
              <a:rPr lang="tr-TR" dirty="0" err="1" smtClean="0"/>
              <a:t>usually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made</a:t>
            </a:r>
            <a:r>
              <a:rPr lang="tr-TR" dirty="0" smtClean="0"/>
              <a:t> </a:t>
            </a:r>
            <a:r>
              <a:rPr lang="tr-TR" dirty="0" err="1" smtClean="0"/>
              <a:t>up</a:t>
            </a:r>
            <a:r>
              <a:rPr lang="tr-TR" dirty="0" smtClean="0"/>
              <a:t> of </a:t>
            </a:r>
            <a:r>
              <a:rPr lang="tr-TR" dirty="0" err="1" smtClean="0"/>
              <a:t>several</a:t>
            </a:r>
            <a:r>
              <a:rPr lang="tr-TR" dirty="0" smtClean="0"/>
              <a:t> </a:t>
            </a:r>
            <a:r>
              <a:rPr lang="tr-TR" dirty="0" err="1" smtClean="0"/>
              <a:t>fields</a:t>
            </a:r>
            <a:r>
              <a:rPr lang="tr-TR" dirty="0" smtClean="0"/>
              <a:t>.</a:t>
            </a:r>
            <a:r>
              <a:rPr lang="tr-TR" dirty="0" err="1" smtClean="0"/>
              <a:t>Each</a:t>
            </a:r>
            <a:r>
              <a:rPr lang="tr-TR" dirty="0" smtClean="0"/>
              <a:t> </a:t>
            </a:r>
            <a:r>
              <a:rPr lang="tr-TR" dirty="0" err="1" smtClean="0"/>
              <a:t>field</a:t>
            </a:r>
            <a:r>
              <a:rPr lang="tr-TR" dirty="0" smtClean="0"/>
              <a:t> </a:t>
            </a:r>
            <a:r>
              <a:rPr lang="tr-TR" dirty="0" err="1" smtClean="0"/>
              <a:t>specifies</a:t>
            </a:r>
            <a:r>
              <a:rPr lang="tr-TR" dirty="0" smtClean="0"/>
              <a:t> </a:t>
            </a:r>
            <a:r>
              <a:rPr lang="tr-TR" dirty="0" err="1" smtClean="0"/>
              <a:t>different</a:t>
            </a:r>
            <a:r>
              <a:rPr lang="tr-TR" dirty="0" smtClean="0"/>
              <a:t> </a:t>
            </a:r>
            <a:r>
              <a:rPr lang="tr-TR" dirty="0" err="1" smtClean="0"/>
              <a:t>information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computer</a:t>
            </a:r>
            <a:r>
              <a:rPr lang="tr-TR" dirty="0" smtClean="0"/>
              <a:t>.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major</a:t>
            </a:r>
            <a:r>
              <a:rPr lang="tr-TR" dirty="0" smtClean="0"/>
              <a:t> </a:t>
            </a:r>
            <a:r>
              <a:rPr lang="tr-TR" dirty="0" err="1" smtClean="0"/>
              <a:t>two</a:t>
            </a:r>
            <a:r>
              <a:rPr lang="tr-TR" dirty="0" smtClean="0"/>
              <a:t> </a:t>
            </a:r>
            <a:r>
              <a:rPr lang="tr-TR" dirty="0" err="1" smtClean="0"/>
              <a:t>fields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:</a:t>
            </a:r>
          </a:p>
          <a:p>
            <a:r>
              <a:rPr lang="tr-TR" dirty="0" err="1" smtClean="0"/>
              <a:t>Opcode</a:t>
            </a:r>
            <a:r>
              <a:rPr lang="tr-TR" dirty="0" smtClean="0"/>
              <a:t> </a:t>
            </a:r>
            <a:r>
              <a:rPr lang="tr-TR" dirty="0" err="1" smtClean="0"/>
              <a:t>field</a:t>
            </a:r>
            <a:r>
              <a:rPr lang="tr-TR" dirty="0" smtClean="0"/>
              <a:t> </a:t>
            </a:r>
            <a:r>
              <a:rPr lang="tr-TR" dirty="0" err="1" smtClean="0"/>
              <a:t>which</a:t>
            </a:r>
            <a:r>
              <a:rPr lang="tr-TR" dirty="0" smtClean="0"/>
              <a:t> </a:t>
            </a:r>
            <a:r>
              <a:rPr lang="tr-TR" dirty="0" err="1" smtClean="0"/>
              <a:t>stands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operation</a:t>
            </a:r>
            <a:r>
              <a:rPr lang="tr-TR" dirty="0" smtClean="0"/>
              <a:t> </a:t>
            </a:r>
            <a:r>
              <a:rPr lang="tr-TR" dirty="0" err="1" smtClean="0"/>
              <a:t>code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şt</a:t>
            </a:r>
            <a:r>
              <a:rPr lang="tr-TR" dirty="0" smtClean="0"/>
              <a:t> </a:t>
            </a:r>
            <a:r>
              <a:rPr lang="tr-TR" dirty="0" err="1" smtClean="0"/>
              <a:t>specifies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particular</a:t>
            </a:r>
            <a:r>
              <a:rPr lang="tr-TR" dirty="0" smtClean="0"/>
              <a:t> </a:t>
            </a:r>
            <a:r>
              <a:rPr lang="tr-TR" dirty="0" err="1" smtClean="0"/>
              <a:t>operation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is </a:t>
            </a:r>
            <a:r>
              <a:rPr lang="tr-TR" dirty="0" err="1" smtClean="0"/>
              <a:t>to</a:t>
            </a:r>
            <a:r>
              <a:rPr lang="tr-TR" dirty="0" smtClean="0"/>
              <a:t> be </a:t>
            </a:r>
            <a:r>
              <a:rPr lang="tr-TR" dirty="0" err="1" smtClean="0"/>
              <a:t>performed</a:t>
            </a:r>
            <a:r>
              <a:rPr lang="tr-TR" dirty="0" smtClean="0"/>
              <a:t>.</a:t>
            </a:r>
          </a:p>
          <a:p>
            <a:r>
              <a:rPr lang="tr-TR" dirty="0" smtClean="0"/>
              <a:t>(</a:t>
            </a:r>
            <a:r>
              <a:rPr lang="tr-TR" dirty="0" err="1" smtClean="0"/>
              <a:t>each</a:t>
            </a:r>
            <a:r>
              <a:rPr lang="tr-TR" dirty="0" smtClean="0"/>
              <a:t> </a:t>
            </a:r>
            <a:r>
              <a:rPr lang="tr-TR" dirty="0" err="1" smtClean="0"/>
              <a:t>operation</a:t>
            </a:r>
            <a:r>
              <a:rPr lang="tr-TR" dirty="0" smtClean="0"/>
              <a:t> has it </a:t>
            </a:r>
            <a:r>
              <a:rPr lang="tr-TR" dirty="0" err="1" smtClean="0"/>
              <a:t>unique</a:t>
            </a:r>
            <a:r>
              <a:rPr lang="tr-TR" dirty="0" smtClean="0"/>
              <a:t> </a:t>
            </a:r>
            <a:r>
              <a:rPr lang="tr-TR" dirty="0" err="1" smtClean="0"/>
              <a:t>opcode</a:t>
            </a:r>
            <a:r>
              <a:rPr lang="tr-TR" dirty="0" smtClean="0"/>
              <a:t>)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tr-TR" dirty="0" err="1" smtClean="0"/>
              <a:t>Operands</a:t>
            </a:r>
            <a:r>
              <a:rPr lang="tr-TR" dirty="0" smtClean="0"/>
              <a:t> </a:t>
            </a:r>
            <a:r>
              <a:rPr lang="tr-TR" dirty="0" err="1" smtClean="0"/>
              <a:t>field</a:t>
            </a:r>
            <a:r>
              <a:rPr lang="tr-TR" dirty="0" smtClean="0"/>
              <a:t> </a:t>
            </a:r>
            <a:r>
              <a:rPr lang="tr-TR" dirty="0" err="1" smtClean="0"/>
              <a:t>which</a:t>
            </a:r>
            <a:r>
              <a:rPr lang="tr-TR" dirty="0" smtClean="0"/>
              <a:t> </a:t>
            </a:r>
            <a:r>
              <a:rPr lang="tr-TR" dirty="0" err="1" smtClean="0"/>
              <a:t>specify</a:t>
            </a:r>
            <a:r>
              <a:rPr lang="tr-TR" dirty="0" smtClean="0"/>
              <a:t> </a:t>
            </a:r>
            <a:r>
              <a:rPr lang="tr-TR" dirty="0" err="1" smtClean="0"/>
              <a:t>where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get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source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destination</a:t>
            </a:r>
            <a:r>
              <a:rPr lang="tr-TR" dirty="0" smtClean="0"/>
              <a:t> </a:t>
            </a:r>
            <a:r>
              <a:rPr lang="tr-TR" dirty="0" err="1" smtClean="0"/>
              <a:t>operands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operation</a:t>
            </a:r>
            <a:r>
              <a:rPr lang="tr-TR" dirty="0" smtClean="0"/>
              <a:t> </a:t>
            </a:r>
            <a:r>
              <a:rPr lang="tr-TR" dirty="0" err="1" smtClean="0"/>
              <a:t>specified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opcode</a:t>
            </a:r>
            <a:r>
              <a:rPr lang="tr-TR" dirty="0" smtClean="0"/>
              <a:t>.</a:t>
            </a:r>
          </a:p>
          <a:p>
            <a:r>
              <a:rPr lang="tr-TR" dirty="0" smtClean="0"/>
              <a:t>(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source</a:t>
            </a:r>
            <a:r>
              <a:rPr lang="tr-TR" dirty="0" smtClean="0"/>
              <a:t> of </a:t>
            </a:r>
            <a:r>
              <a:rPr lang="tr-TR" dirty="0" err="1" smtClean="0"/>
              <a:t>operands</a:t>
            </a:r>
            <a:r>
              <a:rPr lang="tr-TR" dirty="0" smtClean="0"/>
              <a:t> can be a </a:t>
            </a:r>
            <a:r>
              <a:rPr lang="tr-TR" dirty="0" err="1" smtClean="0"/>
              <a:t>constant</a:t>
            </a:r>
            <a:r>
              <a:rPr lang="tr-TR" dirty="0" smtClean="0"/>
              <a:t>,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memory</a:t>
            </a:r>
            <a:r>
              <a:rPr lang="tr-TR" dirty="0" smtClean="0"/>
              <a:t> </a:t>
            </a:r>
            <a:r>
              <a:rPr lang="tr-TR" dirty="0" err="1" smtClean="0"/>
              <a:t>or</a:t>
            </a:r>
            <a:r>
              <a:rPr lang="tr-TR" dirty="0" smtClean="0"/>
              <a:t> </a:t>
            </a:r>
            <a:r>
              <a:rPr lang="tr-TR" dirty="0" err="1" smtClean="0"/>
              <a:t>one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general-</a:t>
            </a:r>
            <a:r>
              <a:rPr lang="tr-TR" dirty="0" err="1" smtClean="0"/>
              <a:t>purpose</a:t>
            </a:r>
            <a:r>
              <a:rPr lang="tr-TR" dirty="0" smtClean="0"/>
              <a:t> </a:t>
            </a:r>
            <a:r>
              <a:rPr lang="tr-TR" dirty="0" err="1" smtClean="0"/>
              <a:t>registers</a:t>
            </a:r>
            <a:r>
              <a:rPr lang="tr-TR" dirty="0" smtClean="0"/>
              <a:t>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assembly-language-11-63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9227" cy="686158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assembly-language-12-63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6516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WHY LEARN ASSEMBLY LANGUAGE</a:t>
            </a:r>
          </a:p>
          <a:p>
            <a:r>
              <a:rPr lang="tr-TR" dirty="0" smtClean="0"/>
              <a:t>1)A</a:t>
            </a:r>
            <a:r>
              <a:rPr lang="en-US" dirty="0" err="1" smtClean="0"/>
              <a:t>ccessibilty</a:t>
            </a:r>
            <a:r>
              <a:rPr lang="en-US" dirty="0" smtClean="0"/>
              <a:t> to hardware system</a:t>
            </a:r>
          </a:p>
          <a:p>
            <a:r>
              <a:rPr lang="tr-TR" dirty="0" smtClean="0"/>
              <a:t>A</a:t>
            </a:r>
            <a:r>
              <a:rPr lang="en-US" dirty="0" err="1" smtClean="0"/>
              <a:t>ssembly</a:t>
            </a:r>
            <a:r>
              <a:rPr lang="en-US" dirty="0" smtClean="0"/>
              <a:t> language is useful for implementing system software also useful for small </a:t>
            </a:r>
            <a:r>
              <a:rPr lang="en-US" dirty="0" err="1" smtClean="0"/>
              <a:t>embeded</a:t>
            </a:r>
            <a:r>
              <a:rPr lang="en-US" dirty="0" smtClean="0"/>
              <a:t> system applications</a:t>
            </a:r>
            <a:endParaRPr lang="tr-TR" dirty="0" smtClean="0"/>
          </a:p>
          <a:p>
            <a:r>
              <a:rPr lang="tr-TR" dirty="0" smtClean="0"/>
              <a:t>2)</a:t>
            </a:r>
            <a:r>
              <a:rPr lang="tr-TR" dirty="0" err="1" smtClean="0"/>
              <a:t>Space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Time </a:t>
            </a:r>
            <a:r>
              <a:rPr lang="tr-TR" dirty="0" err="1" smtClean="0"/>
              <a:t>efficiency</a:t>
            </a:r>
            <a:endParaRPr lang="tr-TR" dirty="0" smtClean="0"/>
          </a:p>
          <a:p>
            <a:r>
              <a:rPr lang="tr-TR" dirty="0" smtClean="0"/>
              <a:t>U</a:t>
            </a:r>
            <a:r>
              <a:rPr lang="en-US" dirty="0" err="1" smtClean="0"/>
              <a:t>nderstanding</a:t>
            </a:r>
            <a:r>
              <a:rPr lang="en-US" dirty="0" smtClean="0"/>
              <a:t> sources of program inefficiency</a:t>
            </a:r>
            <a:endParaRPr lang="tr-TR" dirty="0" smtClean="0"/>
          </a:p>
          <a:p>
            <a:r>
              <a:rPr lang="tr-TR" dirty="0" err="1" smtClean="0"/>
              <a:t>Tuning</a:t>
            </a:r>
            <a:r>
              <a:rPr lang="tr-TR" dirty="0" smtClean="0"/>
              <a:t> program </a:t>
            </a:r>
            <a:r>
              <a:rPr lang="tr-TR" dirty="0" err="1" smtClean="0"/>
              <a:t>performance</a:t>
            </a:r>
            <a:endParaRPr lang="tr-TR" dirty="0" smtClean="0"/>
          </a:p>
          <a:p>
            <a:r>
              <a:rPr lang="tr-TR" dirty="0" err="1" smtClean="0"/>
              <a:t>Writing</a:t>
            </a:r>
            <a:r>
              <a:rPr lang="tr-TR" dirty="0" smtClean="0"/>
              <a:t> </a:t>
            </a:r>
            <a:r>
              <a:rPr lang="tr-TR" dirty="0" err="1" smtClean="0"/>
              <a:t>compact</a:t>
            </a:r>
            <a:r>
              <a:rPr lang="tr-TR" dirty="0" smtClean="0"/>
              <a:t> </a:t>
            </a:r>
            <a:r>
              <a:rPr lang="tr-TR" dirty="0" err="1" smtClean="0"/>
              <a:t>code</a:t>
            </a: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</a:rPr>
              <a:t>Advantages</a:t>
            </a:r>
            <a:r>
              <a:rPr lang="tr-TR" dirty="0" smtClean="0">
                <a:solidFill>
                  <a:srgbClr val="FF0000"/>
                </a:solidFill>
              </a:rPr>
              <a:t> of </a:t>
            </a:r>
            <a:r>
              <a:rPr lang="tr-TR" dirty="0" err="1" smtClean="0">
                <a:solidFill>
                  <a:srgbClr val="FF0000"/>
                </a:solidFill>
              </a:rPr>
              <a:t>Assembly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Language</a:t>
            </a:r>
            <a:endParaRPr lang="tr-TR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It is the only programming language that your processor can successfully implement.</a:t>
            </a:r>
            <a:endParaRPr lang="tr-TR" dirty="0" smtClean="0"/>
          </a:p>
          <a:p>
            <a:r>
              <a:rPr lang="en-US" dirty="0" smtClean="0"/>
              <a:t>They are used in the writing of computer viruses because they take up very little space.</a:t>
            </a:r>
            <a:r>
              <a:rPr lang="tr-TR" dirty="0" smtClean="0"/>
              <a:t>.</a:t>
            </a:r>
          </a:p>
          <a:p>
            <a:pPr>
              <a:buNone/>
            </a:pPr>
            <a:r>
              <a:rPr lang="tr-TR" dirty="0" smtClean="0"/>
              <a:t>   </a:t>
            </a:r>
            <a:r>
              <a:rPr lang="en-US" dirty="0" smtClean="0"/>
              <a:t>As time passes and people become computer users consuming instead of producing, the privilege of knowing this language increases.</a:t>
            </a:r>
            <a:endParaRPr lang="tr-T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</a:rPr>
              <a:t>Disadvantages</a:t>
            </a:r>
            <a:r>
              <a:rPr lang="tr-TR" dirty="0" smtClean="0">
                <a:solidFill>
                  <a:srgbClr val="FF0000"/>
                </a:solidFill>
              </a:rPr>
              <a:t> of </a:t>
            </a:r>
            <a:r>
              <a:rPr lang="tr-TR" dirty="0" err="1" smtClean="0">
                <a:solidFill>
                  <a:srgbClr val="FF0000"/>
                </a:solidFill>
              </a:rPr>
              <a:t>Assembly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Language</a:t>
            </a:r>
            <a:endParaRPr lang="tr-TR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Learning the language takes a long time and effort.</a:t>
            </a:r>
            <a:endParaRPr lang="tr-TR" dirty="0" smtClean="0"/>
          </a:p>
          <a:p>
            <a:r>
              <a:rPr lang="en-US" dirty="0" smtClean="0"/>
              <a:t>Programs written consist of more lines than other languages.</a:t>
            </a:r>
            <a:endParaRPr lang="tr-TR" dirty="0" smtClean="0"/>
          </a:p>
          <a:p>
            <a:r>
              <a:rPr lang="en-US" dirty="0" smtClean="0"/>
              <a:t>You may not understand after a while which lines of your program are doing what</a:t>
            </a:r>
            <a:endParaRPr lang="tr-TR" dirty="0" smtClean="0"/>
          </a:p>
          <a:p>
            <a:r>
              <a:rPr lang="en-US" dirty="0" smtClean="0"/>
              <a:t>Because it is a difficult and complex language to understand. Therefore, it would be a good solution to add comment sections at the end of the codes.</a:t>
            </a:r>
            <a:endParaRPr lang="tr-TR" dirty="0" smtClean="0">
              <a:solidFill>
                <a:srgbClr val="FF0000"/>
              </a:solidFill>
            </a:endParaRPr>
          </a:p>
          <a:p>
            <a:endParaRPr lang="tr-T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WHAT IS THE APPLICATION OF ASSEMBLY LANGUAGE?</a:t>
            </a:r>
          </a:p>
          <a:p>
            <a:r>
              <a:rPr lang="tr-TR" dirty="0" smtClean="0"/>
              <a:t>A</a:t>
            </a:r>
            <a:r>
              <a:rPr lang="en-US" dirty="0" err="1" smtClean="0"/>
              <a:t>ssembly</a:t>
            </a:r>
            <a:r>
              <a:rPr lang="en-US" dirty="0" smtClean="0"/>
              <a:t> language is used when speed and reliability are overriding factor like small footprint real time operating systems</a:t>
            </a:r>
            <a:r>
              <a:rPr lang="tr-TR" dirty="0" smtClean="0"/>
              <a:t>.</a:t>
            </a:r>
          </a:p>
          <a:p>
            <a:r>
              <a:rPr lang="tr-TR" dirty="0" smtClean="0"/>
              <a:t>B</a:t>
            </a:r>
            <a:r>
              <a:rPr lang="en-US" dirty="0" smtClean="0"/>
              <a:t>y using assembly language programmers can maximize on speed to a level it is easy to </a:t>
            </a:r>
            <a:r>
              <a:rPr lang="en-US" dirty="0" err="1" smtClean="0"/>
              <a:t>weite</a:t>
            </a:r>
            <a:r>
              <a:rPr lang="en-US" dirty="0" smtClean="0"/>
              <a:t> than machine code programs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tr-TR" dirty="0" smtClean="0"/>
              <a:t>I</a:t>
            </a:r>
            <a:r>
              <a:rPr lang="en-US" dirty="0" smtClean="0"/>
              <a:t>t allows the programmer acc</a:t>
            </a:r>
            <a:r>
              <a:rPr lang="tr-TR" dirty="0" err="1" smtClean="0"/>
              <a:t>ess</a:t>
            </a:r>
            <a:r>
              <a:rPr lang="en-US" dirty="0" smtClean="0"/>
              <a:t> to registers or instructions that are not usual</a:t>
            </a:r>
            <a:r>
              <a:rPr lang="tr-TR" dirty="0" smtClean="0"/>
              <a:t>l</a:t>
            </a:r>
            <a:r>
              <a:rPr lang="en-US" dirty="0" smtClean="0"/>
              <a:t>y provided by a high level language</a:t>
            </a:r>
            <a:r>
              <a:rPr lang="tr-TR" dirty="0" smtClean="0"/>
              <a:t>.</a:t>
            </a:r>
          </a:p>
          <a:p>
            <a:r>
              <a:rPr lang="tr-TR" dirty="0" smtClean="0"/>
              <a:t>A</a:t>
            </a:r>
            <a:r>
              <a:rPr lang="en-US" dirty="0" err="1" smtClean="0"/>
              <a:t>ssembly</a:t>
            </a:r>
            <a:r>
              <a:rPr lang="en-US" dirty="0" smtClean="0"/>
              <a:t> language also directly correlates which machine instructions the only way to get closer to the machine is to write binary or hex code</a:t>
            </a:r>
            <a:r>
              <a:rPr lang="tr-TR" dirty="0" smtClean="0"/>
              <a:t>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tr-TR" dirty="0" smtClean="0"/>
          </a:p>
          <a:p>
            <a:endParaRPr lang="tr-TR" dirty="0" smtClean="0"/>
          </a:p>
          <a:p>
            <a:endParaRPr lang="tr-TR" dirty="0" smtClean="0"/>
          </a:p>
          <a:p>
            <a:endParaRPr lang="tr-TR" dirty="0" smtClean="0"/>
          </a:p>
          <a:p>
            <a:pPr lvl="2"/>
            <a:r>
              <a:rPr lang="tr-TR" dirty="0" smtClean="0"/>
              <a:t>THANK YOU FOR LISTENING.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nlı">
  <a:themeElements>
    <a:clrScheme name="Canlı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Canlı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Canl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2DDE17DC32DC54EB010413460834BFE" ma:contentTypeVersion="2" ma:contentTypeDescription="Yeni belge oluşturun." ma:contentTypeScope="" ma:versionID="f0e3d91972186a053038bdf45065f1ee">
  <xsd:schema xmlns:xsd="http://www.w3.org/2001/XMLSchema" xmlns:xs="http://www.w3.org/2001/XMLSchema" xmlns:p="http://schemas.microsoft.com/office/2006/metadata/properties" xmlns:ns2="ecabdfc0-4a02-4d75-8d22-fdc26463eb0a" targetNamespace="http://schemas.microsoft.com/office/2006/metadata/properties" ma:root="true" ma:fieldsID="b55a7095206caf5b532e4ae8c7c05c5c" ns2:_="">
    <xsd:import namespace="ecabdfc0-4a02-4d75-8d22-fdc26463eb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abdfc0-4a02-4d75-8d22-fdc26463eb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F3D787-A130-4195-BAAF-72E3042E732D}"/>
</file>

<file path=customXml/itemProps2.xml><?xml version="1.0" encoding="utf-8"?>
<ds:datastoreItem xmlns:ds="http://schemas.openxmlformats.org/officeDocument/2006/customXml" ds:itemID="{B4099608-5EE5-4545-8ADE-6FC854F77C88}"/>
</file>

<file path=customXml/itemProps3.xml><?xml version="1.0" encoding="utf-8"?>
<ds:datastoreItem xmlns:ds="http://schemas.openxmlformats.org/officeDocument/2006/customXml" ds:itemID="{6497FE97-479F-4160-A5DD-BF670A137FF6}"/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187</TotalTime>
  <Words>465</Words>
  <Application>Microsoft Office PowerPoint</Application>
  <PresentationFormat>Ekran Gösterisi (4:3)</PresentationFormat>
  <Paragraphs>53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19" baseType="lpstr">
      <vt:lpstr>Canlı</vt:lpstr>
      <vt:lpstr>Slayt 1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  <vt:lpstr>Slayt 11</vt:lpstr>
      <vt:lpstr>Slayt 12</vt:lpstr>
      <vt:lpstr>Slayt 13</vt:lpstr>
      <vt:lpstr>Slayt 14</vt:lpstr>
      <vt:lpstr>Slayt 15</vt:lpstr>
      <vt:lpstr>Slayt 16</vt:lpstr>
      <vt:lpstr>Slayt 17</vt:lpstr>
      <vt:lpstr>Slayt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pc1</dc:creator>
  <cp:lastModifiedBy>Fatih Akay</cp:lastModifiedBy>
  <cp:revision>20</cp:revision>
  <dcterms:created xsi:type="dcterms:W3CDTF">2020-10-26T17:23:34Z</dcterms:created>
  <dcterms:modified xsi:type="dcterms:W3CDTF">2020-10-27T11:54:03Z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0x01010022DDE17DC32DC54EB010413460834BFE</vt:lpwstr>
  </property>
</Properties>
</file>