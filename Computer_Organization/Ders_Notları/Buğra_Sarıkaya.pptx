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s/slide1.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notesSlides/notesSlide4.xml" ContentType="application/vnd.openxmlformats-officedocument.presentationml.notesSlide+xml"/>
  <Override PartName="/ppt/slideLayouts/slideLayout9.xml" ContentType="application/vnd.openxmlformats-officedocument.presentationml.slideLayout+xml"/>
  <Override PartName="/ppt/notesSlides/notesSlide3.xml" ContentType="application/vnd.openxmlformats-officedocument.presentationml.notes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96" r:id="rId2"/>
    <p:sldId id="266" r:id="rId3"/>
    <p:sldId id="271" r:id="rId4"/>
    <p:sldId id="294" r:id="rId5"/>
    <p:sldId id="291" r:id="rId6"/>
    <p:sldId id="274" r:id="rId7"/>
    <p:sldId id="290" r:id="rId8"/>
    <p:sldId id="277" r:id="rId9"/>
    <p:sldId id="278" r:id="rId10"/>
    <p:sldId id="276" r:id="rId11"/>
    <p:sldId id="279" r:id="rId12"/>
    <p:sldId id="286" r:id="rId13"/>
    <p:sldId id="287" r:id="rId14"/>
    <p:sldId id="288" r:id="rId15"/>
    <p:sldId id="275" r:id="rId16"/>
    <p:sldId id="280" r:id="rId17"/>
    <p:sldId id="268" r:id="rId18"/>
    <p:sldId id="269" r:id="rId19"/>
    <p:sldId id="281" r:id="rId20"/>
    <p:sldId id="282" r:id="rId21"/>
    <p:sldId id="289" r:id="rId22"/>
    <p:sldId id="284" r:id="rId23"/>
    <p:sldId id="285" r:id="rId24"/>
    <p:sldId id="293" r:id="rId25"/>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pos="3840" userDrawn="1">
          <p15:clr>
            <a:srgbClr val="A4A3A4"/>
          </p15:clr>
        </p15:guide>
        <p15:guide id="3" orient="horz" pos="2137" userDrawn="1">
          <p15:clr>
            <a:srgbClr val="A4A3A4"/>
          </p15:clr>
        </p15:guide>
        <p15:guide id="4" orient="horz" pos="346" userDrawn="1">
          <p15:clr>
            <a:srgbClr val="A4A3A4"/>
          </p15:clr>
        </p15:guide>
        <p15:guide id="5" pos="325" userDrawn="1">
          <p15:clr>
            <a:srgbClr val="A4A3A4"/>
          </p15:clr>
        </p15:guide>
        <p15:guide id="6" pos="551" userDrawn="1">
          <p15:clr>
            <a:srgbClr val="A4A3A4"/>
          </p15:clr>
        </p15:guide>
        <p15:guide id="7" pos="36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CC00"/>
    <a:srgbClr val="FFFF00"/>
    <a:srgbClr val="00FF00"/>
    <a:srgbClr val="663300"/>
    <a:srgbClr val="FF9F11"/>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59" autoAdjust="0"/>
  </p:normalViewPr>
  <p:slideViewPr>
    <p:cSldViewPr snapToGrid="0">
      <p:cViewPr varScale="1">
        <p:scale>
          <a:sx n="66" d="100"/>
          <a:sy n="66" d="100"/>
        </p:scale>
        <p:origin x="-792" y="-114"/>
      </p:cViewPr>
      <p:guideLst>
        <p:guide orient="horz" pos="2137"/>
        <p:guide orient="horz" pos="346"/>
        <p:guide pos="3840"/>
        <p:guide pos="325"/>
        <p:guide pos="551"/>
        <p:guide pos="3613"/>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51E2B9-B161-425F-88C2-855DE3A038FF}" type="datetimeFigureOut">
              <a:rPr lang="tr-TR" smtClean="0"/>
              <a:pPr/>
              <a:t>26.10.2020</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0F9AD4-0DEC-4AA8-B654-3544EAF4AC18}" type="slidenum">
              <a:rPr lang="tr-TR" smtClean="0"/>
              <a:pPr/>
              <a:t>‹#›</a:t>
            </a:fld>
            <a:endParaRPr lang="tr-TR"/>
          </a:p>
        </p:txBody>
      </p:sp>
    </p:spTree>
    <p:extLst>
      <p:ext uri="{BB962C8B-B14F-4D97-AF65-F5344CB8AC3E}">
        <p14:creationId xmlns:p14="http://schemas.microsoft.com/office/powerpoint/2010/main" xmlns="" val="3435397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7F0F9AD4-0DEC-4AA8-B654-3544EAF4AC18}" type="slidenum">
              <a:rPr lang="tr-TR" smtClean="0"/>
              <a:pPr/>
              <a:t>1</a:t>
            </a:fld>
            <a:endParaRPr lang="tr-TR"/>
          </a:p>
        </p:txBody>
      </p:sp>
    </p:spTree>
    <p:extLst>
      <p:ext uri="{BB962C8B-B14F-4D97-AF65-F5344CB8AC3E}">
        <p14:creationId xmlns:p14="http://schemas.microsoft.com/office/powerpoint/2010/main" xmlns="" val="2518699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7F0F9AD4-0DEC-4AA8-B654-3544EAF4AC18}" type="slidenum">
              <a:rPr lang="tr-TR" smtClean="0"/>
              <a:pPr/>
              <a:t>2</a:t>
            </a:fld>
            <a:endParaRPr lang="tr-TR"/>
          </a:p>
        </p:txBody>
      </p:sp>
    </p:spTree>
    <p:extLst>
      <p:ext uri="{BB962C8B-B14F-4D97-AF65-F5344CB8AC3E}">
        <p14:creationId xmlns:p14="http://schemas.microsoft.com/office/powerpoint/2010/main" xmlns="" val="3798642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7F0F9AD4-0DEC-4AA8-B654-3544EAF4AC18}" type="slidenum">
              <a:rPr lang="tr-TR" smtClean="0"/>
              <a:pPr/>
              <a:t>6</a:t>
            </a:fld>
            <a:endParaRPr lang="tr-TR"/>
          </a:p>
        </p:txBody>
      </p:sp>
    </p:spTree>
    <p:extLst>
      <p:ext uri="{BB962C8B-B14F-4D97-AF65-F5344CB8AC3E}">
        <p14:creationId xmlns:p14="http://schemas.microsoft.com/office/powerpoint/2010/main" xmlns="" val="1294585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7F0F9AD4-0DEC-4AA8-B654-3544EAF4AC18}" type="slidenum">
              <a:rPr lang="tr-TR" smtClean="0"/>
              <a:pPr/>
              <a:t>7</a:t>
            </a:fld>
            <a:endParaRPr lang="tr-TR"/>
          </a:p>
        </p:txBody>
      </p:sp>
    </p:spTree>
    <p:extLst>
      <p:ext uri="{BB962C8B-B14F-4D97-AF65-F5344CB8AC3E}">
        <p14:creationId xmlns:p14="http://schemas.microsoft.com/office/powerpoint/2010/main" xmlns="" val="838917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smtClean="0"/>
              <a:t>Asıl başlık stili için tıklatın</a:t>
            </a:r>
            <a:endParaRPr lang="tr-T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568C69EB-2F1D-4691-8738-F1D40D448D27}" type="datetimeFigureOut">
              <a:rPr lang="tr-TR" smtClean="0"/>
              <a:pPr/>
              <a:t>26.10.2020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E0CD3A7D-078D-49AD-84DE-260F51F83F20}" type="slidenum">
              <a:rPr lang="tr-TR" smtClean="0"/>
              <a:pPr/>
              <a:t>‹#›</a:t>
            </a:fld>
            <a:endParaRPr lang="tr-TR"/>
          </a:p>
        </p:txBody>
      </p:sp>
    </p:spTree>
    <p:extLst>
      <p:ext uri="{BB962C8B-B14F-4D97-AF65-F5344CB8AC3E}">
        <p14:creationId xmlns:p14="http://schemas.microsoft.com/office/powerpoint/2010/main" xmlns="" val="2842074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568C69EB-2F1D-4691-8738-F1D40D448D27}" type="datetimeFigureOut">
              <a:rPr lang="tr-TR" smtClean="0"/>
              <a:pPr/>
              <a:t>26.10.2020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E0CD3A7D-078D-49AD-84DE-260F51F83F20}" type="slidenum">
              <a:rPr lang="tr-TR" smtClean="0"/>
              <a:pPr/>
              <a:t>‹#›</a:t>
            </a:fld>
            <a:endParaRPr lang="tr-TR"/>
          </a:p>
        </p:txBody>
      </p:sp>
    </p:spTree>
    <p:extLst>
      <p:ext uri="{BB962C8B-B14F-4D97-AF65-F5344CB8AC3E}">
        <p14:creationId xmlns:p14="http://schemas.microsoft.com/office/powerpoint/2010/main" xmlns="" val="2914612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smtClean="0"/>
              <a:t>Asıl başlık stili için tıklatın</a:t>
            </a:r>
            <a:endParaRPr lang="tr-T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568C69EB-2F1D-4691-8738-F1D40D448D27}" type="datetimeFigureOut">
              <a:rPr lang="tr-TR" smtClean="0"/>
              <a:pPr/>
              <a:t>26.10.2020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E0CD3A7D-078D-49AD-84DE-260F51F83F20}" type="slidenum">
              <a:rPr lang="tr-TR" smtClean="0"/>
              <a:pPr/>
              <a:t>‹#›</a:t>
            </a:fld>
            <a:endParaRPr lang="tr-TR"/>
          </a:p>
        </p:txBody>
      </p:sp>
    </p:spTree>
    <p:extLst>
      <p:ext uri="{BB962C8B-B14F-4D97-AF65-F5344CB8AC3E}">
        <p14:creationId xmlns:p14="http://schemas.microsoft.com/office/powerpoint/2010/main" xmlns="" val="2648489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838200" y="1825625"/>
            <a:ext cx="5181600" cy="435133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6172200" y="1825625"/>
            <a:ext cx="5181600" cy="435133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568C69EB-2F1D-4691-8738-F1D40D448D27}" type="datetimeFigureOut">
              <a:rPr lang="tr-TR" smtClean="0"/>
              <a:pPr/>
              <a:t>26.10.2020</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E0CD3A7D-078D-49AD-84DE-260F51F83F20}" type="slidenum">
              <a:rPr lang="tr-TR" smtClean="0"/>
              <a:pPr/>
              <a:t>‹#›</a:t>
            </a:fld>
            <a:endParaRPr lang="tr-TR"/>
          </a:p>
        </p:txBody>
      </p:sp>
    </p:spTree>
    <p:extLst>
      <p:ext uri="{BB962C8B-B14F-4D97-AF65-F5344CB8AC3E}">
        <p14:creationId xmlns:p14="http://schemas.microsoft.com/office/powerpoint/2010/main" xmlns="" val="1274488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smtClean="0"/>
              <a:t>Asıl başlık stili için tıklatın</a:t>
            </a:r>
            <a:endParaRPr lang="tr-T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568C69EB-2F1D-4691-8738-F1D40D448D27}" type="datetimeFigureOut">
              <a:rPr lang="tr-TR" smtClean="0"/>
              <a:pPr/>
              <a:t>26.10.2020</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E0CD3A7D-078D-49AD-84DE-260F51F83F20}" type="slidenum">
              <a:rPr lang="tr-TR" smtClean="0"/>
              <a:pPr/>
              <a:t>‹#›</a:t>
            </a:fld>
            <a:endParaRPr lang="tr-TR"/>
          </a:p>
        </p:txBody>
      </p:sp>
    </p:spTree>
    <p:extLst>
      <p:ext uri="{BB962C8B-B14F-4D97-AF65-F5344CB8AC3E}">
        <p14:creationId xmlns:p14="http://schemas.microsoft.com/office/powerpoint/2010/main" xmlns="" val="1923567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568C69EB-2F1D-4691-8738-F1D40D448D27}" type="datetimeFigureOut">
              <a:rPr lang="tr-TR" smtClean="0"/>
              <a:pPr/>
              <a:t>26.10.2020</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E0CD3A7D-078D-49AD-84DE-260F51F83F20}" type="slidenum">
              <a:rPr lang="tr-TR" smtClean="0"/>
              <a:pPr/>
              <a:t>‹#›</a:t>
            </a:fld>
            <a:endParaRPr lang="tr-TR"/>
          </a:p>
        </p:txBody>
      </p:sp>
    </p:spTree>
    <p:extLst>
      <p:ext uri="{BB962C8B-B14F-4D97-AF65-F5344CB8AC3E}">
        <p14:creationId xmlns:p14="http://schemas.microsoft.com/office/powerpoint/2010/main" xmlns="" val="1711388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568C69EB-2F1D-4691-8738-F1D40D448D27}" type="datetimeFigureOut">
              <a:rPr lang="tr-TR" smtClean="0"/>
              <a:pPr/>
              <a:t>26.10.2020</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E0CD3A7D-078D-49AD-84DE-260F51F83F20}" type="slidenum">
              <a:rPr lang="tr-TR" smtClean="0"/>
              <a:pPr/>
              <a:t>‹#›</a:t>
            </a:fld>
            <a:endParaRPr lang="tr-TR"/>
          </a:p>
        </p:txBody>
      </p:sp>
    </p:spTree>
    <p:extLst>
      <p:ext uri="{BB962C8B-B14F-4D97-AF65-F5344CB8AC3E}">
        <p14:creationId xmlns:p14="http://schemas.microsoft.com/office/powerpoint/2010/main" xmlns="" val="4221191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568C69EB-2F1D-4691-8738-F1D40D448D27}" type="datetimeFigureOut">
              <a:rPr lang="tr-TR" smtClean="0"/>
              <a:pPr/>
              <a:t>26.10.2020</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E0CD3A7D-078D-49AD-84DE-260F51F83F20}" type="slidenum">
              <a:rPr lang="tr-TR" smtClean="0"/>
              <a:pPr/>
              <a:t>‹#›</a:t>
            </a:fld>
            <a:endParaRPr lang="tr-TR"/>
          </a:p>
        </p:txBody>
      </p:sp>
    </p:spTree>
    <p:extLst>
      <p:ext uri="{BB962C8B-B14F-4D97-AF65-F5344CB8AC3E}">
        <p14:creationId xmlns:p14="http://schemas.microsoft.com/office/powerpoint/2010/main" xmlns="" val="986844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568C69EB-2F1D-4691-8738-F1D40D448D27}" type="datetimeFigureOut">
              <a:rPr lang="tr-TR" smtClean="0"/>
              <a:pPr/>
              <a:t>26.10.2020</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E0CD3A7D-078D-49AD-84DE-260F51F83F20}" type="slidenum">
              <a:rPr lang="tr-TR" smtClean="0"/>
              <a:pPr/>
              <a:t>‹#›</a:t>
            </a:fld>
            <a:endParaRPr lang="tr-TR"/>
          </a:p>
        </p:txBody>
      </p:sp>
    </p:spTree>
    <p:extLst>
      <p:ext uri="{BB962C8B-B14F-4D97-AF65-F5344CB8AC3E}">
        <p14:creationId xmlns:p14="http://schemas.microsoft.com/office/powerpoint/2010/main" xmlns="" val="1281560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568C69EB-2F1D-4691-8738-F1D40D448D27}" type="datetimeFigureOut">
              <a:rPr lang="tr-TR" smtClean="0"/>
              <a:pPr/>
              <a:t>26.10.2020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E0CD3A7D-078D-49AD-84DE-260F51F83F20}" type="slidenum">
              <a:rPr lang="tr-TR" smtClean="0"/>
              <a:pPr/>
              <a:t>‹#›</a:t>
            </a:fld>
            <a:endParaRPr lang="tr-TR"/>
          </a:p>
        </p:txBody>
      </p:sp>
    </p:spTree>
    <p:extLst>
      <p:ext uri="{BB962C8B-B14F-4D97-AF65-F5344CB8AC3E}">
        <p14:creationId xmlns:p14="http://schemas.microsoft.com/office/powerpoint/2010/main" xmlns="" val="156208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568C69EB-2F1D-4691-8738-F1D40D448D27}" type="datetimeFigureOut">
              <a:rPr lang="tr-TR" smtClean="0"/>
              <a:pPr/>
              <a:t>26.10.2020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E0CD3A7D-078D-49AD-84DE-260F51F83F20}" type="slidenum">
              <a:rPr lang="tr-TR" smtClean="0"/>
              <a:pPr/>
              <a:t>‹#›</a:t>
            </a:fld>
            <a:endParaRPr lang="tr-TR"/>
          </a:p>
        </p:txBody>
      </p:sp>
    </p:spTree>
    <p:extLst>
      <p:ext uri="{BB962C8B-B14F-4D97-AF65-F5344CB8AC3E}">
        <p14:creationId xmlns:p14="http://schemas.microsoft.com/office/powerpoint/2010/main" xmlns="" val="1117009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8C69EB-2F1D-4691-8738-F1D40D448D27}" type="datetimeFigureOut">
              <a:rPr lang="tr-TR" smtClean="0"/>
              <a:pPr/>
              <a:t>26.10.2020</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CD3A7D-078D-49AD-84DE-260F51F83F20}" type="slidenum">
              <a:rPr lang="tr-TR" smtClean="0"/>
              <a:pPr/>
              <a:t>‹#›</a:t>
            </a:fld>
            <a:endParaRPr lang="tr-TR"/>
          </a:p>
        </p:txBody>
      </p:sp>
    </p:spTree>
    <p:extLst>
      <p:ext uri="{BB962C8B-B14F-4D97-AF65-F5344CB8AC3E}">
        <p14:creationId xmlns:p14="http://schemas.microsoft.com/office/powerpoint/2010/main" xmlns="" val="27747455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jpe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6" name="Dikdörtgen 5"/>
          <p:cNvSpPr/>
          <p:nvPr/>
        </p:nvSpPr>
        <p:spPr>
          <a:xfrm>
            <a:off x="3067767" y="2524956"/>
            <a:ext cx="6056466" cy="1384995"/>
          </a:xfrm>
          <a:prstGeom prst="rect">
            <a:avLst/>
          </a:prstGeom>
          <a:noFill/>
          <a:effectLst/>
        </p:spPr>
        <p:txBody>
          <a:bodyPr wrap="none" lIns="91440" tIns="45720" rIns="91440" bIns="45720">
            <a:spAutoFit/>
          </a:bodyPr>
          <a:lstStyle/>
          <a:p>
            <a:pPr algn="ctr"/>
            <a:r>
              <a:rPr lang="tr-TR" sz="8400" b="0" cap="none" spc="0" dirty="0" smtClean="0">
                <a:ln w="0">
                  <a:noFill/>
                </a:ln>
                <a:solidFill>
                  <a:srgbClr val="FFCC00"/>
                </a:solidFill>
                <a:effectLst>
                  <a:glow rad="165100">
                    <a:schemeClr val="tx1">
                      <a:alpha val="87000"/>
                    </a:schemeClr>
                  </a:glow>
                </a:effectLst>
                <a:latin typeface="Bahnschrift SemiBold Condensed" panose="020B0502040204020203" pitchFamily="34" charset="0"/>
              </a:rPr>
              <a:t>MAGNETIC TAPES</a:t>
            </a:r>
            <a:endParaRPr lang="tr-TR" sz="8400" b="0" cap="none" spc="0" dirty="0">
              <a:ln w="0">
                <a:noFill/>
              </a:ln>
              <a:solidFill>
                <a:srgbClr val="FFCC00"/>
              </a:solidFill>
              <a:effectLst>
                <a:glow rad="165100">
                  <a:schemeClr val="tx1">
                    <a:alpha val="87000"/>
                  </a:schemeClr>
                </a:glow>
              </a:effectLst>
              <a:latin typeface="Bahnschrift SemiBold Condensed" panose="020B0502040204020203" pitchFamily="34" charset="0"/>
            </a:endParaRPr>
          </a:p>
        </p:txBody>
      </p:sp>
      <p:sp>
        <p:nvSpPr>
          <p:cNvPr id="9" name="Çerçeve 8"/>
          <p:cNvSpPr/>
          <p:nvPr/>
        </p:nvSpPr>
        <p:spPr>
          <a:xfrm>
            <a:off x="0" y="0"/>
            <a:ext cx="12192000" cy="6858000"/>
          </a:xfrm>
          <a:prstGeom prst="frame">
            <a:avLst>
              <a:gd name="adj1" fmla="val 1685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nvGrpSpPr>
          <p:cNvPr id="29" name="Grup 28"/>
          <p:cNvGrpSpPr/>
          <p:nvPr/>
        </p:nvGrpSpPr>
        <p:grpSpPr>
          <a:xfrm>
            <a:off x="0" y="-8"/>
            <a:ext cx="3479952" cy="3429008"/>
            <a:chOff x="0" y="0"/>
            <a:chExt cx="3479952" cy="3429008"/>
          </a:xfrm>
        </p:grpSpPr>
        <p:sp>
          <p:nvSpPr>
            <p:cNvPr id="30" name="Çapraz Şerit 29"/>
            <p:cNvSpPr/>
            <p:nvPr/>
          </p:nvSpPr>
          <p:spPr>
            <a:xfrm>
              <a:off x="1" y="6"/>
              <a:ext cx="2519678" cy="2682234"/>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31" name="Çapraz Şerit 30"/>
            <p:cNvSpPr/>
            <p:nvPr/>
          </p:nvSpPr>
          <p:spPr>
            <a:xfrm>
              <a:off x="0" y="0"/>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32" name="Yarım Çerçeve 31"/>
            <p:cNvSpPr/>
            <p:nvPr/>
          </p:nvSpPr>
          <p:spPr>
            <a:xfrm>
              <a:off x="1" y="7"/>
              <a:ext cx="3479951" cy="3429001"/>
            </a:xfrm>
            <a:prstGeom prst="halfFrame">
              <a:avLst>
                <a:gd name="adj1" fmla="val 16052"/>
                <a:gd name="adj2" fmla="val 16226"/>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grpSp>
        <p:nvGrpSpPr>
          <p:cNvPr id="33" name="Grup 32"/>
          <p:cNvGrpSpPr/>
          <p:nvPr/>
        </p:nvGrpSpPr>
        <p:grpSpPr>
          <a:xfrm rot="10800000">
            <a:off x="8712049" y="3429000"/>
            <a:ext cx="3479952" cy="3429008"/>
            <a:chOff x="0" y="0"/>
            <a:chExt cx="3479952" cy="3429008"/>
          </a:xfrm>
        </p:grpSpPr>
        <p:sp>
          <p:nvSpPr>
            <p:cNvPr id="34" name="Çapraz Şerit 33"/>
            <p:cNvSpPr/>
            <p:nvPr/>
          </p:nvSpPr>
          <p:spPr>
            <a:xfrm>
              <a:off x="1" y="6"/>
              <a:ext cx="2519678" cy="2682234"/>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35" name="Çapraz Şerit 34"/>
            <p:cNvSpPr/>
            <p:nvPr/>
          </p:nvSpPr>
          <p:spPr>
            <a:xfrm>
              <a:off x="0" y="0"/>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36" name="Yarım Çerçeve 35"/>
            <p:cNvSpPr/>
            <p:nvPr/>
          </p:nvSpPr>
          <p:spPr>
            <a:xfrm>
              <a:off x="1" y="7"/>
              <a:ext cx="3479951" cy="3429001"/>
            </a:xfrm>
            <a:prstGeom prst="halfFrame">
              <a:avLst>
                <a:gd name="adj1" fmla="val 16052"/>
                <a:gd name="adj2" fmla="val 16226"/>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Tree>
    <p:extLst>
      <p:ext uri="{BB962C8B-B14F-4D97-AF65-F5344CB8AC3E}">
        <p14:creationId xmlns:p14="http://schemas.microsoft.com/office/powerpoint/2010/main" xmlns="" val="4918170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 5"/>
          <p:cNvGrpSpPr/>
          <p:nvPr/>
        </p:nvGrpSpPr>
        <p:grpSpPr>
          <a:xfrm>
            <a:off x="3868477" y="549275"/>
            <a:ext cx="8323523" cy="6315154"/>
            <a:chOff x="3868477" y="549275"/>
            <a:chExt cx="8323523" cy="6315154"/>
          </a:xfrm>
        </p:grpSpPr>
        <p:sp>
          <p:nvSpPr>
            <p:cNvPr id="56" name="Çapraz Şerit 55"/>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57" name="Çapraz Şerit 56"/>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58" name="Yarım Çerçeve 57"/>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Introduction</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a:xfrm>
            <a:off x="838200" y="1879413"/>
            <a:ext cx="10515600" cy="4130770"/>
          </a:xfrm>
        </p:spPr>
        <p:txBody>
          <a:bodyPr/>
          <a:lstStyle/>
          <a:p>
            <a:pPr marL="0" indent="0">
              <a:buNone/>
            </a:pPr>
            <a:r>
              <a:rPr lang="tr-TR" dirty="0" err="1" smtClean="0">
                <a:solidFill>
                  <a:schemeClr val="bg1"/>
                </a:solidFill>
                <a:latin typeface="Bahnschrift SemiCondensed" panose="020B0502040204020203" pitchFamily="34" charset="0"/>
              </a:rPr>
              <a:t>Magnetic</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tape</a:t>
            </a:r>
            <a:r>
              <a:rPr lang="tr-TR" dirty="0" smtClean="0">
                <a:solidFill>
                  <a:schemeClr val="bg1"/>
                </a:solidFill>
                <a:latin typeface="Bahnschrift SemiCondensed" panose="020B0502040204020203" pitchFamily="34" charset="0"/>
              </a:rPr>
              <a:t> is </a:t>
            </a:r>
            <a:r>
              <a:rPr lang="tr-TR" dirty="0" err="1" smtClean="0">
                <a:solidFill>
                  <a:schemeClr val="bg1"/>
                </a:solidFill>
                <a:latin typeface="Bahnschrift SemiCondensed" panose="020B0502040204020203" pitchFamily="34" charset="0"/>
              </a:rPr>
              <a:t>one</a:t>
            </a:r>
            <a:r>
              <a:rPr lang="tr-TR" dirty="0" smtClean="0">
                <a:solidFill>
                  <a:schemeClr val="bg1"/>
                </a:solidFill>
                <a:latin typeface="Bahnschrift SemiCondensed" panose="020B0502040204020203" pitchFamily="34" charset="0"/>
              </a:rPr>
              <a:t> of </a:t>
            </a:r>
            <a:r>
              <a:rPr lang="tr-TR" dirty="0" err="1" smtClean="0">
                <a:solidFill>
                  <a:schemeClr val="bg1"/>
                </a:solidFill>
                <a:latin typeface="Bahnschrift SemiCondensed" panose="020B0502040204020203" pitchFamily="34" charset="0"/>
              </a:rPr>
              <a:t>the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oldest</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electronic</a:t>
            </a:r>
            <a:r>
              <a:rPr lang="tr-TR" dirty="0" smtClean="0">
                <a:solidFill>
                  <a:schemeClr val="bg1"/>
                </a:solidFill>
                <a:latin typeface="Bahnschrift SemiCondensed" panose="020B0502040204020203" pitchFamily="34" charset="0"/>
              </a:rPr>
              <a:t> data </a:t>
            </a:r>
            <a:r>
              <a:rPr lang="tr-TR" dirty="0" err="1" smtClean="0">
                <a:solidFill>
                  <a:schemeClr val="bg1"/>
                </a:solidFill>
                <a:latin typeface="Bahnschrift SemiCondensed" panose="020B0502040204020203" pitchFamily="34" charset="0"/>
              </a:rPr>
              <a:t>storage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device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Because</a:t>
            </a:r>
            <a:r>
              <a:rPr lang="tr-TR" dirty="0" smtClean="0">
                <a:solidFill>
                  <a:schemeClr val="bg1"/>
                </a:solidFill>
                <a:latin typeface="Bahnschrift SemiCondensed" panose="020B0502040204020203" pitchFamily="34" charset="0"/>
              </a:rPr>
              <a:t> of </a:t>
            </a:r>
            <a:r>
              <a:rPr lang="tr-TR" dirty="0" err="1" smtClean="0">
                <a:solidFill>
                  <a:schemeClr val="bg1"/>
                </a:solidFill>
                <a:latin typeface="Bahnschrift SemiCondensed" panose="020B0502040204020203" pitchFamily="34" charset="0"/>
              </a:rPr>
              <a:t>it’s</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low</a:t>
            </a:r>
            <a:r>
              <a:rPr lang="tr-TR" dirty="0" smtClean="0">
                <a:solidFill>
                  <a:schemeClr val="bg1"/>
                </a:solidFill>
                <a:latin typeface="Bahnschrift SemiCondensed" panose="020B0502040204020203" pitchFamily="34" charset="0"/>
              </a:rPr>
              <a:t> data </a:t>
            </a:r>
            <a:r>
              <a:rPr lang="tr-TR" dirty="0" err="1">
                <a:solidFill>
                  <a:schemeClr val="bg1"/>
                </a:solidFill>
                <a:latin typeface="Bahnschrift SemiCondensed" panose="020B0502040204020203" pitchFamily="34" charset="0"/>
              </a:rPr>
              <a:t>accessing</a:t>
            </a:r>
            <a:r>
              <a:rPr lang="tr-TR" dirty="0">
                <a:solidFill>
                  <a:schemeClr val="bg1"/>
                </a:solidFill>
                <a:latin typeface="Bahnschrift SemiCondensed" panose="020B0502040204020203" pitchFamily="34" charset="0"/>
              </a:rPr>
              <a:t> </a:t>
            </a:r>
            <a:r>
              <a:rPr lang="tr-TR" dirty="0" smtClean="0">
                <a:solidFill>
                  <a:schemeClr val="bg1"/>
                </a:solidFill>
                <a:latin typeface="Bahnschrift SemiCondensed" panose="020B0502040204020203" pitchFamily="34" charset="0"/>
              </a:rPr>
              <a:t>rate, </a:t>
            </a:r>
            <a:r>
              <a:rPr lang="tr-TR" dirty="0" err="1" smtClean="0">
                <a:solidFill>
                  <a:schemeClr val="bg1"/>
                </a:solidFill>
                <a:latin typeface="Bahnschrift SemiCondensed" panose="020B0502040204020203" pitchFamily="34" charset="0"/>
              </a:rPr>
              <a:t>it’s</a:t>
            </a:r>
            <a:r>
              <a:rPr lang="tr-TR" dirty="0" smtClean="0">
                <a:solidFill>
                  <a:schemeClr val="bg1"/>
                </a:solidFill>
                <a:latin typeface="Bahnschrift SemiCondensed" panose="020B0502040204020203" pitchFamily="34" charset="0"/>
              </a:rPr>
              <a:t> not </a:t>
            </a:r>
            <a:r>
              <a:rPr lang="tr-TR" dirty="0" err="1" smtClean="0">
                <a:solidFill>
                  <a:schemeClr val="bg1"/>
                </a:solidFill>
                <a:latin typeface="Bahnschrift SemiCondensed" panose="020B0502040204020203" pitchFamily="34" charset="0"/>
              </a:rPr>
              <a:t>using</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commonly</a:t>
            </a:r>
            <a:r>
              <a:rPr lang="tr-TR" dirty="0" smtClean="0">
                <a:solidFill>
                  <a:schemeClr val="bg1"/>
                </a:solidFill>
                <a:latin typeface="Bahnschrift SemiCondensed" panose="020B0502040204020203" pitchFamily="34" charset="0"/>
              </a:rPr>
              <a:t>. But </a:t>
            </a:r>
            <a:r>
              <a:rPr lang="tr-TR" dirty="0" err="1" smtClean="0">
                <a:solidFill>
                  <a:schemeClr val="bg1"/>
                </a:solidFill>
                <a:latin typeface="Bahnschrift SemiCondensed" panose="020B0502040204020203" pitchFamily="34" charset="0"/>
              </a:rPr>
              <a:t>nowadays</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companies</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and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goverments</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prefer</a:t>
            </a:r>
            <a:r>
              <a:rPr lang="tr-TR" dirty="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magnetic</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tapes</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to</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preserve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their</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intelligence</a:t>
            </a:r>
            <a:r>
              <a:rPr lang="tr-TR" dirty="0" smtClean="0">
                <a:solidFill>
                  <a:schemeClr val="bg1"/>
                </a:solidFill>
                <a:latin typeface="Bahnschrift SemiCondensed" panose="020B0502040204020203" pitchFamily="34" charset="0"/>
              </a:rPr>
              <a:t>.</a:t>
            </a:r>
          </a:p>
          <a:p>
            <a:pPr marL="0" indent="0">
              <a:buNone/>
            </a:pPr>
            <a:endParaRPr lang="tr-TR" dirty="0">
              <a:solidFill>
                <a:schemeClr val="bg1"/>
              </a:solidFill>
              <a:latin typeface="Bahnschrift SemiCondensed" panose="020B0502040204020203" pitchFamily="34" charset="0"/>
            </a:endParaRPr>
          </a:p>
        </p:txBody>
      </p:sp>
      <p:grpSp>
        <p:nvGrpSpPr>
          <p:cNvPr id="9" name="Grup 8"/>
          <p:cNvGrpSpPr/>
          <p:nvPr/>
        </p:nvGrpSpPr>
        <p:grpSpPr>
          <a:xfrm>
            <a:off x="1190625" y="3960508"/>
            <a:ext cx="4457700" cy="2226708"/>
            <a:chOff x="1190625" y="3960508"/>
            <a:chExt cx="4457700" cy="2226708"/>
          </a:xfrm>
        </p:grpSpPr>
        <p:pic>
          <p:nvPicPr>
            <p:cNvPr id="4" name="Resim 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190625" y="3960508"/>
              <a:ext cx="4457700" cy="1857376"/>
            </a:xfrm>
            <a:prstGeom prst="rect">
              <a:avLst/>
            </a:prstGeom>
          </p:spPr>
        </p:pic>
        <p:sp>
          <p:nvSpPr>
            <p:cNvPr id="7" name="Metin kutusu 6"/>
            <p:cNvSpPr txBox="1"/>
            <p:nvPr/>
          </p:nvSpPr>
          <p:spPr>
            <a:xfrm>
              <a:off x="1190625" y="5817884"/>
              <a:ext cx="4457700" cy="369332"/>
            </a:xfrm>
            <a:prstGeom prst="rect">
              <a:avLst/>
            </a:prstGeom>
            <a:noFill/>
          </p:spPr>
          <p:txBody>
            <a:bodyPr wrap="square" rtlCol="0">
              <a:spAutoFit/>
            </a:bodyPr>
            <a:lstStyle/>
            <a:p>
              <a:pPr algn="ctr"/>
              <a:r>
                <a:rPr lang="tr-TR" dirty="0" smtClean="0">
                  <a:solidFill>
                    <a:srgbClr val="FF9900"/>
                  </a:solidFill>
                  <a:latin typeface="Bahnschrift SemiCondensed" panose="020B0502040204020203" pitchFamily="34" charset="0"/>
                </a:rPr>
                <a:t>Movie </a:t>
              </a:r>
              <a:r>
                <a:rPr lang="tr-TR" dirty="0" err="1" smtClean="0">
                  <a:solidFill>
                    <a:srgbClr val="FF9900"/>
                  </a:solidFill>
                  <a:latin typeface="Bahnschrift SemiCondensed" panose="020B0502040204020203" pitchFamily="34" charset="0"/>
                </a:rPr>
                <a:t>Tape</a:t>
              </a:r>
              <a:endParaRPr lang="tr-TR" dirty="0">
                <a:solidFill>
                  <a:srgbClr val="FF9900"/>
                </a:solidFill>
                <a:latin typeface="Bahnschrift SemiCondensed" panose="020B0502040204020203" pitchFamily="34" charset="0"/>
              </a:endParaRPr>
            </a:p>
          </p:txBody>
        </p:sp>
      </p:grpSp>
      <p:grpSp>
        <p:nvGrpSpPr>
          <p:cNvPr id="10" name="Grup 9"/>
          <p:cNvGrpSpPr/>
          <p:nvPr/>
        </p:nvGrpSpPr>
        <p:grpSpPr>
          <a:xfrm>
            <a:off x="7019925" y="3960508"/>
            <a:ext cx="3325303" cy="2226708"/>
            <a:chOff x="7019925" y="3960508"/>
            <a:chExt cx="3325303" cy="2226708"/>
          </a:xfrm>
        </p:grpSpPr>
        <p:pic>
          <p:nvPicPr>
            <p:cNvPr id="5" name="Resim 4"/>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7019925" y="3960508"/>
              <a:ext cx="3325303" cy="1857376"/>
            </a:xfrm>
            <a:prstGeom prst="rect">
              <a:avLst/>
            </a:prstGeom>
          </p:spPr>
        </p:pic>
        <p:sp>
          <p:nvSpPr>
            <p:cNvPr id="8" name="Metin kutusu 7"/>
            <p:cNvSpPr txBox="1"/>
            <p:nvPr/>
          </p:nvSpPr>
          <p:spPr>
            <a:xfrm>
              <a:off x="7019925" y="5817884"/>
              <a:ext cx="3325303" cy="369332"/>
            </a:xfrm>
            <a:prstGeom prst="rect">
              <a:avLst/>
            </a:prstGeom>
            <a:noFill/>
          </p:spPr>
          <p:txBody>
            <a:bodyPr wrap="square" rtlCol="0">
              <a:spAutoFit/>
            </a:bodyPr>
            <a:lstStyle/>
            <a:p>
              <a:pPr algn="ctr"/>
              <a:r>
                <a:rPr lang="tr-TR" dirty="0" smtClean="0">
                  <a:solidFill>
                    <a:srgbClr val="FF9900"/>
                  </a:solidFill>
                  <a:latin typeface="Bahnschrift SemiCondensed" panose="020B0502040204020203" pitchFamily="34" charset="0"/>
                </a:rPr>
                <a:t>Data </a:t>
              </a:r>
              <a:r>
                <a:rPr lang="tr-TR" dirty="0" err="1" smtClean="0">
                  <a:solidFill>
                    <a:srgbClr val="FF9900"/>
                  </a:solidFill>
                  <a:latin typeface="Bahnschrift SemiCondensed" panose="020B0502040204020203" pitchFamily="34" charset="0"/>
                </a:rPr>
                <a:t>Tape</a:t>
              </a:r>
              <a:r>
                <a:rPr lang="tr-TR" dirty="0" smtClean="0">
                  <a:solidFill>
                    <a:srgbClr val="FF9900"/>
                  </a:solidFill>
                  <a:latin typeface="Bahnschrift SemiCondensed" panose="020B0502040204020203" pitchFamily="34" charset="0"/>
                </a:rPr>
                <a:t> Archive</a:t>
              </a:r>
              <a:endParaRPr lang="tr-TR" dirty="0">
                <a:solidFill>
                  <a:srgbClr val="FF9900"/>
                </a:solidFill>
                <a:latin typeface="Bahnschrift SemiCondensed" panose="020B0502040204020203" pitchFamily="34" charset="0"/>
              </a:endParaRPr>
            </a:p>
          </p:txBody>
        </p:sp>
      </p:grpSp>
    </p:spTree>
    <p:extLst>
      <p:ext uri="{BB962C8B-B14F-4D97-AF65-F5344CB8AC3E}">
        <p14:creationId xmlns:p14="http://schemas.microsoft.com/office/powerpoint/2010/main" xmlns="" val="27573973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up 14"/>
          <p:cNvGrpSpPr/>
          <p:nvPr/>
        </p:nvGrpSpPr>
        <p:grpSpPr>
          <a:xfrm>
            <a:off x="3868477" y="549275"/>
            <a:ext cx="8323523" cy="6315154"/>
            <a:chOff x="3868477" y="549275"/>
            <a:chExt cx="8323523" cy="6315154"/>
          </a:xfrm>
        </p:grpSpPr>
        <p:sp>
          <p:nvSpPr>
            <p:cNvPr id="16" name="Çapraz Şerit 15"/>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20" name="Çapraz Şerit 19"/>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21" name="Yarım Çerçeve 20"/>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History</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a:xfrm>
            <a:off x="838199" y="1825626"/>
            <a:ext cx="8074447" cy="1420494"/>
          </a:xfrm>
        </p:spPr>
        <p:txBody>
          <a:bodyPr>
            <a:normAutofit/>
          </a:bodyPr>
          <a:lstStyle/>
          <a:p>
            <a:pPr marL="0" indent="0">
              <a:buNone/>
            </a:pPr>
            <a:r>
              <a:rPr lang="tr-TR" sz="2400" dirty="0" err="1" smtClean="0">
                <a:solidFill>
                  <a:schemeClr val="bg1"/>
                </a:solidFill>
                <a:latin typeface="Bahnschrift SemiCondensed" panose="020B0502040204020203" pitchFamily="34" charset="0"/>
              </a:rPr>
              <a:t>Magnetic</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tape</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was</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first</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developed</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by</a:t>
            </a:r>
            <a:r>
              <a:rPr lang="tr-TR" sz="2400" dirty="0" smtClean="0">
                <a:solidFill>
                  <a:schemeClr val="bg1"/>
                </a:solidFill>
                <a:latin typeface="Bahnschrift SemiCondensed" panose="020B0502040204020203" pitchFamily="34" charset="0"/>
              </a:rPr>
              <a:t> a </a:t>
            </a:r>
            <a:r>
              <a:rPr lang="tr-TR" sz="2400" dirty="0" err="1" smtClean="0">
                <a:solidFill>
                  <a:schemeClr val="bg1"/>
                </a:solidFill>
                <a:latin typeface="Bahnschrift SemiCondensed" panose="020B0502040204020203" pitchFamily="34" charset="0"/>
              </a:rPr>
              <a:t>German</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engineer</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Fritz</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Pfleumuer</a:t>
            </a:r>
            <a:r>
              <a:rPr lang="tr-TR" sz="2400" dirty="0" smtClean="0">
                <a:solidFill>
                  <a:schemeClr val="bg1"/>
                </a:solidFill>
                <a:latin typeface="Bahnschrift SemiCondensed" panose="020B0502040204020203" pitchFamily="34" charset="0"/>
              </a:rPr>
              <a:t> in 1928 </a:t>
            </a:r>
            <a:r>
              <a:rPr lang="tr-TR" sz="2400" dirty="0" err="1" smtClean="0">
                <a:solidFill>
                  <a:schemeClr val="bg1"/>
                </a:solidFill>
                <a:latin typeface="Bahnschrift SemiCondensed" panose="020B0502040204020203" pitchFamily="34" charset="0"/>
              </a:rPr>
              <a:t>based</a:t>
            </a:r>
            <a:r>
              <a:rPr lang="tr-TR" sz="2400" dirty="0" smtClean="0">
                <a:solidFill>
                  <a:schemeClr val="bg1"/>
                </a:solidFill>
                <a:latin typeface="Bahnschrift SemiCondensed" panose="020B0502040204020203" pitchFamily="34" charset="0"/>
              </a:rPr>
              <a:t> on </a:t>
            </a:r>
            <a:r>
              <a:rPr lang="tr-TR" sz="2400" dirty="0" err="1" smtClean="0">
                <a:solidFill>
                  <a:schemeClr val="bg1"/>
                </a:solidFill>
                <a:latin typeface="Bahnschrift SemiCondensed" panose="020B0502040204020203" pitchFamily="34" charset="0"/>
              </a:rPr>
              <a:t>the</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invention</a:t>
            </a:r>
            <a:r>
              <a:rPr lang="tr-TR" sz="2400" dirty="0" smtClean="0">
                <a:solidFill>
                  <a:schemeClr val="bg1"/>
                </a:solidFill>
                <a:latin typeface="Bahnschrift SemiCondensed" panose="020B0502040204020203" pitchFamily="34" charset="0"/>
              </a:rPr>
              <a:t> of </a:t>
            </a:r>
            <a:r>
              <a:rPr lang="tr-TR" sz="2400" dirty="0" err="1" smtClean="0">
                <a:solidFill>
                  <a:schemeClr val="bg1"/>
                </a:solidFill>
                <a:latin typeface="Bahnschrift SemiCondensed" panose="020B0502040204020203" pitchFamily="34" charset="0"/>
              </a:rPr>
              <a:t>the</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magnetic</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wire</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by</a:t>
            </a:r>
            <a:r>
              <a:rPr lang="tr-TR" sz="2400" dirty="0">
                <a:solidFill>
                  <a:schemeClr val="bg1"/>
                </a:solidFill>
                <a:latin typeface="Bahnschrift SemiCondensed" panose="020B0502040204020203" pitchFamily="34" charset="0"/>
              </a:rPr>
              <a:t> </a:t>
            </a:r>
            <a:r>
              <a:rPr lang="tr-TR" sz="2400" dirty="0" smtClean="0">
                <a:solidFill>
                  <a:schemeClr val="bg1"/>
                </a:solidFill>
                <a:latin typeface="Bahnschrift SemiCondensed" panose="020B0502040204020203" pitchFamily="34" charset="0"/>
              </a:rPr>
              <a:t>a </a:t>
            </a:r>
            <a:r>
              <a:rPr lang="tr-TR" sz="2400" dirty="0" err="1" smtClean="0">
                <a:solidFill>
                  <a:schemeClr val="bg1"/>
                </a:solidFill>
                <a:latin typeface="Bahnschrift SemiCondensed" panose="020B0502040204020203" pitchFamily="34" charset="0"/>
              </a:rPr>
              <a:t>Danish</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engineer</a:t>
            </a:r>
            <a:r>
              <a:rPr lang="tr-TR" sz="2400" dirty="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Valdemar</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Poulsen</a:t>
            </a:r>
            <a:r>
              <a:rPr lang="tr-TR" sz="2400" dirty="0" smtClean="0">
                <a:solidFill>
                  <a:schemeClr val="bg1"/>
                </a:solidFill>
                <a:latin typeface="Bahnschrift SemiCondensed" panose="020B0502040204020203" pitchFamily="34" charset="0"/>
              </a:rPr>
              <a:t> in 1898.</a:t>
            </a:r>
          </a:p>
          <a:p>
            <a:pPr marL="0" indent="0">
              <a:buNone/>
            </a:pPr>
            <a:endParaRPr lang="tr-TR" sz="2400" dirty="0">
              <a:solidFill>
                <a:schemeClr val="bg1"/>
              </a:solidFill>
              <a:latin typeface="Bahnschrift SemiCondensed" panose="020B0502040204020203" pitchFamily="34" charset="0"/>
            </a:endParaRPr>
          </a:p>
        </p:txBody>
      </p:sp>
      <p:grpSp>
        <p:nvGrpSpPr>
          <p:cNvPr id="8" name="Grup 7"/>
          <p:cNvGrpSpPr/>
          <p:nvPr/>
        </p:nvGrpSpPr>
        <p:grpSpPr>
          <a:xfrm>
            <a:off x="9018613" y="1365044"/>
            <a:ext cx="2358774" cy="2097515"/>
            <a:chOff x="4719917" y="2022661"/>
            <a:chExt cx="4953000" cy="4393029"/>
          </a:xfrm>
        </p:grpSpPr>
        <p:sp>
          <p:nvSpPr>
            <p:cNvPr id="5" name="Metin kutusu 4"/>
            <p:cNvSpPr txBox="1"/>
            <p:nvPr/>
          </p:nvSpPr>
          <p:spPr>
            <a:xfrm>
              <a:off x="4719917" y="5642162"/>
              <a:ext cx="4953000" cy="773528"/>
            </a:xfrm>
            <a:prstGeom prst="rect">
              <a:avLst/>
            </a:prstGeom>
            <a:noFill/>
          </p:spPr>
          <p:txBody>
            <a:bodyPr wrap="square" rtlCol="0">
              <a:spAutoFit/>
            </a:bodyPr>
            <a:lstStyle/>
            <a:p>
              <a:pPr algn="ctr"/>
              <a:r>
                <a:rPr lang="tr-TR" dirty="0" err="1">
                  <a:solidFill>
                    <a:srgbClr val="FF9900"/>
                  </a:solidFill>
                  <a:latin typeface="Bahnschrift SemiCondensed" panose="020B0502040204020203" pitchFamily="34" charset="0"/>
                </a:rPr>
                <a:t>Fritz</a:t>
              </a:r>
              <a:r>
                <a:rPr lang="tr-TR" dirty="0">
                  <a:solidFill>
                    <a:srgbClr val="FF9900"/>
                  </a:solidFill>
                  <a:latin typeface="Bahnschrift SemiCondensed" panose="020B0502040204020203" pitchFamily="34" charset="0"/>
                </a:rPr>
                <a:t> </a:t>
              </a:r>
              <a:r>
                <a:rPr lang="tr-TR" dirty="0" err="1" smtClean="0">
                  <a:solidFill>
                    <a:srgbClr val="FF9900"/>
                  </a:solidFill>
                  <a:latin typeface="Bahnschrift SemiCondensed" panose="020B0502040204020203" pitchFamily="34" charset="0"/>
                </a:rPr>
                <a:t>Pfleumer</a:t>
              </a:r>
              <a:endParaRPr lang="tr-TR" dirty="0">
                <a:solidFill>
                  <a:srgbClr val="FF9900"/>
                </a:solidFill>
                <a:latin typeface="Bahnschrift SemiCondensed" panose="020B0502040204020203" pitchFamily="34" charset="0"/>
              </a:endParaRPr>
            </a:p>
          </p:txBody>
        </p:sp>
        <p:pic>
          <p:nvPicPr>
            <p:cNvPr id="7" name="Resim 6"/>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719917" y="2022661"/>
              <a:ext cx="4953000" cy="3619501"/>
            </a:xfrm>
            <a:prstGeom prst="rect">
              <a:avLst/>
            </a:prstGeom>
          </p:spPr>
        </p:pic>
      </p:grpSp>
      <p:grpSp>
        <p:nvGrpSpPr>
          <p:cNvPr id="19" name="Grup 18"/>
          <p:cNvGrpSpPr/>
          <p:nvPr/>
        </p:nvGrpSpPr>
        <p:grpSpPr>
          <a:xfrm>
            <a:off x="838199" y="3616890"/>
            <a:ext cx="2118286" cy="2068145"/>
            <a:chOff x="2018179" y="2091531"/>
            <a:chExt cx="4229100" cy="4649911"/>
          </a:xfrm>
        </p:grpSpPr>
        <p:pic>
          <p:nvPicPr>
            <p:cNvPr id="17" name="Resim 1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2018179" y="2091531"/>
              <a:ext cx="4229100" cy="3819525"/>
            </a:xfrm>
            <a:prstGeom prst="rect">
              <a:avLst/>
            </a:prstGeom>
          </p:spPr>
        </p:pic>
        <p:sp>
          <p:nvSpPr>
            <p:cNvPr id="18" name="Metin kutusu 17"/>
            <p:cNvSpPr txBox="1"/>
            <p:nvPr/>
          </p:nvSpPr>
          <p:spPr>
            <a:xfrm>
              <a:off x="2018179" y="5911055"/>
              <a:ext cx="4229100" cy="830387"/>
            </a:xfrm>
            <a:prstGeom prst="rect">
              <a:avLst/>
            </a:prstGeom>
            <a:noFill/>
          </p:spPr>
          <p:txBody>
            <a:bodyPr wrap="square" rtlCol="0">
              <a:spAutoFit/>
            </a:bodyPr>
            <a:lstStyle/>
            <a:p>
              <a:pPr algn="ctr"/>
              <a:r>
                <a:rPr lang="en-US" dirty="0" smtClean="0">
                  <a:solidFill>
                    <a:srgbClr val="FF9900"/>
                  </a:solidFill>
                  <a:latin typeface="Bahnschrift SemiCondensed" panose="020B0502040204020203" pitchFamily="34" charset="0"/>
                </a:rPr>
                <a:t>AEG</a:t>
              </a:r>
              <a:r>
                <a:rPr lang="en-US" dirty="0">
                  <a:solidFill>
                    <a:srgbClr val="FF9900"/>
                  </a:solidFill>
                  <a:latin typeface="Bahnschrift SemiCondensed" panose="020B0502040204020203" pitchFamily="34" charset="0"/>
                </a:rPr>
                <a:t> </a:t>
              </a:r>
              <a:r>
                <a:rPr lang="en-US" dirty="0" err="1" smtClean="0">
                  <a:solidFill>
                    <a:srgbClr val="FF9900"/>
                  </a:solidFill>
                  <a:latin typeface="Bahnschrift SemiCondensed" panose="020B0502040204020203" pitchFamily="34" charset="0"/>
                </a:rPr>
                <a:t>Magnetophone</a:t>
              </a:r>
              <a:endParaRPr lang="tr-TR" dirty="0">
                <a:solidFill>
                  <a:srgbClr val="FF9900"/>
                </a:solidFill>
                <a:latin typeface="Bahnschrift SemiCondensed" panose="020B0502040204020203" pitchFamily="34" charset="0"/>
              </a:endParaRPr>
            </a:p>
          </p:txBody>
        </p:sp>
      </p:grpSp>
      <p:sp>
        <p:nvSpPr>
          <p:cNvPr id="26" name="İçerik Yer Tutucusu 2"/>
          <p:cNvSpPr txBox="1">
            <a:spLocks/>
          </p:cNvSpPr>
          <p:nvPr/>
        </p:nvSpPr>
        <p:spPr>
          <a:xfrm>
            <a:off x="3124478" y="3958608"/>
            <a:ext cx="8400031" cy="13801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smtClean="0">
                <a:solidFill>
                  <a:schemeClr val="bg1"/>
                </a:solidFill>
                <a:latin typeface="Bahnschrift SemiCondensed" panose="020B0502040204020203" pitchFamily="34" charset="0"/>
              </a:rPr>
              <a:t>In 1932</a:t>
            </a:r>
            <a:r>
              <a:rPr lang="tr-TR" sz="2400" dirty="0" smtClean="0">
                <a:solidFill>
                  <a:schemeClr val="bg1"/>
                </a:solidFill>
                <a:latin typeface="Bahnschrift SemiCondensed" panose="020B0502040204020203" pitchFamily="34" charset="0"/>
              </a:rPr>
              <a:t>,</a:t>
            </a:r>
            <a:r>
              <a:rPr lang="en-US" sz="2400" dirty="0" smtClean="0">
                <a:solidFill>
                  <a:schemeClr val="bg1"/>
                </a:solidFill>
                <a:latin typeface="Bahnschrift SemiCondensed" panose="020B0502040204020203" pitchFamily="34" charset="0"/>
              </a:rPr>
              <a:t> AEG took up his idea and began manufacture of the</a:t>
            </a:r>
            <a:r>
              <a:rPr lang="tr-TR" sz="2400" dirty="0" smtClean="0">
                <a:solidFill>
                  <a:schemeClr val="bg1"/>
                </a:solidFill>
                <a:latin typeface="Bahnschrift SemiCondensed" panose="020B0502040204020203" pitchFamily="34" charset="0"/>
              </a:rPr>
              <a:t> </a:t>
            </a:r>
            <a:r>
              <a:rPr lang="en-US" sz="2400" dirty="0" smtClean="0">
                <a:solidFill>
                  <a:schemeClr val="bg1"/>
                </a:solidFill>
                <a:latin typeface="Bahnschrift SemiCondensed" panose="020B0502040204020203" pitchFamily="34" charset="0"/>
              </a:rPr>
              <a:t>machine calling it the </a:t>
            </a:r>
            <a:r>
              <a:rPr lang="en-US" sz="2400" dirty="0" err="1">
                <a:solidFill>
                  <a:schemeClr val="bg1"/>
                </a:solidFill>
                <a:latin typeface="Bahnschrift SemiCondensed" panose="020B0502040204020203" pitchFamily="34" charset="0"/>
              </a:rPr>
              <a:t>Magnetophone</a:t>
            </a:r>
            <a:r>
              <a:rPr lang="tr-TR" sz="2400" dirty="0" smtClean="0">
                <a:solidFill>
                  <a:schemeClr val="bg1"/>
                </a:solidFill>
                <a:latin typeface="Bahnschrift SemiCondensed" panose="020B0502040204020203" pitchFamily="34" charset="0"/>
              </a:rPr>
              <a:t>.</a:t>
            </a:r>
          </a:p>
        </p:txBody>
      </p:sp>
    </p:spTree>
    <p:extLst>
      <p:ext uri="{BB962C8B-B14F-4D97-AF65-F5344CB8AC3E}">
        <p14:creationId xmlns:p14="http://schemas.microsoft.com/office/powerpoint/2010/main" xmlns="" val="2705129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 16"/>
          <p:cNvGrpSpPr/>
          <p:nvPr/>
        </p:nvGrpSpPr>
        <p:grpSpPr>
          <a:xfrm>
            <a:off x="3868477" y="549275"/>
            <a:ext cx="8323523" cy="6315154"/>
            <a:chOff x="3868477" y="549275"/>
            <a:chExt cx="8323523" cy="6315154"/>
          </a:xfrm>
        </p:grpSpPr>
        <p:sp>
          <p:nvSpPr>
            <p:cNvPr id="18" name="Çapraz Şerit 17"/>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9" name="Çapraz Şerit 18"/>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22" name="Yarım Çerçeve 21"/>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History</a:t>
            </a:r>
            <a:endParaRPr lang="tr-TR" dirty="0">
              <a:solidFill>
                <a:srgbClr val="FFCC00"/>
              </a:solidFill>
              <a:latin typeface="Bahnschrift SemiBold SemiConden" panose="020B0502040204020203" pitchFamily="34" charset="0"/>
            </a:endParaRPr>
          </a:p>
        </p:txBody>
      </p:sp>
      <p:grpSp>
        <p:nvGrpSpPr>
          <p:cNvPr id="12" name="Grup 11"/>
          <p:cNvGrpSpPr/>
          <p:nvPr/>
        </p:nvGrpSpPr>
        <p:grpSpPr>
          <a:xfrm>
            <a:off x="2572703" y="1407714"/>
            <a:ext cx="2077396" cy="3175291"/>
            <a:chOff x="1788110" y="2988601"/>
            <a:chExt cx="1855750" cy="2836509"/>
          </a:xfrm>
        </p:grpSpPr>
        <p:pic>
          <p:nvPicPr>
            <p:cNvPr id="13" name="Resim 1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788110" y="2988601"/>
              <a:ext cx="1855750" cy="2506582"/>
            </a:xfrm>
            <a:prstGeom prst="rect">
              <a:avLst/>
            </a:prstGeom>
          </p:spPr>
        </p:pic>
        <p:sp>
          <p:nvSpPr>
            <p:cNvPr id="14" name="Metin kutusu 13"/>
            <p:cNvSpPr txBox="1"/>
            <p:nvPr/>
          </p:nvSpPr>
          <p:spPr>
            <a:xfrm>
              <a:off x="1788110" y="5495183"/>
              <a:ext cx="1855750" cy="329927"/>
            </a:xfrm>
            <a:prstGeom prst="rect">
              <a:avLst/>
            </a:prstGeom>
            <a:noFill/>
          </p:spPr>
          <p:txBody>
            <a:bodyPr wrap="square" rtlCol="0">
              <a:spAutoFit/>
            </a:bodyPr>
            <a:lstStyle/>
            <a:p>
              <a:pPr algn="ctr"/>
              <a:r>
                <a:rPr lang="en-US" dirty="0">
                  <a:solidFill>
                    <a:srgbClr val="FF9900"/>
                  </a:solidFill>
                  <a:latin typeface="Bahnschrift SemiCondensed" panose="020B0502040204020203" pitchFamily="34" charset="0"/>
                </a:rPr>
                <a:t>UNISERVO I</a:t>
              </a:r>
              <a:endParaRPr lang="tr-TR" dirty="0">
                <a:solidFill>
                  <a:srgbClr val="FF9900"/>
                </a:solidFill>
                <a:latin typeface="Bahnschrift SemiCondensed" panose="020B0502040204020203" pitchFamily="34" charset="0"/>
              </a:endParaRPr>
            </a:p>
          </p:txBody>
        </p:sp>
      </p:grpSp>
      <p:grpSp>
        <p:nvGrpSpPr>
          <p:cNvPr id="15" name="Grup 14"/>
          <p:cNvGrpSpPr/>
          <p:nvPr/>
        </p:nvGrpSpPr>
        <p:grpSpPr>
          <a:xfrm>
            <a:off x="5663558" y="1407714"/>
            <a:ext cx="3805315" cy="3175415"/>
            <a:chOff x="6334855" y="2282362"/>
            <a:chExt cx="3735380" cy="3247764"/>
          </a:xfrm>
        </p:grpSpPr>
        <p:pic>
          <p:nvPicPr>
            <p:cNvPr id="16" name="Resim 1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6334855" y="2282362"/>
              <a:ext cx="3735380" cy="2870015"/>
            </a:xfrm>
            <a:prstGeom prst="rect">
              <a:avLst/>
            </a:prstGeom>
          </p:spPr>
        </p:pic>
        <p:sp>
          <p:nvSpPr>
            <p:cNvPr id="20" name="Metin kutusu 19"/>
            <p:cNvSpPr txBox="1"/>
            <p:nvPr/>
          </p:nvSpPr>
          <p:spPr>
            <a:xfrm>
              <a:off x="6334855" y="5152379"/>
              <a:ext cx="3735380" cy="377747"/>
            </a:xfrm>
            <a:prstGeom prst="rect">
              <a:avLst/>
            </a:prstGeom>
            <a:noFill/>
          </p:spPr>
          <p:txBody>
            <a:bodyPr wrap="square" rtlCol="0">
              <a:spAutoFit/>
            </a:bodyPr>
            <a:lstStyle/>
            <a:p>
              <a:pPr algn="ctr"/>
              <a:r>
                <a:rPr lang="en-US" dirty="0">
                  <a:solidFill>
                    <a:srgbClr val="FF9900"/>
                  </a:solidFill>
                  <a:latin typeface="Bahnschrift SemiCondensed" panose="020B0502040204020203" pitchFamily="34" charset="0"/>
                </a:rPr>
                <a:t>UNIVAC I</a:t>
              </a:r>
              <a:endParaRPr lang="tr-TR" dirty="0">
                <a:solidFill>
                  <a:srgbClr val="FF9900"/>
                </a:solidFill>
                <a:latin typeface="Bahnschrift SemiCondensed" panose="020B0502040204020203" pitchFamily="34" charset="0"/>
              </a:endParaRPr>
            </a:p>
          </p:txBody>
        </p:sp>
      </p:grpSp>
      <p:sp>
        <p:nvSpPr>
          <p:cNvPr id="21" name="İçerik Yer Tutucusu 18"/>
          <p:cNvSpPr>
            <a:spLocks noGrp="1"/>
          </p:cNvSpPr>
          <p:nvPr>
            <p:ph idx="1"/>
          </p:nvPr>
        </p:nvSpPr>
        <p:spPr>
          <a:xfrm>
            <a:off x="975360" y="4711164"/>
            <a:ext cx="10515600" cy="1538279"/>
          </a:xfrm>
        </p:spPr>
        <p:txBody>
          <a:bodyPr>
            <a:normAutofit/>
          </a:bodyPr>
          <a:lstStyle/>
          <a:p>
            <a:pPr marL="0" indent="0">
              <a:buNone/>
            </a:pPr>
            <a:r>
              <a:rPr lang="tr-TR" sz="2400" dirty="0" err="1">
                <a:solidFill>
                  <a:schemeClr val="bg1"/>
                </a:solidFill>
                <a:latin typeface="Bahnschrift SemiCondensed" panose="020B0502040204020203" pitchFamily="34" charset="0"/>
              </a:rPr>
              <a:t>In</a:t>
            </a:r>
            <a:r>
              <a:rPr lang="tr-TR" sz="2400" dirty="0">
                <a:solidFill>
                  <a:schemeClr val="bg1"/>
                </a:solidFill>
                <a:latin typeface="Bahnschrift SemiCondensed" panose="020B0502040204020203" pitchFamily="34" charset="0"/>
              </a:rPr>
              <a:t> 1</a:t>
            </a:r>
            <a:r>
              <a:rPr lang="en-US" sz="2400" dirty="0">
                <a:solidFill>
                  <a:schemeClr val="bg1"/>
                </a:solidFill>
                <a:latin typeface="Bahnschrift SemiCondensed" panose="020B0502040204020203" pitchFamily="34" charset="0"/>
              </a:rPr>
              <a:t>950</a:t>
            </a:r>
            <a:r>
              <a:rPr lang="tr-TR" sz="2400" dirty="0">
                <a:solidFill>
                  <a:schemeClr val="bg1"/>
                </a:solidFill>
                <a:latin typeface="Bahnschrift SemiCondensed" panose="020B0502040204020203" pitchFamily="34" charset="0"/>
              </a:rPr>
              <a:t> </a:t>
            </a:r>
            <a:r>
              <a:rPr lang="en-US" sz="2400" dirty="0">
                <a:solidFill>
                  <a:schemeClr val="bg1"/>
                </a:solidFill>
                <a:latin typeface="Bahnschrift SemiCondensed" panose="020B0502040204020203" pitchFamily="34" charset="0"/>
              </a:rPr>
              <a:t>the UNISERVO I</a:t>
            </a:r>
            <a:r>
              <a:rPr lang="tr-TR" sz="2400" dirty="0">
                <a:solidFill>
                  <a:schemeClr val="bg1"/>
                </a:solidFill>
                <a:latin typeface="Bahnschrift SemiCondensed" panose="020B0502040204020203" pitchFamily="34" charset="0"/>
              </a:rPr>
              <a:t>, </a:t>
            </a:r>
            <a:r>
              <a:rPr lang="en-US" sz="2400" dirty="0">
                <a:solidFill>
                  <a:schemeClr val="bg1"/>
                </a:solidFill>
                <a:latin typeface="Bahnschrift SemiCondensed" panose="020B0502040204020203" pitchFamily="34" charset="0"/>
              </a:rPr>
              <a:t>first digital tape recorder was developed</a:t>
            </a:r>
            <a:r>
              <a:rPr lang="tr-TR" sz="2400" dirty="0">
                <a:solidFill>
                  <a:schemeClr val="bg1"/>
                </a:solidFill>
                <a:latin typeface="Bahnschrift SemiCondensed" panose="020B0502040204020203" pitchFamily="34" charset="0"/>
              </a:rPr>
              <a:t>. </a:t>
            </a:r>
          </a:p>
          <a:p>
            <a:pPr marL="0" indent="0">
              <a:buNone/>
            </a:pPr>
            <a:r>
              <a:rPr lang="tr-TR" sz="2400" dirty="0">
                <a:solidFill>
                  <a:schemeClr val="bg1"/>
                </a:solidFill>
                <a:latin typeface="Bahnschrift SemiCondensed" panose="020B0502040204020203" pitchFamily="34" charset="0"/>
              </a:rPr>
              <a:t>T</a:t>
            </a:r>
            <a:r>
              <a:rPr lang="en-US" sz="2400" dirty="0">
                <a:solidFill>
                  <a:schemeClr val="bg1"/>
                </a:solidFill>
                <a:latin typeface="Bahnschrift SemiCondensed" panose="020B0502040204020203" pitchFamily="34" charset="0"/>
              </a:rPr>
              <a:t>he first modern commercial computer the UNIVAC I</a:t>
            </a:r>
            <a:r>
              <a:rPr lang="tr-TR" sz="2400" dirty="0">
                <a:solidFill>
                  <a:schemeClr val="bg1"/>
                </a:solidFill>
                <a:latin typeface="Bahnschrift SemiCondensed" panose="020B0502040204020203" pitchFamily="34" charset="0"/>
              </a:rPr>
              <a:t>,</a:t>
            </a:r>
            <a:r>
              <a:rPr lang="en-US" sz="2400" dirty="0">
                <a:solidFill>
                  <a:schemeClr val="bg1"/>
                </a:solidFill>
                <a:latin typeface="Bahnschrift SemiCondensed" panose="020B0502040204020203" pitchFamily="34" charset="0"/>
              </a:rPr>
              <a:t> was released in 1951</a:t>
            </a:r>
            <a:r>
              <a:rPr lang="tr-TR" sz="2400" dirty="0">
                <a:solidFill>
                  <a:schemeClr val="bg1"/>
                </a:solidFill>
                <a:latin typeface="Bahnschrift SemiCondensed" panose="020B0502040204020203" pitchFamily="34" charset="0"/>
              </a:rPr>
              <a:t>. </a:t>
            </a:r>
            <a:r>
              <a:rPr lang="en-US" sz="2400" dirty="0">
                <a:solidFill>
                  <a:schemeClr val="bg1"/>
                </a:solidFill>
                <a:latin typeface="Bahnschrift SemiCondensed" panose="020B0502040204020203" pitchFamily="34" charset="0"/>
              </a:rPr>
              <a:t>UNIVAC I</a:t>
            </a:r>
            <a:r>
              <a:rPr lang="tr-TR" sz="2400" dirty="0">
                <a:solidFill>
                  <a:schemeClr val="bg1"/>
                </a:solidFill>
                <a:latin typeface="Bahnschrift SemiCondensed" panose="020B0502040204020203" pitchFamily="34" charset="0"/>
              </a:rPr>
              <a:t>,</a:t>
            </a:r>
            <a:r>
              <a:rPr lang="en-US" sz="2400" dirty="0">
                <a:solidFill>
                  <a:schemeClr val="bg1"/>
                </a:solidFill>
                <a:latin typeface="Bahnschrift SemiCondensed" panose="020B0502040204020203" pitchFamily="34" charset="0"/>
              </a:rPr>
              <a:t> had </a:t>
            </a:r>
            <a:r>
              <a:rPr lang="tr-TR" sz="2400" dirty="0" smtClean="0">
                <a:solidFill>
                  <a:schemeClr val="bg1"/>
                </a:solidFill>
                <a:latin typeface="Bahnschrift SemiCondensed" panose="020B0502040204020203" pitchFamily="34" charset="0"/>
              </a:rPr>
              <a:t>10 UNISERVO I </a:t>
            </a:r>
            <a:r>
              <a:rPr lang="tr-TR" sz="2400" dirty="0" err="1" smtClean="0">
                <a:solidFill>
                  <a:schemeClr val="bg1"/>
                </a:solidFill>
                <a:latin typeface="Bahnschrift SemiCondensed" panose="020B0502040204020203" pitchFamily="34" charset="0"/>
              </a:rPr>
              <a:t>tape</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drives</a:t>
            </a:r>
            <a:r>
              <a:rPr lang="tr-TR" sz="2400" dirty="0" smtClean="0">
                <a:solidFill>
                  <a:schemeClr val="bg1"/>
                </a:solidFill>
                <a:latin typeface="Bahnschrift SemiCondensed" panose="020B0502040204020203" pitchFamily="34" charset="0"/>
              </a:rPr>
              <a:t>.</a:t>
            </a:r>
            <a:endParaRPr lang="tr-TR" sz="2400" dirty="0">
              <a:solidFill>
                <a:schemeClr val="bg1"/>
              </a:solidFill>
              <a:latin typeface="Bahnschrift SemiCondensed" panose="020B0502040204020203" pitchFamily="34" charset="0"/>
            </a:endParaRPr>
          </a:p>
        </p:txBody>
      </p:sp>
    </p:spTree>
    <p:extLst>
      <p:ext uri="{BB962C8B-B14F-4D97-AF65-F5344CB8AC3E}">
        <p14:creationId xmlns:p14="http://schemas.microsoft.com/office/powerpoint/2010/main" xmlns="" val="6454123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 8"/>
          <p:cNvGrpSpPr/>
          <p:nvPr/>
        </p:nvGrpSpPr>
        <p:grpSpPr>
          <a:xfrm>
            <a:off x="3868477" y="549275"/>
            <a:ext cx="8323523" cy="6315154"/>
            <a:chOff x="3868477" y="549275"/>
            <a:chExt cx="8323523" cy="6315154"/>
          </a:xfrm>
        </p:grpSpPr>
        <p:sp>
          <p:nvSpPr>
            <p:cNvPr id="10" name="Çapraz Şerit 9"/>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1" name="Çapraz Şerit 10"/>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2" name="Yarım Çerçeve 11"/>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History</a:t>
            </a:r>
            <a:endParaRPr lang="tr-TR" dirty="0">
              <a:solidFill>
                <a:srgbClr val="FFCC00"/>
              </a:solidFill>
              <a:latin typeface="Bahnschrift SemiBold SemiConden" panose="020B0502040204020203" pitchFamily="34" charset="0"/>
            </a:endParaRPr>
          </a:p>
        </p:txBody>
      </p:sp>
      <p:pic>
        <p:nvPicPr>
          <p:cNvPr id="5" name="İçerik Yer Tutucusu 4"/>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2782752" y="1469173"/>
            <a:ext cx="6626495" cy="3478910"/>
          </a:xfrm>
        </p:spPr>
      </p:pic>
      <p:sp>
        <p:nvSpPr>
          <p:cNvPr id="4" name="İçerik Yer Tutucusu 2"/>
          <p:cNvSpPr txBox="1">
            <a:spLocks/>
          </p:cNvSpPr>
          <p:nvPr/>
        </p:nvSpPr>
        <p:spPr>
          <a:xfrm>
            <a:off x="1996214" y="5327891"/>
            <a:ext cx="8199572" cy="5585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smtClean="0">
                <a:solidFill>
                  <a:schemeClr val="bg1"/>
                </a:solidFill>
                <a:latin typeface="Bahnschrift SemiCondensed" panose="020B0502040204020203" pitchFamily="34" charset="0"/>
              </a:rPr>
              <a:t>The IBM System/360 released in 1964</a:t>
            </a:r>
            <a:r>
              <a:rPr lang="tr-TR" sz="2400" dirty="0" smtClean="0">
                <a:solidFill>
                  <a:schemeClr val="bg1"/>
                </a:solidFill>
                <a:latin typeface="Bahnschrift SemiCondensed" panose="020B0502040204020203" pitchFamily="34" charset="0"/>
              </a:rPr>
              <a:t>, </a:t>
            </a:r>
            <a:r>
              <a:rPr lang="en-US" sz="2400" dirty="0" smtClean="0">
                <a:solidFill>
                  <a:schemeClr val="bg1"/>
                </a:solidFill>
                <a:latin typeface="Bahnschrift SemiCondensed" panose="020B0502040204020203" pitchFamily="34" charset="0"/>
              </a:rPr>
              <a:t>introduced 9 track tape. </a:t>
            </a:r>
            <a:endParaRPr lang="tr-TR" sz="2400" dirty="0">
              <a:solidFill>
                <a:schemeClr val="bg1"/>
              </a:solidFill>
              <a:latin typeface="Bahnschrift SemiCondensed" panose="020B0502040204020203" pitchFamily="34" charset="0"/>
            </a:endParaRPr>
          </a:p>
        </p:txBody>
      </p:sp>
    </p:spTree>
    <p:extLst>
      <p:ext uri="{BB962C8B-B14F-4D97-AF65-F5344CB8AC3E}">
        <p14:creationId xmlns:p14="http://schemas.microsoft.com/office/powerpoint/2010/main" xmlns="" val="15674306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up 80"/>
          <p:cNvGrpSpPr/>
          <p:nvPr/>
        </p:nvGrpSpPr>
        <p:grpSpPr>
          <a:xfrm>
            <a:off x="3868477" y="549275"/>
            <a:ext cx="8323523" cy="6315154"/>
            <a:chOff x="3868477" y="549275"/>
            <a:chExt cx="8323523" cy="6315154"/>
          </a:xfrm>
        </p:grpSpPr>
        <p:sp>
          <p:nvSpPr>
            <p:cNvPr id="82" name="Çapraz Şerit 81"/>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83" name="Çapraz Şerit 82"/>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84" name="Yarım Çerçeve 83"/>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Tape</a:t>
            </a:r>
            <a:r>
              <a:rPr lang="tr-TR" dirty="0" smtClean="0">
                <a:solidFill>
                  <a:srgbClr val="FFCC00"/>
                </a:solidFill>
                <a:latin typeface="Bahnschrift SemiBold SemiConden" panose="020B0502040204020203" pitchFamily="34" charset="0"/>
              </a:rPr>
              <a:t> </a:t>
            </a:r>
            <a:r>
              <a:rPr lang="tr-TR" dirty="0" err="1" smtClean="0">
                <a:solidFill>
                  <a:srgbClr val="FFCC00"/>
                </a:solidFill>
                <a:latin typeface="Bahnschrift SemiBold SemiConden" panose="020B0502040204020203" pitchFamily="34" charset="0"/>
              </a:rPr>
              <a:t>Organization</a:t>
            </a:r>
            <a:endParaRPr lang="tr-TR" dirty="0">
              <a:solidFill>
                <a:srgbClr val="FFCC00"/>
              </a:solidFill>
              <a:latin typeface="Bahnschrift SemiBold SemiConden" panose="020B0502040204020203" pitchFamily="34" charset="0"/>
            </a:endParaRPr>
          </a:p>
        </p:txBody>
      </p:sp>
      <p:sp>
        <p:nvSpPr>
          <p:cNvPr id="11" name="Metin kutusu 10"/>
          <p:cNvSpPr txBox="1"/>
          <p:nvPr/>
        </p:nvSpPr>
        <p:spPr>
          <a:xfrm>
            <a:off x="1660307" y="5144316"/>
            <a:ext cx="8871385" cy="923330"/>
          </a:xfrm>
          <a:prstGeom prst="rect">
            <a:avLst/>
          </a:prstGeom>
          <a:noFill/>
        </p:spPr>
        <p:txBody>
          <a:bodyPr wrap="square" rtlCol="0">
            <a:spAutoFit/>
          </a:bodyPr>
          <a:lstStyle/>
          <a:p>
            <a:r>
              <a:rPr lang="tr-TR" dirty="0">
                <a:solidFill>
                  <a:schemeClr val="bg1"/>
                </a:solidFill>
                <a:latin typeface="Bahnschrift SemiCondensed" panose="020B0502040204020203" pitchFamily="34" charset="0"/>
              </a:rPr>
              <a:t>T</a:t>
            </a:r>
            <a:r>
              <a:rPr lang="en-US" dirty="0">
                <a:solidFill>
                  <a:schemeClr val="bg1"/>
                </a:solidFill>
                <a:latin typeface="Bahnschrift SemiCondensed" panose="020B0502040204020203" pitchFamily="34" charset="0"/>
              </a:rPr>
              <a:t>he format has eight data tracks and one parity </a:t>
            </a:r>
            <a:r>
              <a:rPr lang="en-US" dirty="0" err="1">
                <a:solidFill>
                  <a:schemeClr val="bg1"/>
                </a:solidFill>
                <a:latin typeface="Bahnschrift SemiCondensed" panose="020B0502040204020203" pitchFamily="34" charset="0"/>
              </a:rPr>
              <a:t>trac</a:t>
            </a:r>
            <a:r>
              <a:rPr lang="tr-TR" dirty="0">
                <a:solidFill>
                  <a:schemeClr val="bg1"/>
                </a:solidFill>
                <a:latin typeface="Bahnschrift SemiCondensed" panose="020B0502040204020203" pitchFamily="34" charset="0"/>
              </a:rPr>
              <a:t>k in ½’’ </a:t>
            </a:r>
            <a:r>
              <a:rPr lang="tr-TR" dirty="0" err="1">
                <a:solidFill>
                  <a:schemeClr val="bg1"/>
                </a:solidFill>
                <a:latin typeface="Bahnschrift SemiCondensed" panose="020B0502040204020203" pitchFamily="34" charset="0"/>
              </a:rPr>
              <a:t>width</a:t>
            </a:r>
            <a:r>
              <a:rPr lang="tr-TR" dirty="0">
                <a:solidFill>
                  <a:schemeClr val="bg1"/>
                </a:solidFill>
                <a:latin typeface="Bahnschrift SemiCondensed" panose="020B0502040204020203" pitchFamily="34" charset="0"/>
              </a:rPr>
              <a:t>.</a:t>
            </a:r>
          </a:p>
          <a:p>
            <a:r>
              <a:rPr lang="tr-TR" dirty="0" err="1" smtClean="0">
                <a:solidFill>
                  <a:schemeClr val="bg1"/>
                </a:solidFill>
                <a:latin typeface="Bahnschrift SemiCondensed" panose="020B0502040204020203" pitchFamily="34" charset="0"/>
              </a:rPr>
              <a:t>Parity</a:t>
            </a:r>
            <a:r>
              <a:rPr lang="tr-TR" dirty="0" smtClean="0">
                <a:solidFill>
                  <a:schemeClr val="bg1"/>
                </a:solidFill>
                <a:latin typeface="Bahnschrift SemiCondensed" panose="020B0502040204020203" pitchFamily="34" charset="0"/>
              </a:rPr>
              <a:t> bit is </a:t>
            </a:r>
            <a:r>
              <a:rPr lang="tr-TR" dirty="0" err="1" smtClean="0">
                <a:solidFill>
                  <a:schemeClr val="bg1"/>
                </a:solidFill>
                <a:latin typeface="Bahnschrift SemiCondensed" panose="020B0502040204020203" pitchFamily="34" charset="0"/>
              </a:rPr>
              <a:t>used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to</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error</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checking</a:t>
            </a:r>
            <a:r>
              <a:rPr lang="tr-TR" dirty="0" smtClean="0">
                <a:solidFill>
                  <a:schemeClr val="bg1"/>
                </a:solidFill>
                <a:latin typeface="Bahnschrift SemiCondensed" panose="020B0502040204020203" pitchFamily="34" charset="0"/>
              </a:rPr>
              <a:t>. </a:t>
            </a:r>
            <a:r>
              <a:rPr lang="en-US" dirty="0" smtClean="0">
                <a:solidFill>
                  <a:schemeClr val="bg1"/>
                </a:solidFill>
                <a:latin typeface="Bahnschrift SemiCondensed" panose="020B0502040204020203" pitchFamily="34" charset="0"/>
              </a:rPr>
              <a:t>If </a:t>
            </a:r>
            <a:r>
              <a:rPr lang="en-US" dirty="0">
                <a:solidFill>
                  <a:schemeClr val="bg1"/>
                </a:solidFill>
                <a:latin typeface="Bahnschrift SemiCondensed" panose="020B0502040204020203" pitchFamily="34" charset="0"/>
              </a:rPr>
              <a:t>the parity bit rule does not hold when the byte is read,</a:t>
            </a:r>
          </a:p>
          <a:p>
            <a:r>
              <a:rPr lang="en-US" dirty="0">
                <a:solidFill>
                  <a:schemeClr val="bg1"/>
                </a:solidFill>
                <a:latin typeface="Bahnschrift SemiCondensed" panose="020B0502040204020203" pitchFamily="34" charset="0"/>
              </a:rPr>
              <a:t>then the tape has been corrupted.</a:t>
            </a:r>
            <a:endParaRPr lang="tr-TR" dirty="0">
              <a:solidFill>
                <a:schemeClr val="bg1"/>
              </a:solidFill>
              <a:latin typeface="Bahnschrift SemiCondensed" panose="020B0502040204020203" pitchFamily="34" charset="0"/>
            </a:endParaRPr>
          </a:p>
        </p:txBody>
      </p:sp>
      <p:grpSp>
        <p:nvGrpSpPr>
          <p:cNvPr id="379" name="Grup 378"/>
          <p:cNvGrpSpPr/>
          <p:nvPr/>
        </p:nvGrpSpPr>
        <p:grpSpPr>
          <a:xfrm>
            <a:off x="535859" y="1596637"/>
            <a:ext cx="7934632" cy="3162347"/>
            <a:chOff x="934065" y="1389988"/>
            <a:chExt cx="7934632" cy="3162347"/>
          </a:xfrm>
        </p:grpSpPr>
        <p:sp>
          <p:nvSpPr>
            <p:cNvPr id="378" name="Dikdörtgen 377"/>
            <p:cNvSpPr/>
            <p:nvPr/>
          </p:nvSpPr>
          <p:spPr>
            <a:xfrm>
              <a:off x="934065" y="1389988"/>
              <a:ext cx="7934632" cy="31623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latin typeface="Bahnschrift SemiCondensed" panose="020B0502040204020203" pitchFamily="34" charset="0"/>
              </a:endParaRPr>
            </a:p>
          </p:txBody>
        </p:sp>
        <p:grpSp>
          <p:nvGrpSpPr>
            <p:cNvPr id="377" name="Grup 376"/>
            <p:cNvGrpSpPr/>
            <p:nvPr/>
          </p:nvGrpSpPr>
          <p:grpSpPr>
            <a:xfrm>
              <a:off x="1107565" y="1490530"/>
              <a:ext cx="7706186" cy="2987695"/>
              <a:chOff x="1135353" y="1531969"/>
              <a:chExt cx="7706186" cy="2987695"/>
            </a:xfrm>
            <a:noFill/>
          </p:grpSpPr>
          <p:grpSp>
            <p:nvGrpSpPr>
              <p:cNvPr id="296" name="Grup 295"/>
              <p:cNvGrpSpPr/>
              <p:nvPr/>
            </p:nvGrpSpPr>
            <p:grpSpPr>
              <a:xfrm>
                <a:off x="2656917" y="1531969"/>
                <a:ext cx="6184622" cy="2987695"/>
                <a:chOff x="3161139" y="608557"/>
                <a:chExt cx="6184622" cy="2987695"/>
              </a:xfrm>
              <a:grpFill/>
            </p:grpSpPr>
            <p:grpSp>
              <p:nvGrpSpPr>
                <p:cNvPr id="284" name="Grup 283"/>
                <p:cNvGrpSpPr/>
                <p:nvPr/>
              </p:nvGrpSpPr>
              <p:grpSpPr>
                <a:xfrm>
                  <a:off x="3161139" y="608557"/>
                  <a:ext cx="6184622" cy="2929477"/>
                  <a:chOff x="824864" y="1594365"/>
                  <a:chExt cx="6184622" cy="2929477"/>
                </a:xfrm>
                <a:grpFill/>
              </p:grpSpPr>
              <p:pic>
                <p:nvPicPr>
                  <p:cNvPr id="166" name="Resim 16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3829271" y="1594365"/>
                    <a:ext cx="3180215" cy="2367132"/>
                  </a:xfrm>
                  <a:prstGeom prst="rect">
                    <a:avLst/>
                  </a:prstGeom>
                  <a:grpFill/>
                </p:spPr>
              </p:pic>
              <p:grpSp>
                <p:nvGrpSpPr>
                  <p:cNvPr id="279" name="Grup 278"/>
                  <p:cNvGrpSpPr/>
                  <p:nvPr/>
                </p:nvGrpSpPr>
                <p:grpSpPr>
                  <a:xfrm>
                    <a:off x="824864" y="2422416"/>
                    <a:ext cx="2328848" cy="2101426"/>
                    <a:chOff x="824864" y="2422416"/>
                    <a:chExt cx="2328848" cy="2101426"/>
                  </a:xfrm>
                  <a:grpFill/>
                </p:grpSpPr>
                <p:grpSp>
                  <p:nvGrpSpPr>
                    <p:cNvPr id="135" name="Grup 134"/>
                    <p:cNvGrpSpPr/>
                    <p:nvPr/>
                  </p:nvGrpSpPr>
                  <p:grpSpPr>
                    <a:xfrm>
                      <a:off x="825325" y="2422416"/>
                      <a:ext cx="2031486" cy="2101426"/>
                      <a:chOff x="1006931" y="2070647"/>
                      <a:chExt cx="1493777" cy="2545456"/>
                    </a:xfrm>
                    <a:grpFill/>
                  </p:grpSpPr>
                  <p:cxnSp>
                    <p:nvCxnSpPr>
                      <p:cNvPr id="110" name="Düz Bağlayıcı 109"/>
                      <p:cNvCxnSpPr/>
                      <p:nvPr/>
                    </p:nvCxnSpPr>
                    <p:spPr>
                      <a:xfrm>
                        <a:off x="1006931" y="2070994"/>
                        <a:ext cx="0" cy="2543869"/>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Düz Bağlayıcı 112"/>
                      <p:cNvCxnSpPr/>
                      <p:nvPr/>
                    </p:nvCxnSpPr>
                    <p:spPr>
                      <a:xfrm flipH="1">
                        <a:off x="1197451" y="2070994"/>
                        <a:ext cx="1" cy="2543869"/>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Düz Bağlayıcı 117"/>
                      <p:cNvCxnSpPr/>
                      <p:nvPr/>
                    </p:nvCxnSpPr>
                    <p:spPr>
                      <a:xfrm flipH="1">
                        <a:off x="1379467" y="2072234"/>
                        <a:ext cx="1" cy="2543869"/>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Düz Bağlayıcı 118"/>
                      <p:cNvCxnSpPr/>
                      <p:nvPr/>
                    </p:nvCxnSpPr>
                    <p:spPr>
                      <a:xfrm flipH="1">
                        <a:off x="1572862" y="2072233"/>
                        <a:ext cx="1" cy="2543869"/>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Düz Bağlayıcı 119"/>
                      <p:cNvCxnSpPr/>
                      <p:nvPr/>
                    </p:nvCxnSpPr>
                    <p:spPr>
                      <a:xfrm flipH="1">
                        <a:off x="1760802" y="2070647"/>
                        <a:ext cx="1" cy="2543869"/>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Düz Bağlayıcı 120"/>
                      <p:cNvCxnSpPr/>
                      <p:nvPr/>
                    </p:nvCxnSpPr>
                    <p:spPr>
                      <a:xfrm flipH="1">
                        <a:off x="1950158" y="2070647"/>
                        <a:ext cx="1" cy="2543869"/>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Düz Bağlayıcı 121"/>
                      <p:cNvCxnSpPr/>
                      <p:nvPr/>
                    </p:nvCxnSpPr>
                    <p:spPr>
                      <a:xfrm flipH="1">
                        <a:off x="2124345" y="2072134"/>
                        <a:ext cx="1" cy="2543869"/>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Düz Bağlayıcı 122"/>
                      <p:cNvCxnSpPr/>
                      <p:nvPr/>
                    </p:nvCxnSpPr>
                    <p:spPr>
                      <a:xfrm flipH="1">
                        <a:off x="2313478" y="2070647"/>
                        <a:ext cx="1" cy="2543869"/>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Düz Bağlayıcı 123"/>
                      <p:cNvCxnSpPr/>
                      <p:nvPr/>
                    </p:nvCxnSpPr>
                    <p:spPr>
                      <a:xfrm flipH="1">
                        <a:off x="2500707" y="2071427"/>
                        <a:ext cx="1" cy="2543869"/>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8" name="Grup 277"/>
                    <p:cNvGrpSpPr/>
                    <p:nvPr/>
                  </p:nvGrpSpPr>
                  <p:grpSpPr>
                    <a:xfrm>
                      <a:off x="824864" y="2423382"/>
                      <a:ext cx="2328848" cy="2099214"/>
                      <a:chOff x="824864" y="2423382"/>
                      <a:chExt cx="2328848" cy="2099214"/>
                    </a:xfrm>
                    <a:grpFill/>
                  </p:grpSpPr>
                  <p:cxnSp>
                    <p:nvCxnSpPr>
                      <p:cNvPr id="94" name="Düz Bağlayıcı 93"/>
                      <p:cNvCxnSpPr/>
                      <p:nvPr/>
                    </p:nvCxnSpPr>
                    <p:spPr>
                      <a:xfrm>
                        <a:off x="824864" y="2423382"/>
                        <a:ext cx="2324581"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Düz Bağlayıcı 96"/>
                      <p:cNvCxnSpPr/>
                      <p:nvPr/>
                    </p:nvCxnSpPr>
                    <p:spPr>
                      <a:xfrm>
                        <a:off x="824864" y="4284463"/>
                        <a:ext cx="2324581" cy="0"/>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Düz Bağlayıcı 139"/>
                      <p:cNvCxnSpPr/>
                      <p:nvPr/>
                    </p:nvCxnSpPr>
                    <p:spPr>
                      <a:xfrm flipV="1">
                        <a:off x="828261" y="4048274"/>
                        <a:ext cx="2325451" cy="203"/>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Düz Bağlayıcı 141"/>
                      <p:cNvCxnSpPr/>
                      <p:nvPr/>
                    </p:nvCxnSpPr>
                    <p:spPr>
                      <a:xfrm rot="16200000" flipH="1">
                        <a:off x="1989493" y="2662357"/>
                        <a:ext cx="1" cy="2319904"/>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Düz Bağlayıcı 142"/>
                      <p:cNvCxnSpPr/>
                      <p:nvPr/>
                    </p:nvCxnSpPr>
                    <p:spPr>
                      <a:xfrm rot="16200000" flipH="1">
                        <a:off x="1989492" y="2422051"/>
                        <a:ext cx="1" cy="2319904"/>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Düz Bağlayıcı 143"/>
                      <p:cNvCxnSpPr/>
                      <p:nvPr/>
                    </p:nvCxnSpPr>
                    <p:spPr>
                      <a:xfrm rot="16200000" flipH="1">
                        <a:off x="1988044" y="2188523"/>
                        <a:ext cx="1" cy="2319904"/>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Düz Bağlayıcı 144"/>
                      <p:cNvCxnSpPr/>
                      <p:nvPr/>
                    </p:nvCxnSpPr>
                    <p:spPr>
                      <a:xfrm rot="16200000" flipH="1">
                        <a:off x="1988044" y="1953235"/>
                        <a:ext cx="1" cy="2319904"/>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Düz Bağlayıcı 145"/>
                      <p:cNvCxnSpPr/>
                      <p:nvPr/>
                    </p:nvCxnSpPr>
                    <p:spPr>
                      <a:xfrm rot="16200000" flipH="1">
                        <a:off x="1989402" y="1736796"/>
                        <a:ext cx="1" cy="2319904"/>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Düz Bağlayıcı 146"/>
                      <p:cNvCxnSpPr/>
                      <p:nvPr/>
                    </p:nvCxnSpPr>
                    <p:spPr>
                      <a:xfrm rot="16200000" flipH="1">
                        <a:off x="1988044" y="1501784"/>
                        <a:ext cx="1" cy="2319904"/>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7" name="Düz Bağlayıcı 276"/>
                      <p:cNvCxnSpPr/>
                      <p:nvPr/>
                    </p:nvCxnSpPr>
                    <p:spPr>
                      <a:xfrm>
                        <a:off x="824864" y="4522596"/>
                        <a:ext cx="2324581"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83" name="Grup 282"/>
                  <p:cNvGrpSpPr/>
                  <p:nvPr/>
                </p:nvGrpSpPr>
                <p:grpSpPr>
                  <a:xfrm>
                    <a:off x="3136701" y="2422416"/>
                    <a:ext cx="2089247" cy="2096974"/>
                    <a:chOff x="3136701" y="2422416"/>
                    <a:chExt cx="2089247" cy="2096974"/>
                  </a:xfrm>
                  <a:grpFill/>
                </p:grpSpPr>
                <p:cxnSp>
                  <p:nvCxnSpPr>
                    <p:cNvPr id="206" name="Düz Bağlayıcı 205"/>
                    <p:cNvCxnSpPr/>
                    <p:nvPr/>
                  </p:nvCxnSpPr>
                  <p:spPr>
                    <a:xfrm>
                      <a:off x="3143875" y="2422416"/>
                      <a:ext cx="2081248" cy="95913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Düz Bağlayıcı 208"/>
                    <p:cNvCxnSpPr/>
                    <p:nvPr/>
                  </p:nvCxnSpPr>
                  <p:spPr>
                    <a:xfrm>
                      <a:off x="3136701" y="2661919"/>
                      <a:ext cx="2089247" cy="78458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Düz Bağlayıcı 210"/>
                    <p:cNvCxnSpPr/>
                    <p:nvPr/>
                  </p:nvCxnSpPr>
                  <p:spPr>
                    <a:xfrm>
                      <a:off x="3142878" y="2894963"/>
                      <a:ext cx="2079070" cy="604925"/>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Düz Bağlayıcı 214"/>
                    <p:cNvCxnSpPr/>
                    <p:nvPr/>
                  </p:nvCxnSpPr>
                  <p:spPr>
                    <a:xfrm>
                      <a:off x="3136701" y="3112180"/>
                      <a:ext cx="2089247" cy="4275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Düz Bağlayıcı 216"/>
                    <p:cNvCxnSpPr/>
                    <p:nvPr/>
                  </p:nvCxnSpPr>
                  <p:spPr>
                    <a:xfrm>
                      <a:off x="3136701" y="3349546"/>
                      <a:ext cx="2085248" cy="23421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Düz Bağlayıcı 218"/>
                    <p:cNvCxnSpPr/>
                    <p:nvPr/>
                  </p:nvCxnSpPr>
                  <p:spPr>
                    <a:xfrm>
                      <a:off x="3142441" y="3581932"/>
                      <a:ext cx="2083507" cy="5153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Düz Bağlayıcı 220"/>
                    <p:cNvCxnSpPr/>
                    <p:nvPr/>
                  </p:nvCxnSpPr>
                  <p:spPr>
                    <a:xfrm flipV="1">
                      <a:off x="3145117" y="3686857"/>
                      <a:ext cx="2080328" cy="13360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Düz Bağlayıcı 222"/>
                    <p:cNvCxnSpPr/>
                    <p:nvPr/>
                  </p:nvCxnSpPr>
                  <p:spPr>
                    <a:xfrm flipV="1">
                      <a:off x="3145117" y="3735666"/>
                      <a:ext cx="2080328" cy="31320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Düz Bağlayıcı 224"/>
                    <p:cNvCxnSpPr/>
                    <p:nvPr/>
                  </p:nvCxnSpPr>
                  <p:spPr>
                    <a:xfrm flipV="1">
                      <a:off x="3136701" y="3781635"/>
                      <a:ext cx="2088745" cy="502575"/>
                    </a:xfrm>
                    <a:prstGeom prst="line">
                      <a:avLst/>
                    </a:prstGeom>
                    <a:grpFill/>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0" name="Düz Bağlayıcı 279"/>
                    <p:cNvCxnSpPr/>
                    <p:nvPr/>
                  </p:nvCxnSpPr>
                  <p:spPr>
                    <a:xfrm flipV="1">
                      <a:off x="3146180" y="3831345"/>
                      <a:ext cx="2075768" cy="688045"/>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94" name="Grup 293"/>
                <p:cNvGrpSpPr/>
                <p:nvPr/>
              </p:nvGrpSpPr>
              <p:grpSpPr>
                <a:xfrm>
                  <a:off x="3185524" y="1424046"/>
                  <a:ext cx="1960874" cy="2172206"/>
                  <a:chOff x="795271" y="3872123"/>
                  <a:chExt cx="1960874" cy="2172206"/>
                </a:xfrm>
                <a:grpFill/>
              </p:grpSpPr>
              <p:sp>
                <p:nvSpPr>
                  <p:cNvPr id="274" name="Metin kutusu 273"/>
                  <p:cNvSpPr txBox="1"/>
                  <p:nvPr/>
                </p:nvSpPr>
                <p:spPr>
                  <a:xfrm>
                    <a:off x="795271" y="3872123"/>
                    <a:ext cx="243760" cy="2169825"/>
                  </a:xfrm>
                  <a:prstGeom prst="rect">
                    <a:avLst/>
                  </a:prstGeom>
                  <a:grpFill/>
                </p:spPr>
                <p:txBody>
                  <a:bodyPr wrap="square" rtlCol="0">
                    <a:spAutoFit/>
                  </a:bodyPr>
                  <a:lstStyle/>
                  <a:p>
                    <a:r>
                      <a:rPr lang="tr-TR" sz="1500" dirty="0" smtClean="0">
                        <a:latin typeface="Bahnschrift SemiCondensed" panose="020B0502040204020203" pitchFamily="34" charset="0"/>
                      </a:rPr>
                      <a:t>010001000 </a:t>
                    </a:r>
                    <a:endParaRPr lang="tr-TR" sz="1500" dirty="0">
                      <a:latin typeface="Bahnschrift SemiCondensed" panose="020B0502040204020203" pitchFamily="34" charset="0"/>
                    </a:endParaRPr>
                  </a:p>
                </p:txBody>
              </p:sp>
              <p:sp>
                <p:nvSpPr>
                  <p:cNvPr id="286" name="Metin kutusu 285"/>
                  <p:cNvSpPr txBox="1"/>
                  <p:nvPr/>
                </p:nvSpPr>
                <p:spPr>
                  <a:xfrm>
                    <a:off x="1041517" y="3872123"/>
                    <a:ext cx="243760" cy="2169825"/>
                  </a:xfrm>
                  <a:prstGeom prst="rect">
                    <a:avLst/>
                  </a:prstGeom>
                  <a:grpFill/>
                </p:spPr>
                <p:txBody>
                  <a:bodyPr wrap="square" rtlCol="0">
                    <a:spAutoFit/>
                  </a:bodyPr>
                  <a:lstStyle/>
                  <a:p>
                    <a:r>
                      <a:rPr lang="tr-TR" sz="1500" dirty="0" smtClean="0">
                        <a:latin typeface="Bahnschrift SemiCondensed" panose="020B0502040204020203" pitchFamily="34" charset="0"/>
                      </a:rPr>
                      <a:t>010000010 </a:t>
                    </a:r>
                    <a:endParaRPr lang="tr-TR" sz="1500" dirty="0">
                      <a:latin typeface="Bahnschrift SemiCondensed" panose="020B0502040204020203" pitchFamily="34" charset="0"/>
                    </a:endParaRPr>
                  </a:p>
                </p:txBody>
              </p:sp>
              <p:sp>
                <p:nvSpPr>
                  <p:cNvPr id="288" name="Metin kutusu 287"/>
                  <p:cNvSpPr txBox="1"/>
                  <p:nvPr/>
                </p:nvSpPr>
                <p:spPr>
                  <a:xfrm>
                    <a:off x="1284037" y="3872123"/>
                    <a:ext cx="243760" cy="2169825"/>
                  </a:xfrm>
                  <a:prstGeom prst="rect">
                    <a:avLst/>
                  </a:prstGeom>
                  <a:grpFill/>
                </p:spPr>
                <p:txBody>
                  <a:bodyPr wrap="square" rtlCol="0">
                    <a:spAutoFit/>
                  </a:bodyPr>
                  <a:lstStyle/>
                  <a:p>
                    <a:r>
                      <a:rPr lang="tr-TR" sz="1500" dirty="0" smtClean="0">
                        <a:latin typeface="Bahnschrift SemiCondensed" panose="020B0502040204020203" pitchFamily="34" charset="0"/>
                      </a:rPr>
                      <a:t>010011010 </a:t>
                    </a:r>
                    <a:endParaRPr lang="tr-TR" sz="1500" dirty="0">
                      <a:latin typeface="Bahnschrift SemiCondensed" panose="020B0502040204020203" pitchFamily="34" charset="0"/>
                    </a:endParaRPr>
                  </a:p>
                </p:txBody>
              </p:sp>
              <p:sp>
                <p:nvSpPr>
                  <p:cNvPr id="289" name="Metin kutusu 288"/>
                  <p:cNvSpPr txBox="1"/>
                  <p:nvPr/>
                </p:nvSpPr>
                <p:spPr>
                  <a:xfrm>
                    <a:off x="1532723" y="3872123"/>
                    <a:ext cx="243760" cy="2169825"/>
                  </a:xfrm>
                  <a:prstGeom prst="rect">
                    <a:avLst/>
                  </a:prstGeom>
                  <a:grpFill/>
                </p:spPr>
                <p:txBody>
                  <a:bodyPr wrap="square" rtlCol="0">
                    <a:spAutoFit/>
                  </a:bodyPr>
                  <a:lstStyle/>
                  <a:p>
                    <a:r>
                      <a:rPr lang="tr-TR" sz="1500" dirty="0" smtClean="0">
                        <a:latin typeface="Bahnschrift SemiCondensed" panose="020B0502040204020203" pitchFamily="34" charset="0"/>
                      </a:rPr>
                      <a:t>010011100 </a:t>
                    </a:r>
                    <a:endParaRPr lang="tr-TR" sz="1500" dirty="0">
                      <a:latin typeface="Bahnschrift SemiCondensed" panose="020B0502040204020203" pitchFamily="34" charset="0"/>
                    </a:endParaRPr>
                  </a:p>
                </p:txBody>
              </p:sp>
              <p:sp>
                <p:nvSpPr>
                  <p:cNvPr id="290" name="Metin kutusu 289"/>
                  <p:cNvSpPr txBox="1"/>
                  <p:nvPr/>
                </p:nvSpPr>
                <p:spPr>
                  <a:xfrm>
                    <a:off x="1780265" y="3874504"/>
                    <a:ext cx="243760" cy="2169825"/>
                  </a:xfrm>
                  <a:prstGeom prst="rect">
                    <a:avLst/>
                  </a:prstGeom>
                  <a:grpFill/>
                </p:spPr>
                <p:txBody>
                  <a:bodyPr wrap="square" rtlCol="0">
                    <a:spAutoFit/>
                  </a:bodyPr>
                  <a:lstStyle/>
                  <a:p>
                    <a:r>
                      <a:rPr lang="tr-TR" sz="1500" dirty="0" smtClean="0">
                        <a:latin typeface="Bahnschrift SemiCondensed" panose="020B0502040204020203" pitchFamily="34" charset="0"/>
                      </a:rPr>
                      <a:t>001000001 </a:t>
                    </a:r>
                    <a:endParaRPr lang="tr-TR" sz="1500" dirty="0">
                      <a:latin typeface="Bahnschrift SemiCondensed" panose="020B0502040204020203" pitchFamily="34" charset="0"/>
                    </a:endParaRPr>
                  </a:p>
                </p:txBody>
              </p:sp>
              <p:sp>
                <p:nvSpPr>
                  <p:cNvPr id="291" name="Metin kutusu 290"/>
                  <p:cNvSpPr txBox="1"/>
                  <p:nvPr/>
                </p:nvSpPr>
                <p:spPr>
                  <a:xfrm>
                    <a:off x="2024025" y="3872123"/>
                    <a:ext cx="243760" cy="2169825"/>
                  </a:xfrm>
                  <a:prstGeom prst="rect">
                    <a:avLst/>
                  </a:prstGeom>
                  <a:grpFill/>
                </p:spPr>
                <p:txBody>
                  <a:bodyPr wrap="square" rtlCol="0">
                    <a:spAutoFit/>
                  </a:bodyPr>
                  <a:lstStyle/>
                  <a:p>
                    <a:r>
                      <a:rPr lang="tr-TR" sz="1500" dirty="0" smtClean="0">
                        <a:latin typeface="Bahnschrift SemiCondensed" panose="020B0502040204020203" pitchFamily="34" charset="0"/>
                      </a:rPr>
                      <a:t>010100110 </a:t>
                    </a:r>
                    <a:endParaRPr lang="tr-TR" sz="1500" dirty="0">
                      <a:latin typeface="Bahnschrift SemiCondensed" panose="020B0502040204020203" pitchFamily="34" charset="0"/>
                    </a:endParaRPr>
                  </a:p>
                </p:txBody>
              </p:sp>
              <p:sp>
                <p:nvSpPr>
                  <p:cNvPr id="292" name="Metin kutusu 291"/>
                  <p:cNvSpPr txBox="1"/>
                  <p:nvPr/>
                </p:nvSpPr>
                <p:spPr>
                  <a:xfrm>
                    <a:off x="2264939" y="3874504"/>
                    <a:ext cx="243760" cy="2169825"/>
                  </a:xfrm>
                  <a:prstGeom prst="rect">
                    <a:avLst/>
                  </a:prstGeom>
                  <a:grpFill/>
                </p:spPr>
                <p:txBody>
                  <a:bodyPr wrap="square" rtlCol="0">
                    <a:spAutoFit/>
                  </a:bodyPr>
                  <a:lstStyle/>
                  <a:p>
                    <a:r>
                      <a:rPr lang="tr-TR" sz="1500" dirty="0" smtClean="0">
                        <a:latin typeface="Bahnschrift SemiCondensed" panose="020B0502040204020203" pitchFamily="34" charset="0"/>
                      </a:rPr>
                      <a:t>010011111 </a:t>
                    </a:r>
                    <a:endParaRPr lang="tr-TR" sz="1500" dirty="0">
                      <a:latin typeface="Bahnschrift SemiCondensed" panose="020B0502040204020203" pitchFamily="34" charset="0"/>
                    </a:endParaRPr>
                  </a:p>
                </p:txBody>
              </p:sp>
              <p:sp>
                <p:nvSpPr>
                  <p:cNvPr id="293" name="Metin kutusu 292"/>
                  <p:cNvSpPr txBox="1"/>
                  <p:nvPr/>
                </p:nvSpPr>
                <p:spPr>
                  <a:xfrm>
                    <a:off x="2512385" y="3872123"/>
                    <a:ext cx="243760" cy="2169825"/>
                  </a:xfrm>
                  <a:prstGeom prst="rect">
                    <a:avLst/>
                  </a:prstGeom>
                  <a:grpFill/>
                </p:spPr>
                <p:txBody>
                  <a:bodyPr wrap="square" rtlCol="0">
                    <a:spAutoFit/>
                  </a:bodyPr>
                  <a:lstStyle/>
                  <a:p>
                    <a:r>
                      <a:rPr lang="tr-TR" sz="1500" dirty="0" smtClean="0">
                        <a:latin typeface="Bahnschrift SemiCondensed" panose="020B0502040204020203" pitchFamily="34" charset="0"/>
                      </a:rPr>
                      <a:t>010011100</a:t>
                    </a:r>
                    <a:endParaRPr lang="tr-TR" sz="1500" dirty="0">
                      <a:latin typeface="Bahnschrift SemiCondensed" panose="020B0502040204020203" pitchFamily="34" charset="0"/>
                    </a:endParaRPr>
                  </a:p>
                </p:txBody>
              </p:sp>
            </p:grpSp>
          </p:grpSp>
          <p:grpSp>
            <p:nvGrpSpPr>
              <p:cNvPr id="305" name="Grup 304"/>
              <p:cNvGrpSpPr/>
              <p:nvPr/>
            </p:nvGrpSpPr>
            <p:grpSpPr>
              <a:xfrm>
                <a:off x="3372464" y="1645857"/>
                <a:ext cx="1081204" cy="1287854"/>
                <a:chOff x="2218881" y="1366719"/>
                <a:chExt cx="1081204" cy="1287854"/>
              </a:xfrm>
              <a:grpFill/>
            </p:grpSpPr>
            <p:sp>
              <p:nvSpPr>
                <p:cNvPr id="268" name="Metin kutusu 267"/>
                <p:cNvSpPr txBox="1"/>
                <p:nvPr/>
              </p:nvSpPr>
              <p:spPr>
                <a:xfrm>
                  <a:off x="2589057" y="1366719"/>
                  <a:ext cx="711028" cy="338554"/>
                </a:xfrm>
                <a:prstGeom prst="rect">
                  <a:avLst/>
                </a:prstGeom>
                <a:grpFill/>
              </p:spPr>
              <p:txBody>
                <a:bodyPr wrap="none" rtlCol="0">
                  <a:spAutoFit/>
                </a:bodyPr>
                <a:lstStyle/>
                <a:p>
                  <a:r>
                    <a:rPr lang="tr-TR" sz="1600" u="sng" dirty="0" err="1" smtClean="0">
                      <a:latin typeface="Bahnschrift SemiCondensed" panose="020B0502040204020203" pitchFamily="34" charset="0"/>
                    </a:rPr>
                    <a:t>Frame</a:t>
                  </a:r>
                  <a:endParaRPr lang="tr-TR" u="sng" dirty="0">
                    <a:latin typeface="Bahnschrift SemiCondensed" panose="020B0502040204020203" pitchFamily="34" charset="0"/>
                  </a:endParaRPr>
                </a:p>
              </p:txBody>
            </p:sp>
            <p:sp>
              <p:nvSpPr>
                <p:cNvPr id="298" name="Sol Köşeli Ayraç 297"/>
                <p:cNvSpPr/>
                <p:nvPr/>
              </p:nvSpPr>
              <p:spPr>
                <a:xfrm rot="5400000">
                  <a:off x="2089692" y="2163052"/>
                  <a:ext cx="620710" cy="362331"/>
                </a:xfrm>
                <a:prstGeom prst="leftBracket">
                  <a:avLst>
                    <a:gd name="adj" fmla="val 0"/>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latin typeface="Bahnschrift SemiCondensed" panose="020B0502040204020203" pitchFamily="34" charset="0"/>
                  </a:endParaRPr>
                </a:p>
              </p:txBody>
            </p:sp>
            <p:cxnSp>
              <p:nvCxnSpPr>
                <p:cNvPr id="300" name="Düz Bağlayıcı 299"/>
                <p:cNvCxnSpPr>
                  <a:stCxn id="298" idx="1"/>
                </p:cNvCxnSpPr>
                <p:nvPr/>
              </p:nvCxnSpPr>
              <p:spPr>
                <a:xfrm flipV="1">
                  <a:off x="2400047" y="1627395"/>
                  <a:ext cx="282867" cy="406468"/>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6" name="Grup 325"/>
              <p:cNvGrpSpPr/>
              <p:nvPr/>
            </p:nvGrpSpPr>
            <p:grpSpPr>
              <a:xfrm>
                <a:off x="1658824" y="4011996"/>
                <a:ext cx="1207022" cy="415223"/>
                <a:chOff x="491767" y="3831547"/>
                <a:chExt cx="1207022" cy="415223"/>
              </a:xfrm>
              <a:grpFill/>
            </p:grpSpPr>
            <p:sp>
              <p:nvSpPr>
                <p:cNvPr id="314" name="Metin kutusu 313"/>
                <p:cNvSpPr txBox="1"/>
                <p:nvPr/>
              </p:nvSpPr>
              <p:spPr>
                <a:xfrm>
                  <a:off x="491767" y="3831547"/>
                  <a:ext cx="938462" cy="338554"/>
                </a:xfrm>
                <a:prstGeom prst="rect">
                  <a:avLst/>
                </a:prstGeom>
                <a:grpFill/>
              </p:spPr>
              <p:txBody>
                <a:bodyPr wrap="none" rtlCol="0">
                  <a:spAutoFit/>
                </a:bodyPr>
                <a:lstStyle/>
                <a:p>
                  <a:r>
                    <a:rPr lang="tr-TR" sz="1600" u="sng" dirty="0" err="1" smtClean="0">
                      <a:latin typeface="Bahnschrift SemiCondensed" panose="020B0502040204020203" pitchFamily="34" charset="0"/>
                    </a:rPr>
                    <a:t>Parity</a:t>
                  </a:r>
                  <a:r>
                    <a:rPr lang="tr-TR" sz="1600" u="sng" dirty="0" smtClean="0">
                      <a:latin typeface="Bahnschrift SemiCondensed" panose="020B0502040204020203" pitchFamily="34" charset="0"/>
                    </a:rPr>
                    <a:t> Bit</a:t>
                  </a:r>
                  <a:endParaRPr lang="tr-TR" u="sng" dirty="0">
                    <a:latin typeface="Bahnschrift SemiCondensed" panose="020B0502040204020203" pitchFamily="34" charset="0"/>
                  </a:endParaRPr>
                </a:p>
              </p:txBody>
            </p:sp>
            <p:grpSp>
              <p:nvGrpSpPr>
                <p:cNvPr id="321" name="Grup 320"/>
                <p:cNvGrpSpPr/>
                <p:nvPr/>
              </p:nvGrpSpPr>
              <p:grpSpPr>
                <a:xfrm rot="16200000">
                  <a:off x="1417288" y="3965270"/>
                  <a:ext cx="176407" cy="386594"/>
                  <a:chOff x="2479514" y="1502024"/>
                  <a:chExt cx="362331" cy="747761"/>
                </a:xfrm>
                <a:grpFill/>
              </p:grpSpPr>
              <p:sp>
                <p:nvSpPr>
                  <p:cNvPr id="323" name="Sol Köşeli Ayraç 322"/>
                  <p:cNvSpPr/>
                  <p:nvPr/>
                </p:nvSpPr>
                <p:spPr>
                  <a:xfrm rot="5400000">
                    <a:off x="2533533" y="1941473"/>
                    <a:ext cx="254293" cy="362331"/>
                  </a:xfrm>
                  <a:prstGeom prst="leftBracket">
                    <a:avLst>
                      <a:gd name="adj" fmla="val 0"/>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latin typeface="Bahnschrift SemiCondensed" panose="020B0502040204020203" pitchFamily="34" charset="0"/>
                    </a:endParaRPr>
                  </a:p>
                </p:txBody>
              </p:sp>
              <p:cxnSp>
                <p:nvCxnSpPr>
                  <p:cNvPr id="324" name="Düz Bağlayıcı 323"/>
                  <p:cNvCxnSpPr>
                    <a:stCxn id="323" idx="1"/>
                  </p:cNvCxnSpPr>
                  <p:nvPr/>
                </p:nvCxnSpPr>
                <p:spPr>
                  <a:xfrm rot="5400000" flipH="1" flipV="1">
                    <a:off x="2477900" y="1684802"/>
                    <a:ext cx="493468" cy="12791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46" name="Grup 345"/>
              <p:cNvGrpSpPr/>
              <p:nvPr/>
            </p:nvGrpSpPr>
            <p:grpSpPr>
              <a:xfrm>
                <a:off x="1135353" y="2416592"/>
                <a:ext cx="1733259" cy="1777282"/>
                <a:chOff x="247724" y="2241071"/>
                <a:chExt cx="1387378" cy="1767014"/>
              </a:xfrm>
              <a:grpFill/>
            </p:grpSpPr>
            <p:sp>
              <p:nvSpPr>
                <p:cNvPr id="330" name="Metin kutusu 329"/>
                <p:cNvSpPr txBox="1"/>
                <p:nvPr/>
              </p:nvSpPr>
              <p:spPr>
                <a:xfrm>
                  <a:off x="247724" y="2652814"/>
                  <a:ext cx="922818" cy="336598"/>
                </a:xfrm>
                <a:prstGeom prst="rect">
                  <a:avLst/>
                </a:prstGeom>
                <a:grpFill/>
              </p:spPr>
              <p:txBody>
                <a:bodyPr wrap="none" rtlCol="0">
                  <a:spAutoFit/>
                </a:bodyPr>
                <a:lstStyle/>
                <a:p>
                  <a:r>
                    <a:rPr lang="tr-TR" sz="1600" u="sng" dirty="0" smtClean="0">
                      <a:latin typeface="Bahnschrift SemiCondensed" panose="020B0502040204020203" pitchFamily="34" charset="0"/>
                    </a:rPr>
                    <a:t>8 bit (1 </a:t>
                  </a:r>
                  <a:r>
                    <a:rPr lang="tr-TR" sz="1600" u="sng" dirty="0" err="1" smtClean="0">
                      <a:latin typeface="Bahnschrift SemiCondensed" panose="020B0502040204020203" pitchFamily="34" charset="0"/>
                    </a:rPr>
                    <a:t>byte</a:t>
                  </a:r>
                  <a:r>
                    <a:rPr lang="tr-TR" sz="1600" u="sng" dirty="0" smtClean="0">
                      <a:latin typeface="Bahnschrift SemiCondensed" panose="020B0502040204020203" pitchFamily="34" charset="0"/>
                    </a:rPr>
                    <a:t>)</a:t>
                  </a:r>
                  <a:endParaRPr lang="tr-TR" u="sng" dirty="0">
                    <a:latin typeface="Bahnschrift SemiCondensed" panose="020B0502040204020203" pitchFamily="34" charset="0"/>
                  </a:endParaRPr>
                </a:p>
              </p:txBody>
            </p:sp>
            <p:grpSp>
              <p:nvGrpSpPr>
                <p:cNvPr id="342" name="Grup 341"/>
                <p:cNvGrpSpPr/>
                <p:nvPr/>
              </p:nvGrpSpPr>
              <p:grpSpPr>
                <a:xfrm rot="16200000">
                  <a:off x="477318" y="2850301"/>
                  <a:ext cx="1767014" cy="548554"/>
                  <a:chOff x="2479514" y="1669008"/>
                  <a:chExt cx="362331" cy="407694"/>
                </a:xfrm>
                <a:grpFill/>
              </p:grpSpPr>
              <p:sp>
                <p:nvSpPr>
                  <p:cNvPr id="343" name="Sol Köşeli Ayraç 342"/>
                  <p:cNvSpPr/>
                  <p:nvPr/>
                </p:nvSpPr>
                <p:spPr>
                  <a:xfrm rot="5400000">
                    <a:off x="2620074" y="1854931"/>
                    <a:ext cx="81211" cy="362331"/>
                  </a:xfrm>
                  <a:prstGeom prst="leftBracket">
                    <a:avLst>
                      <a:gd name="adj" fmla="val 0"/>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latin typeface="Bahnschrift SemiCondensed" panose="020B0502040204020203" pitchFamily="34" charset="0"/>
                    </a:endParaRPr>
                  </a:p>
                </p:txBody>
              </p:sp>
              <p:cxnSp>
                <p:nvCxnSpPr>
                  <p:cNvPr id="344" name="Düz Bağlayıcı 343"/>
                  <p:cNvCxnSpPr>
                    <a:stCxn id="343" idx="1"/>
                  </p:cNvCxnSpPr>
                  <p:nvPr/>
                </p:nvCxnSpPr>
                <p:spPr>
                  <a:xfrm rot="5400000" flipH="1" flipV="1">
                    <a:off x="2519026" y="1810662"/>
                    <a:ext cx="326486" cy="43178"/>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50" name="Grup 349"/>
              <p:cNvGrpSpPr/>
              <p:nvPr/>
            </p:nvGrpSpPr>
            <p:grpSpPr>
              <a:xfrm>
                <a:off x="2994785" y="1962549"/>
                <a:ext cx="595630" cy="621973"/>
                <a:chOff x="2479513" y="1539149"/>
                <a:chExt cx="595630" cy="621973"/>
              </a:xfrm>
              <a:grpFill/>
            </p:grpSpPr>
            <p:sp>
              <p:nvSpPr>
                <p:cNvPr id="351" name="Metin kutusu 350"/>
                <p:cNvSpPr txBox="1"/>
                <p:nvPr/>
              </p:nvSpPr>
              <p:spPr>
                <a:xfrm>
                  <a:off x="2574685" y="1539149"/>
                  <a:ext cx="500458" cy="338554"/>
                </a:xfrm>
                <a:prstGeom prst="rect">
                  <a:avLst/>
                </a:prstGeom>
                <a:grpFill/>
              </p:spPr>
              <p:txBody>
                <a:bodyPr wrap="none" rtlCol="0">
                  <a:spAutoFit/>
                </a:bodyPr>
                <a:lstStyle/>
                <a:p>
                  <a:r>
                    <a:rPr lang="tr-TR" sz="1600" u="sng" dirty="0" smtClean="0">
                      <a:latin typeface="Bahnschrift SemiCondensed" panose="020B0502040204020203" pitchFamily="34" charset="0"/>
                    </a:rPr>
                    <a:t>1 bit</a:t>
                  </a:r>
                  <a:endParaRPr lang="tr-TR" u="sng" dirty="0">
                    <a:latin typeface="Bahnschrift SemiCondensed" panose="020B0502040204020203" pitchFamily="34" charset="0"/>
                  </a:endParaRPr>
                </a:p>
              </p:txBody>
            </p:sp>
            <p:sp>
              <p:nvSpPr>
                <p:cNvPr id="352" name="Sol Köşeli Ayraç 351"/>
                <p:cNvSpPr/>
                <p:nvPr/>
              </p:nvSpPr>
              <p:spPr>
                <a:xfrm rot="5400000">
                  <a:off x="2469285" y="2005718"/>
                  <a:ext cx="165632" cy="145175"/>
                </a:xfrm>
                <a:prstGeom prst="leftBracket">
                  <a:avLst>
                    <a:gd name="adj" fmla="val 0"/>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latin typeface="Bahnschrift SemiCondensed" panose="020B0502040204020203" pitchFamily="34" charset="0"/>
                  </a:endParaRPr>
                </a:p>
              </p:txBody>
            </p:sp>
            <p:cxnSp>
              <p:nvCxnSpPr>
                <p:cNvPr id="353" name="Düz Bağlayıcı 352"/>
                <p:cNvCxnSpPr>
                  <a:stCxn id="352" idx="1"/>
                </p:cNvCxnSpPr>
                <p:nvPr/>
              </p:nvCxnSpPr>
              <p:spPr>
                <a:xfrm flipV="1">
                  <a:off x="2552101" y="1801409"/>
                  <a:ext cx="122479" cy="194081"/>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1" name="Grup 360"/>
              <p:cNvGrpSpPr/>
              <p:nvPr/>
            </p:nvGrpSpPr>
            <p:grpSpPr>
              <a:xfrm>
                <a:off x="4053556" y="1991986"/>
                <a:ext cx="1512635" cy="757108"/>
                <a:chOff x="374286" y="3845836"/>
                <a:chExt cx="1512635" cy="757108"/>
              </a:xfrm>
              <a:grpFill/>
            </p:grpSpPr>
            <p:sp>
              <p:nvSpPr>
                <p:cNvPr id="362" name="Metin kutusu 361"/>
                <p:cNvSpPr txBox="1"/>
                <p:nvPr/>
              </p:nvSpPr>
              <p:spPr>
                <a:xfrm>
                  <a:off x="374286" y="3845836"/>
                  <a:ext cx="1466171" cy="338554"/>
                </a:xfrm>
                <a:prstGeom prst="rect">
                  <a:avLst/>
                </a:prstGeom>
                <a:grpFill/>
              </p:spPr>
              <p:txBody>
                <a:bodyPr wrap="none" rtlCol="0">
                  <a:spAutoFit/>
                </a:bodyPr>
                <a:lstStyle/>
                <a:p>
                  <a:r>
                    <a:rPr lang="tr-TR" sz="1600" u="sng" dirty="0" err="1" smtClean="0">
                      <a:latin typeface="Bahnschrift SemiCondensed" panose="020B0502040204020203" pitchFamily="34" charset="0"/>
                    </a:rPr>
                    <a:t>Track</a:t>
                  </a:r>
                  <a:r>
                    <a:rPr lang="tr-TR" sz="1600" u="sng" dirty="0" smtClean="0">
                      <a:latin typeface="Bahnschrift SemiCondensed" panose="020B0502040204020203" pitchFamily="34" charset="0"/>
                    </a:rPr>
                    <a:t> (Channel)</a:t>
                  </a:r>
                  <a:endParaRPr lang="tr-TR" u="sng" dirty="0">
                    <a:latin typeface="Bahnschrift SemiCondensed" panose="020B0502040204020203" pitchFamily="34" charset="0"/>
                  </a:endParaRPr>
                </a:p>
              </p:txBody>
            </p:sp>
            <p:cxnSp>
              <p:nvCxnSpPr>
                <p:cNvPr id="365" name="Düz Bağlayıcı 364"/>
                <p:cNvCxnSpPr/>
                <p:nvPr/>
              </p:nvCxnSpPr>
              <p:spPr>
                <a:xfrm flipH="1" flipV="1">
                  <a:off x="1704763" y="4104379"/>
                  <a:ext cx="182158" cy="498565"/>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84" name="Grup 383"/>
          <p:cNvGrpSpPr/>
          <p:nvPr/>
        </p:nvGrpSpPr>
        <p:grpSpPr>
          <a:xfrm>
            <a:off x="8482783" y="2664541"/>
            <a:ext cx="3471106" cy="1020205"/>
            <a:chOff x="8561439" y="2664541"/>
            <a:chExt cx="3471106" cy="1020205"/>
          </a:xfrm>
        </p:grpSpPr>
        <p:sp>
          <p:nvSpPr>
            <p:cNvPr id="8" name="Metin kutusu 7"/>
            <p:cNvSpPr txBox="1"/>
            <p:nvPr/>
          </p:nvSpPr>
          <p:spPr>
            <a:xfrm>
              <a:off x="9686323" y="2762313"/>
              <a:ext cx="2346222" cy="830997"/>
            </a:xfrm>
            <a:prstGeom prst="rect">
              <a:avLst/>
            </a:prstGeom>
            <a:noFill/>
          </p:spPr>
          <p:txBody>
            <a:bodyPr wrap="square" rtlCol="0">
              <a:spAutoFit/>
            </a:bodyPr>
            <a:lstStyle/>
            <a:p>
              <a:r>
                <a:rPr lang="en-US" sz="1600" dirty="0" smtClean="0">
                  <a:solidFill>
                    <a:schemeClr val="bg1"/>
                  </a:solidFill>
                  <a:latin typeface="Bahnschrift SemiCondensed" panose="020B0502040204020203" pitchFamily="34" charset="0"/>
                </a:rPr>
                <a:t>0 </a:t>
              </a:r>
              <a:r>
                <a:rPr lang="en-US" sz="1600" dirty="0">
                  <a:solidFill>
                    <a:schemeClr val="bg1"/>
                  </a:solidFill>
                  <a:latin typeface="Bahnschrift SemiCondensed" panose="020B0502040204020203" pitchFamily="34" charset="0"/>
                </a:rPr>
                <a:t>if # of 1’s in byte is </a:t>
              </a:r>
              <a:r>
                <a:rPr lang="en-US" sz="1600" dirty="0" smtClean="0">
                  <a:solidFill>
                    <a:schemeClr val="bg1"/>
                  </a:solidFill>
                  <a:latin typeface="Bahnschrift SemiCondensed" panose="020B0502040204020203" pitchFamily="34" charset="0"/>
                </a:rPr>
                <a:t>even</a:t>
              </a:r>
              <a:endParaRPr lang="tr-TR" sz="1600" dirty="0" smtClean="0">
                <a:solidFill>
                  <a:schemeClr val="bg1"/>
                </a:solidFill>
                <a:latin typeface="Bahnschrift SemiCondensed" panose="020B0502040204020203" pitchFamily="34" charset="0"/>
              </a:endParaRPr>
            </a:p>
            <a:p>
              <a:endParaRPr lang="tr-TR" sz="1600" dirty="0" smtClean="0">
                <a:solidFill>
                  <a:schemeClr val="bg1"/>
                </a:solidFill>
                <a:latin typeface="Bahnschrift SemiCondensed" panose="020B0502040204020203" pitchFamily="34" charset="0"/>
              </a:endParaRPr>
            </a:p>
            <a:p>
              <a:r>
                <a:rPr lang="en-US" sz="1600" dirty="0" smtClean="0">
                  <a:solidFill>
                    <a:schemeClr val="bg1"/>
                  </a:solidFill>
                  <a:latin typeface="Bahnschrift SemiCondensed" panose="020B0502040204020203" pitchFamily="34" charset="0"/>
                </a:rPr>
                <a:t>1 </a:t>
              </a:r>
              <a:r>
                <a:rPr lang="en-US" sz="1600" dirty="0">
                  <a:solidFill>
                    <a:schemeClr val="bg1"/>
                  </a:solidFill>
                  <a:latin typeface="Bahnschrift SemiCondensed" panose="020B0502040204020203" pitchFamily="34" charset="0"/>
                </a:rPr>
                <a:t>if # of 1’s in byte is odd</a:t>
              </a:r>
              <a:endParaRPr lang="tr-TR" sz="1600" dirty="0">
                <a:solidFill>
                  <a:schemeClr val="bg1"/>
                </a:solidFill>
                <a:latin typeface="Bahnschrift SemiCondensed" panose="020B0502040204020203" pitchFamily="34" charset="0"/>
              </a:endParaRPr>
            </a:p>
          </p:txBody>
        </p:sp>
        <p:sp>
          <p:nvSpPr>
            <p:cNvPr id="380" name="Metin kutusu 379"/>
            <p:cNvSpPr txBox="1"/>
            <p:nvPr/>
          </p:nvSpPr>
          <p:spPr>
            <a:xfrm>
              <a:off x="8561439" y="3008533"/>
              <a:ext cx="933654" cy="338554"/>
            </a:xfrm>
            <a:prstGeom prst="rect">
              <a:avLst/>
            </a:prstGeom>
            <a:noFill/>
          </p:spPr>
          <p:txBody>
            <a:bodyPr wrap="none" rtlCol="0">
              <a:spAutoFit/>
            </a:bodyPr>
            <a:lstStyle/>
            <a:p>
              <a:r>
                <a:rPr lang="tr-TR" sz="1600" dirty="0" err="1">
                  <a:solidFill>
                    <a:srgbClr val="FF9900"/>
                  </a:solidFill>
                  <a:latin typeface="Bahnschrift SemiCondensed" panose="020B0502040204020203" pitchFamily="34" charset="0"/>
                </a:rPr>
                <a:t>Parity</a:t>
              </a:r>
              <a:r>
                <a:rPr lang="tr-TR" sz="1600" dirty="0">
                  <a:solidFill>
                    <a:srgbClr val="FF9900"/>
                  </a:solidFill>
                  <a:latin typeface="Bahnschrift SemiCondensed" panose="020B0502040204020203" pitchFamily="34" charset="0"/>
                </a:rPr>
                <a:t> bit</a:t>
              </a:r>
            </a:p>
          </p:txBody>
        </p:sp>
        <p:sp>
          <p:nvSpPr>
            <p:cNvPr id="383" name="Sağ Ayraç 382"/>
            <p:cNvSpPr/>
            <p:nvPr/>
          </p:nvSpPr>
          <p:spPr>
            <a:xfrm flipH="1">
              <a:off x="9516574" y="2664541"/>
              <a:ext cx="329404" cy="1020205"/>
            </a:xfrm>
            <a:prstGeom prst="rightBrace">
              <a:avLst>
                <a:gd name="adj1" fmla="val 0"/>
                <a:gd name="adj2" fmla="val 50000"/>
              </a:avLst>
            </a:prstGeom>
            <a:ln w="19050">
              <a:solidFill>
                <a:srgbClr val="FF99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solidFill>
                  <a:srgbClr val="00FF00"/>
                </a:solidFill>
                <a:latin typeface="Bahnschrift SemiCondensed" panose="020B0502040204020203" pitchFamily="34" charset="0"/>
              </a:endParaRPr>
            </a:p>
          </p:txBody>
        </p:sp>
      </p:grpSp>
    </p:spTree>
    <p:extLst>
      <p:ext uri="{BB962C8B-B14F-4D97-AF65-F5344CB8AC3E}">
        <p14:creationId xmlns:p14="http://schemas.microsoft.com/office/powerpoint/2010/main" xmlns="" val="16077770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 9"/>
          <p:cNvGrpSpPr/>
          <p:nvPr/>
        </p:nvGrpSpPr>
        <p:grpSpPr>
          <a:xfrm>
            <a:off x="3868477" y="549275"/>
            <a:ext cx="8323523" cy="6315154"/>
            <a:chOff x="3868477" y="549275"/>
            <a:chExt cx="8323523" cy="6315154"/>
          </a:xfrm>
        </p:grpSpPr>
        <p:sp>
          <p:nvSpPr>
            <p:cNvPr id="11" name="Çapraz Şerit 10"/>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2" name="Çapraz Şerit 11"/>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3" name="Yarım Çerçeve 12"/>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a:solidFill>
                  <a:srgbClr val="FFCC00"/>
                </a:solidFill>
                <a:latin typeface="Bahnschrift SemiBold SemiConden" panose="020B0502040204020203" pitchFamily="34" charset="0"/>
              </a:rPr>
              <a:t>Tape</a:t>
            </a:r>
            <a:r>
              <a:rPr lang="tr-TR" dirty="0">
                <a:solidFill>
                  <a:srgbClr val="FFCC00"/>
                </a:solidFill>
                <a:latin typeface="Bahnschrift SemiBold SemiConden" panose="020B0502040204020203" pitchFamily="34" charset="0"/>
              </a:rPr>
              <a:t> </a:t>
            </a:r>
            <a:r>
              <a:rPr lang="tr-TR" dirty="0" err="1">
                <a:solidFill>
                  <a:srgbClr val="FFCC00"/>
                </a:solidFill>
                <a:latin typeface="Bahnschrift SemiBold SemiConden" panose="020B0502040204020203" pitchFamily="34" charset="0"/>
              </a:rPr>
              <a:t>O</a:t>
            </a:r>
            <a:r>
              <a:rPr lang="tr-TR" dirty="0" err="1" smtClean="0">
                <a:solidFill>
                  <a:srgbClr val="FFCC00"/>
                </a:solidFill>
                <a:latin typeface="Bahnschrift SemiBold SemiConden" panose="020B0502040204020203" pitchFamily="34" charset="0"/>
              </a:rPr>
              <a:t>rganization</a:t>
            </a:r>
            <a:endParaRPr lang="tr-TR" dirty="0">
              <a:solidFill>
                <a:srgbClr val="FFCC00"/>
              </a:solidFill>
              <a:latin typeface="Bahnschrift SemiBold SemiConden" panose="020B0502040204020203" pitchFamily="34" charset="0"/>
            </a:endParaRPr>
          </a:p>
        </p:txBody>
      </p:sp>
      <p:pic>
        <p:nvPicPr>
          <p:cNvPr id="4" name="Resim 3"/>
          <p:cNvPicPr>
            <a:picLocks noChangeAspect="1"/>
          </p:cNvPicPr>
          <p:nvPr/>
        </p:nvPicPr>
        <p:blipFill>
          <a:blip r:embed="rId3" cstate="print"/>
          <a:stretch>
            <a:fillRect/>
          </a:stretch>
        </p:blipFill>
        <p:spPr>
          <a:xfrm>
            <a:off x="758301" y="1599559"/>
            <a:ext cx="6169304" cy="2360499"/>
          </a:xfrm>
          <a:prstGeom prst="rect">
            <a:avLst/>
          </a:prstGeom>
        </p:spPr>
      </p:pic>
      <p:sp>
        <p:nvSpPr>
          <p:cNvPr id="5" name="Metin kutusu 4"/>
          <p:cNvSpPr txBox="1"/>
          <p:nvPr/>
        </p:nvSpPr>
        <p:spPr>
          <a:xfrm>
            <a:off x="7007504" y="1599559"/>
            <a:ext cx="4414171" cy="1754326"/>
          </a:xfrm>
          <a:prstGeom prst="rect">
            <a:avLst/>
          </a:prstGeom>
          <a:noFill/>
        </p:spPr>
        <p:txBody>
          <a:bodyPr wrap="square" rtlCol="0">
            <a:spAutoFit/>
          </a:bodyPr>
          <a:lstStyle/>
          <a:p>
            <a:r>
              <a:rPr lang="tr-TR" dirty="0" smtClean="0">
                <a:solidFill>
                  <a:srgbClr val="FF9900"/>
                </a:solidFill>
                <a:latin typeface="Bahnschrift SemiCondensed" panose="020B0502040204020203" pitchFamily="34" charset="0"/>
              </a:rPr>
              <a:t>BOT: </a:t>
            </a:r>
            <a:r>
              <a:rPr lang="tr-TR" dirty="0" err="1" smtClean="0">
                <a:solidFill>
                  <a:schemeClr val="bg1"/>
                </a:solidFill>
                <a:latin typeface="Bahnschrift SemiCondensed" panose="020B0502040204020203" pitchFamily="34" charset="0"/>
              </a:rPr>
              <a:t>Beginning</a:t>
            </a:r>
            <a:r>
              <a:rPr lang="tr-TR" dirty="0" smtClean="0">
                <a:solidFill>
                  <a:schemeClr val="bg1"/>
                </a:solidFill>
                <a:latin typeface="Bahnschrift SemiCondensed" panose="020B0502040204020203" pitchFamily="34" charset="0"/>
              </a:rPr>
              <a:t> </a:t>
            </a:r>
            <a:r>
              <a:rPr lang="tr-TR" dirty="0">
                <a:solidFill>
                  <a:schemeClr val="bg1"/>
                </a:solidFill>
                <a:latin typeface="Bahnschrift SemiCondensed" panose="020B0502040204020203" pitchFamily="34" charset="0"/>
              </a:rPr>
              <a:t>of </a:t>
            </a:r>
            <a:r>
              <a:rPr lang="tr-TR" dirty="0" err="1">
                <a:solidFill>
                  <a:schemeClr val="bg1"/>
                </a:solidFill>
                <a:latin typeface="Bahnschrift SemiCondensed" panose="020B0502040204020203" pitchFamily="34" charset="0"/>
              </a:rPr>
              <a:t>tape</a:t>
            </a:r>
            <a:r>
              <a:rPr lang="tr-TR" dirty="0">
                <a:solidFill>
                  <a:schemeClr val="bg1"/>
                </a:solidFill>
                <a:latin typeface="Bahnschrift SemiCondensed" panose="020B0502040204020203" pitchFamily="34" charset="0"/>
              </a:rPr>
              <a:t> </a:t>
            </a:r>
            <a:r>
              <a:rPr lang="tr-TR" dirty="0" smtClean="0">
                <a:solidFill>
                  <a:schemeClr val="bg1"/>
                </a:solidFill>
                <a:latin typeface="Bahnschrift SemiCondensed" panose="020B0502040204020203" pitchFamily="34" charset="0"/>
              </a:rPr>
              <a:t>marker</a:t>
            </a:r>
          </a:p>
          <a:p>
            <a:r>
              <a:rPr lang="tr-TR" dirty="0" smtClean="0">
                <a:solidFill>
                  <a:srgbClr val="FF9900"/>
                </a:solidFill>
                <a:latin typeface="Bahnschrift SemiCondensed" panose="020B0502040204020203" pitchFamily="34" charset="0"/>
              </a:rPr>
              <a:t>EOT: </a:t>
            </a:r>
            <a:r>
              <a:rPr lang="tr-TR" dirty="0" err="1" smtClean="0">
                <a:solidFill>
                  <a:schemeClr val="bg1"/>
                </a:solidFill>
                <a:latin typeface="Bahnschrift SemiCondensed" panose="020B0502040204020203" pitchFamily="34" charset="0"/>
              </a:rPr>
              <a:t>End</a:t>
            </a:r>
            <a:r>
              <a:rPr lang="tr-TR" dirty="0" smtClean="0">
                <a:solidFill>
                  <a:schemeClr val="bg1"/>
                </a:solidFill>
                <a:latin typeface="Bahnschrift SemiCondensed" panose="020B0502040204020203" pitchFamily="34" charset="0"/>
              </a:rPr>
              <a:t> of </a:t>
            </a:r>
            <a:r>
              <a:rPr lang="tr-TR" dirty="0" err="1" smtClean="0">
                <a:solidFill>
                  <a:schemeClr val="bg1"/>
                </a:solidFill>
                <a:latin typeface="Bahnschrift SemiCondensed" panose="020B0502040204020203" pitchFamily="34" charset="0"/>
              </a:rPr>
              <a:t>the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tape</a:t>
            </a:r>
            <a:r>
              <a:rPr lang="tr-TR" dirty="0" smtClean="0">
                <a:solidFill>
                  <a:schemeClr val="bg1"/>
                </a:solidFill>
                <a:latin typeface="Bahnschrift SemiCondensed" panose="020B0502040204020203" pitchFamily="34" charset="0"/>
              </a:rPr>
              <a:t> marker</a:t>
            </a:r>
            <a:endParaRPr lang="tr-TR" dirty="0">
              <a:solidFill>
                <a:schemeClr val="bg1"/>
              </a:solidFill>
              <a:latin typeface="Bahnschrift SemiCondensed" panose="020B0502040204020203" pitchFamily="34" charset="0"/>
            </a:endParaRPr>
          </a:p>
          <a:p>
            <a:r>
              <a:rPr lang="tr-TR" dirty="0" err="1">
                <a:solidFill>
                  <a:srgbClr val="FF9900"/>
                </a:solidFill>
                <a:latin typeface="Bahnschrift SemiCondensed" panose="020B0502040204020203" pitchFamily="34" charset="0"/>
              </a:rPr>
              <a:t>Header</a:t>
            </a:r>
            <a:r>
              <a:rPr lang="tr-TR" dirty="0">
                <a:solidFill>
                  <a:srgbClr val="FF9900"/>
                </a:solidFill>
                <a:latin typeface="Bahnschrift SemiCondensed" panose="020B0502040204020203" pitchFamily="34" charset="0"/>
              </a:rPr>
              <a:t> </a:t>
            </a:r>
            <a:r>
              <a:rPr lang="tr-TR" dirty="0" err="1">
                <a:solidFill>
                  <a:srgbClr val="FF9900"/>
                </a:solidFill>
                <a:latin typeface="Bahnschrift SemiCondensed" panose="020B0502040204020203" pitchFamily="34" charset="0"/>
              </a:rPr>
              <a:t>block</a:t>
            </a:r>
            <a:r>
              <a:rPr lang="tr-TR" dirty="0">
                <a:solidFill>
                  <a:srgbClr val="FF9900"/>
                </a:solidFill>
                <a:latin typeface="Bahnschrift SemiCondensed" panose="020B0502040204020203" pitchFamily="34" charset="0"/>
              </a:rPr>
              <a:t>: </a:t>
            </a:r>
            <a:r>
              <a:rPr lang="tr-TR" dirty="0" err="1">
                <a:solidFill>
                  <a:schemeClr val="bg1"/>
                </a:solidFill>
                <a:latin typeface="Bahnschrift SemiCondensed" panose="020B0502040204020203" pitchFamily="34" charset="0"/>
              </a:rPr>
              <a:t>D</a:t>
            </a:r>
            <a:r>
              <a:rPr lang="tr-TR" dirty="0" err="1" smtClean="0">
                <a:solidFill>
                  <a:schemeClr val="bg1"/>
                </a:solidFill>
                <a:latin typeface="Bahnschrift SemiCondensed" panose="020B0502040204020203" pitchFamily="34" charset="0"/>
              </a:rPr>
              <a:t>escribes</a:t>
            </a:r>
            <a:r>
              <a:rPr lang="tr-TR" dirty="0" smtClean="0">
                <a:solidFill>
                  <a:schemeClr val="bg1"/>
                </a:solidFill>
                <a:latin typeface="Bahnschrift SemiCondensed" panose="020B0502040204020203" pitchFamily="34" charset="0"/>
              </a:rPr>
              <a:t> </a:t>
            </a:r>
            <a:r>
              <a:rPr lang="tr-TR" dirty="0">
                <a:solidFill>
                  <a:schemeClr val="bg1"/>
                </a:solidFill>
                <a:latin typeface="Bahnschrift SemiCondensed" panose="020B0502040204020203" pitchFamily="34" charset="0"/>
              </a:rPr>
              <a:t>data </a:t>
            </a:r>
            <a:r>
              <a:rPr lang="tr-TR" dirty="0" err="1">
                <a:solidFill>
                  <a:schemeClr val="bg1"/>
                </a:solidFill>
                <a:latin typeface="Bahnschrift SemiCondensed" panose="020B0502040204020203" pitchFamily="34" charset="0"/>
              </a:rPr>
              <a:t>blocks</a:t>
            </a:r>
            <a:endParaRPr lang="tr-TR" dirty="0">
              <a:solidFill>
                <a:schemeClr val="bg1"/>
              </a:solidFill>
              <a:latin typeface="Bahnschrift SemiCondensed" panose="020B0502040204020203" pitchFamily="34" charset="0"/>
            </a:endParaRPr>
          </a:p>
          <a:p>
            <a:r>
              <a:rPr lang="en-US" dirty="0">
                <a:solidFill>
                  <a:srgbClr val="FF9900"/>
                </a:solidFill>
                <a:latin typeface="Bahnschrift SemiCondensed" panose="020B0502040204020203" pitchFamily="34" charset="0"/>
              </a:rPr>
              <a:t>Inter block gap: </a:t>
            </a:r>
            <a:r>
              <a:rPr lang="en-US" dirty="0">
                <a:solidFill>
                  <a:schemeClr val="bg1"/>
                </a:solidFill>
                <a:latin typeface="Bahnschrift SemiCondensed" panose="020B0502040204020203" pitchFamily="34" charset="0"/>
              </a:rPr>
              <a:t>For acceleration and </a:t>
            </a:r>
            <a:r>
              <a:rPr lang="en-US" dirty="0" smtClean="0">
                <a:solidFill>
                  <a:schemeClr val="bg1"/>
                </a:solidFill>
                <a:latin typeface="Bahnschrift SemiCondensed" panose="020B0502040204020203" pitchFamily="34" charset="0"/>
              </a:rPr>
              <a:t>deceleration </a:t>
            </a:r>
            <a:r>
              <a:rPr lang="en-US" dirty="0">
                <a:solidFill>
                  <a:schemeClr val="bg1"/>
                </a:solidFill>
                <a:latin typeface="Bahnschrift SemiCondensed" panose="020B0502040204020203" pitchFamily="34" charset="0"/>
              </a:rPr>
              <a:t>of tape</a:t>
            </a:r>
          </a:p>
          <a:p>
            <a:r>
              <a:rPr lang="en-US" dirty="0">
                <a:solidFill>
                  <a:srgbClr val="FF9900"/>
                </a:solidFill>
                <a:latin typeface="Bahnschrift SemiCondensed" panose="020B0502040204020203" pitchFamily="34" charset="0"/>
              </a:rPr>
              <a:t>Blocking factor: </a:t>
            </a:r>
            <a:r>
              <a:rPr lang="tr-TR" dirty="0" err="1" smtClean="0">
                <a:solidFill>
                  <a:schemeClr val="bg1"/>
                </a:solidFill>
                <a:latin typeface="Bahnschrift SemiCondensed" panose="020B0502040204020203" pitchFamily="34" charset="0"/>
              </a:rPr>
              <a:t>Number</a:t>
            </a:r>
            <a:r>
              <a:rPr lang="tr-TR" dirty="0" smtClean="0">
                <a:solidFill>
                  <a:schemeClr val="bg1"/>
                </a:solidFill>
                <a:latin typeface="Bahnschrift SemiCondensed" panose="020B0502040204020203" pitchFamily="34" charset="0"/>
              </a:rPr>
              <a:t> of</a:t>
            </a:r>
            <a:r>
              <a:rPr lang="en-US" dirty="0" smtClean="0">
                <a:solidFill>
                  <a:schemeClr val="bg1"/>
                </a:solidFill>
                <a:latin typeface="Bahnschrift SemiCondensed" panose="020B0502040204020203" pitchFamily="34" charset="0"/>
              </a:rPr>
              <a:t> </a:t>
            </a:r>
            <a:r>
              <a:rPr lang="en-US" dirty="0">
                <a:solidFill>
                  <a:schemeClr val="bg1"/>
                </a:solidFill>
                <a:latin typeface="Bahnschrift SemiCondensed" panose="020B0502040204020203" pitchFamily="34" charset="0"/>
              </a:rPr>
              <a:t>records per </a:t>
            </a:r>
            <a:r>
              <a:rPr lang="en-US" dirty="0" smtClean="0">
                <a:solidFill>
                  <a:schemeClr val="bg1"/>
                </a:solidFill>
                <a:latin typeface="Bahnschrift SemiCondensed" panose="020B0502040204020203" pitchFamily="34" charset="0"/>
              </a:rPr>
              <a:t>block</a:t>
            </a:r>
            <a:endParaRPr lang="en-US" dirty="0">
              <a:solidFill>
                <a:schemeClr val="bg1"/>
              </a:solidFill>
              <a:latin typeface="Bahnschrift SemiCondensed" panose="020B0502040204020203" pitchFamily="34" charset="0"/>
            </a:endParaRPr>
          </a:p>
        </p:txBody>
      </p:sp>
      <p:sp>
        <p:nvSpPr>
          <p:cNvPr id="6" name="Metin kutusu 5"/>
          <p:cNvSpPr txBox="1"/>
          <p:nvPr/>
        </p:nvSpPr>
        <p:spPr>
          <a:xfrm>
            <a:off x="758301" y="4040330"/>
            <a:ext cx="10036946" cy="2308324"/>
          </a:xfrm>
          <a:prstGeom prst="rect">
            <a:avLst/>
          </a:prstGeom>
          <a:noFill/>
        </p:spPr>
        <p:txBody>
          <a:bodyPr wrap="square" rtlCol="0">
            <a:spAutoFit/>
          </a:bodyPr>
          <a:lstStyle/>
          <a:p>
            <a:r>
              <a:rPr lang="tr-TR" dirty="0">
                <a:solidFill>
                  <a:srgbClr val="FF9900"/>
                </a:solidFill>
                <a:latin typeface="Bahnschrift SemiCondensed" panose="020B0502040204020203" pitchFamily="34" charset="0"/>
              </a:rPr>
              <a:t>Data </a:t>
            </a:r>
            <a:r>
              <a:rPr lang="tr-TR" dirty="0" err="1">
                <a:solidFill>
                  <a:srgbClr val="FF9900"/>
                </a:solidFill>
                <a:latin typeface="Bahnschrift SemiCondensed" panose="020B0502040204020203" pitchFamily="34" charset="0"/>
              </a:rPr>
              <a:t>blocks</a:t>
            </a:r>
            <a:r>
              <a:rPr lang="tr-TR" dirty="0">
                <a:solidFill>
                  <a:srgbClr val="FF9900"/>
                </a:solidFill>
                <a:latin typeface="Bahnschrift SemiCondensed" panose="020B0502040204020203" pitchFamily="34" charset="0"/>
              </a:rPr>
              <a:t> </a:t>
            </a:r>
            <a:r>
              <a:rPr lang="tr-TR" dirty="0" err="1">
                <a:solidFill>
                  <a:srgbClr val="FF9900"/>
                </a:solidFill>
                <a:latin typeface="Bahnschrift SemiCondensed" panose="020B0502040204020203" pitchFamily="34" charset="0"/>
              </a:rPr>
              <a:t>and</a:t>
            </a:r>
            <a:r>
              <a:rPr lang="tr-TR" dirty="0">
                <a:solidFill>
                  <a:srgbClr val="FF9900"/>
                </a:solidFill>
                <a:latin typeface="Bahnschrift SemiCondensed" panose="020B0502040204020203" pitchFamily="34" charset="0"/>
              </a:rPr>
              <a:t> </a:t>
            </a:r>
            <a:r>
              <a:rPr lang="tr-TR" dirty="0" err="1" smtClean="0">
                <a:solidFill>
                  <a:srgbClr val="FF9900"/>
                </a:solidFill>
                <a:latin typeface="Bahnschrift SemiCondensed" panose="020B0502040204020203" pitchFamily="34" charset="0"/>
              </a:rPr>
              <a:t>records</a:t>
            </a:r>
            <a:r>
              <a:rPr lang="tr-TR" dirty="0" smtClean="0">
                <a:solidFill>
                  <a:srgbClr val="FF9900"/>
                </a:solidFill>
                <a:latin typeface="Bahnschrift SemiCondensed" panose="020B0502040204020203" pitchFamily="34" charset="0"/>
              </a:rPr>
              <a:t>:</a:t>
            </a:r>
            <a:endParaRPr lang="tr-TR" dirty="0">
              <a:solidFill>
                <a:srgbClr val="FF9900"/>
              </a:solidFill>
              <a:latin typeface="Bahnschrift SemiCondensed" panose="020B0502040204020203" pitchFamily="34" charset="0"/>
            </a:endParaRPr>
          </a:p>
          <a:p>
            <a:pPr marL="285750" indent="-285750">
              <a:buFont typeface="Arial" panose="020B0604020202020204" pitchFamily="34" charset="0"/>
              <a:buChar char="•"/>
            </a:pPr>
            <a:r>
              <a:rPr lang="en-US" dirty="0" smtClean="0">
                <a:solidFill>
                  <a:schemeClr val="bg1"/>
                </a:solidFill>
                <a:latin typeface="Bahnschrift SemiCondensed" panose="020B0502040204020203" pitchFamily="34" charset="0"/>
              </a:rPr>
              <a:t>Each </a:t>
            </a:r>
            <a:r>
              <a:rPr lang="en-US" dirty="0">
                <a:solidFill>
                  <a:schemeClr val="bg1"/>
                </a:solidFill>
                <a:latin typeface="Bahnschrift SemiCondensed" panose="020B0502040204020203" pitchFamily="34" charset="0"/>
              </a:rPr>
              <a:t>data block is a sequence of contiguous </a:t>
            </a:r>
            <a:r>
              <a:rPr lang="en-US" dirty="0" smtClean="0">
                <a:solidFill>
                  <a:schemeClr val="bg1"/>
                </a:solidFill>
                <a:latin typeface="Bahnschrift SemiCondensed" panose="020B0502040204020203" pitchFamily="34" charset="0"/>
              </a:rPr>
              <a:t>records</a:t>
            </a:r>
            <a:r>
              <a:rPr lang="tr-TR" dirty="0" smtClean="0">
                <a:solidFill>
                  <a:schemeClr val="bg1"/>
                </a:solidFill>
                <a:latin typeface="Bahnschrift SemiCondensed" panose="020B0502040204020203" pitchFamily="34" charset="0"/>
              </a:rPr>
              <a:t>.</a:t>
            </a:r>
            <a:endParaRPr lang="en-US" dirty="0">
              <a:solidFill>
                <a:schemeClr val="bg1"/>
              </a:solidFill>
              <a:latin typeface="Bahnschrift SemiCondensed" panose="020B0502040204020203" pitchFamily="34" charset="0"/>
            </a:endParaRPr>
          </a:p>
          <a:p>
            <a:pPr marL="285750" indent="-285750">
              <a:buFont typeface="Arial" panose="020B0604020202020204" pitchFamily="34" charset="0"/>
              <a:buChar char="•"/>
            </a:pPr>
            <a:r>
              <a:rPr lang="en-US" dirty="0" smtClean="0">
                <a:solidFill>
                  <a:schemeClr val="bg1"/>
                </a:solidFill>
                <a:latin typeface="Bahnschrift SemiCondensed" panose="020B0502040204020203" pitchFamily="34" charset="0"/>
              </a:rPr>
              <a:t>A </a:t>
            </a:r>
            <a:r>
              <a:rPr lang="en-US" dirty="0">
                <a:solidFill>
                  <a:schemeClr val="bg1"/>
                </a:solidFill>
                <a:latin typeface="Bahnschrift SemiCondensed" panose="020B0502040204020203" pitchFamily="34" charset="0"/>
              </a:rPr>
              <a:t>record is the unit of data that a user’s program deals with.</a:t>
            </a:r>
          </a:p>
          <a:p>
            <a:pPr marL="285750" indent="-285750">
              <a:buFont typeface="Arial" panose="020B0604020202020204" pitchFamily="34" charset="0"/>
              <a:buChar char="•"/>
            </a:pPr>
            <a:r>
              <a:rPr lang="en-US" dirty="0" smtClean="0">
                <a:solidFill>
                  <a:schemeClr val="bg1"/>
                </a:solidFill>
                <a:latin typeface="Bahnschrift SemiCondensed" panose="020B0502040204020203" pitchFamily="34" charset="0"/>
              </a:rPr>
              <a:t>For </a:t>
            </a:r>
            <a:r>
              <a:rPr lang="en-US" dirty="0">
                <a:solidFill>
                  <a:schemeClr val="bg1"/>
                </a:solidFill>
                <a:latin typeface="Bahnschrift SemiCondensed" panose="020B0502040204020203" pitchFamily="34" charset="0"/>
              </a:rPr>
              <a:t>efficiency, the tape drive reads an entire block of records at once.</a:t>
            </a:r>
          </a:p>
          <a:p>
            <a:pPr marL="285750" indent="-285750">
              <a:buFont typeface="Arial" panose="020B0604020202020204" pitchFamily="34" charset="0"/>
              <a:buChar char="•"/>
            </a:pPr>
            <a:r>
              <a:rPr lang="en-US" dirty="0" smtClean="0">
                <a:solidFill>
                  <a:schemeClr val="bg1"/>
                </a:solidFill>
                <a:latin typeface="Bahnschrift SemiCondensed" panose="020B0502040204020203" pitchFamily="34" charset="0"/>
              </a:rPr>
              <a:t>Unlike </a:t>
            </a:r>
            <a:r>
              <a:rPr lang="en-US" dirty="0">
                <a:solidFill>
                  <a:schemeClr val="bg1"/>
                </a:solidFill>
                <a:latin typeface="Bahnschrift SemiCondensed" panose="020B0502040204020203" pitchFamily="34" charset="0"/>
              </a:rPr>
              <a:t>a disk, a tape starts and </a:t>
            </a:r>
            <a:r>
              <a:rPr lang="en-US" dirty="0" smtClean="0">
                <a:solidFill>
                  <a:schemeClr val="bg1"/>
                </a:solidFill>
                <a:latin typeface="Bahnschrift SemiCondensed" panose="020B0502040204020203" pitchFamily="34" charset="0"/>
              </a:rPr>
              <a:t>stops</a:t>
            </a:r>
            <a:r>
              <a:rPr lang="tr-TR" dirty="0" smtClean="0">
                <a:solidFill>
                  <a:schemeClr val="bg1"/>
                </a:solidFill>
                <a:latin typeface="Bahnschrift SemiCondensed" panose="020B0502040204020203" pitchFamily="34" charset="0"/>
              </a:rPr>
              <a:t>.</a:t>
            </a:r>
            <a:endParaRPr lang="en-US" dirty="0">
              <a:solidFill>
                <a:schemeClr val="bg1"/>
              </a:solidFill>
              <a:latin typeface="Bahnschrift SemiCondensed" panose="020B0502040204020203" pitchFamily="34" charset="0"/>
            </a:endParaRPr>
          </a:p>
          <a:p>
            <a:pPr marL="285750" indent="-285750">
              <a:buFont typeface="Arial" panose="020B0604020202020204" pitchFamily="34" charset="0"/>
              <a:buChar char="•"/>
            </a:pPr>
            <a:r>
              <a:rPr lang="en-US" dirty="0" smtClean="0">
                <a:solidFill>
                  <a:schemeClr val="bg1"/>
                </a:solidFill>
                <a:latin typeface="Bahnschrift SemiCondensed" panose="020B0502040204020203" pitchFamily="34" charset="0"/>
              </a:rPr>
              <a:t>When </a:t>
            </a:r>
            <a:r>
              <a:rPr lang="en-US" dirty="0">
                <a:solidFill>
                  <a:schemeClr val="bg1"/>
                </a:solidFill>
                <a:latin typeface="Bahnschrift SemiCondensed" panose="020B0502040204020203" pitchFamily="34" charset="0"/>
              </a:rPr>
              <a:t>stopped, the read/write head is over an </a:t>
            </a:r>
            <a:r>
              <a:rPr lang="en-US" dirty="0" err="1">
                <a:solidFill>
                  <a:schemeClr val="bg1"/>
                </a:solidFill>
                <a:latin typeface="Bahnschrift SemiCondensed" panose="020B0502040204020203" pitchFamily="34" charset="0"/>
              </a:rPr>
              <a:t>interblock</a:t>
            </a:r>
            <a:r>
              <a:rPr lang="en-US" dirty="0">
                <a:solidFill>
                  <a:schemeClr val="bg1"/>
                </a:solidFill>
                <a:latin typeface="Bahnschrift SemiCondensed" panose="020B0502040204020203" pitchFamily="34" charset="0"/>
              </a:rPr>
              <a:t> </a:t>
            </a:r>
            <a:r>
              <a:rPr lang="en-US" dirty="0" smtClean="0">
                <a:solidFill>
                  <a:schemeClr val="bg1"/>
                </a:solidFill>
                <a:latin typeface="Bahnschrift SemiCondensed" panose="020B0502040204020203" pitchFamily="34" charset="0"/>
              </a:rPr>
              <a:t>gap</a:t>
            </a:r>
            <a:r>
              <a:rPr lang="tr-TR" dirty="0" smtClean="0">
                <a:solidFill>
                  <a:schemeClr val="bg1"/>
                </a:solidFill>
                <a:latin typeface="Bahnschrift SemiCondensed" panose="020B0502040204020203" pitchFamily="34" charset="0"/>
              </a:rPr>
              <a:t>.</a:t>
            </a:r>
          </a:p>
          <a:p>
            <a:pPr marL="285750" indent="-285750">
              <a:buFont typeface="Arial" panose="020B0604020202020204" pitchFamily="34" charset="0"/>
              <a:buChar char="•"/>
            </a:pPr>
            <a:r>
              <a:rPr lang="en-US" dirty="0" smtClean="0">
                <a:solidFill>
                  <a:schemeClr val="bg1"/>
                </a:solidFill>
                <a:latin typeface="Bahnschrift SemiCondensed" panose="020B0502040204020203" pitchFamily="34" charset="0"/>
              </a:rPr>
              <a:t>To read a block, the tape uses </a:t>
            </a:r>
            <a:r>
              <a:rPr lang="en-US" dirty="0">
                <a:solidFill>
                  <a:schemeClr val="bg1"/>
                </a:solidFill>
                <a:latin typeface="Bahnschrift SemiCondensed" panose="020B0502040204020203" pitchFamily="34" charset="0"/>
              </a:rPr>
              <a:t>the </a:t>
            </a:r>
            <a:r>
              <a:rPr lang="en-US" dirty="0" err="1">
                <a:solidFill>
                  <a:schemeClr val="bg1"/>
                </a:solidFill>
                <a:latin typeface="Bahnschrift SemiCondensed" panose="020B0502040204020203" pitchFamily="34" charset="0"/>
              </a:rPr>
              <a:t>interblock</a:t>
            </a:r>
            <a:r>
              <a:rPr lang="en-US" dirty="0">
                <a:solidFill>
                  <a:schemeClr val="bg1"/>
                </a:solidFill>
                <a:latin typeface="Bahnschrift SemiCondensed" panose="020B0502040204020203" pitchFamily="34" charset="0"/>
              </a:rPr>
              <a:t> gap </a:t>
            </a:r>
            <a:r>
              <a:rPr lang="en-US" dirty="0" smtClean="0">
                <a:solidFill>
                  <a:schemeClr val="bg1"/>
                </a:solidFill>
                <a:latin typeface="Bahnschrift SemiCondensed" panose="020B0502040204020203" pitchFamily="34" charset="0"/>
              </a:rPr>
              <a:t>to accelerate. Then it reads all</a:t>
            </a:r>
            <a:r>
              <a:rPr lang="tr-TR" dirty="0" smtClean="0">
                <a:solidFill>
                  <a:schemeClr val="bg1"/>
                </a:solidFill>
                <a:latin typeface="Bahnschrift SemiCondensed" panose="020B0502040204020203" pitchFamily="34" charset="0"/>
              </a:rPr>
              <a:t> </a:t>
            </a:r>
            <a:r>
              <a:rPr lang="en-US" dirty="0" smtClean="0">
                <a:solidFill>
                  <a:schemeClr val="bg1"/>
                </a:solidFill>
                <a:latin typeface="Bahnschrift SemiCondensed" panose="020B0502040204020203" pitchFamily="34" charset="0"/>
              </a:rPr>
              <a:t>records in the data block.</a:t>
            </a:r>
            <a:r>
              <a:rPr lang="tr-TR" dirty="0" smtClean="0">
                <a:solidFill>
                  <a:schemeClr val="bg1"/>
                </a:solidFill>
                <a:latin typeface="Bahnschrift SemiCondensed" panose="020B0502040204020203" pitchFamily="34" charset="0"/>
              </a:rPr>
              <a:t> </a:t>
            </a:r>
            <a:r>
              <a:rPr lang="en-US" dirty="0" smtClean="0">
                <a:solidFill>
                  <a:schemeClr val="bg1"/>
                </a:solidFill>
                <a:latin typeface="Bahnschrift SemiCondensed" panose="020B0502040204020203" pitchFamily="34" charset="0"/>
              </a:rPr>
              <a:t>Then it uses the </a:t>
            </a:r>
            <a:r>
              <a:rPr lang="en-US" dirty="0">
                <a:solidFill>
                  <a:schemeClr val="bg1"/>
                </a:solidFill>
                <a:latin typeface="Bahnschrift SemiCondensed" panose="020B0502040204020203" pitchFamily="34" charset="0"/>
              </a:rPr>
              <a:t>next </a:t>
            </a:r>
            <a:r>
              <a:rPr lang="en-US" dirty="0" err="1">
                <a:solidFill>
                  <a:schemeClr val="bg1"/>
                </a:solidFill>
                <a:latin typeface="Bahnschrift SemiCondensed" panose="020B0502040204020203" pitchFamily="34" charset="0"/>
              </a:rPr>
              <a:t>interblock</a:t>
            </a:r>
            <a:r>
              <a:rPr lang="en-US" dirty="0">
                <a:solidFill>
                  <a:schemeClr val="bg1"/>
                </a:solidFill>
                <a:latin typeface="Bahnschrift SemiCondensed" panose="020B0502040204020203" pitchFamily="34" charset="0"/>
              </a:rPr>
              <a:t> gap </a:t>
            </a:r>
            <a:r>
              <a:rPr lang="en-US" dirty="0" smtClean="0">
                <a:solidFill>
                  <a:schemeClr val="bg1"/>
                </a:solidFill>
                <a:latin typeface="Bahnschrift SemiCondensed" panose="020B0502040204020203" pitchFamily="34" charset="0"/>
              </a:rPr>
              <a:t>to decelerate.</a:t>
            </a:r>
            <a:endParaRPr lang="tr-TR" dirty="0">
              <a:solidFill>
                <a:schemeClr val="bg1"/>
              </a:solidFill>
              <a:latin typeface="Bahnschrift SemiCondensed" panose="020B0502040204020203" pitchFamily="34" charset="0"/>
            </a:endParaRPr>
          </a:p>
        </p:txBody>
      </p:sp>
    </p:spTree>
    <p:extLst>
      <p:ext uri="{BB962C8B-B14F-4D97-AF65-F5344CB8AC3E}">
        <p14:creationId xmlns:p14="http://schemas.microsoft.com/office/powerpoint/2010/main" xmlns="" val="36826372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 7"/>
          <p:cNvGrpSpPr/>
          <p:nvPr/>
        </p:nvGrpSpPr>
        <p:grpSpPr>
          <a:xfrm>
            <a:off x="3868477" y="549275"/>
            <a:ext cx="8323523" cy="6315154"/>
            <a:chOff x="3868477" y="549275"/>
            <a:chExt cx="8323523" cy="6315154"/>
          </a:xfrm>
        </p:grpSpPr>
        <p:sp>
          <p:nvSpPr>
            <p:cNvPr id="9" name="Çapraz Şerit 8"/>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0" name="Çapraz Şerit 9"/>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1" name="Yarım Çerçeve 10"/>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Attributes</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a:xfrm>
            <a:off x="838200" y="1825624"/>
            <a:ext cx="10515600" cy="4244669"/>
          </a:xfrm>
        </p:spPr>
        <p:txBody>
          <a:bodyPr>
            <a:noAutofit/>
          </a:bodyPr>
          <a:lstStyle/>
          <a:p>
            <a:pPr marL="0" indent="0">
              <a:buNone/>
            </a:pPr>
            <a:r>
              <a:rPr lang="tr-TR" sz="1800" dirty="0" err="1">
                <a:solidFill>
                  <a:srgbClr val="FF9900"/>
                </a:solidFill>
                <a:latin typeface="Bahnschrift SemiCondensed" panose="020B0502040204020203" pitchFamily="34" charset="0"/>
              </a:rPr>
              <a:t>Type</a:t>
            </a:r>
            <a:r>
              <a:rPr lang="tr-TR" sz="1800" dirty="0">
                <a:solidFill>
                  <a:srgbClr val="FF9900"/>
                </a:solidFill>
                <a:latin typeface="Bahnschrift SemiCondensed" panose="020B0502040204020203" pitchFamily="34" charset="0"/>
              </a:rPr>
              <a:t> of </a:t>
            </a:r>
            <a:r>
              <a:rPr lang="tr-TR" sz="1800" dirty="0" err="1" smtClean="0">
                <a:solidFill>
                  <a:srgbClr val="FF9900"/>
                </a:solidFill>
                <a:latin typeface="Bahnschrift SemiCondensed" panose="020B0502040204020203" pitchFamily="34" charset="0"/>
              </a:rPr>
              <a:t>storage</a:t>
            </a:r>
            <a:r>
              <a:rPr lang="tr-TR" sz="1800" dirty="0" smtClean="0">
                <a:solidFill>
                  <a:srgbClr val="FF9900"/>
                </a:solidFill>
                <a:latin typeface="Bahnschrift SemiCondensed" panose="020B0502040204020203" pitchFamily="34" charset="0"/>
              </a:rPr>
              <a:t>: </a:t>
            </a:r>
            <a:r>
              <a:rPr lang="tr-TR" sz="1800" dirty="0" err="1" smtClean="0">
                <a:solidFill>
                  <a:schemeClr val="bg1"/>
                </a:solidFill>
                <a:latin typeface="Bahnschrift SemiCondensed" panose="020B0502040204020203" pitchFamily="34" charset="0"/>
              </a:rPr>
              <a:t>Magnetic</a:t>
            </a:r>
            <a:endParaRPr lang="tr-TR" sz="1800" dirty="0" smtClean="0">
              <a:solidFill>
                <a:schemeClr val="bg1"/>
              </a:solidFill>
              <a:latin typeface="Bahnschrift SemiCondensed" panose="020B0502040204020203" pitchFamily="34" charset="0"/>
            </a:endParaRPr>
          </a:p>
          <a:p>
            <a:pPr marL="0" indent="0">
              <a:buNone/>
            </a:pPr>
            <a:r>
              <a:rPr lang="tr-TR" sz="1800" dirty="0">
                <a:solidFill>
                  <a:srgbClr val="FF9900"/>
                </a:solidFill>
                <a:latin typeface="Bahnschrift SemiCondensed" panose="020B0502040204020203" pitchFamily="34" charset="0"/>
              </a:rPr>
              <a:t>Data </a:t>
            </a:r>
            <a:r>
              <a:rPr lang="tr-TR" sz="1800" dirty="0" smtClean="0">
                <a:solidFill>
                  <a:srgbClr val="FF9900"/>
                </a:solidFill>
                <a:latin typeface="Bahnschrift SemiCondensed" panose="020B0502040204020203" pitchFamily="34" charset="0"/>
              </a:rPr>
              <a:t>Access: </a:t>
            </a:r>
            <a:r>
              <a:rPr lang="en-US" sz="1800" dirty="0" smtClean="0">
                <a:solidFill>
                  <a:schemeClr val="bg1"/>
                </a:solidFill>
                <a:latin typeface="Bahnschrift SemiCondensed" panose="020B0502040204020203" pitchFamily="34" charset="0"/>
              </a:rPr>
              <a:t>Serial Access</a:t>
            </a:r>
            <a:r>
              <a:rPr lang="tr-TR" sz="1800" dirty="0" smtClean="0">
                <a:solidFill>
                  <a:schemeClr val="bg1"/>
                </a:solidFill>
                <a:latin typeface="Bahnschrift SemiCondensed" panose="020B0502040204020203" pitchFamily="34" charset="0"/>
              </a:rPr>
              <a:t>. </a:t>
            </a:r>
            <a:r>
              <a:rPr lang="en-US" sz="1800" dirty="0" smtClean="0">
                <a:solidFill>
                  <a:schemeClr val="bg1"/>
                </a:solidFill>
                <a:latin typeface="Bahnschrift SemiCondensed" panose="020B0502040204020203" pitchFamily="34" charset="0"/>
              </a:rPr>
              <a:t>Serial </a:t>
            </a:r>
            <a:r>
              <a:rPr lang="en-US" sz="1800" dirty="0">
                <a:solidFill>
                  <a:schemeClr val="bg1"/>
                </a:solidFill>
                <a:latin typeface="Bahnschrift SemiCondensed" panose="020B0502040204020203" pitchFamily="34" charset="0"/>
              </a:rPr>
              <a:t>files are read by starting at the beginning and reading through every record until you find the one that you want. </a:t>
            </a:r>
            <a:endParaRPr lang="tr-TR" sz="1800" dirty="0" smtClean="0">
              <a:solidFill>
                <a:schemeClr val="bg1"/>
              </a:solidFill>
              <a:latin typeface="Bahnschrift SemiCondensed" panose="020B0502040204020203" pitchFamily="34" charset="0"/>
            </a:endParaRPr>
          </a:p>
          <a:p>
            <a:pPr marL="0" indent="0">
              <a:buNone/>
            </a:pPr>
            <a:r>
              <a:rPr lang="tr-TR" sz="1800" dirty="0" err="1" smtClean="0">
                <a:solidFill>
                  <a:srgbClr val="FF9900"/>
                </a:solidFill>
                <a:latin typeface="Bahnschrift SemiCondensed" panose="020B0502040204020203" pitchFamily="34" charset="0"/>
              </a:rPr>
              <a:t>Cost</a:t>
            </a:r>
            <a:r>
              <a:rPr lang="tr-TR" sz="1800" dirty="0" smtClean="0">
                <a:solidFill>
                  <a:srgbClr val="FF9900"/>
                </a:solidFill>
                <a:latin typeface="Bahnschrift SemiCondensed" panose="020B0502040204020203" pitchFamily="34" charset="0"/>
              </a:rPr>
              <a:t> </a:t>
            </a:r>
            <a:r>
              <a:rPr lang="tr-TR" sz="1800" dirty="0">
                <a:solidFill>
                  <a:srgbClr val="FF9900"/>
                </a:solidFill>
                <a:latin typeface="Bahnschrift SemiCondensed" panose="020B0502040204020203" pitchFamily="34" charset="0"/>
              </a:rPr>
              <a:t>of </a:t>
            </a:r>
            <a:r>
              <a:rPr lang="tr-TR" sz="1800" dirty="0" err="1" smtClean="0">
                <a:solidFill>
                  <a:srgbClr val="FF9900"/>
                </a:solidFill>
                <a:latin typeface="Bahnschrift SemiCondensed" panose="020B0502040204020203" pitchFamily="34" charset="0"/>
              </a:rPr>
              <a:t>storage</a:t>
            </a:r>
            <a:r>
              <a:rPr lang="tr-TR" sz="1800" dirty="0" smtClean="0">
                <a:solidFill>
                  <a:srgbClr val="FF9900"/>
                </a:solidFill>
                <a:latin typeface="Bahnschrift SemiCondensed" panose="020B0502040204020203" pitchFamily="34" charset="0"/>
              </a:rPr>
              <a:t>: </a:t>
            </a:r>
            <a:r>
              <a:rPr lang="en-US" sz="1800" dirty="0">
                <a:solidFill>
                  <a:schemeClr val="bg1"/>
                </a:solidFill>
                <a:latin typeface="Bahnschrift SemiCondensed" panose="020B0502040204020203" pitchFamily="34" charset="0"/>
              </a:rPr>
              <a:t>Tape storage has the lowest unit price per </a:t>
            </a:r>
            <a:r>
              <a:rPr lang="en-US" sz="1800" dirty="0" err="1" smtClean="0">
                <a:solidFill>
                  <a:schemeClr val="bg1"/>
                </a:solidFill>
                <a:latin typeface="Bahnschrift SemiCondensed" panose="020B0502040204020203" pitchFamily="34" charset="0"/>
              </a:rPr>
              <a:t>vol</a:t>
            </a:r>
            <a:r>
              <a:rPr lang="tr-TR" sz="1800" dirty="0" smtClean="0">
                <a:solidFill>
                  <a:schemeClr val="bg1"/>
                </a:solidFill>
                <a:latin typeface="Bahnschrift SemiCondensed" panose="020B0502040204020203" pitchFamily="34" charset="0"/>
              </a:rPr>
              <a:t>u</a:t>
            </a:r>
            <a:r>
              <a:rPr lang="en-US" sz="1800" dirty="0" smtClean="0">
                <a:solidFill>
                  <a:schemeClr val="bg1"/>
                </a:solidFill>
                <a:latin typeface="Bahnschrift SemiCondensed" panose="020B0502040204020203" pitchFamily="34" charset="0"/>
              </a:rPr>
              <a:t>me</a:t>
            </a:r>
            <a:r>
              <a:rPr lang="tr-TR" sz="1800" dirty="0" smtClean="0">
                <a:solidFill>
                  <a:schemeClr val="bg1"/>
                </a:solidFill>
                <a:latin typeface="Bahnschrift SemiCondensed" panose="020B0502040204020203" pitchFamily="34" charset="0"/>
              </a:rPr>
              <a:t>.</a:t>
            </a:r>
          </a:p>
          <a:p>
            <a:pPr marL="0" indent="0">
              <a:buNone/>
            </a:pPr>
            <a:r>
              <a:rPr lang="tr-TR" sz="1800" dirty="0" smtClean="0">
                <a:solidFill>
                  <a:srgbClr val="FF9900"/>
                </a:solidFill>
                <a:latin typeface="Bahnschrift SemiCondensed" panose="020B0502040204020203" pitchFamily="34" charset="0"/>
              </a:rPr>
              <a:t>C</a:t>
            </a:r>
            <a:r>
              <a:rPr lang="en-US" sz="1800" dirty="0" err="1" smtClean="0">
                <a:solidFill>
                  <a:srgbClr val="FF9900"/>
                </a:solidFill>
                <a:latin typeface="Bahnschrift SemiCondensed" panose="020B0502040204020203" pitchFamily="34" charset="0"/>
              </a:rPr>
              <a:t>apacity</a:t>
            </a:r>
            <a:r>
              <a:rPr lang="en-US" sz="1800" dirty="0" smtClean="0">
                <a:solidFill>
                  <a:srgbClr val="FF9900"/>
                </a:solidFill>
                <a:latin typeface="Bahnschrift SemiCondensed" panose="020B0502040204020203" pitchFamily="34" charset="0"/>
              </a:rPr>
              <a:t>: </a:t>
            </a:r>
            <a:r>
              <a:rPr lang="en-US" sz="1800" dirty="0" smtClean="0">
                <a:solidFill>
                  <a:schemeClr val="bg1"/>
                </a:solidFill>
                <a:latin typeface="Bahnschrift SemiCondensed" panose="020B0502040204020203" pitchFamily="34" charset="0"/>
              </a:rPr>
              <a:t>The storing capacity of the magnetic tape is 500MB, 2GB, 10GB</a:t>
            </a:r>
            <a:r>
              <a:rPr lang="tr-TR" sz="1800" dirty="0" smtClean="0">
                <a:solidFill>
                  <a:schemeClr val="bg1"/>
                </a:solidFill>
                <a:latin typeface="Bahnschrift SemiCondensed" panose="020B0502040204020203" pitchFamily="34" charset="0"/>
              </a:rPr>
              <a:t>, 1TB </a:t>
            </a:r>
            <a:r>
              <a:rPr lang="en-US" sz="1800" dirty="0" smtClean="0">
                <a:solidFill>
                  <a:schemeClr val="bg1"/>
                </a:solidFill>
                <a:latin typeface="Bahnschrift SemiCondensed" panose="020B0502040204020203" pitchFamily="34" charset="0"/>
              </a:rPr>
              <a:t>and more</a:t>
            </a:r>
            <a:r>
              <a:rPr lang="tr-TR" sz="1800" dirty="0">
                <a:solidFill>
                  <a:schemeClr val="bg1"/>
                </a:solidFill>
                <a:latin typeface="Bahnschrift SemiCondensed" panose="020B0502040204020203" pitchFamily="34" charset="0"/>
              </a:rPr>
              <a:t> </a:t>
            </a:r>
            <a:r>
              <a:rPr lang="tr-TR" sz="1800" dirty="0" err="1" smtClean="0">
                <a:solidFill>
                  <a:schemeClr val="bg1"/>
                </a:solidFill>
                <a:latin typeface="Bahnschrift SemiCondensed" panose="020B0502040204020203" pitchFamily="34" charset="0"/>
              </a:rPr>
              <a:t>according</a:t>
            </a:r>
            <a:r>
              <a:rPr lang="tr-TR" sz="1800" dirty="0" smtClean="0">
                <a:solidFill>
                  <a:schemeClr val="bg1"/>
                </a:solidFill>
                <a:latin typeface="Bahnschrift SemiCondensed" panose="020B0502040204020203" pitchFamily="34" charset="0"/>
              </a:rPr>
              <a:t> </a:t>
            </a:r>
            <a:r>
              <a:rPr lang="tr-TR" sz="1800" dirty="0" err="1" smtClean="0">
                <a:solidFill>
                  <a:schemeClr val="bg1"/>
                </a:solidFill>
                <a:latin typeface="Bahnschrift SemiCondensed" panose="020B0502040204020203" pitchFamily="34" charset="0"/>
              </a:rPr>
              <a:t>to</a:t>
            </a:r>
            <a:r>
              <a:rPr lang="tr-TR" sz="1800" dirty="0" smtClean="0">
                <a:solidFill>
                  <a:schemeClr val="bg1"/>
                </a:solidFill>
                <a:latin typeface="Bahnschrift SemiCondensed" panose="020B0502040204020203" pitchFamily="34" charset="0"/>
              </a:rPr>
              <a:t> </a:t>
            </a:r>
            <a:r>
              <a:rPr lang="tr-TR" sz="1800" dirty="0" err="1" smtClean="0">
                <a:solidFill>
                  <a:schemeClr val="bg1"/>
                </a:solidFill>
                <a:latin typeface="Bahnschrift SemiCondensed" panose="020B0502040204020203" pitchFamily="34" charset="0"/>
              </a:rPr>
              <a:t>it’s</a:t>
            </a:r>
            <a:r>
              <a:rPr lang="tr-TR" sz="1800" dirty="0" smtClean="0">
                <a:solidFill>
                  <a:schemeClr val="bg1"/>
                </a:solidFill>
                <a:latin typeface="Bahnschrift SemiCondensed" panose="020B0502040204020203" pitchFamily="34" charset="0"/>
              </a:rPr>
              <a:t> </a:t>
            </a:r>
            <a:r>
              <a:rPr lang="tr-TR" sz="1800" dirty="0" err="1" smtClean="0">
                <a:solidFill>
                  <a:schemeClr val="bg1"/>
                </a:solidFill>
                <a:latin typeface="Bahnschrift SemiCondensed" panose="020B0502040204020203" pitchFamily="34" charset="0"/>
              </a:rPr>
              <a:t>types</a:t>
            </a:r>
            <a:r>
              <a:rPr lang="tr-TR" sz="1800" dirty="0" smtClean="0">
                <a:solidFill>
                  <a:schemeClr val="bg1"/>
                </a:solidFill>
                <a:latin typeface="Bahnschrift SemiCondensed" panose="020B0502040204020203" pitchFamily="34" charset="0"/>
              </a:rPr>
              <a:t>.</a:t>
            </a:r>
          </a:p>
          <a:p>
            <a:pPr marL="0" indent="0">
              <a:buNone/>
            </a:pPr>
            <a:r>
              <a:rPr lang="tr-TR" sz="1800" dirty="0" err="1" smtClean="0">
                <a:solidFill>
                  <a:srgbClr val="FF9900"/>
                </a:solidFill>
                <a:latin typeface="Bahnschrift SemiCondensed" panose="020B0502040204020203" pitchFamily="34" charset="0"/>
              </a:rPr>
              <a:t>Speed</a:t>
            </a:r>
            <a:r>
              <a:rPr lang="tr-TR" sz="1800" dirty="0" smtClean="0">
                <a:solidFill>
                  <a:srgbClr val="FF9900"/>
                </a:solidFill>
                <a:latin typeface="Bahnschrift SemiCondensed" panose="020B0502040204020203" pitchFamily="34" charset="0"/>
              </a:rPr>
              <a:t>: </a:t>
            </a:r>
            <a:r>
              <a:rPr lang="en-US" sz="1800" dirty="0" smtClean="0">
                <a:solidFill>
                  <a:schemeClr val="bg1"/>
                </a:solidFill>
                <a:latin typeface="Bahnschrift SemiCondensed" panose="020B0502040204020203" pitchFamily="34" charset="0"/>
              </a:rPr>
              <a:t>The slowest of all of the storage media from which to access data</a:t>
            </a:r>
            <a:r>
              <a:rPr lang="tr-TR" sz="1800" dirty="0" smtClean="0">
                <a:solidFill>
                  <a:schemeClr val="bg1"/>
                </a:solidFill>
                <a:latin typeface="Bahnschrift SemiCondensed" panose="020B0502040204020203" pitchFamily="34" charset="0"/>
              </a:rPr>
              <a:t>.</a:t>
            </a:r>
          </a:p>
          <a:p>
            <a:pPr marL="0" indent="0">
              <a:buNone/>
            </a:pPr>
            <a:r>
              <a:rPr lang="tr-TR" sz="1800" dirty="0" err="1" smtClean="0">
                <a:solidFill>
                  <a:srgbClr val="FF9900"/>
                </a:solidFill>
                <a:latin typeface="Bahnschrift SemiCondensed" panose="020B0502040204020203" pitchFamily="34" charset="0"/>
              </a:rPr>
              <a:t>Portability</a:t>
            </a:r>
            <a:r>
              <a:rPr lang="tr-TR" sz="1800" dirty="0" smtClean="0">
                <a:solidFill>
                  <a:srgbClr val="FF9900"/>
                </a:solidFill>
                <a:latin typeface="Bahnschrift SemiCondensed" panose="020B0502040204020203" pitchFamily="34" charset="0"/>
              </a:rPr>
              <a:t>: </a:t>
            </a:r>
            <a:r>
              <a:rPr lang="en-US" sz="1800" dirty="0" smtClean="0">
                <a:solidFill>
                  <a:schemeClr val="bg1"/>
                </a:solidFill>
                <a:latin typeface="Bahnschrift SemiCondensed" panose="020B0502040204020203" pitchFamily="34" charset="0"/>
              </a:rPr>
              <a:t>The </a:t>
            </a:r>
            <a:r>
              <a:rPr lang="en-US" sz="1800" dirty="0">
                <a:solidFill>
                  <a:schemeClr val="bg1"/>
                </a:solidFill>
                <a:latin typeface="Bahnschrift SemiCondensed" panose="020B0502040204020203" pitchFamily="34" charset="0"/>
              </a:rPr>
              <a:t>magnetic tape itself is fairly small and would fit into a pocket or bag. However, in order to be read, an external tape drive is required. Thus, this form of storage is not considered to be very portable</a:t>
            </a:r>
            <a:r>
              <a:rPr lang="en-US" sz="1800" dirty="0" smtClean="0">
                <a:solidFill>
                  <a:schemeClr val="bg1"/>
                </a:solidFill>
                <a:latin typeface="Bahnschrift SemiCondensed" panose="020B0502040204020203" pitchFamily="34" charset="0"/>
              </a:rPr>
              <a:t>.</a:t>
            </a:r>
            <a:endParaRPr lang="tr-TR" sz="1800" dirty="0" smtClean="0">
              <a:solidFill>
                <a:schemeClr val="bg1"/>
              </a:solidFill>
              <a:latin typeface="Bahnschrift SemiCondensed" panose="020B0502040204020203" pitchFamily="34" charset="0"/>
            </a:endParaRPr>
          </a:p>
          <a:p>
            <a:pPr marL="0" indent="0">
              <a:buNone/>
            </a:pPr>
            <a:r>
              <a:rPr lang="tr-TR" sz="1800" dirty="0" err="1" smtClean="0">
                <a:solidFill>
                  <a:srgbClr val="FF9900"/>
                </a:solidFill>
                <a:latin typeface="Bahnschrift SemiCondensed" panose="020B0502040204020203" pitchFamily="34" charset="0"/>
              </a:rPr>
              <a:t>Durability</a:t>
            </a:r>
            <a:r>
              <a:rPr lang="tr-TR" sz="1800" dirty="0" smtClean="0">
                <a:solidFill>
                  <a:srgbClr val="FF9900"/>
                </a:solidFill>
                <a:latin typeface="Bahnschrift SemiCondensed" panose="020B0502040204020203" pitchFamily="34" charset="0"/>
              </a:rPr>
              <a:t>: </a:t>
            </a:r>
            <a:r>
              <a:rPr lang="en-US" sz="1800" dirty="0" smtClean="0">
                <a:solidFill>
                  <a:schemeClr val="bg1"/>
                </a:solidFill>
                <a:latin typeface="Bahnschrift SemiCondensed" panose="020B0502040204020203" pitchFamily="34" charset="0"/>
              </a:rPr>
              <a:t>Although </a:t>
            </a:r>
            <a:r>
              <a:rPr lang="en-US" sz="1800" dirty="0">
                <a:solidFill>
                  <a:schemeClr val="bg1"/>
                </a:solidFill>
                <a:latin typeface="Bahnschrift SemiCondensed" panose="020B0502040204020203" pitchFamily="34" charset="0"/>
              </a:rPr>
              <a:t>data can be saved to and erased from the tape many times, each tape does have a limited life span and eventually the quality of the data storage will decline. However if a tape is only used once for archiving, then it will last many years, typically </a:t>
            </a:r>
            <a:r>
              <a:rPr lang="tr-TR" sz="1800" dirty="0" smtClean="0">
                <a:solidFill>
                  <a:schemeClr val="bg1"/>
                </a:solidFill>
                <a:latin typeface="Bahnschrift SemiCondensed" panose="020B0502040204020203" pitchFamily="34" charset="0"/>
              </a:rPr>
              <a:t>30-50</a:t>
            </a:r>
            <a:r>
              <a:rPr lang="en-US" sz="1800" dirty="0" smtClean="0">
                <a:solidFill>
                  <a:schemeClr val="bg1"/>
                </a:solidFill>
                <a:latin typeface="Bahnschrift SemiCondensed" panose="020B0502040204020203" pitchFamily="34" charset="0"/>
              </a:rPr>
              <a:t> years.</a:t>
            </a:r>
            <a:endParaRPr lang="tr-TR" sz="1800" dirty="0" smtClean="0">
              <a:solidFill>
                <a:schemeClr val="bg1"/>
              </a:solidFill>
              <a:latin typeface="Bahnschrift SemiCondensed" panose="020B0502040204020203" pitchFamily="34" charset="0"/>
            </a:endParaRPr>
          </a:p>
          <a:p>
            <a:pPr marL="0" indent="0">
              <a:buNone/>
            </a:pPr>
            <a:r>
              <a:rPr lang="tr-TR" sz="1800" dirty="0" err="1" smtClean="0">
                <a:solidFill>
                  <a:srgbClr val="FF9900"/>
                </a:solidFill>
                <a:latin typeface="Bahnschrift SemiCondensed" panose="020B0502040204020203" pitchFamily="34" charset="0"/>
              </a:rPr>
              <a:t>Reliability</a:t>
            </a:r>
            <a:r>
              <a:rPr lang="tr-TR" sz="1800" dirty="0" smtClean="0">
                <a:solidFill>
                  <a:srgbClr val="FF9900"/>
                </a:solidFill>
                <a:latin typeface="Bahnschrift SemiCondensed" panose="020B0502040204020203" pitchFamily="34" charset="0"/>
              </a:rPr>
              <a:t>: </a:t>
            </a:r>
            <a:r>
              <a:rPr lang="en-US" sz="1800" dirty="0" smtClean="0">
                <a:solidFill>
                  <a:schemeClr val="bg1"/>
                </a:solidFill>
                <a:latin typeface="Bahnschrift SemiCondensed" panose="020B0502040204020203" pitchFamily="34" charset="0"/>
              </a:rPr>
              <a:t>As </a:t>
            </a:r>
            <a:r>
              <a:rPr lang="en-US" sz="1800" dirty="0">
                <a:solidFill>
                  <a:schemeClr val="bg1"/>
                </a:solidFill>
                <a:latin typeface="Bahnschrift SemiCondensed" panose="020B0502040204020203" pitchFamily="34" charset="0"/>
              </a:rPr>
              <a:t>long as it is not damaged, a magnetic tape is very reliable method of data storage.</a:t>
            </a:r>
          </a:p>
          <a:p>
            <a:pPr marL="0" indent="0">
              <a:buNone/>
            </a:pPr>
            <a:endParaRPr lang="tr-TR" sz="1800" dirty="0">
              <a:solidFill>
                <a:schemeClr val="bg1"/>
              </a:solidFill>
              <a:latin typeface="Bahnschrift SemiCondensed" panose="020B0502040204020203" pitchFamily="34" charset="0"/>
            </a:endParaRPr>
          </a:p>
        </p:txBody>
      </p:sp>
    </p:spTree>
    <p:extLst>
      <p:ext uri="{BB962C8B-B14F-4D97-AF65-F5344CB8AC3E}">
        <p14:creationId xmlns:p14="http://schemas.microsoft.com/office/powerpoint/2010/main" xmlns="" val="29398209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up 13"/>
          <p:cNvGrpSpPr/>
          <p:nvPr/>
        </p:nvGrpSpPr>
        <p:grpSpPr>
          <a:xfrm>
            <a:off x="3868477" y="549275"/>
            <a:ext cx="8323523" cy="6315154"/>
            <a:chOff x="3868477" y="549275"/>
            <a:chExt cx="8323523" cy="6315154"/>
          </a:xfrm>
        </p:grpSpPr>
        <p:sp>
          <p:nvSpPr>
            <p:cNvPr id="15" name="Çapraz Şerit 14"/>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6" name="Çapraz Şerit 15"/>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7" name="Yarım Çerçeve 16"/>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a:solidFill>
                  <a:srgbClr val="FFCC00"/>
                </a:solidFill>
                <a:latin typeface="Bahnschrift SemiBold SemiConden" panose="020B0502040204020203" pitchFamily="34" charset="0"/>
              </a:rPr>
              <a:t>Attributes</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a:xfrm>
            <a:off x="838200" y="1825625"/>
            <a:ext cx="10515600" cy="2614173"/>
          </a:xfrm>
        </p:spPr>
        <p:txBody>
          <a:bodyPr>
            <a:normAutofit/>
          </a:bodyPr>
          <a:lstStyle/>
          <a:p>
            <a:pPr marL="0" indent="0">
              <a:buNone/>
            </a:pPr>
            <a:r>
              <a:rPr lang="en-US" sz="1600" dirty="0" smtClean="0">
                <a:solidFill>
                  <a:srgbClr val="FF9900"/>
                </a:solidFill>
                <a:latin typeface="Bahnschrift SemiCondensed" panose="020B0502040204020203" pitchFamily="34" charset="0"/>
              </a:rPr>
              <a:t>Length </a:t>
            </a:r>
            <a:r>
              <a:rPr lang="en-US" sz="1600" dirty="0">
                <a:solidFill>
                  <a:srgbClr val="FF9900"/>
                </a:solidFill>
                <a:latin typeface="Bahnschrift SemiCondensed" panose="020B0502040204020203" pitchFamily="34" charset="0"/>
              </a:rPr>
              <a:t>and width of magnetic tape: </a:t>
            </a:r>
            <a:r>
              <a:rPr lang="en-US" sz="1600" dirty="0">
                <a:solidFill>
                  <a:schemeClr val="bg1"/>
                </a:solidFill>
                <a:latin typeface="Bahnschrift SemiCondensed" panose="020B0502040204020203" pitchFamily="34" charset="0"/>
              </a:rPr>
              <a:t>The magnetic tape is commonly 732m long by length and 22mm by </a:t>
            </a:r>
            <a:r>
              <a:rPr lang="en-US" sz="1600" dirty="0" smtClean="0">
                <a:solidFill>
                  <a:schemeClr val="bg1"/>
                </a:solidFill>
                <a:latin typeface="Bahnschrift SemiCondensed" panose="020B0502040204020203" pitchFamily="34" charset="0"/>
              </a:rPr>
              <a:t>width.</a:t>
            </a:r>
            <a:endParaRPr lang="tr-TR" sz="1600" dirty="0" smtClean="0">
              <a:solidFill>
                <a:schemeClr val="bg1"/>
              </a:solidFill>
              <a:latin typeface="Bahnschrift SemiCondensed" panose="020B0502040204020203" pitchFamily="34" charset="0"/>
            </a:endParaRPr>
          </a:p>
          <a:p>
            <a:pPr marL="0" indent="0">
              <a:buNone/>
            </a:pPr>
            <a:r>
              <a:rPr lang="en-US" sz="1600" dirty="0" smtClean="0">
                <a:solidFill>
                  <a:srgbClr val="FF9900"/>
                </a:solidFill>
                <a:latin typeface="Bahnschrift SemiCondensed" panose="020B0502040204020203" pitchFamily="34" charset="0"/>
              </a:rPr>
              <a:t>Magnetic </a:t>
            </a:r>
            <a:r>
              <a:rPr lang="en-US" sz="1600" dirty="0">
                <a:solidFill>
                  <a:srgbClr val="FF9900"/>
                </a:solidFill>
                <a:latin typeface="Bahnschrift SemiCondensed" panose="020B0502040204020203" pitchFamily="34" charset="0"/>
              </a:rPr>
              <a:t>materials: </a:t>
            </a:r>
            <a:r>
              <a:rPr lang="en-US" sz="1600" dirty="0">
                <a:solidFill>
                  <a:schemeClr val="bg1"/>
                </a:solidFill>
                <a:latin typeface="Bahnschrift SemiCondensed" panose="020B0502040204020203" pitchFamily="34" charset="0"/>
              </a:rPr>
              <a:t>The one side of the tape is coated with magnetic material. The magnetized dot represents 1 and demagnetized dot represents </a:t>
            </a:r>
            <a:r>
              <a:rPr lang="en-US" sz="1600" dirty="0" smtClean="0">
                <a:solidFill>
                  <a:schemeClr val="bg1"/>
                </a:solidFill>
                <a:latin typeface="Bahnschrift SemiCondensed" panose="020B0502040204020203" pitchFamily="34" charset="0"/>
              </a:rPr>
              <a:t>0.</a:t>
            </a:r>
            <a:r>
              <a:rPr lang="tr-TR" sz="1600" dirty="0" smtClean="0">
                <a:solidFill>
                  <a:schemeClr val="bg1"/>
                </a:solidFill>
                <a:latin typeface="Bahnschrift SemiCondensed" panose="020B0502040204020203" pitchFamily="34" charset="0"/>
              </a:rPr>
              <a:t> </a:t>
            </a:r>
            <a:r>
              <a:rPr lang="en-US" sz="1600" dirty="0">
                <a:solidFill>
                  <a:schemeClr val="bg1"/>
                </a:solidFill>
                <a:latin typeface="Bahnschrift SemiCondensed" panose="020B0502040204020203" pitchFamily="34" charset="0"/>
              </a:rPr>
              <a:t>The magnetic material used was initially iron oxide, though chromium and other materials have been used in some tapes</a:t>
            </a:r>
            <a:r>
              <a:rPr lang="en-US" sz="1600" dirty="0" smtClean="0">
                <a:solidFill>
                  <a:schemeClr val="bg1"/>
                </a:solidFill>
                <a:latin typeface="Bahnschrift SemiCondensed" panose="020B0502040204020203" pitchFamily="34" charset="0"/>
              </a:rPr>
              <a:t>.</a:t>
            </a:r>
            <a:endParaRPr lang="tr-TR" sz="1600" dirty="0" smtClean="0">
              <a:solidFill>
                <a:schemeClr val="bg1"/>
              </a:solidFill>
              <a:latin typeface="Bahnschrift SemiCondensed" panose="020B0502040204020203" pitchFamily="34" charset="0"/>
            </a:endParaRPr>
          </a:p>
          <a:p>
            <a:pPr marL="0" indent="0">
              <a:buNone/>
            </a:pPr>
            <a:r>
              <a:rPr lang="en-US" sz="1600" dirty="0">
                <a:solidFill>
                  <a:srgbClr val="FF9900"/>
                </a:solidFill>
                <a:latin typeface="Bahnschrift SemiCondensed" panose="020B0502040204020203" pitchFamily="34" charset="0"/>
              </a:rPr>
              <a:t>Frames: </a:t>
            </a:r>
            <a:r>
              <a:rPr lang="en-US" sz="1600" dirty="0">
                <a:solidFill>
                  <a:schemeClr val="bg1"/>
                </a:solidFill>
                <a:latin typeface="Bahnschrift SemiCondensed" panose="020B0502040204020203" pitchFamily="34" charset="0"/>
              </a:rPr>
              <a:t>The vertical divisions of a tape along with length are called frames</a:t>
            </a:r>
            <a:r>
              <a:rPr lang="en-US" sz="1600" dirty="0" smtClean="0">
                <a:solidFill>
                  <a:schemeClr val="bg1"/>
                </a:solidFill>
                <a:latin typeface="Bahnschrift SemiCondensed" panose="020B0502040204020203" pitchFamily="34" charset="0"/>
              </a:rPr>
              <a:t>.</a:t>
            </a:r>
            <a:endParaRPr lang="tr-TR" sz="1600" dirty="0" smtClean="0">
              <a:solidFill>
                <a:schemeClr val="bg1"/>
              </a:solidFill>
              <a:latin typeface="Bahnschrift SemiCondensed" panose="020B0502040204020203" pitchFamily="34" charset="0"/>
            </a:endParaRPr>
          </a:p>
          <a:p>
            <a:pPr marL="0" indent="0">
              <a:buNone/>
            </a:pPr>
            <a:r>
              <a:rPr lang="en-US" sz="1600" dirty="0" smtClean="0">
                <a:solidFill>
                  <a:srgbClr val="FF9900"/>
                </a:solidFill>
                <a:latin typeface="Bahnschrift SemiCondensed" panose="020B0502040204020203" pitchFamily="34" charset="0"/>
              </a:rPr>
              <a:t>Channels </a:t>
            </a:r>
            <a:r>
              <a:rPr lang="en-US" sz="1600" dirty="0">
                <a:solidFill>
                  <a:srgbClr val="FF9900"/>
                </a:solidFill>
                <a:latin typeface="Bahnschrift SemiCondensed" panose="020B0502040204020203" pitchFamily="34" charset="0"/>
              </a:rPr>
              <a:t>or tracks: </a:t>
            </a:r>
            <a:r>
              <a:rPr lang="en-US" sz="1600" dirty="0">
                <a:solidFill>
                  <a:schemeClr val="bg1"/>
                </a:solidFill>
                <a:latin typeface="Bahnschrift SemiCondensed" panose="020B0502040204020203" pitchFamily="34" charset="0"/>
              </a:rPr>
              <a:t>The tape is divided width-wise in rows. These rows are called tracks or </a:t>
            </a:r>
            <a:r>
              <a:rPr lang="en-US" sz="1600" dirty="0" smtClean="0">
                <a:solidFill>
                  <a:schemeClr val="bg1"/>
                </a:solidFill>
                <a:latin typeface="Bahnschrift SemiCondensed" panose="020B0502040204020203" pitchFamily="34" charset="0"/>
              </a:rPr>
              <a:t>channels.</a:t>
            </a:r>
            <a:endParaRPr lang="tr-TR" sz="1600" dirty="0" smtClean="0">
              <a:solidFill>
                <a:schemeClr val="bg1"/>
              </a:solidFill>
              <a:latin typeface="Bahnschrift SemiCondensed" panose="020B0502040204020203" pitchFamily="34" charset="0"/>
            </a:endParaRPr>
          </a:p>
          <a:p>
            <a:pPr marL="0" indent="0">
              <a:buNone/>
            </a:pPr>
            <a:r>
              <a:rPr lang="en-US" sz="1600" dirty="0" smtClean="0">
                <a:solidFill>
                  <a:srgbClr val="FF9900"/>
                </a:solidFill>
                <a:latin typeface="Bahnschrift SemiCondensed" panose="020B0502040204020203" pitchFamily="34" charset="0"/>
              </a:rPr>
              <a:t>Records </a:t>
            </a:r>
            <a:r>
              <a:rPr lang="en-US" sz="1600" dirty="0">
                <a:solidFill>
                  <a:srgbClr val="FF9900"/>
                </a:solidFill>
                <a:latin typeface="Bahnschrift SemiCondensed" panose="020B0502040204020203" pitchFamily="34" charset="0"/>
              </a:rPr>
              <a:t>and blocks: </a:t>
            </a:r>
            <a:r>
              <a:rPr lang="en-US" sz="1600" dirty="0">
                <a:solidFill>
                  <a:schemeClr val="bg1"/>
                </a:solidFill>
                <a:latin typeface="Bahnschrift SemiCondensed" panose="020B0502040204020203" pitchFamily="34" charset="0"/>
              </a:rPr>
              <a:t>The group of data stored and arranged in tape is called records. A group of records is called </a:t>
            </a:r>
            <a:r>
              <a:rPr lang="en-US" sz="1600" dirty="0" smtClean="0">
                <a:solidFill>
                  <a:schemeClr val="bg1"/>
                </a:solidFill>
                <a:latin typeface="Bahnschrift SemiCondensed" panose="020B0502040204020203" pitchFamily="34" charset="0"/>
              </a:rPr>
              <a:t>block</a:t>
            </a:r>
            <a:r>
              <a:rPr lang="tr-TR" sz="1600" dirty="0" smtClean="0">
                <a:solidFill>
                  <a:schemeClr val="bg1"/>
                </a:solidFill>
                <a:latin typeface="Bahnschrift SemiCondensed" panose="020B0502040204020203" pitchFamily="34" charset="0"/>
              </a:rPr>
              <a:t>.</a:t>
            </a:r>
          </a:p>
          <a:p>
            <a:pPr marL="0" indent="0">
              <a:buNone/>
            </a:pPr>
            <a:r>
              <a:rPr lang="tr-TR" sz="1600" dirty="0" err="1" smtClean="0">
                <a:solidFill>
                  <a:srgbClr val="FF9900"/>
                </a:solidFill>
                <a:latin typeface="Bahnschrift SemiCondensed" panose="020B0502040204020203" pitchFamily="34" charset="0"/>
              </a:rPr>
              <a:t>Preservation</a:t>
            </a:r>
            <a:r>
              <a:rPr lang="tr-TR" sz="1600" dirty="0" smtClean="0">
                <a:solidFill>
                  <a:srgbClr val="FF9900"/>
                </a:solidFill>
                <a:latin typeface="Bahnschrift SemiCondensed" panose="020B0502040204020203" pitchFamily="34" charset="0"/>
              </a:rPr>
              <a:t>: </a:t>
            </a:r>
            <a:r>
              <a:rPr lang="en-US" sz="1600" dirty="0">
                <a:solidFill>
                  <a:schemeClr val="bg1"/>
                </a:solidFill>
                <a:latin typeface="Bahnschrift SemiCondensed" panose="020B0502040204020203" pitchFamily="34" charset="0"/>
              </a:rPr>
              <a:t>Magnetic tapes are packaged in both open-reel and cartridge and cassette formats</a:t>
            </a:r>
            <a:r>
              <a:rPr lang="en-US" sz="1600" dirty="0" smtClean="0">
                <a:solidFill>
                  <a:schemeClr val="bg1"/>
                </a:solidFill>
                <a:latin typeface="Bahnschrift SemiCondensed" panose="020B0502040204020203" pitchFamily="34" charset="0"/>
              </a:rPr>
              <a:t>.</a:t>
            </a:r>
            <a:endParaRPr lang="tr-TR" sz="1600" dirty="0" smtClean="0">
              <a:solidFill>
                <a:schemeClr val="bg1"/>
              </a:solidFill>
              <a:latin typeface="Bahnschrift SemiCondensed" panose="020B0502040204020203" pitchFamily="34" charset="0"/>
            </a:endParaRPr>
          </a:p>
        </p:txBody>
      </p:sp>
      <p:grpSp>
        <p:nvGrpSpPr>
          <p:cNvPr id="7" name="Grup 6"/>
          <p:cNvGrpSpPr/>
          <p:nvPr/>
        </p:nvGrpSpPr>
        <p:grpSpPr>
          <a:xfrm>
            <a:off x="2329015" y="4439798"/>
            <a:ext cx="3030878" cy="2055727"/>
            <a:chOff x="2343150" y="4333875"/>
            <a:chExt cx="3286125" cy="2228850"/>
          </a:xfrm>
        </p:grpSpPr>
        <p:sp>
          <p:nvSpPr>
            <p:cNvPr id="6" name="Dikdörtgen 5"/>
            <p:cNvSpPr/>
            <p:nvPr/>
          </p:nvSpPr>
          <p:spPr>
            <a:xfrm>
              <a:off x="2343150" y="4333875"/>
              <a:ext cx="3286125" cy="2228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4" name="Picture 2" descr="https://i0.wp.com/clir.wordpress.clir.org/wp-content/uploads/sites/6/2017/02/figure_1.gif?ssl=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356117" y="4341181"/>
              <a:ext cx="3270901" cy="2208503"/>
            </a:xfrm>
            <a:prstGeom prst="rect">
              <a:avLst/>
            </a:prstGeom>
            <a:noFill/>
            <a:extLst>
              <a:ext uri="{909E8E84-426E-40DD-AFC4-6F175D3DCCD1}">
                <a14:hiddenFill xmlns:a14="http://schemas.microsoft.com/office/drawing/2010/main" xmlns="">
                  <a:solidFill>
                    <a:srgbClr val="FFFFFF"/>
                  </a:solidFill>
                </a14:hiddenFill>
              </a:ext>
            </a:extLst>
          </p:spPr>
        </p:pic>
      </p:grpSp>
      <p:grpSp>
        <p:nvGrpSpPr>
          <p:cNvPr id="13" name="Grup 12"/>
          <p:cNvGrpSpPr/>
          <p:nvPr/>
        </p:nvGrpSpPr>
        <p:grpSpPr>
          <a:xfrm>
            <a:off x="6472046" y="4439799"/>
            <a:ext cx="3335522" cy="2055726"/>
            <a:chOff x="6686550" y="4572000"/>
            <a:chExt cx="2906513" cy="1791323"/>
          </a:xfrm>
        </p:grpSpPr>
        <p:sp>
          <p:nvSpPr>
            <p:cNvPr id="12" name="Dikdörtgen 11"/>
            <p:cNvSpPr/>
            <p:nvPr/>
          </p:nvSpPr>
          <p:spPr>
            <a:xfrm>
              <a:off x="6686550" y="4572000"/>
              <a:ext cx="2905125" cy="17913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5" name="İçerik Yer Tutucusu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6690804" y="4572684"/>
              <a:ext cx="2902259" cy="1790639"/>
            </a:xfrm>
            <a:prstGeom prst="rect">
              <a:avLst/>
            </a:prstGeom>
          </p:spPr>
        </p:pic>
      </p:grpSp>
    </p:spTree>
    <p:extLst>
      <p:ext uri="{BB962C8B-B14F-4D97-AF65-F5344CB8AC3E}">
        <p14:creationId xmlns:p14="http://schemas.microsoft.com/office/powerpoint/2010/main" xmlns="" val="6382110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 8"/>
          <p:cNvGrpSpPr/>
          <p:nvPr/>
        </p:nvGrpSpPr>
        <p:grpSpPr>
          <a:xfrm>
            <a:off x="3868477" y="549275"/>
            <a:ext cx="8323523" cy="6315154"/>
            <a:chOff x="3868477" y="549275"/>
            <a:chExt cx="8323523" cy="6315154"/>
          </a:xfrm>
        </p:grpSpPr>
        <p:sp>
          <p:nvSpPr>
            <p:cNvPr id="10" name="Çapraz Şerit 9"/>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1" name="Çapraz Şerit 10"/>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2" name="Yarım Çerçeve 11"/>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smtClean="0">
                <a:solidFill>
                  <a:srgbClr val="FFCC00"/>
                </a:solidFill>
                <a:latin typeface="Bahnschrift SemiBold SemiConden" panose="020B0502040204020203" pitchFamily="34" charset="0"/>
              </a:rPr>
              <a:t>Reading</a:t>
            </a:r>
            <a:endParaRPr lang="tr-TR" dirty="0">
              <a:solidFill>
                <a:schemeClr val="bg1"/>
              </a:solidFill>
            </a:endParaRPr>
          </a:p>
        </p:txBody>
      </p:sp>
      <p:pic>
        <p:nvPicPr>
          <p:cNvPr id="7" name="Resim 6"/>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868474" y="1440209"/>
            <a:ext cx="4455052" cy="3892866"/>
          </a:xfrm>
          <a:prstGeom prst="rect">
            <a:avLst/>
          </a:prstGeom>
        </p:spPr>
      </p:pic>
      <p:sp>
        <p:nvSpPr>
          <p:cNvPr id="3" name="Metin kutusu 2"/>
          <p:cNvSpPr txBox="1"/>
          <p:nvPr/>
        </p:nvSpPr>
        <p:spPr>
          <a:xfrm>
            <a:off x="1821401" y="5714766"/>
            <a:ext cx="8549198" cy="369332"/>
          </a:xfrm>
          <a:prstGeom prst="rect">
            <a:avLst/>
          </a:prstGeom>
          <a:noFill/>
        </p:spPr>
        <p:txBody>
          <a:bodyPr wrap="square" rtlCol="0">
            <a:spAutoFit/>
          </a:bodyPr>
          <a:lstStyle/>
          <a:p>
            <a:pPr algn="ctr"/>
            <a:r>
              <a:rPr lang="en-US" dirty="0">
                <a:solidFill>
                  <a:schemeClr val="bg1"/>
                </a:solidFill>
                <a:latin typeface="Bahnschrift SemiCondensed" panose="020B0502040204020203" pitchFamily="34" charset="0"/>
              </a:rPr>
              <a:t>As the tape passes the head, bits of data are read from or written onto </a:t>
            </a:r>
            <a:r>
              <a:rPr lang="en-US" dirty="0" smtClean="0">
                <a:solidFill>
                  <a:schemeClr val="bg1"/>
                </a:solidFill>
                <a:latin typeface="Bahnschrift SemiCondensed" panose="020B0502040204020203" pitchFamily="34" charset="0"/>
              </a:rPr>
              <a:t>the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tape</a:t>
            </a:r>
            <a:r>
              <a:rPr lang="tr-TR" dirty="0">
                <a:solidFill>
                  <a:schemeClr val="bg1"/>
                </a:solidFill>
                <a:latin typeface="Bahnschrift SemiCondensed" panose="020B0502040204020203" pitchFamily="34" charset="0"/>
              </a:rPr>
              <a:t>.</a:t>
            </a:r>
          </a:p>
        </p:txBody>
      </p:sp>
    </p:spTree>
    <p:extLst>
      <p:ext uri="{BB962C8B-B14F-4D97-AF65-F5344CB8AC3E}">
        <p14:creationId xmlns:p14="http://schemas.microsoft.com/office/powerpoint/2010/main" xmlns="" val="32420629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up 14"/>
          <p:cNvGrpSpPr/>
          <p:nvPr/>
        </p:nvGrpSpPr>
        <p:grpSpPr>
          <a:xfrm>
            <a:off x="3868477" y="549275"/>
            <a:ext cx="8323523" cy="6315154"/>
            <a:chOff x="3868477" y="549275"/>
            <a:chExt cx="8323523" cy="6315154"/>
          </a:xfrm>
        </p:grpSpPr>
        <p:sp>
          <p:nvSpPr>
            <p:cNvPr id="16" name="Çapraz Şerit 15"/>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7" name="Çapraz Şerit 16"/>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8" name="Yarım Çerçeve 17"/>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a:solidFill>
                  <a:srgbClr val="FFCC00"/>
                </a:solidFill>
                <a:latin typeface="Bahnschrift SemiBold SemiConden" panose="020B0502040204020203" pitchFamily="34" charset="0"/>
              </a:rPr>
              <a:t>Reading</a:t>
            </a:r>
            <a:endParaRPr lang="tr-TR" dirty="0">
              <a:solidFill>
                <a:schemeClr val="bg1"/>
              </a:solidFill>
            </a:endParaRPr>
          </a:p>
        </p:txBody>
      </p:sp>
      <p:sp>
        <p:nvSpPr>
          <p:cNvPr id="3" name="İçerik Yer Tutucusu 2"/>
          <p:cNvSpPr>
            <a:spLocks noGrp="1"/>
          </p:cNvSpPr>
          <p:nvPr>
            <p:ph idx="1"/>
          </p:nvPr>
        </p:nvSpPr>
        <p:spPr>
          <a:xfrm>
            <a:off x="838200" y="1836882"/>
            <a:ext cx="8181513" cy="1281559"/>
          </a:xfrm>
        </p:spPr>
        <p:txBody>
          <a:bodyPr>
            <a:normAutofit/>
          </a:bodyPr>
          <a:lstStyle/>
          <a:p>
            <a:pPr marL="0" indent="0">
              <a:buNone/>
            </a:pPr>
            <a:r>
              <a:rPr lang="en-US" sz="2400" dirty="0" smtClean="0">
                <a:solidFill>
                  <a:schemeClr val="bg1"/>
                </a:solidFill>
                <a:latin typeface="Bahnschrift SemiCondensed" panose="020B0502040204020203" pitchFamily="34" charset="0"/>
              </a:rPr>
              <a:t>An </a:t>
            </a:r>
            <a:r>
              <a:rPr lang="en-US" sz="2400" dirty="0">
                <a:solidFill>
                  <a:schemeClr val="bg1"/>
                </a:solidFill>
                <a:latin typeface="Bahnschrift SemiCondensed" panose="020B0502040204020203" pitchFamily="34" charset="0"/>
              </a:rPr>
              <a:t>electric current in a coil of wire produces a magnetic field similar to that of a bar magnet, and that field is much stronger if the coil has a ferromagnetic </a:t>
            </a:r>
            <a:r>
              <a:rPr lang="en-US" sz="2400" dirty="0" smtClean="0">
                <a:solidFill>
                  <a:schemeClr val="bg1"/>
                </a:solidFill>
                <a:latin typeface="Bahnschrift SemiCondensed" panose="020B0502040204020203" pitchFamily="34" charset="0"/>
              </a:rPr>
              <a:t>core</a:t>
            </a:r>
            <a:r>
              <a:rPr lang="en-US" sz="2400" dirty="0">
                <a:solidFill>
                  <a:schemeClr val="bg1"/>
                </a:solidFill>
                <a:latin typeface="Bahnschrift SemiCondensed" panose="020B0502040204020203" pitchFamily="34" charset="0"/>
              </a:rPr>
              <a:t>.</a:t>
            </a:r>
            <a:endParaRPr lang="tr-TR" sz="2400" dirty="0">
              <a:solidFill>
                <a:schemeClr val="bg1"/>
              </a:solidFill>
              <a:latin typeface="Bahnschrift SemiCondensed" panose="020B0502040204020203" pitchFamily="34" charset="0"/>
            </a:endParaRPr>
          </a:p>
        </p:txBody>
      </p:sp>
      <p:sp>
        <p:nvSpPr>
          <p:cNvPr id="4" name="İçerik Yer Tutucusu 2"/>
          <p:cNvSpPr txBox="1">
            <a:spLocks/>
          </p:cNvSpPr>
          <p:nvPr/>
        </p:nvSpPr>
        <p:spPr>
          <a:xfrm>
            <a:off x="4279036" y="3582561"/>
            <a:ext cx="7395099" cy="31023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bg1"/>
                </a:solidFill>
                <a:latin typeface="Bahnschrift SemiCondensed" panose="020B0502040204020203" pitchFamily="34" charset="0"/>
              </a:rPr>
              <a:t>Tape heads are made from rings of ferromagnetic material with a gap where the tape </a:t>
            </a:r>
            <a:r>
              <a:rPr lang="en-US" sz="2400" dirty="0" err="1" smtClean="0">
                <a:solidFill>
                  <a:schemeClr val="bg1"/>
                </a:solidFill>
                <a:latin typeface="Bahnschrift SemiCondensed" panose="020B0502040204020203" pitchFamily="34" charset="0"/>
              </a:rPr>
              <a:t>conta</a:t>
            </a:r>
            <a:r>
              <a:rPr lang="tr-TR" sz="2400" dirty="0" err="1" smtClean="0">
                <a:solidFill>
                  <a:schemeClr val="bg1"/>
                </a:solidFill>
                <a:latin typeface="Bahnschrift SemiCondensed" panose="020B0502040204020203" pitchFamily="34" charset="0"/>
              </a:rPr>
              <a:t>ct</a:t>
            </a:r>
            <a:r>
              <a:rPr lang="en-US" sz="2400" dirty="0" smtClean="0">
                <a:solidFill>
                  <a:schemeClr val="bg1"/>
                </a:solidFill>
                <a:latin typeface="Bahnschrift SemiCondensed" panose="020B0502040204020203" pitchFamily="34" charset="0"/>
              </a:rPr>
              <a:t>s </a:t>
            </a:r>
            <a:r>
              <a:rPr lang="en-US" sz="2400" dirty="0">
                <a:solidFill>
                  <a:schemeClr val="bg1"/>
                </a:solidFill>
                <a:latin typeface="Bahnschrift SemiCondensed" panose="020B0502040204020203" pitchFamily="34" charset="0"/>
              </a:rPr>
              <a:t>it so the magnetic field can fringe out to magnetize the emulsion on the tape. A coil of wire around the ring carries the current to produce a magnetic field proportional to the signal to be recorded. If an already magnetized tape is passed beneath the head, it can induce a voltage in the coil. Thus the same head can be used for recording and playback.</a:t>
            </a:r>
            <a:endParaRPr lang="tr-TR" sz="2400" dirty="0">
              <a:solidFill>
                <a:schemeClr val="bg1"/>
              </a:solidFill>
              <a:latin typeface="Bahnschrift SemiCondensed" panose="020B0502040204020203" pitchFamily="34" charset="0"/>
            </a:endParaRPr>
          </a:p>
        </p:txBody>
      </p:sp>
      <p:grpSp>
        <p:nvGrpSpPr>
          <p:cNvPr id="9" name="Grup 8"/>
          <p:cNvGrpSpPr/>
          <p:nvPr/>
        </p:nvGrpSpPr>
        <p:grpSpPr>
          <a:xfrm>
            <a:off x="8968434" y="1352550"/>
            <a:ext cx="2571750" cy="2230011"/>
            <a:chOff x="8968434" y="1352550"/>
            <a:chExt cx="2571750" cy="2230011"/>
          </a:xfrm>
        </p:grpSpPr>
        <p:sp>
          <p:nvSpPr>
            <p:cNvPr id="8" name="Dikdörtgen 7"/>
            <p:cNvSpPr/>
            <p:nvPr/>
          </p:nvSpPr>
          <p:spPr>
            <a:xfrm>
              <a:off x="8968435" y="1352550"/>
              <a:ext cx="2556816" cy="22300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5" name="Resim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968434" y="1372761"/>
              <a:ext cx="2571750" cy="2209800"/>
            </a:xfrm>
            <a:prstGeom prst="rect">
              <a:avLst/>
            </a:prstGeom>
          </p:spPr>
        </p:pic>
      </p:grpSp>
      <p:grpSp>
        <p:nvGrpSpPr>
          <p:cNvPr id="11" name="Grup 10"/>
          <p:cNvGrpSpPr/>
          <p:nvPr/>
        </p:nvGrpSpPr>
        <p:grpSpPr>
          <a:xfrm>
            <a:off x="457200" y="3552825"/>
            <a:ext cx="3781425" cy="2390775"/>
            <a:chOff x="571500" y="3457575"/>
            <a:chExt cx="3781425" cy="2390775"/>
          </a:xfrm>
        </p:grpSpPr>
        <p:sp>
          <p:nvSpPr>
            <p:cNvPr id="10" name="Dikdörtgen 9"/>
            <p:cNvSpPr/>
            <p:nvPr/>
          </p:nvSpPr>
          <p:spPr>
            <a:xfrm>
              <a:off x="571500" y="3457575"/>
              <a:ext cx="3781425" cy="2390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latin typeface="Bahnschrift SemiCondensed" panose="020B0502040204020203" pitchFamily="34" charset="0"/>
              </a:endParaRPr>
            </a:p>
          </p:txBody>
        </p:sp>
        <p:pic>
          <p:nvPicPr>
            <p:cNvPr id="6" name="Resim 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84732" y="3471169"/>
              <a:ext cx="3766474" cy="2376840"/>
            </a:xfrm>
            <a:prstGeom prst="rect">
              <a:avLst/>
            </a:prstGeom>
          </p:spPr>
        </p:pic>
      </p:grpSp>
    </p:spTree>
    <p:extLst>
      <p:ext uri="{BB962C8B-B14F-4D97-AF65-F5344CB8AC3E}">
        <p14:creationId xmlns:p14="http://schemas.microsoft.com/office/powerpoint/2010/main" xmlns="" val="33919968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up 23"/>
          <p:cNvGrpSpPr/>
          <p:nvPr/>
        </p:nvGrpSpPr>
        <p:grpSpPr>
          <a:xfrm>
            <a:off x="3868477" y="549275"/>
            <a:ext cx="8323523" cy="6315154"/>
            <a:chOff x="3868477" y="549275"/>
            <a:chExt cx="8323523" cy="6315154"/>
          </a:xfrm>
        </p:grpSpPr>
        <p:sp>
          <p:nvSpPr>
            <p:cNvPr id="25" name="Çapraz Şerit 24"/>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26" name="Çapraz Şerit 25"/>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27" name="Yarım Çerçeve 26"/>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Types</a:t>
            </a:r>
            <a:r>
              <a:rPr lang="tr-TR" dirty="0" smtClean="0">
                <a:solidFill>
                  <a:srgbClr val="FFCC00"/>
                </a:solidFill>
                <a:latin typeface="Bahnschrift SemiBold SemiConden" panose="020B0502040204020203" pitchFamily="34" charset="0"/>
              </a:rPr>
              <a:t>: </a:t>
            </a:r>
            <a:r>
              <a:rPr lang="tr-TR" dirty="0" err="1" smtClean="0">
                <a:solidFill>
                  <a:srgbClr val="FFCC00"/>
                </a:solidFill>
                <a:latin typeface="Bahnschrift SemiBold SemiConden" panose="020B0502040204020203" pitchFamily="34" charset="0"/>
              </a:rPr>
              <a:t>Audio</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a:xfrm>
            <a:off x="838200" y="1481842"/>
            <a:ext cx="10515600" cy="3279035"/>
          </a:xfrm>
        </p:spPr>
        <p:txBody>
          <a:bodyPr>
            <a:normAutofit/>
          </a:bodyPr>
          <a:lstStyle/>
          <a:p>
            <a:pPr marL="0" indent="0">
              <a:buNone/>
            </a:pPr>
            <a:r>
              <a:rPr lang="en-US" sz="2000" dirty="0">
                <a:solidFill>
                  <a:srgbClr val="FF9900"/>
                </a:solidFill>
                <a:latin typeface="Bahnschrift SemiCondensed" panose="020B0502040204020203" pitchFamily="34" charset="0"/>
              </a:rPr>
              <a:t>The Compact </a:t>
            </a:r>
            <a:r>
              <a:rPr lang="en-US" sz="2000" dirty="0" smtClean="0">
                <a:solidFill>
                  <a:srgbClr val="FF9900"/>
                </a:solidFill>
                <a:latin typeface="Bahnschrift SemiCondensed" panose="020B0502040204020203" pitchFamily="34" charset="0"/>
              </a:rPr>
              <a:t>Cassette</a:t>
            </a:r>
            <a:r>
              <a:rPr lang="tr-TR" sz="2000" dirty="0">
                <a:solidFill>
                  <a:srgbClr val="FF9900"/>
                </a:solidFill>
                <a:latin typeface="Bahnschrift SemiCondensed" panose="020B0502040204020203" pitchFamily="34" charset="0"/>
              </a:rPr>
              <a:t> </a:t>
            </a:r>
            <a:r>
              <a:rPr lang="tr-TR" sz="2000" dirty="0" smtClean="0">
                <a:solidFill>
                  <a:srgbClr val="FF9900"/>
                </a:solidFill>
                <a:latin typeface="Bahnschrift SemiCondensed" panose="020B0502040204020203" pitchFamily="34" charset="0"/>
              </a:rPr>
              <a:t>(aka </a:t>
            </a:r>
            <a:r>
              <a:rPr lang="tr-TR" sz="2000" dirty="0" err="1" smtClean="0">
                <a:solidFill>
                  <a:srgbClr val="FF9900"/>
                </a:solidFill>
                <a:latin typeface="Bahnschrift SemiCondensed" panose="020B0502040204020203" pitchFamily="34" charset="0"/>
              </a:rPr>
              <a:t>Cassette</a:t>
            </a:r>
            <a:r>
              <a:rPr lang="tr-TR" sz="2000" dirty="0" smtClean="0">
                <a:solidFill>
                  <a:srgbClr val="FF9900"/>
                </a:solidFill>
                <a:latin typeface="Bahnschrift SemiCondensed" panose="020B0502040204020203" pitchFamily="34" charset="0"/>
              </a:rPr>
              <a:t>): </a:t>
            </a:r>
            <a:r>
              <a:rPr lang="tr-TR" sz="2000" dirty="0" smtClean="0">
                <a:solidFill>
                  <a:schemeClr val="bg1"/>
                </a:solidFill>
                <a:latin typeface="Bahnschrift SemiCondensed" panose="020B0502040204020203" pitchFamily="34" charset="0"/>
              </a:rPr>
              <a:t>A</a:t>
            </a:r>
            <a:r>
              <a:rPr lang="en-US" sz="2000" dirty="0" err="1" smtClean="0">
                <a:solidFill>
                  <a:schemeClr val="bg1"/>
                </a:solidFill>
                <a:latin typeface="Bahnschrift SemiCondensed" panose="020B0502040204020203" pitchFamily="34" charset="0"/>
              </a:rPr>
              <a:t>nalog</a:t>
            </a:r>
            <a:r>
              <a:rPr lang="en-US" sz="2000" dirty="0" smtClean="0">
                <a:solidFill>
                  <a:schemeClr val="bg1"/>
                </a:solidFill>
                <a:latin typeface="Bahnschrift SemiCondensed" panose="020B0502040204020203" pitchFamily="34" charset="0"/>
              </a:rPr>
              <a:t> </a:t>
            </a:r>
            <a:r>
              <a:rPr lang="en-US" sz="2000" dirty="0">
                <a:solidFill>
                  <a:schemeClr val="bg1"/>
                </a:solidFill>
                <a:latin typeface="Bahnschrift SemiCondensed" panose="020B0502040204020203" pitchFamily="34" charset="0"/>
              </a:rPr>
              <a:t>magnetic tape recording format for audio recording and playback. It was developed by </a:t>
            </a:r>
            <a:r>
              <a:rPr lang="en-US" sz="2000" dirty="0" smtClean="0">
                <a:solidFill>
                  <a:schemeClr val="bg1"/>
                </a:solidFill>
                <a:latin typeface="Bahnschrift SemiCondensed" panose="020B0502040204020203" pitchFamily="34" charset="0"/>
              </a:rPr>
              <a:t>Philips, and </a:t>
            </a:r>
            <a:r>
              <a:rPr lang="en-US" sz="2000" dirty="0">
                <a:solidFill>
                  <a:schemeClr val="bg1"/>
                </a:solidFill>
                <a:latin typeface="Bahnschrift SemiCondensed" panose="020B0502040204020203" pitchFamily="34" charset="0"/>
              </a:rPr>
              <a:t>introduced in </a:t>
            </a:r>
            <a:r>
              <a:rPr lang="en-US" sz="2000" dirty="0" smtClean="0">
                <a:solidFill>
                  <a:schemeClr val="bg1"/>
                </a:solidFill>
                <a:latin typeface="Bahnschrift SemiCondensed" panose="020B0502040204020203" pitchFamily="34" charset="0"/>
              </a:rPr>
              <a:t>1963.</a:t>
            </a:r>
            <a:endParaRPr lang="tr-TR" sz="2000" dirty="0" smtClean="0">
              <a:solidFill>
                <a:schemeClr val="bg1"/>
              </a:solidFill>
              <a:latin typeface="Bahnschrift SemiCondensed" panose="020B0502040204020203" pitchFamily="34" charset="0"/>
            </a:endParaRPr>
          </a:p>
          <a:p>
            <a:pPr marL="0" indent="0">
              <a:buNone/>
            </a:pPr>
            <a:r>
              <a:rPr lang="en-US" sz="2000" dirty="0">
                <a:solidFill>
                  <a:srgbClr val="FF9900"/>
                </a:solidFill>
                <a:latin typeface="Bahnschrift SemiCondensed" panose="020B0502040204020203" pitchFamily="34" charset="0"/>
              </a:rPr>
              <a:t>Digital Audio Tape (DAT or </a:t>
            </a:r>
            <a:r>
              <a:rPr lang="en-US" sz="2000" dirty="0" smtClean="0">
                <a:solidFill>
                  <a:srgbClr val="FF9900"/>
                </a:solidFill>
                <a:latin typeface="Bahnschrift SemiCondensed" panose="020B0502040204020203" pitchFamily="34" charset="0"/>
              </a:rPr>
              <a:t>R-DAT)</a:t>
            </a:r>
            <a:r>
              <a:rPr lang="tr-TR" sz="2000" dirty="0" smtClean="0">
                <a:solidFill>
                  <a:srgbClr val="FF9900"/>
                </a:solidFill>
                <a:latin typeface="Bahnschrift SemiCondensed" panose="020B0502040204020203" pitchFamily="34" charset="0"/>
              </a:rPr>
              <a:t>: </a:t>
            </a:r>
            <a:r>
              <a:rPr lang="tr-TR" sz="2000" dirty="0" smtClean="0">
                <a:solidFill>
                  <a:schemeClr val="bg1"/>
                </a:solidFill>
                <a:latin typeface="Bahnschrift SemiCondensed" panose="020B0502040204020203" pitchFamily="34" charset="0"/>
              </a:rPr>
              <a:t>S</a:t>
            </a:r>
            <a:r>
              <a:rPr lang="en-US" sz="2000" dirty="0" err="1" smtClean="0">
                <a:solidFill>
                  <a:schemeClr val="bg1"/>
                </a:solidFill>
                <a:latin typeface="Bahnschrift SemiCondensed" panose="020B0502040204020203" pitchFamily="34" charset="0"/>
              </a:rPr>
              <a:t>ignal</a:t>
            </a:r>
            <a:r>
              <a:rPr lang="en-US" sz="2000" dirty="0" smtClean="0">
                <a:solidFill>
                  <a:schemeClr val="bg1"/>
                </a:solidFill>
                <a:latin typeface="Bahnschrift SemiCondensed" panose="020B0502040204020203" pitchFamily="34" charset="0"/>
              </a:rPr>
              <a:t> </a:t>
            </a:r>
            <a:r>
              <a:rPr lang="en-US" sz="2000" dirty="0">
                <a:solidFill>
                  <a:schemeClr val="bg1"/>
                </a:solidFill>
                <a:latin typeface="Bahnschrift SemiCondensed" panose="020B0502040204020203" pitchFamily="34" charset="0"/>
              </a:rPr>
              <a:t>recording and playback medium developed by Sony and introduced in </a:t>
            </a:r>
            <a:r>
              <a:rPr lang="en-US" sz="2000" dirty="0" smtClean="0">
                <a:solidFill>
                  <a:schemeClr val="bg1"/>
                </a:solidFill>
                <a:latin typeface="Bahnschrift SemiCondensed" panose="020B0502040204020203" pitchFamily="34" charset="0"/>
              </a:rPr>
              <a:t>1987.</a:t>
            </a:r>
            <a:endParaRPr lang="tr-TR" sz="2000" dirty="0" smtClean="0">
              <a:solidFill>
                <a:schemeClr val="bg1"/>
              </a:solidFill>
              <a:latin typeface="Bahnschrift SemiCondensed" panose="020B0502040204020203" pitchFamily="34" charset="0"/>
            </a:endParaRPr>
          </a:p>
          <a:p>
            <a:pPr marL="0" indent="0">
              <a:buNone/>
            </a:pPr>
            <a:r>
              <a:rPr lang="tr-TR" sz="2000" dirty="0" err="1" smtClean="0">
                <a:solidFill>
                  <a:srgbClr val="FF9900"/>
                </a:solidFill>
                <a:latin typeface="Bahnschrift SemiCondensed" panose="020B0502040204020203" pitchFamily="34" charset="0"/>
              </a:rPr>
              <a:t>Digital</a:t>
            </a:r>
            <a:r>
              <a:rPr lang="tr-TR" sz="2000" dirty="0" smtClean="0">
                <a:solidFill>
                  <a:srgbClr val="FF9900"/>
                </a:solidFill>
                <a:latin typeface="Bahnschrift SemiCondensed" panose="020B0502040204020203" pitchFamily="34" charset="0"/>
              </a:rPr>
              <a:t> Compact </a:t>
            </a:r>
            <a:r>
              <a:rPr lang="tr-TR" sz="2000" dirty="0" err="1" smtClean="0">
                <a:solidFill>
                  <a:srgbClr val="FF9900"/>
                </a:solidFill>
                <a:latin typeface="Bahnschrift SemiCondensed" panose="020B0502040204020203" pitchFamily="34" charset="0"/>
              </a:rPr>
              <a:t>Cassette</a:t>
            </a:r>
            <a:r>
              <a:rPr lang="tr-TR" sz="2000" dirty="0" smtClean="0">
                <a:solidFill>
                  <a:srgbClr val="FF9900"/>
                </a:solidFill>
                <a:latin typeface="Bahnschrift SemiCondensed" panose="020B0502040204020203" pitchFamily="34" charset="0"/>
              </a:rPr>
              <a:t> (DCC): </a:t>
            </a:r>
            <a:r>
              <a:rPr lang="tr-TR" sz="2000" dirty="0" err="1">
                <a:solidFill>
                  <a:schemeClr val="bg1"/>
                </a:solidFill>
                <a:latin typeface="Bahnschrift SemiCondensed" panose="020B0502040204020203" pitchFamily="34" charset="0"/>
              </a:rPr>
              <a:t>M</a:t>
            </a:r>
            <a:r>
              <a:rPr lang="tr-TR" sz="2000" dirty="0" err="1" smtClean="0">
                <a:solidFill>
                  <a:schemeClr val="bg1"/>
                </a:solidFill>
                <a:latin typeface="Bahnschrift SemiCondensed" panose="020B0502040204020203" pitchFamily="34" charset="0"/>
              </a:rPr>
              <a:t>agnetic</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tape</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sound</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recording</a:t>
            </a:r>
            <a:r>
              <a:rPr lang="tr-TR" sz="2000" dirty="0" smtClean="0">
                <a:solidFill>
                  <a:schemeClr val="bg1"/>
                </a:solidFill>
                <a:latin typeface="Bahnschrift SemiCondensed" panose="020B0502040204020203" pitchFamily="34" charset="0"/>
              </a:rPr>
              <a:t> format </a:t>
            </a:r>
            <a:r>
              <a:rPr lang="tr-TR" sz="2000" dirty="0" err="1" smtClean="0">
                <a:solidFill>
                  <a:schemeClr val="bg1"/>
                </a:solidFill>
                <a:latin typeface="Bahnschrift SemiCondensed" panose="020B0502040204020203" pitchFamily="34" charset="0"/>
              </a:rPr>
              <a:t>introduced</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by</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Philips</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and</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Matsushita</a:t>
            </a:r>
            <a:r>
              <a:rPr lang="tr-TR" sz="2000" dirty="0" smtClean="0">
                <a:solidFill>
                  <a:schemeClr val="bg1"/>
                </a:solidFill>
                <a:latin typeface="Bahnschrift SemiCondensed" panose="020B0502040204020203" pitchFamily="34" charset="0"/>
              </a:rPr>
              <a:t> in </a:t>
            </a:r>
            <a:r>
              <a:rPr lang="tr-TR" sz="2000" dirty="0" err="1" smtClean="0">
                <a:solidFill>
                  <a:schemeClr val="bg1"/>
                </a:solidFill>
                <a:latin typeface="Bahnschrift SemiCondensed" panose="020B0502040204020203" pitchFamily="34" charset="0"/>
              </a:rPr>
              <a:t>late</a:t>
            </a:r>
            <a:r>
              <a:rPr lang="tr-TR" sz="2000" dirty="0" smtClean="0">
                <a:solidFill>
                  <a:schemeClr val="bg1"/>
                </a:solidFill>
                <a:latin typeface="Bahnschrift SemiCondensed" panose="020B0502040204020203" pitchFamily="34" charset="0"/>
              </a:rPr>
              <a:t> 1992.</a:t>
            </a:r>
          </a:p>
          <a:p>
            <a:pPr marL="0" indent="0">
              <a:buNone/>
            </a:pPr>
            <a:r>
              <a:rPr lang="tr-TR" sz="2000" dirty="0" err="1" smtClean="0">
                <a:solidFill>
                  <a:srgbClr val="FF9900"/>
                </a:solidFill>
                <a:latin typeface="Bahnschrift SemiCondensed" panose="020B0502040204020203" pitchFamily="34" charset="0"/>
              </a:rPr>
              <a:t>Digital</a:t>
            </a:r>
            <a:r>
              <a:rPr lang="tr-TR" sz="2000" dirty="0" smtClean="0">
                <a:solidFill>
                  <a:srgbClr val="FF9900"/>
                </a:solidFill>
                <a:latin typeface="Bahnschrift SemiCondensed" panose="020B0502040204020203" pitchFamily="34" charset="0"/>
              </a:rPr>
              <a:t> </a:t>
            </a:r>
            <a:r>
              <a:rPr lang="tr-TR" sz="2000" dirty="0" err="1" smtClean="0">
                <a:solidFill>
                  <a:srgbClr val="FF9900"/>
                </a:solidFill>
                <a:latin typeface="Bahnschrift SemiCondensed" panose="020B0502040204020203" pitchFamily="34" charset="0"/>
              </a:rPr>
              <a:t>Tape</a:t>
            </a:r>
            <a:r>
              <a:rPr lang="tr-TR" sz="2000" dirty="0" smtClean="0">
                <a:solidFill>
                  <a:srgbClr val="FF9900"/>
                </a:solidFill>
                <a:latin typeface="Bahnschrift SemiCondensed" panose="020B0502040204020203" pitchFamily="34" charset="0"/>
              </a:rPr>
              <a:t> Format (DTF): </a:t>
            </a:r>
            <a:r>
              <a:rPr lang="tr-TR" sz="2000" dirty="0" err="1" smtClean="0">
                <a:solidFill>
                  <a:schemeClr val="bg1"/>
                </a:solidFill>
                <a:latin typeface="Bahnschrift SemiCondensed" panose="020B0502040204020203" pitchFamily="34" charset="0"/>
              </a:rPr>
              <a:t>Magnetic</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tape</a:t>
            </a:r>
            <a:r>
              <a:rPr lang="tr-TR" sz="2000" dirty="0" smtClean="0">
                <a:solidFill>
                  <a:schemeClr val="bg1"/>
                </a:solidFill>
                <a:latin typeface="Bahnschrift SemiCondensed" panose="020B0502040204020203" pitchFamily="34" charset="0"/>
              </a:rPr>
              <a:t> data </a:t>
            </a:r>
            <a:r>
              <a:rPr lang="tr-TR" sz="2000" dirty="0" err="1" smtClean="0">
                <a:solidFill>
                  <a:schemeClr val="bg1"/>
                </a:solidFill>
                <a:latin typeface="Bahnschrift SemiCondensed" panose="020B0502040204020203" pitchFamily="34" charset="0"/>
              </a:rPr>
              <a:t>storage</a:t>
            </a:r>
            <a:r>
              <a:rPr lang="tr-TR" sz="2000" dirty="0" smtClean="0">
                <a:solidFill>
                  <a:schemeClr val="bg1"/>
                </a:solidFill>
                <a:latin typeface="Bahnschrift SemiCondensed" panose="020B0502040204020203" pitchFamily="34" charset="0"/>
              </a:rPr>
              <a:t> format </a:t>
            </a:r>
            <a:r>
              <a:rPr lang="tr-TR" sz="2000" dirty="0" err="1" smtClean="0">
                <a:solidFill>
                  <a:schemeClr val="bg1"/>
                </a:solidFill>
                <a:latin typeface="Bahnschrift SemiCondensed" panose="020B0502040204020203" pitchFamily="34" charset="0"/>
              </a:rPr>
              <a:t>developed</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by</a:t>
            </a:r>
            <a:r>
              <a:rPr lang="tr-TR" sz="2000" dirty="0" smtClean="0">
                <a:solidFill>
                  <a:schemeClr val="bg1"/>
                </a:solidFill>
                <a:latin typeface="Bahnschrift SemiCondensed" panose="020B0502040204020203" pitchFamily="34" charset="0"/>
              </a:rPr>
              <a:t> Sony.</a:t>
            </a:r>
            <a:endParaRPr lang="tr-TR" sz="2000" dirty="0">
              <a:solidFill>
                <a:schemeClr val="bg1"/>
              </a:solidFill>
              <a:latin typeface="Bahnschrift SemiCondensed" panose="020B0502040204020203" pitchFamily="34" charset="0"/>
            </a:endParaRPr>
          </a:p>
        </p:txBody>
      </p:sp>
      <p:grpSp>
        <p:nvGrpSpPr>
          <p:cNvPr id="18" name="Grup 17"/>
          <p:cNvGrpSpPr/>
          <p:nvPr/>
        </p:nvGrpSpPr>
        <p:grpSpPr>
          <a:xfrm>
            <a:off x="3212383" y="3997870"/>
            <a:ext cx="5767234" cy="2518690"/>
            <a:chOff x="2491331" y="4248683"/>
            <a:chExt cx="5408389" cy="2361974"/>
          </a:xfrm>
        </p:grpSpPr>
        <p:pic>
          <p:nvPicPr>
            <p:cNvPr id="5" name="Resim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rot="19854915">
              <a:off x="2491331" y="4683062"/>
              <a:ext cx="2345018" cy="1379681"/>
            </a:xfrm>
            <a:prstGeom prst="rect">
              <a:avLst/>
            </a:prstGeom>
          </p:spPr>
        </p:pic>
        <p:pic>
          <p:nvPicPr>
            <p:cNvPr id="9" name="Resim 8"/>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rot="15709185">
              <a:off x="4321596" y="3786230"/>
              <a:ext cx="1518387" cy="2443293"/>
            </a:xfrm>
            <a:prstGeom prst="rect">
              <a:avLst/>
            </a:prstGeom>
          </p:spPr>
        </p:pic>
        <p:pic>
          <p:nvPicPr>
            <p:cNvPr id="10" name="Resim 9"/>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rot="851797">
              <a:off x="5640517" y="4518718"/>
              <a:ext cx="2259203" cy="1340205"/>
            </a:xfrm>
            <a:prstGeom prst="rect">
              <a:avLst/>
            </a:prstGeom>
          </p:spPr>
        </p:pic>
        <p:pic>
          <p:nvPicPr>
            <p:cNvPr id="11" name="Resim 10"/>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rot="1025841">
              <a:off x="5116504" y="4754590"/>
              <a:ext cx="2029142" cy="1283823"/>
            </a:xfrm>
            <a:prstGeom prst="rect">
              <a:avLst/>
            </a:prstGeom>
          </p:spPr>
        </p:pic>
        <p:pic>
          <p:nvPicPr>
            <p:cNvPr id="12" name="Resim 11"/>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rot="20798222">
              <a:off x="3424059" y="4819065"/>
              <a:ext cx="2449527" cy="1427018"/>
            </a:xfrm>
            <a:prstGeom prst="rect">
              <a:avLst/>
            </a:prstGeom>
          </p:spPr>
        </p:pic>
        <p:pic>
          <p:nvPicPr>
            <p:cNvPr id="14" name="Resim 13"/>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rot="21118918">
              <a:off x="3757224" y="5129593"/>
              <a:ext cx="2261921" cy="1481064"/>
            </a:xfrm>
            <a:prstGeom prst="rect">
              <a:avLst/>
            </a:prstGeom>
          </p:spPr>
        </p:pic>
        <p:pic>
          <p:nvPicPr>
            <p:cNvPr id="16" name="Resim 15"/>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rot="745585">
              <a:off x="5211790" y="5218884"/>
              <a:ext cx="2142229" cy="1375428"/>
            </a:xfrm>
            <a:prstGeom prst="rect">
              <a:avLst/>
            </a:prstGeom>
          </p:spPr>
        </p:pic>
      </p:grpSp>
    </p:spTree>
    <p:extLst>
      <p:ext uri="{BB962C8B-B14F-4D97-AF65-F5344CB8AC3E}">
        <p14:creationId xmlns:p14="http://schemas.microsoft.com/office/powerpoint/2010/main" xmlns="" val="29138623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up 20"/>
          <p:cNvGrpSpPr/>
          <p:nvPr/>
        </p:nvGrpSpPr>
        <p:grpSpPr>
          <a:xfrm>
            <a:off x="3868477" y="549275"/>
            <a:ext cx="8323523" cy="6315154"/>
            <a:chOff x="3868477" y="549275"/>
            <a:chExt cx="8323523" cy="6315154"/>
          </a:xfrm>
        </p:grpSpPr>
        <p:sp>
          <p:nvSpPr>
            <p:cNvPr id="23" name="Çapraz Şerit 22"/>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25" name="Çapraz Şerit 24"/>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26" name="Yarım Çerçeve 25"/>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Types</a:t>
            </a:r>
            <a:r>
              <a:rPr lang="tr-TR" dirty="0" smtClean="0">
                <a:solidFill>
                  <a:srgbClr val="FFCC00"/>
                </a:solidFill>
                <a:latin typeface="Bahnschrift SemiBold SemiConden" panose="020B0502040204020203" pitchFamily="34" charset="0"/>
              </a:rPr>
              <a:t>: Video</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a:xfrm>
            <a:off x="838200" y="1825625"/>
            <a:ext cx="10515600" cy="2376703"/>
          </a:xfrm>
        </p:spPr>
        <p:txBody>
          <a:bodyPr>
            <a:normAutofit/>
          </a:bodyPr>
          <a:lstStyle/>
          <a:p>
            <a:pPr marL="0" indent="0">
              <a:buNone/>
            </a:pPr>
            <a:r>
              <a:rPr lang="tr-TR" sz="2000" dirty="0" err="1" smtClean="0">
                <a:solidFill>
                  <a:srgbClr val="FF9900"/>
                </a:solidFill>
                <a:latin typeface="Bahnschrift SemiCondensed" panose="020B0502040204020203" pitchFamily="34" charset="0"/>
              </a:rPr>
              <a:t>Videocassette</a:t>
            </a:r>
            <a:r>
              <a:rPr lang="tr-TR" sz="2000" dirty="0">
                <a:solidFill>
                  <a:srgbClr val="FF9900"/>
                </a:solidFill>
                <a:latin typeface="Bahnschrift SemiCondensed" panose="020B0502040204020203" pitchFamily="34" charset="0"/>
              </a:rPr>
              <a:t>:</a:t>
            </a:r>
            <a:r>
              <a:rPr lang="tr-TR" sz="2000" dirty="0" smtClean="0">
                <a:solidFill>
                  <a:srgbClr val="FF9900"/>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Cartridge</a:t>
            </a:r>
            <a:r>
              <a:rPr lang="tr-TR" sz="2000" dirty="0" smtClean="0">
                <a:solidFill>
                  <a:schemeClr val="bg1"/>
                </a:solidFill>
                <a:latin typeface="Bahnschrift SemiCondensed" panose="020B0502040204020203" pitchFamily="34" charset="0"/>
              </a:rPr>
              <a:t> </a:t>
            </a:r>
            <a:r>
              <a:rPr lang="tr-TR" sz="2000" dirty="0" err="1">
                <a:solidFill>
                  <a:schemeClr val="bg1"/>
                </a:solidFill>
                <a:latin typeface="Bahnschrift SemiCondensed" panose="020B0502040204020203" pitchFamily="34" charset="0"/>
              </a:rPr>
              <a:t>containing</a:t>
            </a:r>
            <a:r>
              <a:rPr lang="tr-TR" sz="2000" dirty="0">
                <a:solidFill>
                  <a:schemeClr val="bg1"/>
                </a:solidFill>
                <a:latin typeface="Bahnschrift SemiCondensed" panose="020B0502040204020203" pitchFamily="34" charset="0"/>
              </a:rPr>
              <a:t> </a:t>
            </a:r>
            <a:r>
              <a:rPr lang="tr-TR" sz="2000" dirty="0" err="1">
                <a:solidFill>
                  <a:schemeClr val="bg1"/>
                </a:solidFill>
                <a:latin typeface="Bahnschrift SemiCondensed" panose="020B0502040204020203" pitchFamily="34" charset="0"/>
              </a:rPr>
              <a:t>videotape</a:t>
            </a:r>
            <a:endParaRPr lang="tr-TR" sz="2000" dirty="0">
              <a:solidFill>
                <a:schemeClr val="bg1"/>
              </a:solidFill>
              <a:latin typeface="Bahnschrift SemiCondensed" panose="020B0502040204020203" pitchFamily="34" charset="0"/>
            </a:endParaRPr>
          </a:p>
          <a:p>
            <a:r>
              <a:rPr lang="tr-TR" sz="2000" dirty="0" smtClean="0">
                <a:solidFill>
                  <a:srgbClr val="FF9900"/>
                </a:solidFill>
                <a:latin typeface="Bahnschrift SemiCondensed" panose="020B0502040204020203" pitchFamily="34" charset="0"/>
              </a:rPr>
              <a:t>VHS: </a:t>
            </a:r>
            <a:r>
              <a:rPr lang="tr-TR" sz="2000" dirty="0" err="1">
                <a:solidFill>
                  <a:schemeClr val="bg1"/>
                </a:solidFill>
                <a:latin typeface="Bahnschrift SemiCondensed" panose="020B0502040204020203" pitchFamily="34" charset="0"/>
              </a:rPr>
              <a:t>the</a:t>
            </a:r>
            <a:r>
              <a:rPr lang="tr-TR" sz="2000" dirty="0">
                <a:solidFill>
                  <a:schemeClr val="bg1"/>
                </a:solidFill>
                <a:latin typeface="Bahnschrift SemiCondensed" panose="020B0502040204020203" pitchFamily="34" charset="0"/>
              </a:rPr>
              <a:t> </a:t>
            </a:r>
            <a:r>
              <a:rPr lang="tr-TR" sz="2000" dirty="0" err="1">
                <a:solidFill>
                  <a:schemeClr val="bg1"/>
                </a:solidFill>
                <a:latin typeface="Bahnschrift SemiCondensed" panose="020B0502040204020203" pitchFamily="34" charset="0"/>
              </a:rPr>
              <a:t>most</a:t>
            </a:r>
            <a:r>
              <a:rPr lang="tr-TR" sz="2000" dirty="0">
                <a:solidFill>
                  <a:schemeClr val="bg1"/>
                </a:solidFill>
                <a:latin typeface="Bahnschrift SemiCondensed" panose="020B0502040204020203" pitchFamily="34" charset="0"/>
              </a:rPr>
              <a:t> </a:t>
            </a:r>
            <a:r>
              <a:rPr lang="tr-TR" sz="2000" dirty="0" err="1">
                <a:solidFill>
                  <a:schemeClr val="bg1"/>
                </a:solidFill>
                <a:latin typeface="Bahnschrift SemiCondensed" panose="020B0502040204020203" pitchFamily="34" charset="0"/>
              </a:rPr>
              <a:t>successful</a:t>
            </a:r>
            <a:r>
              <a:rPr lang="tr-TR" sz="2000" dirty="0">
                <a:solidFill>
                  <a:schemeClr val="bg1"/>
                </a:solidFill>
                <a:latin typeface="Bahnschrift SemiCondensed" panose="020B0502040204020203" pitchFamily="34" charset="0"/>
              </a:rPr>
              <a:t> format </a:t>
            </a:r>
            <a:r>
              <a:rPr lang="tr-TR" sz="2000" dirty="0" err="1">
                <a:solidFill>
                  <a:schemeClr val="bg1"/>
                </a:solidFill>
                <a:latin typeface="Bahnschrift SemiCondensed" panose="020B0502040204020203" pitchFamily="34" charset="0"/>
              </a:rPr>
              <a:t>for</a:t>
            </a:r>
            <a:r>
              <a:rPr lang="tr-TR" sz="2000" dirty="0">
                <a:solidFill>
                  <a:schemeClr val="bg1"/>
                </a:solidFill>
                <a:latin typeface="Bahnschrift SemiCondensed" panose="020B0502040204020203" pitchFamily="34" charset="0"/>
              </a:rPr>
              <a:t> </a:t>
            </a:r>
            <a:r>
              <a:rPr lang="tr-TR" sz="2000" dirty="0" err="1">
                <a:solidFill>
                  <a:schemeClr val="bg1"/>
                </a:solidFill>
                <a:latin typeface="Bahnschrift SemiCondensed" panose="020B0502040204020203" pitchFamily="34" charset="0"/>
              </a:rPr>
              <a:t>consumer-level</a:t>
            </a:r>
            <a:r>
              <a:rPr lang="tr-TR" sz="2000" dirty="0">
                <a:solidFill>
                  <a:schemeClr val="bg1"/>
                </a:solidFill>
                <a:latin typeface="Bahnschrift SemiCondensed" panose="020B0502040204020203" pitchFamily="34" charset="0"/>
              </a:rPr>
              <a:t> </a:t>
            </a:r>
            <a:r>
              <a:rPr lang="tr-TR" sz="2000" dirty="0" err="1">
                <a:solidFill>
                  <a:schemeClr val="bg1"/>
                </a:solidFill>
                <a:latin typeface="Bahnschrift SemiCondensed" panose="020B0502040204020203" pitchFamily="34" charset="0"/>
              </a:rPr>
              <a:t>analogue</a:t>
            </a:r>
            <a:r>
              <a:rPr lang="tr-TR" sz="2000" dirty="0">
                <a:solidFill>
                  <a:schemeClr val="bg1"/>
                </a:solidFill>
                <a:latin typeface="Bahnschrift SemiCondensed" panose="020B0502040204020203" pitchFamily="34" charset="0"/>
              </a:rPr>
              <a:t> video </a:t>
            </a:r>
            <a:r>
              <a:rPr lang="tr-TR" sz="2000" dirty="0" err="1">
                <a:solidFill>
                  <a:schemeClr val="bg1"/>
                </a:solidFill>
                <a:latin typeface="Bahnschrift SemiCondensed" panose="020B0502040204020203" pitchFamily="34" charset="0"/>
              </a:rPr>
              <a:t>recording</a:t>
            </a:r>
            <a:r>
              <a:rPr lang="tr-TR" sz="2000" dirty="0">
                <a:solidFill>
                  <a:schemeClr val="bg1"/>
                </a:solidFill>
                <a:latin typeface="Bahnschrift SemiCondensed" panose="020B0502040204020203" pitchFamily="34" charset="0"/>
              </a:rPr>
              <a:t> on </a:t>
            </a:r>
            <a:r>
              <a:rPr lang="tr-TR" sz="2000" dirty="0" err="1">
                <a:solidFill>
                  <a:schemeClr val="bg1"/>
                </a:solidFill>
                <a:latin typeface="Bahnschrift SemiCondensed" panose="020B0502040204020203" pitchFamily="34" charset="0"/>
              </a:rPr>
              <a:t>tape</a:t>
            </a:r>
            <a:r>
              <a:rPr lang="tr-TR" sz="2000" dirty="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cassettes</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It</a:t>
            </a:r>
            <a:r>
              <a:rPr lang="tr-TR" sz="2000" dirty="0" smtClean="0">
                <a:solidFill>
                  <a:schemeClr val="bg1"/>
                </a:solidFill>
                <a:latin typeface="Bahnschrift SemiCondensed" panose="020B0502040204020203" pitchFamily="34" charset="0"/>
              </a:rPr>
              <a:t> d</a:t>
            </a:r>
            <a:r>
              <a:rPr lang="en-US" sz="2000" dirty="0" err="1" smtClean="0">
                <a:solidFill>
                  <a:schemeClr val="bg1"/>
                </a:solidFill>
                <a:latin typeface="Bahnschrift SemiCondensed" panose="020B0502040204020203" pitchFamily="34" charset="0"/>
              </a:rPr>
              <a:t>eveloped</a:t>
            </a:r>
            <a:r>
              <a:rPr lang="en-US" sz="2000" dirty="0" smtClean="0">
                <a:solidFill>
                  <a:schemeClr val="bg1"/>
                </a:solidFill>
                <a:latin typeface="Bahnschrift SemiCondensed" panose="020B0502040204020203" pitchFamily="34" charset="0"/>
              </a:rPr>
              <a:t> </a:t>
            </a:r>
            <a:r>
              <a:rPr lang="en-US" sz="2000" dirty="0">
                <a:solidFill>
                  <a:schemeClr val="bg1"/>
                </a:solidFill>
                <a:latin typeface="Bahnschrift SemiCondensed" panose="020B0502040204020203" pitchFamily="34" charset="0"/>
              </a:rPr>
              <a:t>by </a:t>
            </a:r>
            <a:r>
              <a:rPr lang="en-US" sz="2000" dirty="0" smtClean="0">
                <a:solidFill>
                  <a:schemeClr val="bg1"/>
                </a:solidFill>
                <a:latin typeface="Bahnschrift SemiCondensed" panose="020B0502040204020203" pitchFamily="34" charset="0"/>
              </a:rPr>
              <a:t>JVC </a:t>
            </a:r>
            <a:r>
              <a:rPr lang="en-US" sz="2000" dirty="0">
                <a:solidFill>
                  <a:schemeClr val="bg1"/>
                </a:solidFill>
                <a:latin typeface="Bahnschrift SemiCondensed" panose="020B0502040204020203" pitchFamily="34" charset="0"/>
              </a:rPr>
              <a:t>in the early </a:t>
            </a:r>
            <a:r>
              <a:rPr lang="en-US" sz="2000" dirty="0" smtClean="0">
                <a:solidFill>
                  <a:schemeClr val="bg1"/>
                </a:solidFill>
                <a:latin typeface="Bahnschrift SemiCondensed" panose="020B0502040204020203" pitchFamily="34" charset="0"/>
              </a:rPr>
              <a:t>1970s</a:t>
            </a:r>
            <a:r>
              <a:rPr lang="tr-TR" sz="2000" dirty="0" smtClean="0">
                <a:solidFill>
                  <a:schemeClr val="bg1"/>
                </a:solidFill>
                <a:latin typeface="Bahnschrift SemiCondensed" panose="020B0502040204020203" pitchFamily="34" charset="0"/>
              </a:rPr>
              <a:t>.</a:t>
            </a:r>
          </a:p>
          <a:p>
            <a:r>
              <a:rPr lang="en-US" sz="2000" dirty="0" smtClean="0">
                <a:solidFill>
                  <a:srgbClr val="FF9900"/>
                </a:solidFill>
                <a:latin typeface="Bahnschrift SemiCondensed" panose="020B0502040204020203" pitchFamily="34" charset="0"/>
              </a:rPr>
              <a:t>U-</a:t>
            </a:r>
            <a:r>
              <a:rPr lang="en-US" sz="2000" dirty="0" err="1" smtClean="0">
                <a:solidFill>
                  <a:srgbClr val="FF9900"/>
                </a:solidFill>
                <a:latin typeface="Bahnschrift SemiCondensed" panose="020B0502040204020203" pitchFamily="34" charset="0"/>
              </a:rPr>
              <a:t>matic</a:t>
            </a:r>
            <a:r>
              <a:rPr lang="tr-TR" sz="2000" dirty="0">
                <a:solidFill>
                  <a:srgbClr val="FF9900"/>
                </a:solidFill>
                <a:latin typeface="Bahnschrift SemiCondensed" panose="020B0502040204020203" pitchFamily="34" charset="0"/>
              </a:rPr>
              <a:t>: </a:t>
            </a:r>
            <a:r>
              <a:rPr lang="tr-TR" sz="2000" dirty="0">
                <a:solidFill>
                  <a:schemeClr val="bg1"/>
                </a:solidFill>
                <a:latin typeface="Bahnschrift SemiCondensed" panose="020B0502040204020203" pitchFamily="34" charset="0"/>
              </a:rPr>
              <a:t>A</a:t>
            </a:r>
            <a:r>
              <a:rPr lang="en-US" sz="2000" dirty="0" err="1">
                <a:solidFill>
                  <a:schemeClr val="bg1"/>
                </a:solidFill>
                <a:latin typeface="Bahnschrift SemiCondensed" panose="020B0502040204020203" pitchFamily="34" charset="0"/>
              </a:rPr>
              <a:t>nalogue</a:t>
            </a:r>
            <a:r>
              <a:rPr lang="en-US" sz="2000" dirty="0">
                <a:solidFill>
                  <a:schemeClr val="bg1"/>
                </a:solidFill>
                <a:latin typeface="Bahnschrift SemiCondensed" panose="020B0502040204020203" pitchFamily="34" charset="0"/>
              </a:rPr>
              <a:t> recording videocassette format introduced in</a:t>
            </a:r>
            <a:r>
              <a:rPr lang="tr-TR" sz="2000" dirty="0">
                <a:solidFill>
                  <a:schemeClr val="bg1"/>
                </a:solidFill>
                <a:latin typeface="Bahnschrift SemiCondensed" panose="020B0502040204020203" pitchFamily="34" charset="0"/>
              </a:rPr>
              <a:t> </a:t>
            </a:r>
            <a:r>
              <a:rPr lang="en-US" sz="2000" dirty="0">
                <a:solidFill>
                  <a:schemeClr val="bg1"/>
                </a:solidFill>
                <a:latin typeface="Bahnschrift SemiCondensed" panose="020B0502040204020203" pitchFamily="34" charset="0"/>
              </a:rPr>
              <a:t>1971</a:t>
            </a:r>
            <a:r>
              <a:rPr lang="tr-TR" sz="2000" dirty="0">
                <a:solidFill>
                  <a:schemeClr val="bg1"/>
                </a:solidFill>
                <a:latin typeface="Bahnschrift SemiCondensed" panose="020B0502040204020203" pitchFamily="34" charset="0"/>
              </a:rPr>
              <a:t> </a:t>
            </a:r>
            <a:r>
              <a:rPr lang="en-US" sz="2000" dirty="0">
                <a:solidFill>
                  <a:schemeClr val="bg1"/>
                </a:solidFill>
                <a:latin typeface="Bahnschrift SemiCondensed" panose="020B0502040204020203" pitchFamily="34" charset="0"/>
              </a:rPr>
              <a:t>by Sony</a:t>
            </a:r>
            <a:r>
              <a:rPr lang="tr-TR" sz="2000" dirty="0" smtClean="0">
                <a:solidFill>
                  <a:schemeClr val="bg1"/>
                </a:solidFill>
                <a:latin typeface="Bahnschrift SemiCondensed" panose="020B0502040204020203" pitchFamily="34" charset="0"/>
              </a:rPr>
              <a:t>.</a:t>
            </a:r>
            <a:endParaRPr lang="tr-TR" sz="2000" dirty="0">
              <a:solidFill>
                <a:schemeClr val="bg1"/>
              </a:solidFill>
              <a:latin typeface="Bahnschrift SemiCondensed" panose="020B0502040204020203" pitchFamily="34" charset="0"/>
            </a:endParaRPr>
          </a:p>
          <a:p>
            <a:r>
              <a:rPr lang="en-US" sz="2000" dirty="0" smtClean="0">
                <a:solidFill>
                  <a:srgbClr val="FF9900"/>
                </a:solidFill>
                <a:latin typeface="Bahnschrift SemiCondensed" panose="020B0502040204020203" pitchFamily="34" charset="0"/>
              </a:rPr>
              <a:t>Betamax</a:t>
            </a:r>
            <a:r>
              <a:rPr lang="tr-TR" sz="2000" dirty="0" smtClean="0">
                <a:solidFill>
                  <a:srgbClr val="FF9900"/>
                </a:solidFill>
                <a:latin typeface="Bahnschrift SemiCondensed" panose="020B0502040204020203" pitchFamily="34" charset="0"/>
              </a:rPr>
              <a:t>: </a:t>
            </a:r>
            <a:r>
              <a:rPr lang="tr-TR" sz="2000" dirty="0" smtClean="0">
                <a:solidFill>
                  <a:schemeClr val="bg1"/>
                </a:solidFill>
                <a:latin typeface="Bahnschrift SemiCondensed" panose="020B0502040204020203" pitchFamily="34" charset="0"/>
              </a:rPr>
              <a:t>C</a:t>
            </a:r>
            <a:r>
              <a:rPr lang="en-US" sz="2000" dirty="0" err="1" smtClean="0">
                <a:solidFill>
                  <a:schemeClr val="bg1"/>
                </a:solidFill>
                <a:latin typeface="Bahnschrift SemiCondensed" panose="020B0502040204020203" pitchFamily="34" charset="0"/>
              </a:rPr>
              <a:t>onsumer</a:t>
            </a:r>
            <a:r>
              <a:rPr lang="tr-TR" sz="2000" dirty="0">
                <a:solidFill>
                  <a:schemeClr val="bg1"/>
                </a:solidFill>
                <a:latin typeface="Bahnschrift SemiCondensed" panose="020B0502040204020203" pitchFamily="34" charset="0"/>
              </a:rPr>
              <a:t> </a:t>
            </a:r>
            <a:r>
              <a:rPr lang="en-US" sz="2000" dirty="0" smtClean="0">
                <a:solidFill>
                  <a:schemeClr val="bg1"/>
                </a:solidFill>
                <a:latin typeface="Bahnschrift SemiCondensed" panose="020B0502040204020203" pitchFamily="34" charset="0"/>
              </a:rPr>
              <a:t>level analog</a:t>
            </a:r>
            <a:r>
              <a:rPr lang="tr-TR" sz="2000" dirty="0" smtClean="0">
                <a:solidFill>
                  <a:schemeClr val="bg1"/>
                </a:solidFill>
                <a:latin typeface="Bahnschrift SemiCondensed" panose="020B0502040204020203" pitchFamily="34" charset="0"/>
              </a:rPr>
              <a:t> </a:t>
            </a:r>
            <a:r>
              <a:rPr lang="en-US" sz="2000" dirty="0" smtClean="0">
                <a:solidFill>
                  <a:schemeClr val="bg1"/>
                </a:solidFill>
                <a:latin typeface="Bahnschrift SemiCondensed" panose="020B0502040204020203" pitchFamily="34" charset="0"/>
              </a:rPr>
              <a:t>recording </a:t>
            </a:r>
            <a:r>
              <a:rPr lang="en-US" sz="2000" dirty="0">
                <a:solidFill>
                  <a:schemeClr val="bg1"/>
                </a:solidFill>
                <a:latin typeface="Bahnschrift SemiCondensed" panose="020B0502040204020203" pitchFamily="34" charset="0"/>
              </a:rPr>
              <a:t>and cassette format of magnetic tape for video. It was developed by Sony and was released in </a:t>
            </a:r>
            <a:r>
              <a:rPr lang="en-US" sz="2000" dirty="0" smtClean="0">
                <a:solidFill>
                  <a:schemeClr val="bg1"/>
                </a:solidFill>
                <a:latin typeface="Bahnschrift SemiCondensed" panose="020B0502040204020203" pitchFamily="34" charset="0"/>
              </a:rPr>
              <a:t>1975</a:t>
            </a:r>
            <a:r>
              <a:rPr lang="tr-TR" sz="2000" dirty="0">
                <a:solidFill>
                  <a:schemeClr val="bg1"/>
                </a:solidFill>
                <a:latin typeface="Bahnschrift SemiCondensed" panose="020B0502040204020203" pitchFamily="34" charset="0"/>
              </a:rPr>
              <a:t>.</a:t>
            </a:r>
            <a:endParaRPr lang="tr-TR" sz="2000" dirty="0" smtClean="0">
              <a:solidFill>
                <a:schemeClr val="bg1"/>
              </a:solidFill>
              <a:latin typeface="Bahnschrift SemiCondensed" panose="020B0502040204020203" pitchFamily="34" charset="0"/>
            </a:endParaRPr>
          </a:p>
        </p:txBody>
      </p:sp>
      <p:grpSp>
        <p:nvGrpSpPr>
          <p:cNvPr id="8" name="Grup 7"/>
          <p:cNvGrpSpPr/>
          <p:nvPr/>
        </p:nvGrpSpPr>
        <p:grpSpPr>
          <a:xfrm>
            <a:off x="3697925" y="3979818"/>
            <a:ext cx="4796150" cy="2636028"/>
            <a:chOff x="3484470" y="3893535"/>
            <a:chExt cx="4975439" cy="2734569"/>
          </a:xfrm>
        </p:grpSpPr>
        <p:pic>
          <p:nvPicPr>
            <p:cNvPr id="7" name="Resim 6"/>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rot="20479198">
              <a:off x="3762954" y="4299241"/>
              <a:ext cx="2388694" cy="1262594"/>
            </a:xfrm>
            <a:prstGeom prst="rect">
              <a:avLst/>
            </a:prstGeom>
          </p:spPr>
        </p:pic>
        <p:pic>
          <p:nvPicPr>
            <p:cNvPr id="13" name="Resim 12"/>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rot="19722046">
              <a:off x="3484470" y="4347404"/>
              <a:ext cx="1218087" cy="2169102"/>
            </a:xfrm>
            <a:prstGeom prst="rect">
              <a:avLst/>
            </a:prstGeom>
          </p:spPr>
        </p:pic>
        <p:pic>
          <p:nvPicPr>
            <p:cNvPr id="16" name="Resim 15"/>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rot="834092">
              <a:off x="6033435" y="3893535"/>
              <a:ext cx="2426474" cy="1368311"/>
            </a:xfrm>
            <a:prstGeom prst="rect">
              <a:avLst/>
            </a:prstGeom>
          </p:spPr>
        </p:pic>
        <p:pic>
          <p:nvPicPr>
            <p:cNvPr id="17" name="Resim 16"/>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rot="21067321">
              <a:off x="4697206" y="4107563"/>
              <a:ext cx="2220778" cy="1563874"/>
            </a:xfrm>
            <a:prstGeom prst="rect">
              <a:avLst/>
            </a:prstGeom>
          </p:spPr>
        </p:pic>
        <p:pic>
          <p:nvPicPr>
            <p:cNvPr id="18" name="Resim 17"/>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rot="410442">
              <a:off x="5950784" y="4419431"/>
              <a:ext cx="2054024" cy="1171043"/>
            </a:xfrm>
            <a:prstGeom prst="rect">
              <a:avLst/>
            </a:prstGeom>
          </p:spPr>
        </p:pic>
        <p:pic>
          <p:nvPicPr>
            <p:cNvPr id="22" name="Resim 21"/>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rot="2482983">
              <a:off x="7057347" y="4384412"/>
              <a:ext cx="1252815" cy="2175071"/>
            </a:xfrm>
            <a:prstGeom prst="rect">
              <a:avLst/>
            </a:prstGeom>
          </p:spPr>
        </p:pic>
        <p:pic>
          <p:nvPicPr>
            <p:cNvPr id="5" name="Resim 4"/>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rot="15695380">
              <a:off x="4042241" y="4723967"/>
              <a:ext cx="1501697" cy="2306577"/>
            </a:xfrm>
            <a:prstGeom prst="rect">
              <a:avLst/>
            </a:prstGeom>
          </p:spPr>
        </p:pic>
        <p:pic>
          <p:nvPicPr>
            <p:cNvPr id="19" name="Resim 18"/>
            <p:cNvPicPr>
              <a:picLocks noChangeAspect="1"/>
            </p:cNvPicPr>
            <p:nvPr/>
          </p:nvPicPr>
          <p:blipFill>
            <a:blip r:embed="rId9" cstate="print">
              <a:extLst>
                <a:ext uri="{28A0092B-C50C-407E-A947-70E740481C1C}">
                  <a14:useLocalDpi xmlns:a14="http://schemas.microsoft.com/office/drawing/2010/main" xmlns="" val="0"/>
                </a:ext>
              </a:extLst>
            </a:blip>
            <a:stretch>
              <a:fillRect/>
            </a:stretch>
          </p:blipFill>
          <p:spPr>
            <a:xfrm rot="16502089">
              <a:off x="5349549" y="4470926"/>
              <a:ext cx="1550863" cy="2634964"/>
            </a:xfrm>
            <a:prstGeom prst="rect">
              <a:avLst/>
            </a:prstGeom>
          </p:spPr>
        </p:pic>
      </p:grpSp>
    </p:spTree>
    <p:extLst>
      <p:ext uri="{BB962C8B-B14F-4D97-AF65-F5344CB8AC3E}">
        <p14:creationId xmlns:p14="http://schemas.microsoft.com/office/powerpoint/2010/main" xmlns="" val="4361206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 9"/>
          <p:cNvGrpSpPr/>
          <p:nvPr/>
        </p:nvGrpSpPr>
        <p:grpSpPr>
          <a:xfrm>
            <a:off x="3868477" y="549275"/>
            <a:ext cx="8323523" cy="6315154"/>
            <a:chOff x="3868477" y="549275"/>
            <a:chExt cx="8323523" cy="6315154"/>
          </a:xfrm>
        </p:grpSpPr>
        <p:sp>
          <p:nvSpPr>
            <p:cNvPr id="11" name="Çapraz Şerit 10"/>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2" name="Çapraz Şerit 11"/>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3" name="Yarım Çerçeve 12"/>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Types</a:t>
            </a:r>
            <a:r>
              <a:rPr lang="tr-TR" dirty="0">
                <a:solidFill>
                  <a:srgbClr val="FFCC00"/>
                </a:solidFill>
                <a:latin typeface="Bahnschrift SemiBold SemiConden" panose="020B0502040204020203" pitchFamily="34" charset="0"/>
              </a:rPr>
              <a:t>: </a:t>
            </a:r>
            <a:r>
              <a:rPr lang="tr-TR" dirty="0" err="1">
                <a:solidFill>
                  <a:srgbClr val="FFCC00"/>
                </a:solidFill>
                <a:latin typeface="Bahnschrift SemiBold SemiConden" panose="020B0502040204020203" pitchFamily="34" charset="0"/>
              </a:rPr>
              <a:t>Computer</a:t>
            </a:r>
            <a:r>
              <a:rPr lang="tr-TR" dirty="0">
                <a:solidFill>
                  <a:srgbClr val="FFCC00"/>
                </a:solidFill>
                <a:latin typeface="Bahnschrift SemiBold SemiConden" panose="020B0502040204020203" pitchFamily="34" charset="0"/>
              </a:rPr>
              <a:t> </a:t>
            </a:r>
            <a:r>
              <a:rPr lang="tr-TR" dirty="0" smtClean="0">
                <a:solidFill>
                  <a:srgbClr val="FFCC00"/>
                </a:solidFill>
                <a:latin typeface="Bahnschrift SemiBold SemiConden" panose="020B0502040204020203" pitchFamily="34" charset="0"/>
              </a:rPr>
              <a:t>data</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p:txBody>
          <a:bodyPr>
            <a:normAutofit/>
          </a:bodyPr>
          <a:lstStyle/>
          <a:p>
            <a:pPr marL="0" indent="0">
              <a:buNone/>
            </a:pPr>
            <a:r>
              <a:rPr lang="en-US" sz="2000" dirty="0">
                <a:solidFill>
                  <a:srgbClr val="FF9900"/>
                </a:solidFill>
                <a:latin typeface="Bahnschrift SemiCondensed" panose="020B0502040204020203" pitchFamily="34" charset="0"/>
              </a:rPr>
              <a:t>The IBM </a:t>
            </a:r>
            <a:r>
              <a:rPr lang="en-US" sz="2000" dirty="0" smtClean="0">
                <a:solidFill>
                  <a:srgbClr val="FF9900"/>
                </a:solidFill>
                <a:latin typeface="Bahnschrift SemiCondensed" panose="020B0502040204020203" pitchFamily="34" charset="0"/>
              </a:rPr>
              <a:t>7340</a:t>
            </a:r>
            <a:r>
              <a:rPr lang="tr-TR" sz="2000" dirty="0" smtClean="0">
                <a:solidFill>
                  <a:srgbClr val="FF9900"/>
                </a:solidFill>
                <a:latin typeface="Bahnschrift SemiCondensed" panose="020B0502040204020203" pitchFamily="34" charset="0"/>
              </a:rPr>
              <a:t>: </a:t>
            </a:r>
            <a:r>
              <a:rPr lang="en-US" sz="2000" dirty="0" err="1" smtClean="0">
                <a:solidFill>
                  <a:schemeClr val="bg1"/>
                </a:solidFill>
                <a:latin typeface="Bahnschrift SemiCondensed" panose="020B0502040204020203" pitchFamily="34" charset="0"/>
              </a:rPr>
              <a:t>Hypertape</a:t>
            </a:r>
            <a:r>
              <a:rPr lang="en-US" sz="2000" dirty="0" smtClean="0">
                <a:solidFill>
                  <a:schemeClr val="bg1"/>
                </a:solidFill>
                <a:latin typeface="Bahnschrift SemiCondensed" panose="020B0502040204020203" pitchFamily="34" charset="0"/>
              </a:rPr>
              <a:t> drive </a:t>
            </a:r>
            <a:r>
              <a:rPr lang="en-US" sz="2000" dirty="0">
                <a:solidFill>
                  <a:schemeClr val="bg1"/>
                </a:solidFill>
                <a:latin typeface="Bahnschrift SemiCondensed" panose="020B0502040204020203" pitchFamily="34" charset="0"/>
              </a:rPr>
              <a:t>introduced in </a:t>
            </a:r>
            <a:r>
              <a:rPr lang="en-US" sz="2000" dirty="0" smtClean="0">
                <a:solidFill>
                  <a:schemeClr val="bg1"/>
                </a:solidFill>
                <a:latin typeface="Bahnschrift SemiCondensed" panose="020B0502040204020203" pitchFamily="34" charset="0"/>
              </a:rPr>
              <a:t>1961</a:t>
            </a:r>
            <a:r>
              <a:rPr lang="tr-TR" sz="2000" dirty="0" smtClean="0">
                <a:solidFill>
                  <a:schemeClr val="bg1"/>
                </a:solidFill>
                <a:latin typeface="Bahnschrift SemiCondensed" panose="020B0502040204020203" pitchFamily="34" charset="0"/>
              </a:rPr>
              <a:t>.</a:t>
            </a:r>
          </a:p>
          <a:p>
            <a:pPr marL="0" indent="0">
              <a:buNone/>
            </a:pPr>
            <a:r>
              <a:rPr lang="en-US" sz="2000" dirty="0" smtClean="0">
                <a:solidFill>
                  <a:srgbClr val="FF9900"/>
                </a:solidFill>
                <a:latin typeface="Bahnschrift SemiCondensed" panose="020B0502040204020203" pitchFamily="34" charset="0"/>
              </a:rPr>
              <a:t>Digital </a:t>
            </a:r>
            <a:r>
              <a:rPr lang="en-US" sz="2000" dirty="0">
                <a:solidFill>
                  <a:srgbClr val="FF9900"/>
                </a:solidFill>
                <a:latin typeface="Bahnschrift SemiCondensed" panose="020B0502040204020203" pitchFamily="34" charset="0"/>
              </a:rPr>
              <a:t>Data Storage (</a:t>
            </a:r>
            <a:r>
              <a:rPr lang="en-US" sz="2000" dirty="0" smtClean="0">
                <a:solidFill>
                  <a:srgbClr val="FF9900"/>
                </a:solidFill>
                <a:latin typeface="Bahnschrift SemiCondensed" panose="020B0502040204020203" pitchFamily="34" charset="0"/>
              </a:rPr>
              <a:t>DDS)</a:t>
            </a:r>
            <a:r>
              <a:rPr lang="tr-TR" sz="2000" dirty="0" smtClean="0">
                <a:solidFill>
                  <a:srgbClr val="FF9900"/>
                </a:solidFill>
                <a:latin typeface="Bahnschrift SemiCondensed" panose="020B0502040204020203" pitchFamily="34" charset="0"/>
              </a:rPr>
              <a:t>: </a:t>
            </a:r>
            <a:r>
              <a:rPr lang="tr-TR" sz="2000" dirty="0" smtClean="0">
                <a:solidFill>
                  <a:schemeClr val="bg1"/>
                </a:solidFill>
                <a:latin typeface="Bahnschrift SemiCondensed" panose="020B0502040204020203" pitchFamily="34" charset="0"/>
              </a:rPr>
              <a:t>C</a:t>
            </a:r>
            <a:r>
              <a:rPr lang="en-US" sz="2000" dirty="0" err="1" smtClean="0">
                <a:solidFill>
                  <a:schemeClr val="bg1"/>
                </a:solidFill>
                <a:latin typeface="Bahnschrift SemiCondensed" panose="020B0502040204020203" pitchFamily="34" charset="0"/>
              </a:rPr>
              <a:t>omputer</a:t>
            </a:r>
            <a:r>
              <a:rPr lang="en-US" sz="2000" dirty="0" smtClean="0">
                <a:solidFill>
                  <a:schemeClr val="bg1"/>
                </a:solidFill>
                <a:latin typeface="Bahnschrift SemiCondensed" panose="020B0502040204020203" pitchFamily="34" charset="0"/>
              </a:rPr>
              <a:t> </a:t>
            </a:r>
            <a:r>
              <a:rPr lang="en-US" sz="2000" dirty="0">
                <a:solidFill>
                  <a:schemeClr val="bg1"/>
                </a:solidFill>
                <a:latin typeface="Bahnschrift SemiCondensed" panose="020B0502040204020203" pitchFamily="34" charset="0"/>
              </a:rPr>
              <a:t>data storage technology that is based upon the digital audio tape (DAT) format that was developed during the </a:t>
            </a:r>
            <a:r>
              <a:rPr lang="en-US" sz="2000" dirty="0" smtClean="0">
                <a:solidFill>
                  <a:schemeClr val="bg1"/>
                </a:solidFill>
                <a:latin typeface="Bahnschrift SemiCondensed" panose="020B0502040204020203" pitchFamily="34" charset="0"/>
              </a:rPr>
              <a:t>1980s.</a:t>
            </a:r>
            <a:endParaRPr lang="tr-TR" sz="2000" dirty="0" smtClean="0">
              <a:solidFill>
                <a:schemeClr val="bg1"/>
              </a:solidFill>
              <a:latin typeface="Bahnschrift SemiCondensed" panose="020B0502040204020203" pitchFamily="34" charset="0"/>
            </a:endParaRPr>
          </a:p>
          <a:p>
            <a:pPr marL="0" indent="0">
              <a:buNone/>
            </a:pPr>
            <a:r>
              <a:rPr lang="tr-TR" sz="2000" dirty="0" err="1" smtClean="0">
                <a:solidFill>
                  <a:srgbClr val="FF9900"/>
                </a:solidFill>
                <a:latin typeface="Bahnschrift SemiCondensed" panose="020B0502040204020203" pitchFamily="34" charset="0"/>
              </a:rPr>
              <a:t>Digital</a:t>
            </a:r>
            <a:r>
              <a:rPr lang="tr-TR" sz="2000" dirty="0" smtClean="0">
                <a:solidFill>
                  <a:srgbClr val="FF9900"/>
                </a:solidFill>
                <a:latin typeface="Bahnschrift SemiCondensed" panose="020B0502040204020203" pitchFamily="34" charset="0"/>
              </a:rPr>
              <a:t> </a:t>
            </a:r>
            <a:r>
              <a:rPr lang="tr-TR" sz="2000" dirty="0" err="1" smtClean="0">
                <a:solidFill>
                  <a:srgbClr val="FF9900"/>
                </a:solidFill>
                <a:latin typeface="Bahnschrift SemiCondensed" panose="020B0502040204020203" pitchFamily="34" charset="0"/>
              </a:rPr>
              <a:t>Linear</a:t>
            </a:r>
            <a:r>
              <a:rPr lang="tr-TR" sz="2000" dirty="0" smtClean="0">
                <a:solidFill>
                  <a:srgbClr val="FF9900"/>
                </a:solidFill>
                <a:latin typeface="Bahnschrift SemiCondensed" panose="020B0502040204020203" pitchFamily="34" charset="0"/>
              </a:rPr>
              <a:t> </a:t>
            </a:r>
            <a:r>
              <a:rPr lang="tr-TR" sz="2000" dirty="0" err="1" smtClean="0">
                <a:solidFill>
                  <a:srgbClr val="FF9900"/>
                </a:solidFill>
                <a:latin typeface="Bahnschrift SemiCondensed" panose="020B0502040204020203" pitchFamily="34" charset="0"/>
              </a:rPr>
              <a:t>Tape</a:t>
            </a:r>
            <a:r>
              <a:rPr lang="tr-TR" sz="2000" dirty="0" smtClean="0">
                <a:solidFill>
                  <a:srgbClr val="FF9900"/>
                </a:solidFill>
                <a:latin typeface="Bahnschrift SemiCondensed" panose="020B0502040204020203" pitchFamily="34" charset="0"/>
              </a:rPr>
              <a:t> (DLT): </a:t>
            </a:r>
            <a:r>
              <a:rPr lang="tr-TR" sz="2000" dirty="0" smtClean="0">
                <a:solidFill>
                  <a:schemeClr val="bg1"/>
                </a:solidFill>
                <a:latin typeface="Bahnschrift SemiCondensed" panose="020B0502040204020203" pitchFamily="34" charset="0"/>
              </a:rPr>
              <a:t>M</a:t>
            </a:r>
            <a:r>
              <a:rPr lang="en-US" sz="2000" dirty="0" err="1" smtClean="0">
                <a:solidFill>
                  <a:schemeClr val="bg1"/>
                </a:solidFill>
                <a:latin typeface="Bahnschrift SemiCondensed" panose="020B0502040204020203" pitchFamily="34" charset="0"/>
              </a:rPr>
              <a:t>agnetic</a:t>
            </a:r>
            <a:r>
              <a:rPr lang="en-US" sz="2000" dirty="0" smtClean="0">
                <a:solidFill>
                  <a:schemeClr val="bg1"/>
                </a:solidFill>
                <a:latin typeface="Bahnschrift SemiCondensed" panose="020B0502040204020203" pitchFamily="34" charset="0"/>
              </a:rPr>
              <a:t> </a:t>
            </a:r>
            <a:r>
              <a:rPr lang="en-US" sz="2000" dirty="0">
                <a:solidFill>
                  <a:schemeClr val="bg1"/>
                </a:solidFill>
                <a:latin typeface="Bahnschrift SemiCondensed" panose="020B0502040204020203" pitchFamily="34" charset="0"/>
              </a:rPr>
              <a:t>tape data storage technology developed by Digital Equipment Corporation (DEC) from 1984 onwards</a:t>
            </a:r>
            <a:r>
              <a:rPr lang="en-US" sz="2000" dirty="0" smtClean="0">
                <a:solidFill>
                  <a:schemeClr val="bg1"/>
                </a:solidFill>
                <a:latin typeface="Bahnschrift SemiCondensed" panose="020B0502040204020203" pitchFamily="34" charset="0"/>
              </a:rPr>
              <a:t>.</a:t>
            </a:r>
            <a:endParaRPr lang="tr-TR" sz="2000" dirty="0" smtClean="0">
              <a:solidFill>
                <a:schemeClr val="bg1"/>
              </a:solidFill>
              <a:latin typeface="Bahnschrift SemiCondensed" panose="020B0502040204020203" pitchFamily="34" charset="0"/>
            </a:endParaRPr>
          </a:p>
          <a:p>
            <a:pPr marL="0" indent="0">
              <a:buNone/>
            </a:pPr>
            <a:r>
              <a:rPr lang="tr-TR" sz="2000" dirty="0">
                <a:solidFill>
                  <a:srgbClr val="FF9900"/>
                </a:solidFill>
                <a:latin typeface="Bahnschrift SemiCondensed" panose="020B0502040204020203" pitchFamily="34" charset="0"/>
              </a:rPr>
              <a:t>Data8: </a:t>
            </a:r>
            <a:r>
              <a:rPr lang="en-US" sz="2000" dirty="0">
                <a:solidFill>
                  <a:schemeClr val="bg1"/>
                </a:solidFill>
                <a:latin typeface="Bahnschrift SemiCondensed" panose="020B0502040204020203" pitchFamily="34" charset="0"/>
              </a:rPr>
              <a:t>The 8 mm Backup Format is a magnetic tape data storage format used in computer systems, pioneered by Exabyte Corporation</a:t>
            </a:r>
            <a:r>
              <a:rPr lang="tr-TR" sz="2000" dirty="0">
                <a:solidFill>
                  <a:schemeClr val="bg1"/>
                </a:solidFill>
                <a:latin typeface="Bahnschrift SemiCondensed" panose="020B0502040204020203" pitchFamily="34" charset="0"/>
              </a:rPr>
              <a:t> in 1987</a:t>
            </a:r>
            <a:r>
              <a:rPr lang="tr-TR" sz="2000" dirty="0" smtClean="0">
                <a:solidFill>
                  <a:schemeClr val="bg1"/>
                </a:solidFill>
                <a:latin typeface="Bahnschrift SemiCondensed" panose="020B0502040204020203" pitchFamily="34" charset="0"/>
              </a:rPr>
              <a:t>.</a:t>
            </a:r>
          </a:p>
          <a:p>
            <a:pPr marL="0" indent="0">
              <a:buNone/>
            </a:pPr>
            <a:r>
              <a:rPr lang="tr-TR" sz="2000" dirty="0" err="1" smtClean="0">
                <a:solidFill>
                  <a:srgbClr val="FF9900"/>
                </a:solidFill>
                <a:latin typeface="Bahnschrift SemiCondensed" panose="020B0502040204020203" pitchFamily="34" charset="0"/>
              </a:rPr>
              <a:t>Linear</a:t>
            </a:r>
            <a:r>
              <a:rPr lang="tr-TR" sz="2000" dirty="0" smtClean="0">
                <a:solidFill>
                  <a:srgbClr val="FF9900"/>
                </a:solidFill>
                <a:latin typeface="Bahnschrift SemiCondensed" panose="020B0502040204020203" pitchFamily="34" charset="0"/>
              </a:rPr>
              <a:t> </a:t>
            </a:r>
            <a:r>
              <a:rPr lang="tr-TR" sz="2000" dirty="0" err="1">
                <a:solidFill>
                  <a:srgbClr val="FF9900"/>
                </a:solidFill>
                <a:latin typeface="Bahnschrift SemiCondensed" panose="020B0502040204020203" pitchFamily="34" charset="0"/>
              </a:rPr>
              <a:t>Tape</a:t>
            </a:r>
            <a:r>
              <a:rPr lang="tr-TR" sz="2000" dirty="0">
                <a:solidFill>
                  <a:srgbClr val="FF9900"/>
                </a:solidFill>
                <a:latin typeface="Bahnschrift SemiCondensed" panose="020B0502040204020203" pitchFamily="34" charset="0"/>
              </a:rPr>
              <a:t>-Open </a:t>
            </a:r>
            <a:r>
              <a:rPr lang="tr-TR" sz="2000" dirty="0" smtClean="0">
                <a:solidFill>
                  <a:srgbClr val="FF9900"/>
                </a:solidFill>
                <a:latin typeface="Bahnschrift SemiCondensed" panose="020B0502040204020203" pitchFamily="34" charset="0"/>
              </a:rPr>
              <a:t>(LTO): </a:t>
            </a:r>
            <a:r>
              <a:rPr lang="en-US" sz="2000" dirty="0">
                <a:solidFill>
                  <a:srgbClr val="FF9900"/>
                </a:solidFill>
                <a:latin typeface="Bahnschrift SemiCondensed" panose="020B0502040204020203" pitchFamily="34" charset="0"/>
              </a:rPr>
              <a:t> </a:t>
            </a:r>
            <a:r>
              <a:rPr lang="tr-TR" sz="2000" dirty="0" smtClean="0">
                <a:solidFill>
                  <a:schemeClr val="bg1"/>
                </a:solidFill>
                <a:latin typeface="Bahnschrift SemiCondensed" panose="020B0502040204020203" pitchFamily="34" charset="0"/>
              </a:rPr>
              <a:t>M</a:t>
            </a:r>
            <a:r>
              <a:rPr lang="en-US" sz="2000" dirty="0" err="1" smtClean="0">
                <a:solidFill>
                  <a:schemeClr val="bg1"/>
                </a:solidFill>
                <a:latin typeface="Bahnschrift SemiCondensed" panose="020B0502040204020203" pitchFamily="34" charset="0"/>
              </a:rPr>
              <a:t>agnetic</a:t>
            </a:r>
            <a:r>
              <a:rPr lang="en-US" sz="2000" dirty="0" smtClean="0">
                <a:solidFill>
                  <a:schemeClr val="bg1"/>
                </a:solidFill>
                <a:latin typeface="Bahnschrift SemiCondensed" panose="020B0502040204020203" pitchFamily="34" charset="0"/>
              </a:rPr>
              <a:t> </a:t>
            </a:r>
            <a:r>
              <a:rPr lang="en-US" sz="2000" dirty="0">
                <a:solidFill>
                  <a:schemeClr val="bg1"/>
                </a:solidFill>
                <a:latin typeface="Bahnschrift SemiCondensed" panose="020B0502040204020203" pitchFamily="34" charset="0"/>
              </a:rPr>
              <a:t>tape data storage technology </a:t>
            </a:r>
            <a:r>
              <a:rPr lang="en-US" sz="2000" dirty="0" smtClean="0">
                <a:solidFill>
                  <a:schemeClr val="bg1"/>
                </a:solidFill>
                <a:latin typeface="Bahnschrift SemiCondensed" panose="020B0502040204020203" pitchFamily="34" charset="0"/>
              </a:rPr>
              <a:t>developed </a:t>
            </a:r>
            <a:r>
              <a:rPr lang="en-US" sz="2000" dirty="0">
                <a:solidFill>
                  <a:schemeClr val="bg1"/>
                </a:solidFill>
                <a:latin typeface="Bahnschrift SemiCondensed" panose="020B0502040204020203" pitchFamily="34" charset="0"/>
              </a:rPr>
              <a:t>in the late </a:t>
            </a:r>
            <a:r>
              <a:rPr lang="en-US" sz="2000" dirty="0" smtClean="0">
                <a:solidFill>
                  <a:schemeClr val="bg1"/>
                </a:solidFill>
                <a:latin typeface="Bahnschrift SemiCondensed" panose="020B0502040204020203" pitchFamily="34" charset="0"/>
              </a:rPr>
              <a:t>1990s</a:t>
            </a:r>
            <a:r>
              <a:rPr lang="tr-TR" sz="2000" dirty="0" smtClean="0">
                <a:solidFill>
                  <a:schemeClr val="bg1"/>
                </a:solidFill>
                <a:latin typeface="Bahnschrift SemiCondensed" panose="020B0502040204020203" pitchFamily="34" charset="0"/>
              </a:rPr>
              <a:t>.</a:t>
            </a:r>
            <a:endParaRPr lang="tr-TR" sz="2000" dirty="0">
              <a:solidFill>
                <a:schemeClr val="bg1"/>
              </a:solidFill>
              <a:latin typeface="Bahnschrift SemiCondensed" panose="020B0502040204020203" pitchFamily="34" charset="0"/>
            </a:endParaRPr>
          </a:p>
        </p:txBody>
      </p:sp>
      <p:grpSp>
        <p:nvGrpSpPr>
          <p:cNvPr id="4" name="Grup 3"/>
          <p:cNvGrpSpPr/>
          <p:nvPr/>
        </p:nvGrpSpPr>
        <p:grpSpPr>
          <a:xfrm>
            <a:off x="3889396" y="4214947"/>
            <a:ext cx="4406292" cy="2743480"/>
            <a:chOff x="4139380" y="4310555"/>
            <a:chExt cx="3875388" cy="2412925"/>
          </a:xfrm>
        </p:grpSpPr>
        <p:pic>
          <p:nvPicPr>
            <p:cNvPr id="6" name="Resim 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299587" y="4310555"/>
              <a:ext cx="2715181" cy="2412925"/>
            </a:xfrm>
            <a:prstGeom prst="rect">
              <a:avLst/>
            </a:prstGeom>
          </p:spPr>
        </p:pic>
        <p:pic>
          <p:nvPicPr>
            <p:cNvPr id="5" name="Resim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139380" y="5040557"/>
              <a:ext cx="1877961" cy="1417452"/>
            </a:xfrm>
            <a:prstGeom prst="rect">
              <a:avLst/>
            </a:prstGeom>
          </p:spPr>
        </p:pic>
      </p:grpSp>
    </p:spTree>
    <p:extLst>
      <p:ext uri="{BB962C8B-B14F-4D97-AF65-F5344CB8AC3E}">
        <p14:creationId xmlns:p14="http://schemas.microsoft.com/office/powerpoint/2010/main" xmlns="" val="33424643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 7"/>
          <p:cNvGrpSpPr/>
          <p:nvPr/>
        </p:nvGrpSpPr>
        <p:grpSpPr>
          <a:xfrm>
            <a:off x="3868477" y="549275"/>
            <a:ext cx="8323523" cy="6315154"/>
            <a:chOff x="3868477" y="549275"/>
            <a:chExt cx="8323523" cy="6315154"/>
          </a:xfrm>
        </p:grpSpPr>
        <p:sp>
          <p:nvSpPr>
            <p:cNvPr id="9" name="Çapraz Şerit 8"/>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0" name="Çapraz Şerit 9"/>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1" name="Yarım Çerçeve 10"/>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Types</a:t>
            </a:r>
            <a:r>
              <a:rPr lang="tr-TR" dirty="0" smtClean="0">
                <a:solidFill>
                  <a:srgbClr val="FFCC00"/>
                </a:solidFill>
                <a:latin typeface="Bahnschrift SemiBold SemiConden" panose="020B0502040204020203" pitchFamily="34" charset="0"/>
              </a:rPr>
              <a:t> </a:t>
            </a:r>
            <a:r>
              <a:rPr lang="tr-TR" dirty="0" err="1" smtClean="0">
                <a:solidFill>
                  <a:srgbClr val="FFCC00"/>
                </a:solidFill>
                <a:latin typeface="Bahnschrift SemiBold SemiConden" panose="020B0502040204020203" pitchFamily="34" charset="0"/>
              </a:rPr>
              <a:t>and</a:t>
            </a:r>
            <a:r>
              <a:rPr lang="tr-TR" dirty="0" smtClean="0">
                <a:solidFill>
                  <a:srgbClr val="FFCC00"/>
                </a:solidFill>
                <a:latin typeface="Bahnschrift SemiBold SemiConden" panose="020B0502040204020203" pitchFamily="34" charset="0"/>
              </a:rPr>
              <a:t> </a:t>
            </a:r>
            <a:r>
              <a:rPr lang="tr-TR" dirty="0" err="1" smtClean="0">
                <a:solidFill>
                  <a:srgbClr val="FFCC00"/>
                </a:solidFill>
                <a:latin typeface="Bahnschrift SemiBold SemiConden" panose="020B0502040204020203" pitchFamily="34" charset="0"/>
              </a:rPr>
              <a:t>Capacity</a:t>
            </a:r>
            <a:endParaRPr lang="tr-TR" dirty="0">
              <a:solidFill>
                <a:srgbClr val="FFCC00"/>
              </a:solidFill>
              <a:latin typeface="Bahnschrift SemiBold SemiConden" panose="020B0502040204020203" pitchFamily="34" charset="0"/>
            </a:endParaRPr>
          </a:p>
        </p:txBody>
      </p:sp>
      <p:pic>
        <p:nvPicPr>
          <p:cNvPr id="4" name="Resim 3"/>
          <p:cNvPicPr>
            <a:picLocks noChangeAspect="1"/>
          </p:cNvPicPr>
          <p:nvPr/>
        </p:nvPicPr>
        <p:blipFill>
          <a:blip r:embed="rId2" cstate="print"/>
          <a:stretch>
            <a:fillRect/>
          </a:stretch>
        </p:blipFill>
        <p:spPr>
          <a:xfrm>
            <a:off x="2391515" y="1979716"/>
            <a:ext cx="7408970" cy="3792327"/>
          </a:xfrm>
          <a:prstGeom prst="rect">
            <a:avLst/>
          </a:prstGeom>
        </p:spPr>
      </p:pic>
    </p:spTree>
    <p:extLst>
      <p:ext uri="{BB962C8B-B14F-4D97-AF65-F5344CB8AC3E}">
        <p14:creationId xmlns:p14="http://schemas.microsoft.com/office/powerpoint/2010/main" xmlns="" val="16504132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 8"/>
          <p:cNvGrpSpPr/>
          <p:nvPr/>
        </p:nvGrpSpPr>
        <p:grpSpPr>
          <a:xfrm>
            <a:off x="3868477" y="549275"/>
            <a:ext cx="8323523" cy="6315154"/>
            <a:chOff x="3868477" y="549275"/>
            <a:chExt cx="8323523" cy="6315154"/>
          </a:xfrm>
        </p:grpSpPr>
        <p:sp>
          <p:nvSpPr>
            <p:cNvPr id="10" name="Çapraz Şerit 9"/>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1" name="Çapraz Şerit 10"/>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2" name="Yarım Çerçeve 11"/>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a:noFill/>
        </p:spPr>
        <p:txBody>
          <a:bodyPr/>
          <a:lstStyle/>
          <a:p>
            <a:r>
              <a:rPr lang="tr-TR" dirty="0" err="1" smtClean="0">
                <a:solidFill>
                  <a:srgbClr val="FFCC00"/>
                </a:solidFill>
                <a:latin typeface="Bahnschrift SemiBold SemiConden" panose="020B0502040204020203" pitchFamily="34" charset="0"/>
              </a:rPr>
              <a:t>Usage</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p:txBody>
          <a:bodyPr/>
          <a:lstStyle/>
          <a:p>
            <a:r>
              <a:rPr lang="en-US" dirty="0" smtClean="0">
                <a:solidFill>
                  <a:schemeClr val="bg1"/>
                </a:solidFill>
                <a:latin typeface="Bahnschrift SemiCondensed" panose="020B0502040204020203" pitchFamily="34" charset="0"/>
              </a:rPr>
              <a:t>Data archiving</a:t>
            </a:r>
            <a:endParaRPr lang="tr-TR" dirty="0" smtClean="0">
              <a:solidFill>
                <a:schemeClr val="bg1"/>
              </a:solidFill>
              <a:latin typeface="Bahnschrift SemiCondensed" panose="020B0502040204020203" pitchFamily="34" charset="0"/>
            </a:endParaRPr>
          </a:p>
          <a:p>
            <a:r>
              <a:rPr lang="en-US" dirty="0">
                <a:solidFill>
                  <a:schemeClr val="bg1"/>
                </a:solidFill>
                <a:latin typeface="Bahnschrift SemiCondensed" panose="020B0502040204020203" pitchFamily="34" charset="0"/>
              </a:rPr>
              <a:t>Data </a:t>
            </a:r>
            <a:r>
              <a:rPr lang="en-US" dirty="0" smtClean="0">
                <a:solidFill>
                  <a:schemeClr val="bg1"/>
                </a:solidFill>
                <a:latin typeface="Bahnschrift SemiCondensed" panose="020B0502040204020203" pitchFamily="34" charset="0"/>
              </a:rPr>
              <a:t>backup</a:t>
            </a:r>
            <a:endParaRPr lang="tr-TR" dirty="0" smtClean="0">
              <a:solidFill>
                <a:schemeClr val="bg1"/>
              </a:solidFill>
              <a:latin typeface="Bahnschrift SemiCondensed" panose="020B0502040204020203" pitchFamily="34" charset="0"/>
            </a:endParaRPr>
          </a:p>
          <a:p>
            <a:r>
              <a:rPr lang="tr-TR" dirty="0" err="1" smtClean="0">
                <a:solidFill>
                  <a:schemeClr val="bg1"/>
                </a:solidFill>
                <a:latin typeface="Bahnschrift SemiCondensed" panose="020B0502040204020203" pitchFamily="34" charset="0"/>
              </a:rPr>
              <a:t>Audio</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recording</a:t>
            </a:r>
            <a:endParaRPr lang="tr-TR" dirty="0" smtClean="0">
              <a:solidFill>
                <a:schemeClr val="bg1"/>
              </a:solidFill>
              <a:latin typeface="Bahnschrift SemiCondensed" panose="020B0502040204020203" pitchFamily="34" charset="0"/>
            </a:endParaRPr>
          </a:p>
          <a:p>
            <a:r>
              <a:rPr lang="tr-TR" dirty="0" smtClean="0">
                <a:solidFill>
                  <a:schemeClr val="bg1"/>
                </a:solidFill>
                <a:latin typeface="Bahnschrift SemiCondensed" panose="020B0502040204020203" pitchFamily="34" charset="0"/>
              </a:rPr>
              <a:t>Video </a:t>
            </a:r>
            <a:r>
              <a:rPr lang="tr-TR" dirty="0" err="1" smtClean="0">
                <a:solidFill>
                  <a:schemeClr val="bg1"/>
                </a:solidFill>
                <a:latin typeface="Bahnschrift SemiCondensed" panose="020B0502040204020203" pitchFamily="34" charset="0"/>
              </a:rPr>
              <a:t>recording</a:t>
            </a:r>
            <a:endParaRPr lang="tr-TR" dirty="0" smtClean="0">
              <a:solidFill>
                <a:schemeClr val="bg1"/>
              </a:solidFill>
              <a:latin typeface="Bahnschrift SemiCondensed" panose="020B0502040204020203" pitchFamily="34" charset="0"/>
            </a:endParaRPr>
          </a:p>
          <a:p>
            <a:r>
              <a:rPr lang="en-US" dirty="0" smtClean="0">
                <a:solidFill>
                  <a:schemeClr val="bg1"/>
                </a:solidFill>
                <a:latin typeface="Bahnschrift SemiCondensed" panose="020B0502040204020203" pitchFamily="34" charset="0"/>
              </a:rPr>
              <a:t>Physically </a:t>
            </a:r>
            <a:r>
              <a:rPr lang="en-US" dirty="0">
                <a:solidFill>
                  <a:schemeClr val="bg1"/>
                </a:solidFill>
                <a:latin typeface="Bahnschrift SemiCondensed" panose="020B0502040204020203" pitchFamily="34" charset="0"/>
              </a:rPr>
              <a:t>large data </a:t>
            </a:r>
            <a:r>
              <a:rPr lang="en-US" dirty="0" smtClean="0">
                <a:solidFill>
                  <a:schemeClr val="bg1"/>
                </a:solidFill>
                <a:latin typeface="Bahnschrift SemiCondensed" panose="020B0502040204020203" pitchFamily="34" charset="0"/>
              </a:rPr>
              <a:t>transfer</a:t>
            </a:r>
            <a:endParaRPr lang="tr-TR" dirty="0" smtClean="0">
              <a:solidFill>
                <a:schemeClr val="bg1"/>
              </a:solidFill>
              <a:latin typeface="Bahnschrift SemiCondensed" panose="020B0502040204020203" pitchFamily="34" charset="0"/>
            </a:endParaRPr>
          </a:p>
          <a:p>
            <a:r>
              <a:rPr lang="en-US" dirty="0" smtClean="0">
                <a:solidFill>
                  <a:schemeClr val="bg1"/>
                </a:solidFill>
                <a:latin typeface="Bahnschrift SemiCondensed" panose="020B0502040204020203" pitchFamily="34" charset="0"/>
              </a:rPr>
              <a:t>Software distribution</a:t>
            </a:r>
            <a:endParaRPr lang="tr-TR" dirty="0" smtClean="0">
              <a:solidFill>
                <a:schemeClr val="bg1"/>
              </a:solidFill>
              <a:latin typeface="Bahnschrift SemiCondensed" panose="020B0502040204020203" pitchFamily="34" charset="0"/>
            </a:endParaRPr>
          </a:p>
        </p:txBody>
      </p:sp>
      <p:pic>
        <p:nvPicPr>
          <p:cNvPr id="4" name="Resim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241001" y="721863"/>
            <a:ext cx="4529591" cy="5292758"/>
          </a:xfrm>
          <a:prstGeom prst="rect">
            <a:avLst/>
          </a:prstGeom>
        </p:spPr>
      </p:pic>
    </p:spTree>
    <p:extLst>
      <p:ext uri="{BB962C8B-B14F-4D97-AF65-F5344CB8AC3E}">
        <p14:creationId xmlns:p14="http://schemas.microsoft.com/office/powerpoint/2010/main" xmlns="" val="17623089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 8"/>
          <p:cNvGrpSpPr/>
          <p:nvPr/>
        </p:nvGrpSpPr>
        <p:grpSpPr>
          <a:xfrm>
            <a:off x="3868477" y="549275"/>
            <a:ext cx="8323523" cy="6315154"/>
            <a:chOff x="3868477" y="549275"/>
            <a:chExt cx="8323523" cy="6315154"/>
          </a:xfrm>
        </p:grpSpPr>
        <p:sp>
          <p:nvSpPr>
            <p:cNvPr id="10" name="Çapraz Şerit 9"/>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1" name="Çapraz Şerit 10"/>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2" name="Yarım Çerçeve 11"/>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Advantages</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p:txBody>
          <a:bodyPr/>
          <a:lstStyle/>
          <a:p>
            <a:r>
              <a:rPr lang="tr-TR" dirty="0" err="1" smtClean="0">
                <a:solidFill>
                  <a:schemeClr val="bg1"/>
                </a:solidFill>
                <a:latin typeface="Bahnschrift SemiCondensed" panose="020B0502040204020203" pitchFamily="34" charset="0"/>
              </a:rPr>
              <a:t>Storing</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large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amounts</a:t>
            </a:r>
            <a:r>
              <a:rPr lang="tr-TR" dirty="0" smtClean="0">
                <a:solidFill>
                  <a:schemeClr val="bg1"/>
                </a:solidFill>
                <a:latin typeface="Bahnschrift SemiCondensed" panose="020B0502040204020203" pitchFamily="34" charset="0"/>
              </a:rPr>
              <a:t> data</a:t>
            </a:r>
          </a:p>
          <a:p>
            <a:r>
              <a:rPr lang="tr-TR" dirty="0" err="1" smtClean="0">
                <a:solidFill>
                  <a:schemeClr val="bg1"/>
                </a:solidFill>
                <a:latin typeface="Bahnschrift SemiCondensed" panose="020B0502040204020203" pitchFamily="34" charset="0"/>
              </a:rPr>
              <a:t>The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cheapest</a:t>
            </a:r>
            <a:r>
              <a:rPr lang="tr-TR" dirty="0" smtClean="0">
                <a:solidFill>
                  <a:schemeClr val="bg1"/>
                </a:solidFill>
                <a:latin typeface="Bahnschrift SemiCondensed" panose="020B0502040204020203" pitchFamily="34" charset="0"/>
              </a:rPr>
              <a:t> form of </a:t>
            </a:r>
            <a:r>
              <a:rPr lang="tr-TR" dirty="0" err="1" smtClean="0">
                <a:solidFill>
                  <a:schemeClr val="bg1"/>
                </a:solidFill>
                <a:latin typeface="Bahnschrift SemiCondensed" panose="020B0502040204020203" pitchFamily="34" charset="0"/>
              </a:rPr>
              <a:t>storage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per</a:t>
            </a:r>
            <a:r>
              <a:rPr lang="tr-TR" dirty="0" smtClean="0">
                <a:solidFill>
                  <a:schemeClr val="bg1"/>
                </a:solidFill>
                <a:latin typeface="Bahnschrift SemiCondensed" panose="020B0502040204020203" pitchFamily="34" charset="0"/>
              </a:rPr>
              <a:t> bit of </a:t>
            </a:r>
            <a:r>
              <a:rPr lang="tr-TR" dirty="0" err="1" smtClean="0">
                <a:solidFill>
                  <a:schemeClr val="bg1"/>
                </a:solidFill>
                <a:latin typeface="Bahnschrift SemiCondensed" panose="020B0502040204020203" pitchFamily="34" charset="0"/>
              </a:rPr>
              <a:t>stroage</a:t>
            </a:r>
            <a:endParaRPr lang="tr-TR" dirty="0" smtClean="0">
              <a:solidFill>
                <a:schemeClr val="bg1"/>
              </a:solidFill>
              <a:latin typeface="Bahnschrift SemiCondensed" panose="020B0502040204020203" pitchFamily="34" charset="0"/>
            </a:endParaRPr>
          </a:p>
          <a:p>
            <a:r>
              <a:rPr lang="tr-TR" dirty="0" smtClean="0">
                <a:solidFill>
                  <a:schemeClr val="bg1"/>
                </a:solidFill>
                <a:latin typeface="Bahnschrift SemiCondensed" panose="020B0502040204020203" pitchFamily="34" charset="0"/>
              </a:rPr>
              <a:t>High </a:t>
            </a:r>
            <a:r>
              <a:rPr lang="tr-TR" dirty="0" err="1" smtClean="0">
                <a:solidFill>
                  <a:schemeClr val="bg1"/>
                </a:solidFill>
                <a:latin typeface="Bahnschrift SemiCondensed" panose="020B0502040204020203" pitchFamily="34" charset="0"/>
              </a:rPr>
              <a:t>lifespan</a:t>
            </a:r>
            <a:r>
              <a:rPr lang="tr-TR" dirty="0" smtClean="0">
                <a:solidFill>
                  <a:schemeClr val="bg1"/>
                </a:solidFill>
                <a:latin typeface="Bahnschrift SemiCondensed" panose="020B0502040204020203" pitchFamily="34" charset="0"/>
              </a:rPr>
              <a:t> (15-50 </a:t>
            </a:r>
            <a:r>
              <a:rPr lang="tr-TR" dirty="0" err="1" smtClean="0">
                <a:solidFill>
                  <a:schemeClr val="bg1"/>
                </a:solidFill>
                <a:latin typeface="Bahnschrift SemiCondensed" panose="020B0502040204020203" pitchFamily="34" charset="0"/>
              </a:rPr>
              <a:t>years</a:t>
            </a:r>
            <a:r>
              <a:rPr lang="tr-TR" dirty="0" smtClean="0">
                <a:solidFill>
                  <a:schemeClr val="bg1"/>
                </a:solidFill>
                <a:latin typeface="Bahnschrift SemiCondensed" panose="020B0502040204020203" pitchFamily="34" charset="0"/>
              </a:rPr>
              <a:t>)</a:t>
            </a:r>
          </a:p>
          <a:p>
            <a:r>
              <a:rPr lang="tr-TR" dirty="0" err="1" smtClean="0">
                <a:solidFill>
                  <a:schemeClr val="bg1"/>
                </a:solidFill>
                <a:latin typeface="Bahnschrift SemiCondensed" panose="020B0502040204020203" pitchFamily="34" charset="0"/>
              </a:rPr>
              <a:t>Storing</a:t>
            </a:r>
            <a:r>
              <a:rPr lang="tr-TR" dirty="0" smtClean="0">
                <a:solidFill>
                  <a:schemeClr val="bg1"/>
                </a:solidFill>
                <a:latin typeface="Bahnschrift SemiCondensed" panose="020B0502040204020203" pitchFamily="34" charset="0"/>
              </a:rPr>
              <a:t> data offline</a:t>
            </a:r>
          </a:p>
          <a:p>
            <a:r>
              <a:rPr lang="tr-TR" dirty="0" err="1" smtClean="0">
                <a:solidFill>
                  <a:schemeClr val="bg1"/>
                </a:solidFill>
                <a:latin typeface="Bahnschrift SemiCondensed" panose="020B0502040204020203" pitchFamily="34" charset="0"/>
              </a:rPr>
              <a:t>Easy</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to</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handle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and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store</a:t>
            </a:r>
            <a:endParaRPr lang="tr-TR" dirty="0" smtClean="0">
              <a:solidFill>
                <a:schemeClr val="bg1"/>
              </a:solidFill>
              <a:latin typeface="Bahnschrift SemiCondensed" panose="020B0502040204020203" pitchFamily="34" charset="0"/>
            </a:endParaRPr>
          </a:p>
          <a:p>
            <a:r>
              <a:rPr lang="tr-TR" dirty="0" smtClean="0">
                <a:solidFill>
                  <a:schemeClr val="bg1"/>
                </a:solidFill>
                <a:latin typeface="Bahnschrift SemiCondensed" panose="020B0502040204020203" pitchFamily="34" charset="0"/>
              </a:rPr>
              <a:t>Can be </a:t>
            </a:r>
            <a:r>
              <a:rPr lang="tr-TR" dirty="0" err="1" smtClean="0">
                <a:solidFill>
                  <a:schemeClr val="bg1"/>
                </a:solidFill>
                <a:latin typeface="Bahnschrift SemiCondensed" panose="020B0502040204020203" pitchFamily="34" charset="0"/>
              </a:rPr>
              <a:t>erased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and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reused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many</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times</a:t>
            </a:r>
            <a:endParaRPr lang="tr-TR" dirty="0">
              <a:solidFill>
                <a:schemeClr val="bg1"/>
              </a:solidFill>
              <a:latin typeface="Bahnschrift SemiCondensed" panose="020B0502040204020203" pitchFamily="34" charset="0"/>
            </a:endParaRPr>
          </a:p>
        </p:txBody>
      </p:sp>
      <p:pic>
        <p:nvPicPr>
          <p:cNvPr id="4" name="Resim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7646126" y="1467905"/>
            <a:ext cx="3885967" cy="3979982"/>
          </a:xfrm>
          <a:prstGeom prst="rect">
            <a:avLst/>
          </a:prstGeom>
        </p:spPr>
      </p:pic>
    </p:spTree>
    <p:extLst>
      <p:ext uri="{BB962C8B-B14F-4D97-AF65-F5344CB8AC3E}">
        <p14:creationId xmlns:p14="http://schemas.microsoft.com/office/powerpoint/2010/main" xmlns="" val="31134613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 9"/>
          <p:cNvGrpSpPr/>
          <p:nvPr/>
        </p:nvGrpSpPr>
        <p:grpSpPr>
          <a:xfrm>
            <a:off x="3868477" y="549275"/>
            <a:ext cx="8323523" cy="6315154"/>
            <a:chOff x="3868477" y="549275"/>
            <a:chExt cx="8323523" cy="6315154"/>
          </a:xfrm>
        </p:grpSpPr>
        <p:sp>
          <p:nvSpPr>
            <p:cNvPr id="11" name="Çapraz Şerit 10"/>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2" name="Çapraz Şerit 11"/>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3" name="Yarım Çerçeve 12"/>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Disadvantages</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a:xfrm>
            <a:off x="838200" y="1825625"/>
            <a:ext cx="7938857" cy="4351338"/>
          </a:xfrm>
        </p:spPr>
        <p:txBody>
          <a:bodyPr>
            <a:normAutofit lnSpcReduction="10000"/>
          </a:bodyPr>
          <a:lstStyle/>
          <a:p>
            <a:r>
              <a:rPr lang="tr-TR" dirty="0" err="1" smtClean="0">
                <a:solidFill>
                  <a:schemeClr val="bg1"/>
                </a:solidFill>
                <a:latin typeface="Bahnschrift SemiCondensed" panose="020B0502040204020203" pitchFamily="34" charset="0"/>
              </a:rPr>
              <a:t>Slow</a:t>
            </a:r>
            <a:r>
              <a:rPr lang="tr-TR" dirty="0" smtClean="0">
                <a:solidFill>
                  <a:schemeClr val="bg1"/>
                </a:solidFill>
                <a:latin typeface="Bahnschrift SemiCondensed" panose="020B0502040204020203" pitchFamily="34" charset="0"/>
              </a:rPr>
              <a:t> data transfer rate</a:t>
            </a:r>
          </a:p>
          <a:p>
            <a:r>
              <a:rPr lang="tr-TR" dirty="0" err="1" smtClean="0">
                <a:solidFill>
                  <a:schemeClr val="bg1"/>
                </a:solidFill>
                <a:latin typeface="Bahnschrift SemiCondensed" panose="020B0502040204020203" pitchFamily="34" charset="0"/>
              </a:rPr>
              <a:t>Need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speacial</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equipment</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to</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record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and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read</a:t>
            </a:r>
            <a:endParaRPr lang="tr-TR" dirty="0" smtClean="0">
              <a:solidFill>
                <a:schemeClr val="bg1"/>
              </a:solidFill>
              <a:latin typeface="Bahnschrift SemiCondensed" panose="020B0502040204020203" pitchFamily="34" charset="0"/>
            </a:endParaRPr>
          </a:p>
          <a:p>
            <a:r>
              <a:rPr lang="tr-TR" dirty="0" smtClean="0">
                <a:solidFill>
                  <a:schemeClr val="bg1"/>
                </a:solidFill>
                <a:latin typeface="Bahnschrift SemiCondensed" panose="020B0502040204020203" pitchFamily="34" charset="0"/>
              </a:rPr>
              <a:t>Data </a:t>
            </a:r>
            <a:r>
              <a:rPr lang="tr-TR" dirty="0" err="1" smtClean="0">
                <a:solidFill>
                  <a:schemeClr val="bg1"/>
                </a:solidFill>
                <a:latin typeface="Bahnschrift SemiCondensed" panose="020B0502040204020203" pitchFamily="34" charset="0"/>
              </a:rPr>
              <a:t>cannot</a:t>
            </a:r>
            <a:r>
              <a:rPr lang="tr-TR" dirty="0" smtClean="0">
                <a:solidFill>
                  <a:schemeClr val="bg1"/>
                </a:solidFill>
                <a:latin typeface="Bahnschrift SemiCondensed" panose="020B0502040204020203" pitchFamily="34" charset="0"/>
              </a:rPr>
              <a:t> be </a:t>
            </a:r>
            <a:r>
              <a:rPr lang="tr-TR" dirty="0" err="1" smtClean="0">
                <a:solidFill>
                  <a:schemeClr val="bg1"/>
                </a:solidFill>
                <a:latin typeface="Bahnschrift SemiCondensed" panose="020B0502040204020203" pitchFamily="34" charset="0"/>
              </a:rPr>
              <a:t>retrieved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randomly</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because</a:t>
            </a:r>
            <a:r>
              <a:rPr lang="tr-TR" dirty="0" smtClean="0">
                <a:solidFill>
                  <a:schemeClr val="bg1"/>
                </a:solidFill>
                <a:latin typeface="Bahnschrift SemiCondensed" panose="020B0502040204020203" pitchFamily="34" charset="0"/>
              </a:rPr>
              <a:t> of </a:t>
            </a:r>
            <a:r>
              <a:rPr lang="tr-TR" dirty="0" err="1" smtClean="0">
                <a:solidFill>
                  <a:schemeClr val="bg1"/>
                </a:solidFill>
                <a:latin typeface="Bahnschrift SemiCondensed" panose="020B0502040204020203" pitchFamily="34" charset="0"/>
              </a:rPr>
              <a:t>linear</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recording</a:t>
            </a:r>
            <a:endParaRPr lang="tr-TR" dirty="0" smtClean="0">
              <a:solidFill>
                <a:schemeClr val="bg1"/>
              </a:solidFill>
              <a:latin typeface="Bahnschrift SemiCondensed" panose="020B0502040204020203" pitchFamily="34" charset="0"/>
            </a:endParaRPr>
          </a:p>
          <a:p>
            <a:r>
              <a:rPr lang="tr-TR" dirty="0" smtClean="0">
                <a:solidFill>
                  <a:schemeClr val="bg1"/>
                </a:solidFill>
                <a:latin typeface="Bahnschrift SemiCondensed" panose="020B0502040204020203" pitchFamily="34" charset="0"/>
              </a:rPr>
              <a:t>Data </a:t>
            </a:r>
            <a:r>
              <a:rPr lang="tr-TR" dirty="0" err="1" smtClean="0">
                <a:solidFill>
                  <a:schemeClr val="bg1"/>
                </a:solidFill>
                <a:latin typeface="Bahnschrift SemiCondensed" panose="020B0502040204020203" pitchFamily="34" charset="0"/>
              </a:rPr>
              <a:t>may</a:t>
            </a:r>
            <a:r>
              <a:rPr lang="tr-TR" dirty="0" smtClean="0">
                <a:solidFill>
                  <a:schemeClr val="bg1"/>
                </a:solidFill>
                <a:latin typeface="Bahnschrift SemiCondensed" panose="020B0502040204020203" pitchFamily="34" charset="0"/>
              </a:rPr>
              <a:t> be </a:t>
            </a:r>
            <a:r>
              <a:rPr lang="tr-TR" dirty="0" err="1" smtClean="0">
                <a:solidFill>
                  <a:schemeClr val="bg1"/>
                </a:solidFill>
                <a:latin typeface="Bahnschrift SemiCondensed" panose="020B0502040204020203" pitchFamily="34" charset="0"/>
              </a:rPr>
              <a:t>corrupted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if</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the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tape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placed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near</a:t>
            </a:r>
            <a:r>
              <a:rPr lang="tr-TR" dirty="0" smtClean="0">
                <a:solidFill>
                  <a:schemeClr val="bg1"/>
                </a:solidFill>
                <a:latin typeface="Bahnschrift SemiCondensed" panose="020B0502040204020203" pitchFamily="34" charset="0"/>
              </a:rPr>
              <a:t> a </a:t>
            </a:r>
            <a:r>
              <a:rPr lang="tr-TR" dirty="0" err="1" smtClean="0">
                <a:solidFill>
                  <a:schemeClr val="bg1"/>
                </a:solidFill>
                <a:latin typeface="Bahnschrift SemiCondensed" panose="020B0502040204020203" pitchFamily="34" charset="0"/>
              </a:rPr>
              <a:t>strong</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magnetic</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field</a:t>
            </a:r>
            <a:endParaRPr lang="tr-TR" dirty="0" smtClean="0">
              <a:solidFill>
                <a:schemeClr val="bg1"/>
              </a:solidFill>
              <a:latin typeface="Bahnschrift SemiCondensed" panose="020B0502040204020203" pitchFamily="34" charset="0"/>
            </a:endParaRPr>
          </a:p>
          <a:p>
            <a:r>
              <a:rPr lang="tr-TR" dirty="0" err="1" smtClean="0">
                <a:solidFill>
                  <a:schemeClr val="bg1"/>
                </a:solidFill>
                <a:latin typeface="Bahnschrift SemiCondensed" panose="020B0502040204020203" pitchFamily="34" charset="0"/>
              </a:rPr>
              <a:t>Tape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ribbon</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may</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get</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twisted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due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to</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warping</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resulting</a:t>
            </a:r>
            <a:r>
              <a:rPr lang="tr-TR" dirty="0" smtClean="0">
                <a:solidFill>
                  <a:schemeClr val="bg1"/>
                </a:solidFill>
                <a:latin typeface="Bahnschrift SemiCondensed" panose="020B0502040204020203" pitchFamily="34" charset="0"/>
              </a:rPr>
              <a:t> in </a:t>
            </a:r>
            <a:r>
              <a:rPr lang="tr-TR" dirty="0" err="1" smtClean="0">
                <a:solidFill>
                  <a:schemeClr val="bg1"/>
                </a:solidFill>
                <a:latin typeface="Bahnschrift SemiCondensed" panose="020B0502040204020203" pitchFamily="34" charset="0"/>
              </a:rPr>
              <a:t>loss</a:t>
            </a:r>
            <a:r>
              <a:rPr lang="tr-TR" dirty="0" smtClean="0">
                <a:solidFill>
                  <a:schemeClr val="bg1"/>
                </a:solidFill>
                <a:latin typeface="Bahnschrift SemiCondensed" panose="020B0502040204020203" pitchFamily="34" charset="0"/>
              </a:rPr>
              <a:t> of </a:t>
            </a:r>
            <a:r>
              <a:rPr lang="tr-TR" dirty="0" err="1" smtClean="0">
                <a:solidFill>
                  <a:schemeClr val="bg1"/>
                </a:solidFill>
                <a:latin typeface="Bahnschrift SemiCondensed" panose="020B0502040204020203" pitchFamily="34" charset="0"/>
              </a:rPr>
              <a:t>stored</a:t>
            </a:r>
            <a:r>
              <a:rPr lang="tr-TR" dirty="0" smtClean="0">
                <a:solidFill>
                  <a:schemeClr val="bg1"/>
                </a:solidFill>
                <a:latin typeface="Bahnschrift SemiCondensed" panose="020B0502040204020203" pitchFamily="34" charset="0"/>
              </a:rPr>
              <a:t> data</a:t>
            </a:r>
          </a:p>
          <a:p>
            <a:r>
              <a:rPr lang="en-US" dirty="0">
                <a:solidFill>
                  <a:schemeClr val="bg1"/>
                </a:solidFill>
                <a:latin typeface="Bahnschrift SemiCondensed" panose="020B0502040204020203" pitchFamily="34" charset="0"/>
              </a:rPr>
              <a:t>Dust, dirt and oils are harmful to </a:t>
            </a:r>
            <a:r>
              <a:rPr lang="en-US" dirty="0" smtClean="0">
                <a:solidFill>
                  <a:schemeClr val="bg1"/>
                </a:solidFill>
                <a:latin typeface="Bahnschrift SemiCondensed" panose="020B0502040204020203" pitchFamily="34" charset="0"/>
              </a:rPr>
              <a:t>tape</a:t>
            </a:r>
            <a:endParaRPr lang="tr-TR" dirty="0" smtClean="0">
              <a:solidFill>
                <a:schemeClr val="bg1"/>
              </a:solidFill>
              <a:latin typeface="Bahnschrift SemiCondensed" panose="020B0502040204020203" pitchFamily="34" charset="0"/>
            </a:endParaRPr>
          </a:p>
          <a:p>
            <a:r>
              <a:rPr lang="tr-TR" dirty="0" err="1" smtClean="0">
                <a:solidFill>
                  <a:schemeClr val="bg1"/>
                </a:solidFill>
                <a:latin typeface="Bahnschrift SemiCondensed" panose="020B0502040204020203" pitchFamily="34" charset="0"/>
              </a:rPr>
              <a:t>Vulnerable</a:t>
            </a:r>
            <a:r>
              <a:rPr lang="tr-TR" dirty="0" smtClean="0">
                <a:solidFill>
                  <a:schemeClr val="bg1"/>
                </a:solidFill>
                <a:latin typeface="Bahnschrift SemiCondensed" panose="020B0502040204020203" pitchFamily="34" charset="0"/>
              </a:rPr>
              <a:t> at </a:t>
            </a:r>
            <a:r>
              <a:rPr lang="tr-TR" dirty="0" err="1" smtClean="0">
                <a:solidFill>
                  <a:schemeClr val="bg1"/>
                </a:solidFill>
                <a:latin typeface="Bahnschrift SemiCondensed" panose="020B0502040204020203" pitchFamily="34" charset="0"/>
              </a:rPr>
              <a:t>high</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temperature</a:t>
            </a:r>
            <a:endParaRPr lang="tr-TR" dirty="0" smtClean="0">
              <a:solidFill>
                <a:schemeClr val="bg1"/>
              </a:solidFill>
              <a:latin typeface="Bahnschrift SemiCondensed" panose="020B0502040204020203" pitchFamily="34" charset="0"/>
            </a:endParaRPr>
          </a:p>
          <a:p>
            <a:endParaRPr lang="tr-TR" dirty="0">
              <a:solidFill>
                <a:schemeClr val="bg1"/>
              </a:solidFill>
              <a:latin typeface="Bahnschrift SemiCondensed" panose="020B0502040204020203" pitchFamily="34" charset="0"/>
            </a:endParaRPr>
          </a:p>
        </p:txBody>
      </p:sp>
      <p:pic>
        <p:nvPicPr>
          <p:cNvPr id="9" name="Resim 8"/>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679402" y="1611463"/>
            <a:ext cx="2709229" cy="3731963"/>
          </a:xfrm>
          <a:prstGeom prst="rect">
            <a:avLst/>
          </a:prstGeom>
        </p:spPr>
      </p:pic>
    </p:spTree>
    <p:extLst>
      <p:ext uri="{BB962C8B-B14F-4D97-AF65-F5344CB8AC3E}">
        <p14:creationId xmlns:p14="http://schemas.microsoft.com/office/powerpoint/2010/main" xmlns="" val="12105344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 7"/>
          <p:cNvGrpSpPr/>
          <p:nvPr/>
        </p:nvGrpSpPr>
        <p:grpSpPr>
          <a:xfrm>
            <a:off x="3868477" y="549275"/>
            <a:ext cx="8323523" cy="6315154"/>
            <a:chOff x="3868477" y="549275"/>
            <a:chExt cx="8323523" cy="6315154"/>
          </a:xfrm>
        </p:grpSpPr>
        <p:sp>
          <p:nvSpPr>
            <p:cNvPr id="9" name="Çapraz Şerit 8"/>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0" name="Çapraz Şerit 9"/>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1" name="Yarım Çerçeve 10"/>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Tape</a:t>
            </a:r>
            <a:r>
              <a:rPr lang="tr-TR" dirty="0" smtClean="0">
                <a:solidFill>
                  <a:srgbClr val="FFCC00"/>
                </a:solidFill>
                <a:latin typeface="Bahnschrift SemiBold SemiConden" panose="020B0502040204020203" pitchFamily="34" charset="0"/>
              </a:rPr>
              <a:t> </a:t>
            </a:r>
            <a:r>
              <a:rPr lang="tr-TR" dirty="0">
                <a:solidFill>
                  <a:srgbClr val="FFCC00"/>
                </a:solidFill>
                <a:latin typeface="Bahnschrift SemiBold SemiConden" panose="020B0502040204020203" pitchFamily="34" charset="0"/>
              </a:rPr>
              <a:t>vs. </a:t>
            </a:r>
            <a:r>
              <a:rPr lang="tr-TR" dirty="0" smtClean="0">
                <a:solidFill>
                  <a:srgbClr val="FFCC00"/>
                </a:solidFill>
                <a:latin typeface="Bahnschrift SemiBold SemiConden" panose="020B0502040204020203" pitchFamily="34" charset="0"/>
              </a:rPr>
              <a:t>Disk</a:t>
            </a:r>
            <a:endParaRPr lang="tr-TR" dirty="0">
              <a:solidFill>
                <a:srgbClr val="FFCC00"/>
              </a:solidFill>
              <a:latin typeface="Bahnschrift SemiBold SemiConden" panose="020B0502040204020203" pitchFamily="34" charset="0"/>
            </a:endParaRPr>
          </a:p>
        </p:txBody>
      </p:sp>
      <p:graphicFrame>
        <p:nvGraphicFramePr>
          <p:cNvPr id="6" name="İçerik Yer Tutucusu 5"/>
          <p:cNvGraphicFramePr>
            <a:graphicFrameLocks noGrp="1"/>
          </p:cNvGraphicFramePr>
          <p:nvPr>
            <p:ph idx="1"/>
            <p:extLst>
              <p:ext uri="{D42A27DB-BD31-4B8C-83A1-F6EECF244321}">
                <p14:modId xmlns:p14="http://schemas.microsoft.com/office/powerpoint/2010/main" xmlns="" val="3629249182"/>
              </p:ext>
            </p:extLst>
          </p:nvPr>
        </p:nvGraphicFramePr>
        <p:xfrm>
          <a:off x="838200" y="1426620"/>
          <a:ext cx="10515600" cy="5019040"/>
        </p:xfrm>
        <a:graphic>
          <a:graphicData uri="http://schemas.openxmlformats.org/drawingml/2006/table">
            <a:tbl>
              <a:tblPr firstRow="1" bandRow="1">
                <a:tableStyleId>{5C22544A-7EE6-4342-B048-85BDC9FD1C3A}</a:tableStyleId>
              </a:tblPr>
              <a:tblGrid>
                <a:gridCol w="3505200"/>
                <a:gridCol w="3505200"/>
                <a:gridCol w="3505200"/>
              </a:tblGrid>
              <a:tr h="370840">
                <a:tc>
                  <a:txBody>
                    <a:bodyPr/>
                    <a:lstStyle/>
                    <a:p>
                      <a:r>
                        <a:rPr lang="tr-TR" dirty="0" smtClean="0">
                          <a:solidFill>
                            <a:srgbClr val="FF9900"/>
                          </a:solidFill>
                          <a:latin typeface="Bahnschrift SemiCondensed" panose="020B0502040204020203" pitchFamily="34" charset="0"/>
                        </a:rPr>
                        <a:t>ATTRIBUTES</a:t>
                      </a:r>
                      <a:endParaRPr lang="tr-TR" dirty="0">
                        <a:solidFill>
                          <a:srgbClr val="FF9900"/>
                        </a:solidFill>
                        <a:latin typeface="Bahnschrift SemiCondensed" panose="020B0502040204020203" pitchFamily="34" charset="0"/>
                      </a:endParaRPr>
                    </a:p>
                  </a:txBody>
                  <a:tcPr>
                    <a:solidFill>
                      <a:schemeClr val="tx1">
                        <a:lumMod val="95000"/>
                        <a:lumOff val="5000"/>
                      </a:schemeClr>
                    </a:solidFill>
                  </a:tcPr>
                </a:tc>
                <a:tc>
                  <a:txBody>
                    <a:bodyPr/>
                    <a:lstStyle/>
                    <a:p>
                      <a:r>
                        <a:rPr lang="tr-TR" dirty="0" smtClean="0">
                          <a:solidFill>
                            <a:srgbClr val="FF9900"/>
                          </a:solidFill>
                          <a:latin typeface="Bahnschrift SemiCondensed" panose="020B0502040204020203" pitchFamily="34" charset="0"/>
                        </a:rPr>
                        <a:t>TAPE</a:t>
                      </a:r>
                      <a:endParaRPr lang="tr-TR" dirty="0">
                        <a:solidFill>
                          <a:srgbClr val="FF9900"/>
                        </a:solidFill>
                        <a:latin typeface="Bahnschrift SemiCondensed" panose="020B0502040204020203" pitchFamily="34" charset="0"/>
                      </a:endParaRPr>
                    </a:p>
                  </a:txBody>
                  <a:tcPr>
                    <a:solidFill>
                      <a:schemeClr val="tx1">
                        <a:lumMod val="95000"/>
                        <a:lumOff val="5000"/>
                      </a:schemeClr>
                    </a:solidFill>
                  </a:tcPr>
                </a:tc>
                <a:tc>
                  <a:txBody>
                    <a:bodyPr/>
                    <a:lstStyle/>
                    <a:p>
                      <a:r>
                        <a:rPr lang="tr-TR" dirty="0" smtClean="0">
                          <a:solidFill>
                            <a:srgbClr val="FF9900"/>
                          </a:solidFill>
                          <a:latin typeface="Bahnschrift SemiCondensed" panose="020B0502040204020203" pitchFamily="34" charset="0"/>
                        </a:rPr>
                        <a:t>DISK</a:t>
                      </a:r>
                      <a:endParaRPr lang="tr-TR" dirty="0">
                        <a:solidFill>
                          <a:srgbClr val="FF9900"/>
                        </a:solidFill>
                        <a:latin typeface="Bahnschrift SemiCondensed" panose="020B0502040204020203" pitchFamily="34" charset="0"/>
                      </a:endParaRPr>
                    </a:p>
                  </a:txBody>
                  <a:tcPr>
                    <a:solidFill>
                      <a:schemeClr val="tx1">
                        <a:lumMod val="95000"/>
                        <a:lumOff val="5000"/>
                      </a:schemeClr>
                    </a:solidFill>
                  </a:tcPr>
                </a:tc>
              </a:tr>
              <a:tr h="370840">
                <a:tc>
                  <a:txBody>
                    <a:bodyPr/>
                    <a:lstStyle/>
                    <a:p>
                      <a:r>
                        <a:rPr lang="tr-TR" sz="1800" b="0" i="0" kern="1200" dirty="0" smtClean="0">
                          <a:solidFill>
                            <a:schemeClr val="bg1"/>
                          </a:solidFill>
                          <a:effectLst/>
                          <a:latin typeface="Bahnschrift SemiCondensed" panose="020B0502040204020203" pitchFamily="34" charset="0"/>
                          <a:ea typeface="+mn-ea"/>
                          <a:cs typeface="+mn-cs"/>
                        </a:rPr>
                        <a:t>Basic</a:t>
                      </a:r>
                      <a:endParaRPr lang="tr-TR" dirty="0">
                        <a:solidFill>
                          <a:schemeClr val="bg1"/>
                        </a:solidFill>
                        <a:latin typeface="Bahnschrift SemiCondensed" panose="020B0502040204020203" pitchFamily="34" charset="0"/>
                      </a:endParaRPr>
                    </a:p>
                  </a:txBody>
                  <a:tcPr>
                    <a:solidFill>
                      <a:schemeClr val="tx1">
                        <a:lumMod val="85000"/>
                        <a:lumOff val="15000"/>
                      </a:schemeClr>
                    </a:solidFill>
                  </a:tcPr>
                </a:tc>
                <a:tc>
                  <a:txBody>
                    <a:bodyPr/>
                    <a:lstStyle/>
                    <a:p>
                      <a:r>
                        <a:rPr lang="en-US" sz="1800" b="0" i="0" kern="1200" dirty="0" smtClean="0">
                          <a:solidFill>
                            <a:schemeClr val="bg1"/>
                          </a:solidFill>
                          <a:effectLst/>
                          <a:latin typeface="Bahnschrift SemiCondensed" panose="020B0502040204020203" pitchFamily="34" charset="0"/>
                          <a:ea typeface="+mn-ea"/>
                          <a:cs typeface="+mn-cs"/>
                        </a:rPr>
                        <a:t>Used for backup, and storage of less frequently used information</a:t>
                      </a:r>
                      <a:r>
                        <a:rPr lang="tr-TR" sz="1800" b="0" i="0" kern="1200" baseline="0" dirty="0" smtClean="0">
                          <a:solidFill>
                            <a:schemeClr val="bg1"/>
                          </a:solidFill>
                          <a:effectLst/>
                          <a:latin typeface="Bahnschrift SemiCondensed" panose="020B0502040204020203" pitchFamily="34" charset="0"/>
                          <a:ea typeface="+mn-ea"/>
                          <a:cs typeface="+mn-cs"/>
                        </a:rPr>
                        <a:t> (</a:t>
                      </a:r>
                      <a:r>
                        <a:rPr lang="tr-TR" sz="1800" b="0" i="0" kern="1200" baseline="0" dirty="0" err="1" smtClean="0">
                          <a:solidFill>
                            <a:schemeClr val="bg1"/>
                          </a:solidFill>
                          <a:effectLst/>
                          <a:latin typeface="Bahnschrift SemiCondensed" panose="020B0502040204020203" pitchFamily="34" charset="0"/>
                          <a:ea typeface="+mn-ea"/>
                          <a:cs typeface="+mn-cs"/>
                        </a:rPr>
                        <a:t>Tertiary</a:t>
                      </a:r>
                      <a:r>
                        <a:rPr lang="tr-TR" sz="1800" b="0" i="0" kern="1200" baseline="0" dirty="0" smtClean="0">
                          <a:solidFill>
                            <a:schemeClr val="bg1"/>
                          </a:solidFill>
                          <a:effectLst/>
                          <a:latin typeface="Bahnschrift SemiCondensed" panose="020B0502040204020203" pitchFamily="34" charset="0"/>
                          <a:ea typeface="+mn-ea"/>
                          <a:cs typeface="+mn-cs"/>
                        </a:rPr>
                        <a:t> Storage)</a:t>
                      </a:r>
                      <a:r>
                        <a:rPr lang="en-US" sz="1800" b="0" i="0" kern="1200" dirty="0" smtClean="0">
                          <a:solidFill>
                            <a:schemeClr val="bg1"/>
                          </a:solidFill>
                          <a:effectLst/>
                          <a:latin typeface="Bahnschrift SemiCondensed" panose="020B0502040204020203" pitchFamily="34" charset="0"/>
                          <a:ea typeface="+mn-ea"/>
                          <a:cs typeface="+mn-cs"/>
                        </a:rPr>
                        <a:t>.</a:t>
                      </a:r>
                      <a:endParaRPr lang="tr-TR" dirty="0">
                        <a:solidFill>
                          <a:schemeClr val="bg1"/>
                        </a:solidFill>
                        <a:latin typeface="Bahnschrift SemiCondensed" panose="020B0502040204020203" pitchFamily="34" charset="0"/>
                      </a:endParaRPr>
                    </a:p>
                  </a:txBody>
                  <a:tcPr>
                    <a:solidFill>
                      <a:schemeClr val="tx1">
                        <a:lumMod val="85000"/>
                        <a:lumOff val="15000"/>
                      </a:schemeClr>
                    </a:solidFill>
                  </a:tcPr>
                </a:tc>
                <a:tc>
                  <a:txBody>
                    <a:bodyPr/>
                    <a:lstStyle/>
                    <a:p>
                      <a:r>
                        <a:rPr lang="en-US" sz="1800" b="0" i="0" kern="1200" dirty="0" smtClean="0">
                          <a:solidFill>
                            <a:schemeClr val="bg1"/>
                          </a:solidFill>
                          <a:effectLst/>
                          <a:latin typeface="Bahnschrift SemiCondensed" panose="020B0502040204020203" pitchFamily="34" charset="0"/>
                          <a:ea typeface="+mn-ea"/>
                          <a:cs typeface="+mn-cs"/>
                        </a:rPr>
                        <a:t>Used as a secondary storage.</a:t>
                      </a:r>
                      <a:endParaRPr lang="tr-TR" dirty="0">
                        <a:solidFill>
                          <a:schemeClr val="bg1"/>
                        </a:solidFill>
                        <a:latin typeface="Bahnschrift SemiCondensed" panose="020B0502040204020203" pitchFamily="34" charset="0"/>
                      </a:endParaRPr>
                    </a:p>
                  </a:txBody>
                  <a:tcPr>
                    <a:solidFill>
                      <a:schemeClr val="tx1">
                        <a:lumMod val="85000"/>
                        <a:lumOff val="15000"/>
                      </a:schemeClr>
                    </a:solidFill>
                  </a:tcPr>
                </a:tc>
              </a:tr>
              <a:tr h="370840">
                <a:tc>
                  <a:txBody>
                    <a:bodyPr/>
                    <a:lstStyle/>
                    <a:p>
                      <a:r>
                        <a:rPr lang="tr-TR" sz="1800" b="0" i="0" kern="1200" dirty="0" err="1" smtClean="0">
                          <a:solidFill>
                            <a:schemeClr val="bg1"/>
                          </a:solidFill>
                          <a:effectLst/>
                          <a:latin typeface="Bahnschrift SemiCondensed" panose="020B0502040204020203" pitchFamily="34" charset="0"/>
                          <a:ea typeface="+mn-ea"/>
                          <a:cs typeface="+mn-cs"/>
                        </a:rPr>
                        <a:t>Physical</a:t>
                      </a:r>
                      <a:endParaRPr lang="tr-TR" dirty="0">
                        <a:solidFill>
                          <a:schemeClr val="bg1"/>
                        </a:solidFill>
                        <a:latin typeface="Bahnschrift SemiCondensed" panose="020B0502040204020203" pitchFamily="34" charset="0"/>
                      </a:endParaRPr>
                    </a:p>
                  </a:txBody>
                  <a:tcPr>
                    <a:solidFill>
                      <a:schemeClr val="tx1">
                        <a:lumMod val="75000"/>
                        <a:lumOff val="25000"/>
                      </a:schemeClr>
                    </a:solidFill>
                  </a:tcPr>
                </a:tc>
                <a:tc>
                  <a:txBody>
                    <a:bodyPr/>
                    <a:lstStyle/>
                    <a:p>
                      <a:r>
                        <a:rPr lang="en-US" sz="1800" b="0" i="0" kern="1200" dirty="0" smtClean="0">
                          <a:solidFill>
                            <a:schemeClr val="bg1"/>
                          </a:solidFill>
                          <a:effectLst/>
                          <a:latin typeface="Bahnschrift SemiCondensed" panose="020B0502040204020203" pitchFamily="34" charset="0"/>
                          <a:ea typeface="+mn-ea"/>
                          <a:cs typeface="+mn-cs"/>
                        </a:rPr>
                        <a:t>Plastic thin, long, narrow strip coated with magnetic material.</a:t>
                      </a:r>
                      <a:endParaRPr lang="tr-TR" dirty="0">
                        <a:solidFill>
                          <a:schemeClr val="bg1"/>
                        </a:solidFill>
                        <a:latin typeface="Bahnschrift SemiCondensed" panose="020B0502040204020203" pitchFamily="34" charset="0"/>
                      </a:endParaRPr>
                    </a:p>
                  </a:txBody>
                  <a:tcPr>
                    <a:solidFill>
                      <a:schemeClr val="tx1">
                        <a:lumMod val="75000"/>
                        <a:lumOff val="25000"/>
                      </a:schemeClr>
                    </a:solidFill>
                  </a:tcPr>
                </a:tc>
                <a:tc>
                  <a:txBody>
                    <a:bodyPr/>
                    <a:lstStyle/>
                    <a:p>
                      <a:r>
                        <a:rPr lang="en-US" sz="1800" b="0" i="0" kern="1200" dirty="0" smtClean="0">
                          <a:solidFill>
                            <a:schemeClr val="bg1"/>
                          </a:solidFill>
                          <a:effectLst/>
                          <a:latin typeface="Bahnschrift SemiCondensed" panose="020B0502040204020203" pitchFamily="34" charset="0"/>
                          <a:ea typeface="+mn-ea"/>
                          <a:cs typeface="+mn-cs"/>
                        </a:rPr>
                        <a:t>Several platters arranged above each other to form a cylinder, each platter has a read-write head.</a:t>
                      </a:r>
                      <a:endParaRPr lang="tr-TR" dirty="0">
                        <a:solidFill>
                          <a:schemeClr val="bg1"/>
                        </a:solidFill>
                        <a:latin typeface="Bahnschrift SemiCondensed" panose="020B0502040204020203" pitchFamily="34" charset="0"/>
                      </a:endParaRPr>
                    </a:p>
                  </a:txBody>
                  <a:tcPr>
                    <a:solidFill>
                      <a:schemeClr val="tx1">
                        <a:lumMod val="75000"/>
                        <a:lumOff val="25000"/>
                      </a:schemeClr>
                    </a:solidFill>
                  </a:tcPr>
                </a:tc>
              </a:tr>
              <a:tr h="370840">
                <a:tc>
                  <a:txBody>
                    <a:bodyPr/>
                    <a:lstStyle/>
                    <a:p>
                      <a:r>
                        <a:rPr lang="tr-TR" sz="1800" b="0" i="0" kern="1200" dirty="0" err="1" smtClean="0">
                          <a:solidFill>
                            <a:schemeClr val="bg1"/>
                          </a:solidFill>
                          <a:effectLst/>
                          <a:latin typeface="Bahnschrift SemiCondensed" panose="020B0502040204020203" pitchFamily="34" charset="0"/>
                          <a:ea typeface="+mn-ea"/>
                          <a:cs typeface="+mn-cs"/>
                        </a:rPr>
                        <a:t>Use</a:t>
                      </a:r>
                      <a:endParaRPr lang="tr-TR" dirty="0">
                        <a:solidFill>
                          <a:schemeClr val="bg1"/>
                        </a:solidFill>
                        <a:latin typeface="Bahnschrift SemiCondensed" panose="020B0502040204020203" pitchFamily="34" charset="0"/>
                      </a:endParaRPr>
                    </a:p>
                  </a:txBody>
                  <a:tcPr>
                    <a:solidFill>
                      <a:schemeClr val="tx1">
                        <a:lumMod val="85000"/>
                        <a:lumOff val="15000"/>
                      </a:schemeClr>
                    </a:solidFill>
                  </a:tcPr>
                </a:tc>
                <a:tc>
                  <a:txBody>
                    <a:bodyPr/>
                    <a:lstStyle/>
                    <a:p>
                      <a:r>
                        <a:rPr lang="tr-TR" sz="1800" b="0" i="0" kern="1200" dirty="0" err="1" smtClean="0">
                          <a:solidFill>
                            <a:schemeClr val="bg1"/>
                          </a:solidFill>
                          <a:effectLst/>
                          <a:latin typeface="Bahnschrift SemiCondensed" panose="020B0502040204020203" pitchFamily="34" charset="0"/>
                          <a:ea typeface="+mn-ea"/>
                          <a:cs typeface="+mn-cs"/>
                        </a:rPr>
                        <a:t>Sequential</a:t>
                      </a:r>
                      <a:r>
                        <a:rPr lang="tr-TR" sz="1800" b="0" i="0" kern="1200" dirty="0" smtClean="0">
                          <a:solidFill>
                            <a:schemeClr val="bg1"/>
                          </a:solidFill>
                          <a:effectLst/>
                          <a:latin typeface="Bahnschrift SemiCondensed" panose="020B0502040204020203" pitchFamily="34" charset="0"/>
                          <a:ea typeface="+mn-ea"/>
                          <a:cs typeface="+mn-cs"/>
                        </a:rPr>
                        <a:t> </a:t>
                      </a:r>
                      <a:r>
                        <a:rPr lang="tr-TR" sz="1800" b="0" i="0" kern="1200" dirty="0" err="1" smtClean="0">
                          <a:solidFill>
                            <a:schemeClr val="bg1"/>
                          </a:solidFill>
                          <a:effectLst/>
                          <a:latin typeface="Bahnschrift SemiCondensed" panose="020B0502040204020203" pitchFamily="34" charset="0"/>
                          <a:ea typeface="+mn-ea"/>
                          <a:cs typeface="+mn-cs"/>
                        </a:rPr>
                        <a:t>access</a:t>
                      </a:r>
                      <a:r>
                        <a:rPr lang="tr-TR" sz="1800" b="0" i="0" kern="1200" dirty="0" smtClean="0">
                          <a:solidFill>
                            <a:schemeClr val="bg1"/>
                          </a:solidFill>
                          <a:effectLst/>
                          <a:latin typeface="Bahnschrift SemiCondensed" panose="020B0502040204020203" pitchFamily="34" charset="0"/>
                          <a:ea typeface="+mn-ea"/>
                          <a:cs typeface="+mn-cs"/>
                        </a:rPr>
                        <a:t>.</a:t>
                      </a:r>
                      <a:endParaRPr lang="tr-TR" dirty="0">
                        <a:solidFill>
                          <a:schemeClr val="bg1"/>
                        </a:solidFill>
                        <a:latin typeface="Bahnschrift SemiCondensed" panose="020B0502040204020203" pitchFamily="34" charset="0"/>
                      </a:endParaRPr>
                    </a:p>
                  </a:txBody>
                  <a:tcPr>
                    <a:solidFill>
                      <a:schemeClr val="tx1">
                        <a:lumMod val="85000"/>
                        <a:lumOff val="15000"/>
                      </a:schemeClr>
                    </a:solidFill>
                  </a:tcPr>
                </a:tc>
                <a:tc>
                  <a:txBody>
                    <a:bodyPr/>
                    <a:lstStyle/>
                    <a:p>
                      <a:r>
                        <a:rPr lang="tr-TR" sz="1800" b="0" i="0" kern="1200" dirty="0" err="1" smtClean="0">
                          <a:solidFill>
                            <a:schemeClr val="bg1"/>
                          </a:solidFill>
                          <a:effectLst/>
                          <a:latin typeface="Bahnschrift SemiCondensed" panose="020B0502040204020203" pitchFamily="34" charset="0"/>
                          <a:ea typeface="+mn-ea"/>
                          <a:cs typeface="+mn-cs"/>
                        </a:rPr>
                        <a:t>Random</a:t>
                      </a:r>
                      <a:r>
                        <a:rPr lang="tr-TR" sz="1800" b="0" i="0" kern="1200" dirty="0" smtClean="0">
                          <a:solidFill>
                            <a:schemeClr val="bg1"/>
                          </a:solidFill>
                          <a:effectLst/>
                          <a:latin typeface="Bahnschrift SemiCondensed" panose="020B0502040204020203" pitchFamily="34" charset="0"/>
                          <a:ea typeface="+mn-ea"/>
                          <a:cs typeface="+mn-cs"/>
                        </a:rPr>
                        <a:t> </a:t>
                      </a:r>
                      <a:r>
                        <a:rPr lang="tr-TR" sz="1800" b="0" i="0" kern="1200" dirty="0" err="1" smtClean="0">
                          <a:solidFill>
                            <a:schemeClr val="bg1"/>
                          </a:solidFill>
                          <a:effectLst/>
                          <a:latin typeface="Bahnschrift SemiCondensed" panose="020B0502040204020203" pitchFamily="34" charset="0"/>
                          <a:ea typeface="+mn-ea"/>
                          <a:cs typeface="+mn-cs"/>
                        </a:rPr>
                        <a:t>access</a:t>
                      </a:r>
                      <a:r>
                        <a:rPr lang="tr-TR" sz="1800" b="0" i="0" kern="1200" dirty="0" smtClean="0">
                          <a:solidFill>
                            <a:schemeClr val="bg1"/>
                          </a:solidFill>
                          <a:effectLst/>
                          <a:latin typeface="Bahnschrift SemiCondensed" panose="020B0502040204020203" pitchFamily="34" charset="0"/>
                          <a:ea typeface="+mn-ea"/>
                          <a:cs typeface="+mn-cs"/>
                        </a:rPr>
                        <a:t>.</a:t>
                      </a:r>
                      <a:endParaRPr lang="tr-TR" dirty="0">
                        <a:solidFill>
                          <a:schemeClr val="bg1"/>
                        </a:solidFill>
                        <a:latin typeface="Bahnschrift SemiCondensed" panose="020B0502040204020203" pitchFamily="34" charset="0"/>
                      </a:endParaRPr>
                    </a:p>
                  </a:txBody>
                  <a:tcPr>
                    <a:solidFill>
                      <a:schemeClr val="tx1">
                        <a:lumMod val="85000"/>
                        <a:lumOff val="15000"/>
                      </a:schemeClr>
                    </a:solidFill>
                  </a:tcPr>
                </a:tc>
              </a:tr>
              <a:tr h="370840">
                <a:tc>
                  <a:txBody>
                    <a:bodyPr/>
                    <a:lstStyle/>
                    <a:p>
                      <a:r>
                        <a:rPr lang="tr-TR" sz="1800" b="0" i="0" kern="1200" dirty="0" smtClean="0">
                          <a:solidFill>
                            <a:schemeClr val="bg1"/>
                          </a:solidFill>
                          <a:effectLst/>
                          <a:latin typeface="Bahnschrift SemiCondensed" panose="020B0502040204020203" pitchFamily="34" charset="0"/>
                          <a:ea typeface="+mn-ea"/>
                          <a:cs typeface="+mn-cs"/>
                        </a:rPr>
                        <a:t>Access</a:t>
                      </a:r>
                      <a:endParaRPr lang="tr-TR" dirty="0">
                        <a:solidFill>
                          <a:schemeClr val="bg1"/>
                        </a:solidFill>
                        <a:latin typeface="Bahnschrift SemiCondensed" panose="020B0502040204020203" pitchFamily="34" charset="0"/>
                      </a:endParaRPr>
                    </a:p>
                  </a:txBody>
                  <a:tcPr>
                    <a:solidFill>
                      <a:schemeClr val="tx1">
                        <a:lumMod val="75000"/>
                        <a:lumOff val="25000"/>
                      </a:schemeClr>
                    </a:solidFill>
                  </a:tcPr>
                </a:tc>
                <a:tc>
                  <a:txBody>
                    <a:bodyPr/>
                    <a:lstStyle/>
                    <a:p>
                      <a:r>
                        <a:rPr lang="tr-TR" sz="1800" b="0" i="0" kern="1200" dirty="0" err="1" smtClean="0">
                          <a:solidFill>
                            <a:schemeClr val="bg1"/>
                          </a:solidFill>
                          <a:effectLst/>
                          <a:latin typeface="Bahnschrift SemiCondensed" panose="020B0502040204020203" pitchFamily="34" charset="0"/>
                          <a:ea typeface="+mn-ea"/>
                          <a:cs typeface="+mn-cs"/>
                        </a:rPr>
                        <a:t>Slower</a:t>
                      </a:r>
                      <a:r>
                        <a:rPr lang="tr-TR" sz="1800" b="0" i="0" kern="1200" dirty="0" smtClean="0">
                          <a:solidFill>
                            <a:schemeClr val="bg1"/>
                          </a:solidFill>
                          <a:effectLst/>
                          <a:latin typeface="Bahnschrift SemiCondensed" panose="020B0502040204020203" pitchFamily="34" charset="0"/>
                          <a:ea typeface="+mn-ea"/>
                          <a:cs typeface="+mn-cs"/>
                        </a:rPr>
                        <a:t> in data </a:t>
                      </a:r>
                      <a:r>
                        <a:rPr lang="tr-TR" sz="1800" b="0" i="0" kern="1200" dirty="0" err="1" smtClean="0">
                          <a:solidFill>
                            <a:schemeClr val="bg1"/>
                          </a:solidFill>
                          <a:effectLst/>
                          <a:latin typeface="Bahnschrift SemiCondensed" panose="020B0502040204020203" pitchFamily="34" charset="0"/>
                          <a:ea typeface="+mn-ea"/>
                          <a:cs typeface="+mn-cs"/>
                        </a:rPr>
                        <a:t>accessing</a:t>
                      </a:r>
                      <a:r>
                        <a:rPr lang="tr-TR" sz="1800" b="0" i="0" kern="1200" dirty="0" smtClean="0">
                          <a:solidFill>
                            <a:schemeClr val="bg1"/>
                          </a:solidFill>
                          <a:effectLst/>
                          <a:latin typeface="Bahnschrift SemiCondensed" panose="020B0502040204020203" pitchFamily="34" charset="0"/>
                          <a:ea typeface="+mn-ea"/>
                          <a:cs typeface="+mn-cs"/>
                        </a:rPr>
                        <a:t>.</a:t>
                      </a:r>
                      <a:endParaRPr lang="tr-TR" dirty="0">
                        <a:solidFill>
                          <a:schemeClr val="bg1"/>
                        </a:solidFill>
                        <a:latin typeface="Bahnschrift SemiCondensed" panose="020B0502040204020203" pitchFamily="34" charset="0"/>
                      </a:endParaRPr>
                    </a:p>
                  </a:txBody>
                  <a:tcPr>
                    <a:solidFill>
                      <a:schemeClr val="tx1">
                        <a:lumMod val="75000"/>
                        <a:lumOff val="25000"/>
                      </a:schemeClr>
                    </a:solidFill>
                  </a:tcPr>
                </a:tc>
                <a:tc>
                  <a:txBody>
                    <a:bodyPr/>
                    <a:lstStyle/>
                    <a:p>
                      <a:r>
                        <a:rPr lang="tr-TR" sz="1800" b="0" i="0" kern="1200" dirty="0" err="1" smtClean="0">
                          <a:solidFill>
                            <a:schemeClr val="bg1"/>
                          </a:solidFill>
                          <a:effectLst/>
                          <a:latin typeface="Bahnschrift SemiCondensed" panose="020B0502040204020203" pitchFamily="34" charset="0"/>
                          <a:ea typeface="+mn-ea"/>
                          <a:cs typeface="+mn-cs"/>
                        </a:rPr>
                        <a:t>Fast</a:t>
                      </a:r>
                      <a:r>
                        <a:rPr lang="tr-TR" sz="1800" b="0" i="0" kern="1200" dirty="0" smtClean="0">
                          <a:solidFill>
                            <a:schemeClr val="bg1"/>
                          </a:solidFill>
                          <a:effectLst/>
                          <a:latin typeface="Bahnschrift SemiCondensed" panose="020B0502040204020203" pitchFamily="34" charset="0"/>
                          <a:ea typeface="+mn-ea"/>
                          <a:cs typeface="+mn-cs"/>
                        </a:rPr>
                        <a:t> in data </a:t>
                      </a:r>
                      <a:r>
                        <a:rPr lang="tr-TR" sz="1800" b="0" i="0" kern="1200" dirty="0" err="1" smtClean="0">
                          <a:solidFill>
                            <a:schemeClr val="bg1"/>
                          </a:solidFill>
                          <a:effectLst/>
                          <a:latin typeface="Bahnschrift SemiCondensed" panose="020B0502040204020203" pitchFamily="34" charset="0"/>
                          <a:ea typeface="+mn-ea"/>
                          <a:cs typeface="+mn-cs"/>
                        </a:rPr>
                        <a:t>accessing</a:t>
                      </a:r>
                      <a:r>
                        <a:rPr lang="tr-TR" sz="1800" b="0" i="0" kern="1200" dirty="0" smtClean="0">
                          <a:solidFill>
                            <a:schemeClr val="bg1"/>
                          </a:solidFill>
                          <a:effectLst/>
                          <a:latin typeface="Bahnschrift SemiCondensed" panose="020B0502040204020203" pitchFamily="34" charset="0"/>
                          <a:ea typeface="+mn-ea"/>
                          <a:cs typeface="+mn-cs"/>
                        </a:rPr>
                        <a:t>.</a:t>
                      </a:r>
                      <a:endParaRPr lang="tr-TR" dirty="0">
                        <a:solidFill>
                          <a:schemeClr val="bg1"/>
                        </a:solidFill>
                        <a:latin typeface="Bahnschrift SemiCondensed" panose="020B0502040204020203" pitchFamily="34" charset="0"/>
                      </a:endParaRPr>
                    </a:p>
                  </a:txBody>
                  <a:tcPr>
                    <a:solidFill>
                      <a:schemeClr val="tx1">
                        <a:lumMod val="75000"/>
                        <a:lumOff val="25000"/>
                      </a:schemeClr>
                    </a:solidFill>
                  </a:tcPr>
                </a:tc>
              </a:tr>
              <a:tr h="370840">
                <a:tc>
                  <a:txBody>
                    <a:bodyPr/>
                    <a:lstStyle/>
                    <a:p>
                      <a:r>
                        <a:rPr lang="tr-TR" sz="1800" b="0" i="0" kern="1200" dirty="0" smtClean="0">
                          <a:solidFill>
                            <a:schemeClr val="bg1"/>
                          </a:solidFill>
                          <a:effectLst/>
                          <a:latin typeface="Bahnschrift SemiCondensed" panose="020B0502040204020203" pitchFamily="34" charset="0"/>
                          <a:ea typeface="+mn-ea"/>
                          <a:cs typeface="+mn-cs"/>
                        </a:rPr>
                        <a:t>Update</a:t>
                      </a:r>
                      <a:endParaRPr lang="tr-TR" dirty="0">
                        <a:solidFill>
                          <a:schemeClr val="bg1"/>
                        </a:solidFill>
                        <a:latin typeface="Bahnschrift SemiCondensed" panose="020B0502040204020203" pitchFamily="34" charset="0"/>
                      </a:endParaRPr>
                    </a:p>
                  </a:txBody>
                  <a:tcPr>
                    <a:solidFill>
                      <a:schemeClr val="tx1">
                        <a:lumMod val="85000"/>
                        <a:lumOff val="15000"/>
                      </a:schemeClr>
                    </a:solidFill>
                  </a:tcPr>
                </a:tc>
                <a:tc>
                  <a:txBody>
                    <a:bodyPr/>
                    <a:lstStyle/>
                    <a:p>
                      <a:r>
                        <a:rPr lang="en-US" sz="1800" b="0" i="0" kern="1200" dirty="0" smtClean="0">
                          <a:solidFill>
                            <a:schemeClr val="bg1"/>
                          </a:solidFill>
                          <a:effectLst/>
                          <a:latin typeface="Bahnschrift SemiCondensed" panose="020B0502040204020203" pitchFamily="34" charset="0"/>
                          <a:ea typeface="+mn-ea"/>
                          <a:cs typeface="+mn-cs"/>
                        </a:rPr>
                        <a:t>Once data is fed, it can't be updated.</a:t>
                      </a:r>
                      <a:endParaRPr lang="tr-TR" dirty="0">
                        <a:solidFill>
                          <a:schemeClr val="bg1"/>
                        </a:solidFill>
                        <a:latin typeface="Bahnschrift SemiCondensed" panose="020B0502040204020203" pitchFamily="34" charset="0"/>
                      </a:endParaRPr>
                    </a:p>
                  </a:txBody>
                  <a:tcPr>
                    <a:solidFill>
                      <a:schemeClr val="tx1">
                        <a:lumMod val="85000"/>
                        <a:lumOff val="15000"/>
                      </a:schemeClr>
                    </a:solidFill>
                  </a:tcPr>
                </a:tc>
                <a:tc>
                  <a:txBody>
                    <a:bodyPr/>
                    <a:lstStyle/>
                    <a:p>
                      <a:r>
                        <a:rPr lang="tr-TR" sz="1800" b="0" i="0" kern="1200" dirty="0" smtClean="0">
                          <a:solidFill>
                            <a:schemeClr val="bg1"/>
                          </a:solidFill>
                          <a:effectLst/>
                          <a:latin typeface="Bahnschrift SemiCondensed" panose="020B0502040204020203" pitchFamily="34" charset="0"/>
                          <a:ea typeface="+mn-ea"/>
                          <a:cs typeface="+mn-cs"/>
                        </a:rPr>
                        <a:t>Data can be </a:t>
                      </a:r>
                      <a:r>
                        <a:rPr lang="tr-TR" sz="1800" b="0" i="0" kern="1200" dirty="0" err="1" smtClean="0">
                          <a:solidFill>
                            <a:schemeClr val="bg1"/>
                          </a:solidFill>
                          <a:effectLst/>
                          <a:latin typeface="Bahnschrift SemiCondensed" panose="020B0502040204020203" pitchFamily="34" charset="0"/>
                          <a:ea typeface="+mn-ea"/>
                          <a:cs typeface="+mn-cs"/>
                        </a:rPr>
                        <a:t>updated</a:t>
                      </a:r>
                      <a:r>
                        <a:rPr lang="tr-TR" sz="1800" b="0" i="0" kern="1200" dirty="0" smtClean="0">
                          <a:solidFill>
                            <a:schemeClr val="bg1"/>
                          </a:solidFill>
                          <a:effectLst/>
                          <a:latin typeface="Bahnschrift SemiCondensed" panose="020B0502040204020203" pitchFamily="34" charset="0"/>
                          <a:ea typeface="+mn-ea"/>
                          <a:cs typeface="+mn-cs"/>
                        </a:rPr>
                        <a:t>.</a:t>
                      </a:r>
                      <a:endParaRPr lang="tr-TR" dirty="0">
                        <a:solidFill>
                          <a:schemeClr val="bg1"/>
                        </a:solidFill>
                        <a:latin typeface="Bahnschrift SemiCondensed" panose="020B0502040204020203" pitchFamily="34" charset="0"/>
                      </a:endParaRPr>
                    </a:p>
                  </a:txBody>
                  <a:tcPr>
                    <a:solidFill>
                      <a:schemeClr val="tx1">
                        <a:lumMod val="85000"/>
                        <a:lumOff val="15000"/>
                      </a:schemeClr>
                    </a:solidFill>
                  </a:tcPr>
                </a:tc>
              </a:tr>
              <a:tr h="370840">
                <a:tc>
                  <a:txBody>
                    <a:bodyPr/>
                    <a:lstStyle/>
                    <a:p>
                      <a:r>
                        <a:rPr lang="tr-TR" sz="1800" b="0" i="0" kern="1200" dirty="0" smtClean="0">
                          <a:solidFill>
                            <a:schemeClr val="bg1"/>
                          </a:solidFill>
                          <a:effectLst/>
                          <a:latin typeface="Bahnschrift SemiCondensed" panose="020B0502040204020203" pitchFamily="34" charset="0"/>
                          <a:ea typeface="+mn-ea"/>
                          <a:cs typeface="+mn-cs"/>
                        </a:rPr>
                        <a:t>Data </a:t>
                      </a:r>
                      <a:r>
                        <a:rPr lang="tr-TR" sz="1800" b="0" i="0" kern="1200" dirty="0" err="1" smtClean="0">
                          <a:solidFill>
                            <a:schemeClr val="bg1"/>
                          </a:solidFill>
                          <a:effectLst/>
                          <a:latin typeface="Bahnschrift SemiCondensed" panose="020B0502040204020203" pitchFamily="34" charset="0"/>
                          <a:ea typeface="+mn-ea"/>
                          <a:cs typeface="+mn-cs"/>
                        </a:rPr>
                        <a:t>loss</a:t>
                      </a:r>
                      <a:endParaRPr lang="tr-TR" dirty="0">
                        <a:solidFill>
                          <a:schemeClr val="bg1"/>
                        </a:solidFill>
                        <a:latin typeface="Bahnschrift SemiCondensed" panose="020B0502040204020203" pitchFamily="34" charset="0"/>
                      </a:endParaRPr>
                    </a:p>
                  </a:txBody>
                  <a:tcPr>
                    <a:solidFill>
                      <a:schemeClr val="tx1">
                        <a:lumMod val="75000"/>
                        <a:lumOff val="25000"/>
                      </a:schemeClr>
                    </a:solidFill>
                  </a:tcPr>
                </a:tc>
                <a:tc>
                  <a:txBody>
                    <a:bodyPr/>
                    <a:lstStyle/>
                    <a:p>
                      <a:r>
                        <a:rPr lang="en-US" sz="1800" b="0" i="0" kern="1200" dirty="0" smtClean="0">
                          <a:solidFill>
                            <a:schemeClr val="bg1"/>
                          </a:solidFill>
                          <a:effectLst/>
                          <a:latin typeface="Bahnschrift SemiCondensed" panose="020B0502040204020203" pitchFamily="34" charset="0"/>
                          <a:ea typeface="+mn-ea"/>
                          <a:cs typeface="+mn-cs"/>
                        </a:rPr>
                        <a:t>If the tape is damaged, the data is lost.</a:t>
                      </a:r>
                      <a:endParaRPr lang="tr-TR" dirty="0">
                        <a:solidFill>
                          <a:schemeClr val="bg1"/>
                        </a:solidFill>
                        <a:latin typeface="Bahnschrift SemiCondensed" panose="020B0502040204020203" pitchFamily="34" charset="0"/>
                      </a:endParaRPr>
                    </a:p>
                  </a:txBody>
                  <a:tcPr>
                    <a:solidFill>
                      <a:schemeClr val="tx1">
                        <a:lumMod val="75000"/>
                        <a:lumOff val="25000"/>
                      </a:schemeClr>
                    </a:solidFill>
                  </a:tcPr>
                </a:tc>
                <a:tc>
                  <a:txBody>
                    <a:bodyPr/>
                    <a:lstStyle/>
                    <a:p>
                      <a:r>
                        <a:rPr lang="en-US" sz="1800" b="0" i="0" kern="1200" dirty="0" smtClean="0">
                          <a:solidFill>
                            <a:schemeClr val="bg1"/>
                          </a:solidFill>
                          <a:effectLst/>
                          <a:latin typeface="Bahnschrift SemiCondensed" panose="020B0502040204020203" pitchFamily="34" charset="0"/>
                          <a:ea typeface="+mn-ea"/>
                          <a:cs typeface="+mn-cs"/>
                        </a:rPr>
                        <a:t>In a case of a head crash, the data is lost.</a:t>
                      </a:r>
                      <a:endParaRPr lang="tr-TR" dirty="0">
                        <a:solidFill>
                          <a:schemeClr val="bg1"/>
                        </a:solidFill>
                        <a:latin typeface="Bahnschrift SemiCondensed" panose="020B0502040204020203" pitchFamily="34" charset="0"/>
                      </a:endParaRPr>
                    </a:p>
                  </a:txBody>
                  <a:tcPr>
                    <a:solidFill>
                      <a:schemeClr val="tx1">
                        <a:lumMod val="75000"/>
                        <a:lumOff val="25000"/>
                      </a:schemeClr>
                    </a:solidFill>
                  </a:tcPr>
                </a:tc>
              </a:tr>
              <a:tr h="370840">
                <a:tc>
                  <a:txBody>
                    <a:bodyPr/>
                    <a:lstStyle/>
                    <a:p>
                      <a:r>
                        <a:rPr lang="tr-TR" sz="1800" b="0" i="0" kern="1200" dirty="0" smtClean="0">
                          <a:solidFill>
                            <a:schemeClr val="bg1"/>
                          </a:solidFill>
                          <a:effectLst/>
                          <a:latin typeface="Bahnschrift SemiCondensed" panose="020B0502040204020203" pitchFamily="34" charset="0"/>
                          <a:ea typeface="+mn-ea"/>
                          <a:cs typeface="+mn-cs"/>
                        </a:rPr>
                        <a:t>Storage</a:t>
                      </a:r>
                      <a:endParaRPr lang="tr-TR" dirty="0">
                        <a:solidFill>
                          <a:schemeClr val="bg1"/>
                        </a:solidFill>
                        <a:latin typeface="Bahnschrift SemiCondensed" panose="020B0502040204020203" pitchFamily="34" charset="0"/>
                      </a:endParaRPr>
                    </a:p>
                  </a:txBody>
                  <a:tcPr>
                    <a:solidFill>
                      <a:schemeClr val="tx1">
                        <a:lumMod val="85000"/>
                        <a:lumOff val="15000"/>
                      </a:schemeClr>
                    </a:solidFill>
                  </a:tcPr>
                </a:tc>
                <a:tc>
                  <a:txBody>
                    <a:bodyPr/>
                    <a:lstStyle/>
                    <a:p>
                      <a:r>
                        <a:rPr lang="tr-TR" sz="1800" b="0" i="0" kern="1200" dirty="0" err="1" smtClean="0">
                          <a:solidFill>
                            <a:schemeClr val="bg1"/>
                          </a:solidFill>
                          <a:effectLst/>
                          <a:latin typeface="Bahnschrift SemiCondensed" panose="020B0502040204020203" pitchFamily="34" charset="0"/>
                          <a:ea typeface="+mn-ea"/>
                          <a:cs typeface="+mn-cs"/>
                        </a:rPr>
                        <a:t>Stores</a:t>
                      </a:r>
                      <a:r>
                        <a:rPr lang="tr-TR" sz="1800" b="0" i="0" kern="1200" dirty="0" smtClean="0">
                          <a:solidFill>
                            <a:schemeClr val="bg1"/>
                          </a:solidFill>
                          <a:effectLst/>
                          <a:latin typeface="Bahnschrift SemiCondensed" panose="020B0502040204020203" pitchFamily="34" charset="0"/>
                          <a:ea typeface="+mn-ea"/>
                          <a:cs typeface="+mn-cs"/>
                        </a:rPr>
                        <a:t> </a:t>
                      </a:r>
                      <a:r>
                        <a:rPr lang="en-US" sz="1800" b="0" i="0" kern="1200" dirty="0" smtClean="0">
                          <a:solidFill>
                            <a:schemeClr val="bg1"/>
                          </a:solidFill>
                          <a:effectLst/>
                          <a:latin typeface="Bahnschrift SemiCondensed" panose="020B0502040204020203" pitchFamily="34" charset="0"/>
                          <a:ea typeface="+mn-ea"/>
                          <a:cs typeface="+mn-cs"/>
                        </a:rPr>
                        <a:t>from 20 GB to </a:t>
                      </a:r>
                      <a:r>
                        <a:rPr lang="tr-TR" sz="1800" b="0" i="0" kern="1200" dirty="0" err="1" smtClean="0">
                          <a:solidFill>
                            <a:schemeClr val="bg1"/>
                          </a:solidFill>
                          <a:effectLst/>
                          <a:latin typeface="Bahnschrift SemiCondensed" panose="020B0502040204020203" pitchFamily="34" charset="0"/>
                          <a:ea typeface="+mn-ea"/>
                          <a:cs typeface="+mn-cs"/>
                        </a:rPr>
                        <a:t>Terabytes</a:t>
                      </a:r>
                      <a:r>
                        <a:rPr lang="en-US" sz="1800" b="0" i="0" kern="1200" dirty="0" smtClean="0">
                          <a:solidFill>
                            <a:schemeClr val="bg1"/>
                          </a:solidFill>
                          <a:effectLst/>
                          <a:latin typeface="Bahnschrift SemiCondensed" panose="020B0502040204020203" pitchFamily="34" charset="0"/>
                          <a:ea typeface="+mn-ea"/>
                          <a:cs typeface="+mn-cs"/>
                        </a:rPr>
                        <a:t>.</a:t>
                      </a:r>
                      <a:endParaRPr lang="tr-TR" dirty="0">
                        <a:solidFill>
                          <a:schemeClr val="bg1"/>
                        </a:solidFill>
                        <a:latin typeface="Bahnschrift SemiCondensed" panose="020B0502040204020203" pitchFamily="34" charset="0"/>
                      </a:endParaRPr>
                    </a:p>
                  </a:txBody>
                  <a:tcPr>
                    <a:solidFill>
                      <a:schemeClr val="tx1">
                        <a:lumMod val="85000"/>
                        <a:lumOff val="15000"/>
                      </a:schemeClr>
                    </a:solidFill>
                  </a:tcPr>
                </a:tc>
                <a:tc>
                  <a:txBody>
                    <a:bodyPr/>
                    <a:lstStyle/>
                    <a:p>
                      <a:r>
                        <a:rPr lang="en-US" sz="1800" b="0" i="0" kern="1200" dirty="0" smtClean="0">
                          <a:solidFill>
                            <a:schemeClr val="bg1"/>
                          </a:solidFill>
                          <a:effectLst/>
                          <a:latin typeface="Bahnschrift SemiCondensed" panose="020B0502040204020203" pitchFamily="34" charset="0"/>
                          <a:ea typeface="+mn-ea"/>
                          <a:cs typeface="+mn-cs"/>
                        </a:rPr>
                        <a:t>From </a:t>
                      </a:r>
                      <a:r>
                        <a:rPr lang="tr-TR" sz="1800" b="0" i="0" kern="1200" dirty="0" smtClean="0">
                          <a:solidFill>
                            <a:schemeClr val="bg1"/>
                          </a:solidFill>
                          <a:effectLst/>
                          <a:latin typeface="Bahnschrift SemiCondensed" panose="020B0502040204020203" pitchFamily="34" charset="0"/>
                          <a:ea typeface="+mn-ea"/>
                          <a:cs typeface="+mn-cs"/>
                        </a:rPr>
                        <a:t>s</a:t>
                      </a:r>
                      <a:r>
                        <a:rPr lang="en-US" sz="1800" b="0" i="0" kern="1200" dirty="0" err="1" smtClean="0">
                          <a:solidFill>
                            <a:schemeClr val="bg1"/>
                          </a:solidFill>
                          <a:effectLst/>
                          <a:latin typeface="Bahnschrift SemiCondensed" panose="020B0502040204020203" pitchFamily="34" charset="0"/>
                          <a:ea typeface="+mn-ea"/>
                          <a:cs typeface="+mn-cs"/>
                        </a:rPr>
                        <a:t>everal</a:t>
                      </a:r>
                      <a:r>
                        <a:rPr lang="en-US" sz="1800" b="0" i="0" kern="1200" dirty="0" smtClean="0">
                          <a:solidFill>
                            <a:schemeClr val="bg1"/>
                          </a:solidFill>
                          <a:effectLst/>
                          <a:latin typeface="Bahnschrift SemiCondensed" panose="020B0502040204020203" pitchFamily="34" charset="0"/>
                          <a:ea typeface="+mn-ea"/>
                          <a:cs typeface="+mn-cs"/>
                        </a:rPr>
                        <a:t> hundred GB to Terabytes</a:t>
                      </a:r>
                      <a:r>
                        <a:rPr lang="tr-TR" sz="1800" b="0" i="0" kern="1200" dirty="0" smtClean="0">
                          <a:solidFill>
                            <a:schemeClr val="bg1"/>
                          </a:solidFill>
                          <a:effectLst/>
                          <a:latin typeface="Bahnschrift SemiCondensed" panose="020B0502040204020203" pitchFamily="34" charset="0"/>
                          <a:ea typeface="+mn-ea"/>
                          <a:cs typeface="+mn-cs"/>
                        </a:rPr>
                        <a:t>.</a:t>
                      </a:r>
                      <a:endParaRPr lang="tr-TR" dirty="0">
                        <a:solidFill>
                          <a:schemeClr val="bg1"/>
                        </a:solidFill>
                        <a:latin typeface="Bahnschrift SemiCondensed" panose="020B0502040204020203" pitchFamily="34" charset="0"/>
                      </a:endParaRPr>
                    </a:p>
                  </a:txBody>
                  <a:tcPr>
                    <a:solidFill>
                      <a:schemeClr val="tx1">
                        <a:lumMod val="85000"/>
                        <a:lumOff val="15000"/>
                      </a:schemeClr>
                    </a:solidFill>
                  </a:tcPr>
                </a:tc>
              </a:tr>
              <a:tr h="370840">
                <a:tc>
                  <a:txBody>
                    <a:bodyPr/>
                    <a:lstStyle/>
                    <a:p>
                      <a:r>
                        <a:rPr lang="tr-TR" sz="1800" b="0" i="0" kern="1200" dirty="0" err="1" smtClean="0">
                          <a:solidFill>
                            <a:schemeClr val="bg1"/>
                          </a:solidFill>
                          <a:effectLst/>
                          <a:latin typeface="Bahnschrift SemiCondensed" panose="020B0502040204020203" pitchFamily="34" charset="0"/>
                          <a:ea typeface="+mn-ea"/>
                          <a:cs typeface="+mn-cs"/>
                        </a:rPr>
                        <a:t>Expense</a:t>
                      </a:r>
                      <a:endParaRPr lang="tr-TR" dirty="0">
                        <a:solidFill>
                          <a:schemeClr val="bg1"/>
                        </a:solidFill>
                        <a:latin typeface="Bahnschrift SemiCondensed" panose="020B0502040204020203" pitchFamily="34" charset="0"/>
                      </a:endParaRPr>
                    </a:p>
                  </a:txBody>
                  <a:tcPr>
                    <a:solidFill>
                      <a:schemeClr val="tx1">
                        <a:lumMod val="75000"/>
                        <a:lumOff val="25000"/>
                      </a:schemeClr>
                    </a:solidFill>
                  </a:tcPr>
                </a:tc>
                <a:tc>
                  <a:txBody>
                    <a:bodyPr/>
                    <a:lstStyle/>
                    <a:p>
                      <a:r>
                        <a:rPr lang="tr-TR" sz="1800" b="0" i="0" kern="1200" dirty="0" err="1" smtClean="0">
                          <a:solidFill>
                            <a:schemeClr val="bg1"/>
                          </a:solidFill>
                          <a:effectLst/>
                          <a:latin typeface="Bahnschrift SemiCondensed" panose="020B0502040204020203" pitchFamily="34" charset="0"/>
                          <a:ea typeface="+mn-ea"/>
                          <a:cs typeface="+mn-cs"/>
                        </a:rPr>
                        <a:t>Less</a:t>
                      </a:r>
                      <a:r>
                        <a:rPr lang="tr-TR" sz="1800" b="0" i="0" kern="1200" baseline="0" dirty="0" smtClean="0">
                          <a:solidFill>
                            <a:schemeClr val="bg1"/>
                          </a:solidFill>
                          <a:effectLst/>
                          <a:latin typeface="Bahnschrift SemiCondensed" panose="020B0502040204020203" pitchFamily="34" charset="0"/>
                          <a:ea typeface="+mn-ea"/>
                          <a:cs typeface="+mn-cs"/>
                        </a:rPr>
                        <a:t> </a:t>
                      </a:r>
                      <a:r>
                        <a:rPr lang="en-US" sz="1800" b="0" i="0" kern="1200" dirty="0" smtClean="0">
                          <a:solidFill>
                            <a:schemeClr val="bg1"/>
                          </a:solidFill>
                          <a:effectLst/>
                          <a:latin typeface="Bahnschrift SemiCondensed" panose="020B0502040204020203" pitchFamily="34" charset="0"/>
                          <a:ea typeface="+mn-ea"/>
                          <a:cs typeface="+mn-cs"/>
                        </a:rPr>
                        <a:t>expensive.</a:t>
                      </a:r>
                      <a:endParaRPr lang="tr-TR" dirty="0">
                        <a:solidFill>
                          <a:schemeClr val="bg1"/>
                        </a:solidFill>
                        <a:latin typeface="Bahnschrift SemiCondensed" panose="020B0502040204020203" pitchFamily="34" charset="0"/>
                      </a:endParaRPr>
                    </a:p>
                  </a:txBody>
                  <a:tcPr>
                    <a:solidFill>
                      <a:schemeClr val="tx1">
                        <a:lumMod val="75000"/>
                        <a:lumOff val="25000"/>
                      </a:schemeClr>
                    </a:solidFill>
                  </a:tcPr>
                </a:tc>
                <a:tc>
                  <a:txBody>
                    <a:bodyPr/>
                    <a:lstStyle/>
                    <a:p>
                      <a:pPr algn="l" fontAlgn="t"/>
                      <a:r>
                        <a:rPr lang="tr-TR" dirty="0" smtClean="0">
                          <a:solidFill>
                            <a:schemeClr val="bg1"/>
                          </a:solidFill>
                          <a:effectLst/>
                          <a:latin typeface="Bahnschrift SemiCondensed" panose="020B0502040204020203" pitchFamily="34" charset="0"/>
                        </a:rPr>
                        <a:t>M</a:t>
                      </a:r>
                      <a:r>
                        <a:rPr lang="en-US" dirty="0" smtClean="0">
                          <a:solidFill>
                            <a:schemeClr val="bg1"/>
                          </a:solidFill>
                          <a:effectLst/>
                          <a:latin typeface="Bahnschrift SemiCondensed" panose="020B0502040204020203" pitchFamily="34" charset="0"/>
                        </a:rPr>
                        <a:t>ore </a:t>
                      </a:r>
                      <a:r>
                        <a:rPr lang="en-US" dirty="0">
                          <a:solidFill>
                            <a:schemeClr val="bg1"/>
                          </a:solidFill>
                          <a:effectLst/>
                          <a:latin typeface="Bahnschrift SemiCondensed" panose="020B0502040204020203" pitchFamily="34" charset="0"/>
                        </a:rPr>
                        <a:t>expensive.</a:t>
                      </a:r>
                    </a:p>
                  </a:txBody>
                  <a:tcPr marL="76200" marR="76200" marT="76200" marB="76200">
                    <a:solidFill>
                      <a:schemeClr val="tx1">
                        <a:lumMod val="75000"/>
                        <a:lumOff val="25000"/>
                      </a:schemeClr>
                    </a:solidFill>
                  </a:tcPr>
                </a:tc>
              </a:tr>
            </a:tbl>
          </a:graphicData>
        </a:graphic>
      </p:graphicFrame>
    </p:spTree>
    <p:extLst>
      <p:ext uri="{BB962C8B-B14F-4D97-AF65-F5344CB8AC3E}">
        <p14:creationId xmlns:p14="http://schemas.microsoft.com/office/powerpoint/2010/main" xmlns="" val="18622224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up 10"/>
          <p:cNvGrpSpPr/>
          <p:nvPr/>
        </p:nvGrpSpPr>
        <p:grpSpPr>
          <a:xfrm>
            <a:off x="3868477" y="549275"/>
            <a:ext cx="8323523" cy="6315154"/>
            <a:chOff x="3868477" y="549275"/>
            <a:chExt cx="8323523" cy="6315154"/>
          </a:xfrm>
        </p:grpSpPr>
        <p:sp>
          <p:nvSpPr>
            <p:cNvPr id="12" name="Çapraz Şerit 11"/>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3" name="Çapraz Şerit 12"/>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4" name="Yarım Çerçeve 13"/>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a:xfrm>
            <a:off x="838200" y="445077"/>
            <a:ext cx="10515600" cy="1325563"/>
          </a:xfrm>
        </p:spPr>
        <p:txBody>
          <a:bodyPr/>
          <a:lstStyle/>
          <a:p>
            <a:r>
              <a:rPr lang="tr-TR" dirty="0" smtClean="0">
                <a:solidFill>
                  <a:srgbClr val="FFCC00"/>
                </a:solidFill>
                <a:latin typeface="Bahnschrift SemiBold SemiConden" panose="020B0502040204020203" pitchFamily="34" charset="0"/>
              </a:rPr>
              <a:t>New </a:t>
            </a:r>
            <a:r>
              <a:rPr lang="tr-TR" dirty="0" err="1" smtClean="0">
                <a:solidFill>
                  <a:srgbClr val="FFCC00"/>
                </a:solidFill>
                <a:latin typeface="Bahnschrift SemiBold SemiConden" panose="020B0502040204020203" pitchFamily="34" charset="0"/>
              </a:rPr>
              <a:t>Technology</a:t>
            </a:r>
            <a:r>
              <a:rPr lang="tr-TR" dirty="0" smtClean="0">
                <a:solidFill>
                  <a:srgbClr val="FFCC00"/>
                </a:solidFill>
                <a:latin typeface="Bahnschrift SemiBold SemiConden" panose="020B0502040204020203" pitchFamily="34" charset="0"/>
              </a:rPr>
              <a:t>: LTFS</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a:xfrm>
            <a:off x="4932453" y="1774624"/>
            <a:ext cx="6421347" cy="4351338"/>
          </a:xfrm>
        </p:spPr>
        <p:txBody>
          <a:bodyPr>
            <a:normAutofit/>
          </a:bodyPr>
          <a:lstStyle/>
          <a:p>
            <a:r>
              <a:rPr lang="tr-TR" sz="2400" dirty="0" smtClean="0">
                <a:solidFill>
                  <a:schemeClr val="bg1"/>
                </a:solidFill>
                <a:latin typeface="Bahnschrift SemiCondensed" panose="020B0502040204020203" pitchFamily="34" charset="0"/>
              </a:rPr>
              <a:t>LTFS, </a:t>
            </a:r>
            <a:r>
              <a:rPr lang="tr-TR" sz="2400" dirty="0" err="1" smtClean="0">
                <a:solidFill>
                  <a:schemeClr val="bg1"/>
                </a:solidFill>
                <a:latin typeface="Bahnschrift SemiCondensed" panose="020B0502040204020203" pitchFamily="34" charset="0"/>
              </a:rPr>
              <a:t>the</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Linear</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Tape</a:t>
            </a:r>
            <a:r>
              <a:rPr lang="tr-TR" sz="2400" dirty="0" smtClean="0">
                <a:solidFill>
                  <a:schemeClr val="bg1"/>
                </a:solidFill>
                <a:latin typeface="Bahnschrift SemiCondensed" panose="020B0502040204020203" pitchFamily="34" charset="0"/>
              </a:rPr>
              <a:t> File </a:t>
            </a:r>
            <a:r>
              <a:rPr lang="tr-TR" sz="2400" dirty="0" err="1" smtClean="0">
                <a:solidFill>
                  <a:schemeClr val="bg1"/>
                </a:solidFill>
                <a:latin typeface="Bahnschrift SemiCondensed" panose="020B0502040204020203" pitchFamily="34" charset="0"/>
              </a:rPr>
              <a:t>System</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makes</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accessing</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tape</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files</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easy</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and</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similar</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to</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accessing</a:t>
            </a:r>
            <a:r>
              <a:rPr lang="tr-TR" sz="2400" dirty="0" smtClean="0">
                <a:solidFill>
                  <a:schemeClr val="bg1"/>
                </a:solidFill>
                <a:latin typeface="Bahnschrift SemiCondensed" panose="020B0502040204020203" pitchFamily="34" charset="0"/>
              </a:rPr>
              <a:t> disk </a:t>
            </a:r>
            <a:r>
              <a:rPr lang="tr-TR" sz="2400" dirty="0" err="1" smtClean="0">
                <a:solidFill>
                  <a:schemeClr val="bg1"/>
                </a:solidFill>
                <a:latin typeface="Bahnschrift SemiCondensed" panose="020B0502040204020203" pitchFamily="34" charset="0"/>
              </a:rPr>
              <a:t>or</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flash</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drives</a:t>
            </a:r>
            <a:r>
              <a:rPr lang="tr-TR" sz="2400" dirty="0" smtClean="0">
                <a:solidFill>
                  <a:schemeClr val="bg1"/>
                </a:solidFill>
                <a:latin typeface="Bahnschrift SemiCondensed" panose="020B0502040204020203" pitchFamily="34" charset="0"/>
              </a:rPr>
              <a:t>.</a:t>
            </a:r>
          </a:p>
          <a:p>
            <a:r>
              <a:rPr lang="tr-TR" sz="2400" dirty="0" err="1" smtClean="0">
                <a:solidFill>
                  <a:schemeClr val="bg1"/>
                </a:solidFill>
                <a:latin typeface="Bahnschrift SemiCondensed" panose="020B0502040204020203" pitchFamily="34" charset="0"/>
              </a:rPr>
              <a:t>The</a:t>
            </a:r>
            <a:r>
              <a:rPr lang="tr-TR" sz="2400" dirty="0" smtClean="0">
                <a:solidFill>
                  <a:schemeClr val="bg1"/>
                </a:solidFill>
                <a:latin typeface="Bahnschrift SemiCondensed" panose="020B0502040204020203" pitchFamily="34" charset="0"/>
              </a:rPr>
              <a:t> main </a:t>
            </a:r>
            <a:r>
              <a:rPr lang="tr-TR" sz="2400" dirty="0" err="1" smtClean="0">
                <a:solidFill>
                  <a:schemeClr val="bg1"/>
                </a:solidFill>
                <a:latin typeface="Bahnschrift SemiCondensed" panose="020B0502040204020203" pitchFamily="34" charset="0"/>
              </a:rPr>
              <a:t>feature</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introduced</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with</a:t>
            </a:r>
            <a:r>
              <a:rPr lang="tr-TR" sz="2400" dirty="0" smtClean="0">
                <a:solidFill>
                  <a:schemeClr val="bg1"/>
                </a:solidFill>
                <a:latin typeface="Bahnschrift SemiCondensed" panose="020B0502040204020203" pitchFamily="34" charset="0"/>
              </a:rPr>
              <a:t> LTO-5 </a:t>
            </a:r>
            <a:r>
              <a:rPr lang="tr-TR" sz="2400" dirty="0" err="1" smtClean="0">
                <a:solidFill>
                  <a:schemeClr val="bg1"/>
                </a:solidFill>
                <a:latin typeface="Bahnschrift SemiCondensed" panose="020B0502040204020203" pitchFamily="34" charset="0"/>
              </a:rPr>
              <a:t>drives</a:t>
            </a:r>
            <a:r>
              <a:rPr lang="tr-TR" sz="2400" dirty="0" smtClean="0">
                <a:solidFill>
                  <a:schemeClr val="bg1"/>
                </a:solidFill>
                <a:latin typeface="Bahnschrift SemiCondensed" panose="020B0502040204020203" pitchFamily="34" charset="0"/>
              </a:rPr>
              <a:t> in 2010 </a:t>
            </a:r>
            <a:r>
              <a:rPr lang="tr-TR" sz="2400" dirty="0" err="1" smtClean="0">
                <a:solidFill>
                  <a:schemeClr val="bg1"/>
                </a:solidFill>
                <a:latin typeface="Bahnschrift SemiCondensed" panose="020B0502040204020203" pitchFamily="34" charset="0"/>
              </a:rPr>
              <a:t>and</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it’s</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called</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dual</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partitioning</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The</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first</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partition</a:t>
            </a:r>
            <a:r>
              <a:rPr lang="tr-TR" sz="2400" dirty="0" smtClean="0">
                <a:solidFill>
                  <a:schemeClr val="bg1"/>
                </a:solidFill>
                <a:latin typeface="Bahnschrift SemiCondensed" panose="020B0502040204020203" pitchFamily="34" charset="0"/>
              </a:rPr>
              <a:t> has </a:t>
            </a:r>
            <a:r>
              <a:rPr lang="tr-TR" sz="2400" dirty="0" err="1" smtClean="0">
                <a:solidFill>
                  <a:schemeClr val="bg1"/>
                </a:solidFill>
                <a:latin typeface="Bahnschrift SemiCondensed" panose="020B0502040204020203" pitchFamily="34" charset="0"/>
              </a:rPr>
              <a:t>storage</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index</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and</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metadata</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information</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and</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second</a:t>
            </a:r>
            <a:r>
              <a:rPr lang="tr-TR" sz="2400" dirty="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partition</a:t>
            </a:r>
            <a:r>
              <a:rPr lang="tr-TR" sz="2400" dirty="0" smtClean="0">
                <a:solidFill>
                  <a:schemeClr val="bg1"/>
                </a:solidFill>
                <a:latin typeface="Bahnschrift SemiCondensed" panose="020B0502040204020203" pitchFamily="34" charset="0"/>
              </a:rPr>
              <a:t> has </a:t>
            </a:r>
            <a:r>
              <a:rPr lang="tr-TR" sz="2400" dirty="0" err="1" smtClean="0">
                <a:solidFill>
                  <a:schemeClr val="bg1"/>
                </a:solidFill>
                <a:latin typeface="Bahnschrift SemiCondensed" panose="020B0502040204020203" pitchFamily="34" charset="0"/>
              </a:rPr>
              <a:t>the</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content</a:t>
            </a:r>
            <a:r>
              <a:rPr lang="tr-TR" sz="2400" dirty="0" smtClean="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files</a:t>
            </a:r>
            <a:r>
              <a:rPr lang="tr-TR" sz="2400" dirty="0" smtClean="0">
                <a:solidFill>
                  <a:schemeClr val="bg1"/>
                </a:solidFill>
                <a:latin typeface="Bahnschrift SemiCondensed" panose="020B0502040204020203" pitchFamily="34" charset="0"/>
              </a:rPr>
              <a:t>.</a:t>
            </a:r>
          </a:p>
          <a:p>
            <a:r>
              <a:rPr lang="tr-TR" sz="2400" dirty="0" err="1" smtClean="0">
                <a:solidFill>
                  <a:schemeClr val="bg1"/>
                </a:solidFill>
                <a:latin typeface="Bahnschrift SemiCondensed" panose="020B0502040204020203" pitchFamily="34" charset="0"/>
              </a:rPr>
              <a:t>The</a:t>
            </a:r>
            <a:r>
              <a:rPr lang="tr-TR" sz="2400" dirty="0" smtClean="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index</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and</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metadata</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partition</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are</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quickly</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read</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by</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the</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drive</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after</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loading</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the</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cartridge</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without</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having</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to</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scan</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the</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entire</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tape</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This</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provides</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efficient</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access</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to</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the</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tape</a:t>
            </a:r>
            <a:r>
              <a:rPr lang="tr-TR" sz="2400" dirty="0">
                <a:solidFill>
                  <a:schemeClr val="bg1"/>
                </a:solidFill>
                <a:latin typeface="Bahnschrift SemiCondensed" panose="020B0502040204020203" pitchFamily="34" charset="0"/>
              </a:rPr>
              <a:t> </a:t>
            </a:r>
            <a:r>
              <a:rPr lang="tr-TR" sz="2400" dirty="0" err="1" smtClean="0">
                <a:solidFill>
                  <a:schemeClr val="bg1"/>
                </a:solidFill>
                <a:latin typeface="Bahnschrift SemiCondensed" panose="020B0502040204020203" pitchFamily="34" charset="0"/>
              </a:rPr>
              <a:t>contents</a:t>
            </a:r>
            <a:r>
              <a:rPr lang="tr-TR" sz="2400" dirty="0" smtClean="0">
                <a:solidFill>
                  <a:schemeClr val="bg1"/>
                </a:solidFill>
                <a:latin typeface="Bahnschrift SemiCondensed" panose="020B0502040204020203" pitchFamily="34" charset="0"/>
              </a:rPr>
              <a:t>.</a:t>
            </a:r>
          </a:p>
        </p:txBody>
      </p:sp>
      <p:grpSp>
        <p:nvGrpSpPr>
          <p:cNvPr id="6" name="Grup 5"/>
          <p:cNvGrpSpPr/>
          <p:nvPr/>
        </p:nvGrpSpPr>
        <p:grpSpPr>
          <a:xfrm>
            <a:off x="768527" y="2412698"/>
            <a:ext cx="4094254" cy="2897837"/>
            <a:chOff x="838199" y="2438823"/>
            <a:chExt cx="4094254" cy="2897837"/>
          </a:xfrm>
        </p:grpSpPr>
        <p:pic>
          <p:nvPicPr>
            <p:cNvPr id="4" name="Resim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200" y="2438823"/>
              <a:ext cx="4094253" cy="2528505"/>
            </a:xfrm>
            <a:prstGeom prst="rect">
              <a:avLst/>
            </a:prstGeom>
          </p:spPr>
        </p:pic>
        <p:sp>
          <p:nvSpPr>
            <p:cNvPr id="5" name="Metin kutusu 4"/>
            <p:cNvSpPr txBox="1"/>
            <p:nvPr/>
          </p:nvSpPr>
          <p:spPr>
            <a:xfrm>
              <a:off x="838199" y="4967328"/>
              <a:ext cx="4094253" cy="369332"/>
            </a:xfrm>
            <a:prstGeom prst="rect">
              <a:avLst/>
            </a:prstGeom>
            <a:noFill/>
          </p:spPr>
          <p:txBody>
            <a:bodyPr wrap="square" rtlCol="0">
              <a:spAutoFit/>
            </a:bodyPr>
            <a:lstStyle/>
            <a:p>
              <a:pPr algn="ctr"/>
              <a:r>
                <a:rPr lang="tr-TR" dirty="0" smtClean="0">
                  <a:solidFill>
                    <a:srgbClr val="FF9900"/>
                  </a:solidFill>
                  <a:latin typeface="Bahnschrift SemiCondensed" panose="020B0502040204020203" pitchFamily="34" charset="0"/>
                </a:rPr>
                <a:t>LTO-5</a:t>
              </a:r>
              <a:endParaRPr lang="tr-TR" dirty="0">
                <a:solidFill>
                  <a:srgbClr val="FF9900"/>
                </a:solidFill>
                <a:latin typeface="Bahnschrift SemiCondensed" panose="020B0502040204020203" pitchFamily="34" charset="0"/>
              </a:endParaRPr>
            </a:p>
          </p:txBody>
        </p:sp>
      </p:grpSp>
    </p:spTree>
    <p:extLst>
      <p:ext uri="{BB962C8B-B14F-4D97-AF65-F5344CB8AC3E}">
        <p14:creationId xmlns:p14="http://schemas.microsoft.com/office/powerpoint/2010/main" xmlns="" val="8329183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up 10"/>
          <p:cNvGrpSpPr/>
          <p:nvPr/>
        </p:nvGrpSpPr>
        <p:grpSpPr>
          <a:xfrm>
            <a:off x="3868477" y="549275"/>
            <a:ext cx="8323523" cy="6315154"/>
            <a:chOff x="3868477" y="549275"/>
            <a:chExt cx="8323523" cy="6315154"/>
          </a:xfrm>
        </p:grpSpPr>
        <p:sp>
          <p:nvSpPr>
            <p:cNvPr id="12" name="Çapraz Şerit 11"/>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3" name="Çapraz Şerit 12"/>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4" name="Yarım Çerçeve 13"/>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3" name="İçerik Yer Tutucusu 2"/>
          <p:cNvSpPr>
            <a:spLocks noGrp="1"/>
          </p:cNvSpPr>
          <p:nvPr>
            <p:ph idx="1"/>
          </p:nvPr>
        </p:nvSpPr>
        <p:spPr>
          <a:xfrm>
            <a:off x="838200" y="1699566"/>
            <a:ext cx="5296270" cy="4397622"/>
          </a:xfrm>
        </p:spPr>
        <p:txBody>
          <a:bodyPr>
            <a:normAutofit/>
          </a:bodyPr>
          <a:lstStyle/>
          <a:p>
            <a:r>
              <a:rPr lang="tr-TR" sz="2400" dirty="0" err="1">
                <a:solidFill>
                  <a:schemeClr val="bg1"/>
                </a:solidFill>
                <a:latin typeface="Bahnschrift SemiCondensed" panose="020B0502040204020203" pitchFamily="34" charset="0"/>
              </a:rPr>
              <a:t>It’s</a:t>
            </a:r>
            <a:r>
              <a:rPr lang="tr-TR" sz="2400" dirty="0">
                <a:solidFill>
                  <a:schemeClr val="bg1"/>
                </a:solidFill>
                <a:latin typeface="Bahnschrift SemiCondensed" panose="020B0502040204020203" pitchFamily="34" charset="0"/>
              </a:rPr>
              <a:t> an </a:t>
            </a:r>
            <a:r>
              <a:rPr lang="tr-TR" sz="2400" dirty="0" err="1">
                <a:solidFill>
                  <a:schemeClr val="bg1"/>
                </a:solidFill>
                <a:latin typeface="Bahnschrift SemiCondensed" panose="020B0502040204020203" pitchFamily="34" charset="0"/>
              </a:rPr>
              <a:t>open</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standard</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which</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means</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it’s</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available</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for</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use</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by</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variety</a:t>
            </a:r>
            <a:r>
              <a:rPr lang="tr-TR" sz="2400" dirty="0">
                <a:solidFill>
                  <a:schemeClr val="bg1"/>
                </a:solidFill>
                <a:latin typeface="Bahnschrift SemiCondensed" panose="020B0502040204020203" pitchFamily="34" charset="0"/>
              </a:rPr>
              <a:t> of </a:t>
            </a:r>
            <a:r>
              <a:rPr lang="tr-TR" sz="2400" dirty="0" err="1">
                <a:solidFill>
                  <a:schemeClr val="bg1"/>
                </a:solidFill>
                <a:latin typeface="Bahnschrift SemiCondensed" panose="020B0502040204020203" pitchFamily="34" charset="0"/>
              </a:rPr>
              <a:t>developers</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and</a:t>
            </a:r>
            <a:r>
              <a:rPr lang="tr-TR" sz="2400" dirty="0">
                <a:solidFill>
                  <a:schemeClr val="bg1"/>
                </a:solidFill>
                <a:latin typeface="Bahnschrift SemiCondensed" panose="020B0502040204020203" pitchFamily="34" charset="0"/>
              </a:rPr>
              <a:t> </a:t>
            </a:r>
            <a:r>
              <a:rPr lang="tr-TR" sz="2400" dirty="0" err="1">
                <a:solidFill>
                  <a:schemeClr val="bg1"/>
                </a:solidFill>
                <a:latin typeface="Bahnschrift SemiCondensed" panose="020B0502040204020203" pitchFamily="34" charset="0"/>
              </a:rPr>
              <a:t>systems</a:t>
            </a:r>
            <a:r>
              <a:rPr lang="tr-TR" sz="2400" dirty="0">
                <a:solidFill>
                  <a:schemeClr val="bg1"/>
                </a:solidFill>
                <a:latin typeface="Bahnschrift SemiCondensed" panose="020B0502040204020203" pitchFamily="34" charset="0"/>
              </a:rPr>
              <a:t>.</a:t>
            </a:r>
          </a:p>
          <a:p>
            <a:r>
              <a:rPr lang="en-US" sz="2400" dirty="0" smtClean="0">
                <a:solidFill>
                  <a:schemeClr val="bg1"/>
                </a:solidFill>
                <a:latin typeface="Bahnschrift SemiCondensed" panose="020B0502040204020203" pitchFamily="34" charset="0"/>
              </a:rPr>
              <a:t>LTFS </a:t>
            </a:r>
            <a:r>
              <a:rPr lang="en-US" sz="2400" dirty="0">
                <a:solidFill>
                  <a:schemeClr val="bg1"/>
                </a:solidFill>
                <a:latin typeface="Bahnschrift SemiCondensed" panose="020B0502040204020203" pitchFamily="34" charset="0"/>
              </a:rPr>
              <a:t>should not be used like random access disk because</a:t>
            </a:r>
            <a:r>
              <a:rPr lang="tr-TR" sz="2400" dirty="0">
                <a:solidFill>
                  <a:schemeClr val="bg1"/>
                </a:solidFill>
                <a:latin typeface="Bahnschrift SemiCondensed" panose="020B0502040204020203" pitchFamily="34" charset="0"/>
              </a:rPr>
              <a:t> </a:t>
            </a:r>
            <a:r>
              <a:rPr lang="en-US" sz="2400" dirty="0">
                <a:solidFill>
                  <a:schemeClr val="bg1"/>
                </a:solidFill>
                <a:latin typeface="Bahnschrift SemiCondensed" panose="020B0502040204020203" pitchFamily="34" charset="0"/>
              </a:rPr>
              <a:t>accesses must occur over a linear arrangement of data. If an application tries to update a file, it will be rewritten to the end of tape, resulting in long delays when restoring such files.</a:t>
            </a:r>
            <a:endParaRPr lang="tr-TR" sz="2400" dirty="0">
              <a:solidFill>
                <a:schemeClr val="bg1"/>
              </a:solidFill>
              <a:latin typeface="Bahnschrift SemiCondensed" panose="020B0502040204020203" pitchFamily="34" charset="0"/>
            </a:endParaRPr>
          </a:p>
        </p:txBody>
      </p:sp>
      <p:sp>
        <p:nvSpPr>
          <p:cNvPr id="6" name="Unvan 1"/>
          <p:cNvSpPr txBox="1">
            <a:spLocks/>
          </p:cNvSpPr>
          <p:nvPr/>
        </p:nvSpPr>
        <p:spPr>
          <a:xfrm>
            <a:off x="838200" y="37400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dirty="0" smtClean="0">
                <a:solidFill>
                  <a:srgbClr val="FFCC00"/>
                </a:solidFill>
                <a:latin typeface="Bahnschrift SemiBold SemiConden" panose="020B0502040204020203" pitchFamily="34" charset="0"/>
              </a:rPr>
              <a:t>LTFS</a:t>
            </a:r>
            <a:endParaRPr lang="tr-TR" dirty="0">
              <a:solidFill>
                <a:srgbClr val="FFCC00"/>
              </a:solidFill>
              <a:latin typeface="Bahnschrift SemiBold SemiConden" panose="020B0502040204020203" pitchFamily="34" charset="0"/>
            </a:endParaRPr>
          </a:p>
        </p:txBody>
      </p:sp>
      <p:grpSp>
        <p:nvGrpSpPr>
          <p:cNvPr id="4" name="Grup 3"/>
          <p:cNvGrpSpPr/>
          <p:nvPr/>
        </p:nvGrpSpPr>
        <p:grpSpPr>
          <a:xfrm>
            <a:off x="6243775" y="1894902"/>
            <a:ext cx="5531654" cy="3333378"/>
            <a:chOff x="6243775" y="2015232"/>
            <a:chExt cx="5331968" cy="3213047"/>
          </a:xfrm>
        </p:grpSpPr>
        <p:pic>
          <p:nvPicPr>
            <p:cNvPr id="5" name="Resim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243776" y="2015232"/>
              <a:ext cx="5331967" cy="2843715"/>
            </a:xfrm>
            <a:prstGeom prst="rect">
              <a:avLst/>
            </a:prstGeom>
          </p:spPr>
        </p:pic>
        <p:sp>
          <p:nvSpPr>
            <p:cNvPr id="7" name="Metin kutusu 6"/>
            <p:cNvSpPr txBox="1"/>
            <p:nvPr/>
          </p:nvSpPr>
          <p:spPr>
            <a:xfrm>
              <a:off x="6243775" y="4858947"/>
              <a:ext cx="5331967" cy="369332"/>
            </a:xfrm>
            <a:prstGeom prst="rect">
              <a:avLst/>
            </a:prstGeom>
            <a:noFill/>
          </p:spPr>
          <p:txBody>
            <a:bodyPr wrap="square" rtlCol="0">
              <a:spAutoFit/>
            </a:bodyPr>
            <a:lstStyle/>
            <a:p>
              <a:pPr algn="ctr"/>
              <a:r>
                <a:rPr lang="tr-TR" dirty="0" err="1" smtClean="0">
                  <a:solidFill>
                    <a:srgbClr val="FF9900"/>
                  </a:solidFill>
                  <a:latin typeface="Bahnschrift SemiCondensed" panose="020B0502040204020203" pitchFamily="34" charset="0"/>
                </a:rPr>
                <a:t>Backup</a:t>
              </a:r>
              <a:r>
                <a:rPr lang="tr-TR" dirty="0" smtClean="0">
                  <a:solidFill>
                    <a:srgbClr val="FF9900"/>
                  </a:solidFill>
                  <a:latin typeface="Bahnschrift SemiCondensed" panose="020B0502040204020203" pitchFamily="34" charset="0"/>
                </a:rPr>
                <a:t> </a:t>
              </a:r>
              <a:r>
                <a:rPr lang="tr-TR" dirty="0" err="1" smtClean="0">
                  <a:solidFill>
                    <a:srgbClr val="FF9900"/>
                  </a:solidFill>
                  <a:latin typeface="Bahnschrift SemiCondensed" panose="020B0502040204020203" pitchFamily="34" charset="0"/>
                </a:rPr>
                <a:t>Tapes</a:t>
              </a:r>
              <a:endParaRPr lang="tr-TR" dirty="0">
                <a:solidFill>
                  <a:srgbClr val="FF9900"/>
                </a:solidFill>
                <a:latin typeface="Bahnschrift SemiCondensed" panose="020B0502040204020203" pitchFamily="34" charset="0"/>
              </a:endParaRPr>
            </a:p>
          </p:txBody>
        </p:sp>
      </p:grpSp>
    </p:spTree>
    <p:extLst>
      <p:ext uri="{BB962C8B-B14F-4D97-AF65-F5344CB8AC3E}">
        <p14:creationId xmlns:p14="http://schemas.microsoft.com/office/powerpoint/2010/main" xmlns="" val="6976412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up 12"/>
          <p:cNvGrpSpPr/>
          <p:nvPr/>
        </p:nvGrpSpPr>
        <p:grpSpPr>
          <a:xfrm>
            <a:off x="3868477" y="549275"/>
            <a:ext cx="8323523" cy="6315154"/>
            <a:chOff x="3868477" y="549275"/>
            <a:chExt cx="8323523" cy="6315154"/>
          </a:xfrm>
        </p:grpSpPr>
        <p:sp>
          <p:nvSpPr>
            <p:cNvPr id="14" name="Çapraz Şerit 13"/>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5" name="Çapraz Şerit 14"/>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6" name="Yarım Çerçeve 15"/>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a:xfrm>
            <a:off x="838200" y="374003"/>
            <a:ext cx="10515600" cy="1325563"/>
          </a:xfrm>
        </p:spPr>
        <p:txBody>
          <a:bodyPr/>
          <a:lstStyle/>
          <a:p>
            <a:r>
              <a:rPr lang="tr-TR" dirty="0" smtClean="0">
                <a:solidFill>
                  <a:srgbClr val="FFCC00"/>
                </a:solidFill>
                <a:latin typeface="Bahnschrift SemiBold SemiConden" panose="020B0502040204020203" pitchFamily="34" charset="0"/>
              </a:rPr>
              <a:t>LTFS</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a:xfrm>
            <a:off x="848427" y="2218245"/>
            <a:ext cx="7050248" cy="1298482"/>
          </a:xfrm>
        </p:spPr>
        <p:txBody>
          <a:bodyPr>
            <a:normAutofit/>
          </a:bodyPr>
          <a:lstStyle/>
          <a:p>
            <a:r>
              <a:rPr lang="tr-TR" sz="2000" dirty="0" smtClean="0">
                <a:solidFill>
                  <a:schemeClr val="bg1"/>
                </a:solidFill>
                <a:latin typeface="Bahnschrift SemiCondensed" panose="020B0502040204020203" pitchFamily="34" charset="0"/>
              </a:rPr>
              <a:t>LTO </a:t>
            </a:r>
            <a:r>
              <a:rPr lang="tr-TR" sz="2000" dirty="0" err="1">
                <a:solidFill>
                  <a:schemeClr val="bg1"/>
                </a:solidFill>
                <a:latin typeface="Bahnschrift SemiCondensed" panose="020B0502040204020203" pitchFamily="34" charset="0"/>
              </a:rPr>
              <a:t>technology</a:t>
            </a:r>
            <a:r>
              <a:rPr lang="tr-TR" sz="2000" dirty="0">
                <a:solidFill>
                  <a:schemeClr val="bg1"/>
                </a:solidFill>
                <a:latin typeface="Bahnschrift SemiCondensed" panose="020B0502040204020203" pitchFamily="34" charset="0"/>
              </a:rPr>
              <a:t> </a:t>
            </a:r>
            <a:r>
              <a:rPr lang="tr-TR" sz="2000" dirty="0" smtClean="0">
                <a:solidFill>
                  <a:schemeClr val="bg1"/>
                </a:solidFill>
                <a:latin typeface="Bahnschrift SemiCondensed" panose="020B0502040204020203" pitchFamily="34" charset="0"/>
              </a:rPr>
              <a:t>is </a:t>
            </a:r>
            <a:r>
              <a:rPr lang="tr-TR" sz="2000" dirty="0" err="1" smtClean="0">
                <a:solidFill>
                  <a:schemeClr val="bg1"/>
                </a:solidFill>
                <a:latin typeface="Bahnschrift SemiCondensed" panose="020B0502040204020203" pitchFamily="34" charset="0"/>
              </a:rPr>
              <a:t>continuously</a:t>
            </a:r>
            <a:r>
              <a:rPr lang="tr-TR" sz="2000" dirty="0" smtClean="0">
                <a:solidFill>
                  <a:schemeClr val="bg1"/>
                </a:solidFill>
                <a:latin typeface="Bahnschrift SemiCondensed" panose="020B0502040204020203" pitchFamily="34" charset="0"/>
              </a:rPr>
              <a:t> </a:t>
            </a:r>
            <a:r>
              <a:rPr lang="tr-TR" sz="2000" dirty="0" err="1">
                <a:solidFill>
                  <a:schemeClr val="bg1"/>
                </a:solidFill>
                <a:latin typeface="Bahnschrift SemiCondensed" panose="020B0502040204020203" pitchFamily="34" charset="0"/>
              </a:rPr>
              <a:t>updated</a:t>
            </a:r>
            <a:r>
              <a:rPr lang="tr-TR" sz="2000" dirty="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and</a:t>
            </a:r>
            <a:r>
              <a:rPr lang="tr-TR" sz="2000" dirty="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licensed</a:t>
            </a:r>
            <a:r>
              <a:rPr lang="tr-TR" sz="2000" dirty="0" smtClean="0">
                <a:solidFill>
                  <a:schemeClr val="bg1"/>
                </a:solidFill>
                <a:latin typeface="Bahnschrift SemiCondensed" panose="020B0502040204020203" pitchFamily="34" charset="0"/>
              </a:rPr>
              <a:t> </a:t>
            </a:r>
            <a:r>
              <a:rPr lang="tr-TR" sz="2000" dirty="0" err="1">
                <a:solidFill>
                  <a:schemeClr val="bg1"/>
                </a:solidFill>
                <a:latin typeface="Bahnschrift SemiCondensed" panose="020B0502040204020203" pitchFamily="34" charset="0"/>
              </a:rPr>
              <a:t>by</a:t>
            </a:r>
            <a:r>
              <a:rPr lang="tr-TR" sz="2000" dirty="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some</a:t>
            </a:r>
            <a:r>
              <a:rPr lang="tr-TR" sz="2000" dirty="0">
                <a:solidFill>
                  <a:schemeClr val="bg1"/>
                </a:solidFill>
                <a:latin typeface="Bahnschrift SemiCondensed" panose="020B0502040204020203" pitchFamily="34" charset="0"/>
              </a:rPr>
              <a:t> </a:t>
            </a:r>
            <a:r>
              <a:rPr lang="en-US" sz="2000" dirty="0" smtClean="0">
                <a:solidFill>
                  <a:schemeClr val="bg1"/>
                </a:solidFill>
                <a:latin typeface="Bahnschrift SemiCondensed" panose="020B0502040204020203" pitchFamily="34" charset="0"/>
              </a:rPr>
              <a:t>of </a:t>
            </a:r>
            <a:r>
              <a:rPr lang="en-US" sz="2000" dirty="0">
                <a:solidFill>
                  <a:schemeClr val="bg1"/>
                </a:solidFill>
                <a:latin typeface="Bahnschrift SemiCondensed" panose="020B0502040204020203" pitchFamily="34" charset="0"/>
              </a:rPr>
              <a:t>the most prominent </a:t>
            </a:r>
            <a:r>
              <a:rPr lang="en-US" sz="2000" dirty="0" smtClean="0">
                <a:solidFill>
                  <a:schemeClr val="bg1"/>
                </a:solidFill>
                <a:latin typeface="Bahnschrift SemiCondensed" panose="020B0502040204020203" pitchFamily="34" charset="0"/>
              </a:rPr>
              <a:t>names</a:t>
            </a:r>
            <a:r>
              <a:rPr lang="tr-TR" sz="2000" dirty="0" smtClean="0">
                <a:solidFill>
                  <a:schemeClr val="bg1"/>
                </a:solidFill>
                <a:latin typeface="Bahnschrift SemiCondensed" panose="020B0502040204020203" pitchFamily="34" charset="0"/>
              </a:rPr>
              <a:t> in </a:t>
            </a:r>
            <a:r>
              <a:rPr lang="tr-TR" sz="2000" dirty="0" err="1">
                <a:solidFill>
                  <a:schemeClr val="bg1"/>
                </a:solidFill>
                <a:latin typeface="Bahnschrift SemiCondensed" panose="020B0502040204020203" pitchFamily="34" charset="0"/>
              </a:rPr>
              <a:t>the</a:t>
            </a:r>
            <a:r>
              <a:rPr lang="tr-TR" sz="2000" dirty="0">
                <a:solidFill>
                  <a:schemeClr val="bg1"/>
                </a:solidFill>
                <a:latin typeface="Bahnschrift SemiCondensed" panose="020B0502040204020203" pitchFamily="34" charset="0"/>
              </a:rPr>
              <a:t> </a:t>
            </a:r>
            <a:r>
              <a:rPr lang="tr-TR" sz="2000" dirty="0" err="1">
                <a:solidFill>
                  <a:schemeClr val="bg1"/>
                </a:solidFill>
                <a:latin typeface="Bahnschrift SemiCondensed" panose="020B0502040204020203" pitchFamily="34" charset="0"/>
              </a:rPr>
              <a:t>storage</a:t>
            </a:r>
            <a:r>
              <a:rPr lang="tr-TR" sz="2000" dirty="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industry</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Such</a:t>
            </a:r>
            <a:r>
              <a:rPr lang="tr-TR" sz="2000" dirty="0" smtClean="0">
                <a:solidFill>
                  <a:schemeClr val="bg1"/>
                </a:solidFill>
                <a:latin typeface="Bahnschrift SemiCondensed" panose="020B0502040204020203" pitchFamily="34" charset="0"/>
              </a:rPr>
              <a:t> </a:t>
            </a:r>
            <a:r>
              <a:rPr lang="tr-TR" sz="2000" dirty="0">
                <a:solidFill>
                  <a:schemeClr val="bg1"/>
                </a:solidFill>
                <a:latin typeface="Bahnschrift SemiCondensed" panose="020B0502040204020203" pitchFamily="34" charset="0"/>
              </a:rPr>
              <a:t>as Hewlett </a:t>
            </a:r>
            <a:r>
              <a:rPr lang="tr-TR" sz="2000" dirty="0" smtClean="0">
                <a:solidFill>
                  <a:schemeClr val="bg1"/>
                </a:solidFill>
                <a:latin typeface="Bahnschrift SemiCondensed" panose="020B0502040204020203" pitchFamily="34" charset="0"/>
              </a:rPr>
              <a:t>Packard Enterprise</a:t>
            </a:r>
            <a:r>
              <a:rPr lang="tr-TR" sz="2000" dirty="0">
                <a:solidFill>
                  <a:schemeClr val="bg1"/>
                </a:solidFill>
                <a:latin typeface="Bahnschrift SemiCondensed" panose="020B0502040204020203" pitchFamily="34" charset="0"/>
              </a:rPr>
              <a:t>, IBM </a:t>
            </a:r>
            <a:r>
              <a:rPr lang="tr-TR" sz="2000" dirty="0" err="1">
                <a:solidFill>
                  <a:schemeClr val="bg1"/>
                </a:solidFill>
                <a:latin typeface="Bahnschrift SemiCondensed" panose="020B0502040204020203" pitchFamily="34" charset="0"/>
              </a:rPr>
              <a:t>and</a:t>
            </a:r>
            <a:r>
              <a:rPr lang="tr-TR" sz="2000" dirty="0">
                <a:solidFill>
                  <a:schemeClr val="bg1"/>
                </a:solidFill>
                <a:latin typeface="Bahnschrift SemiCondensed" panose="020B0502040204020203" pitchFamily="34" charset="0"/>
              </a:rPr>
              <a:t> Quantum.</a:t>
            </a:r>
          </a:p>
        </p:txBody>
      </p:sp>
      <p:pic>
        <p:nvPicPr>
          <p:cNvPr id="4" name="Resim 3"/>
          <p:cNvPicPr>
            <a:picLocks noChangeAspect="1"/>
          </p:cNvPicPr>
          <p:nvPr/>
        </p:nvPicPr>
        <p:blipFill>
          <a:blip r:embed="rId2" cstate="print"/>
          <a:stretch>
            <a:fillRect/>
          </a:stretch>
        </p:blipFill>
        <p:spPr>
          <a:xfrm>
            <a:off x="8130213" y="1235399"/>
            <a:ext cx="3188934" cy="3043788"/>
          </a:xfrm>
          <a:prstGeom prst="rect">
            <a:avLst/>
          </a:prstGeom>
        </p:spPr>
      </p:pic>
      <p:sp>
        <p:nvSpPr>
          <p:cNvPr id="5" name="İçerik Yer Tutucusu 2"/>
          <p:cNvSpPr txBox="1">
            <a:spLocks/>
          </p:cNvSpPr>
          <p:nvPr/>
        </p:nvSpPr>
        <p:spPr>
          <a:xfrm>
            <a:off x="5664374" y="4574454"/>
            <a:ext cx="5807518" cy="9309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000" dirty="0" err="1" smtClean="0">
                <a:solidFill>
                  <a:schemeClr val="bg1"/>
                </a:solidFill>
                <a:latin typeface="Bahnschrift SemiCondensed" panose="020B0502040204020203" pitchFamily="34" charset="0"/>
              </a:rPr>
              <a:t>With</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only</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one</a:t>
            </a:r>
            <a:r>
              <a:rPr lang="tr-TR" sz="2000" dirty="0" smtClean="0">
                <a:solidFill>
                  <a:schemeClr val="bg1"/>
                </a:solidFill>
                <a:latin typeface="Bahnschrift SemiCondensed" panose="020B0502040204020203" pitchFamily="34" charset="0"/>
              </a:rPr>
              <a:t> LTO-7, </a:t>
            </a:r>
            <a:r>
              <a:rPr lang="tr-TR" sz="2000" dirty="0" err="1" smtClean="0">
                <a:solidFill>
                  <a:schemeClr val="bg1"/>
                </a:solidFill>
                <a:latin typeface="Bahnschrift SemiCondensed" panose="020B0502040204020203" pitchFamily="34" charset="0"/>
              </a:rPr>
              <a:t>need</a:t>
            </a:r>
            <a:r>
              <a:rPr lang="tr-TR" sz="2000" dirty="0" smtClean="0">
                <a:solidFill>
                  <a:schemeClr val="bg1"/>
                </a:solidFill>
                <a:latin typeface="Bahnschrift SemiCondensed" panose="020B0502040204020203" pitchFamily="34" charset="0"/>
              </a:rPr>
              <a:t> 2 </a:t>
            </a:r>
            <a:r>
              <a:rPr lang="tr-TR" sz="2000" dirty="0" err="1" smtClean="0">
                <a:solidFill>
                  <a:schemeClr val="bg1"/>
                </a:solidFill>
                <a:latin typeface="Bahnschrift SemiCondensed" panose="020B0502040204020203" pitchFamily="34" charset="0"/>
              </a:rPr>
              <a:t>high</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performance</a:t>
            </a:r>
            <a:r>
              <a:rPr lang="tr-TR" sz="2000" dirty="0" smtClean="0">
                <a:solidFill>
                  <a:schemeClr val="bg1"/>
                </a:solidFill>
                <a:latin typeface="Bahnschrift SemiCondensed" panose="020B0502040204020203" pitchFamily="34" charset="0"/>
              </a:rPr>
              <a:t> hard </a:t>
            </a:r>
            <a:r>
              <a:rPr lang="tr-TR" sz="2000" dirty="0" err="1" smtClean="0">
                <a:solidFill>
                  <a:schemeClr val="bg1"/>
                </a:solidFill>
                <a:latin typeface="Bahnschrift SemiCondensed" panose="020B0502040204020203" pitchFamily="34" charset="0"/>
              </a:rPr>
              <a:t>disks</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to</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gaining</a:t>
            </a:r>
            <a:r>
              <a:rPr lang="tr-TR" sz="2000" dirty="0" smtClean="0">
                <a:solidFill>
                  <a:schemeClr val="bg1"/>
                </a:solidFill>
                <a:latin typeface="Bahnschrift SemiCondensed" panose="020B0502040204020203" pitchFamily="34" charset="0"/>
              </a:rPr>
              <a:t> </a:t>
            </a:r>
            <a:r>
              <a:rPr lang="tr-TR" sz="2000" dirty="0" err="1" smtClean="0">
                <a:solidFill>
                  <a:schemeClr val="bg1"/>
                </a:solidFill>
                <a:latin typeface="Bahnschrift SemiCondensed" panose="020B0502040204020203" pitchFamily="34" charset="0"/>
              </a:rPr>
              <a:t>same</a:t>
            </a:r>
            <a:r>
              <a:rPr lang="tr-TR" sz="2000" dirty="0" smtClean="0">
                <a:solidFill>
                  <a:schemeClr val="bg1"/>
                </a:solidFill>
                <a:latin typeface="Bahnschrift SemiCondensed" panose="020B0502040204020203" pitchFamily="34" charset="0"/>
              </a:rPr>
              <a:t> data transfer rate (300 MB/</a:t>
            </a:r>
            <a:r>
              <a:rPr lang="tr-TR" sz="2000" dirty="0" err="1" smtClean="0">
                <a:solidFill>
                  <a:schemeClr val="bg1"/>
                </a:solidFill>
                <a:latin typeface="Bahnschrift SemiCondensed" panose="020B0502040204020203" pitchFamily="34" charset="0"/>
              </a:rPr>
              <a:t>sec</a:t>
            </a:r>
            <a:r>
              <a:rPr lang="tr-TR" sz="2000" dirty="0" smtClean="0">
                <a:solidFill>
                  <a:schemeClr val="bg1"/>
                </a:solidFill>
                <a:latin typeface="Bahnschrift SemiCondensed" panose="020B0502040204020203" pitchFamily="34" charset="0"/>
              </a:rPr>
              <a:t>).</a:t>
            </a:r>
            <a:endParaRPr lang="tr-TR" sz="2000" dirty="0">
              <a:solidFill>
                <a:schemeClr val="bg1"/>
              </a:solidFill>
              <a:latin typeface="Bahnschrift SemiCondensed" panose="020B0502040204020203" pitchFamily="34" charset="0"/>
            </a:endParaRPr>
          </a:p>
        </p:txBody>
      </p:sp>
      <p:grpSp>
        <p:nvGrpSpPr>
          <p:cNvPr id="8" name="Grup 7"/>
          <p:cNvGrpSpPr/>
          <p:nvPr/>
        </p:nvGrpSpPr>
        <p:grpSpPr>
          <a:xfrm>
            <a:off x="873299" y="4035961"/>
            <a:ext cx="4762500" cy="1965078"/>
            <a:chOff x="873299" y="4035961"/>
            <a:chExt cx="4762500" cy="1965078"/>
          </a:xfrm>
        </p:grpSpPr>
        <p:pic>
          <p:nvPicPr>
            <p:cNvPr id="6" name="Resim 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873299" y="4035961"/>
              <a:ext cx="4762500" cy="1600200"/>
            </a:xfrm>
            <a:prstGeom prst="rect">
              <a:avLst/>
            </a:prstGeom>
          </p:spPr>
        </p:pic>
        <p:sp>
          <p:nvSpPr>
            <p:cNvPr id="7" name="Metin kutusu 6"/>
            <p:cNvSpPr txBox="1"/>
            <p:nvPr/>
          </p:nvSpPr>
          <p:spPr>
            <a:xfrm>
              <a:off x="873299" y="5631707"/>
              <a:ext cx="4762500" cy="369332"/>
            </a:xfrm>
            <a:prstGeom prst="rect">
              <a:avLst/>
            </a:prstGeom>
            <a:noFill/>
          </p:spPr>
          <p:txBody>
            <a:bodyPr wrap="square" rtlCol="0">
              <a:spAutoFit/>
            </a:bodyPr>
            <a:lstStyle/>
            <a:p>
              <a:pPr algn="ctr"/>
              <a:r>
                <a:rPr lang="tr-TR" dirty="0" smtClean="0">
                  <a:solidFill>
                    <a:srgbClr val="FF9900"/>
                  </a:solidFill>
                  <a:latin typeface="Bahnschrift SemiCondensed" panose="020B0502040204020203" pitchFamily="34" charset="0"/>
                </a:rPr>
                <a:t>LTO-7 = 2 x HDD</a:t>
              </a:r>
              <a:endParaRPr lang="tr-TR" dirty="0">
                <a:solidFill>
                  <a:srgbClr val="FF9900"/>
                </a:solidFill>
                <a:latin typeface="Bahnschrift SemiCondensed" panose="020B0502040204020203" pitchFamily="34" charset="0"/>
              </a:endParaRPr>
            </a:p>
          </p:txBody>
        </p:sp>
      </p:grpSp>
    </p:spTree>
    <p:extLst>
      <p:ext uri="{BB962C8B-B14F-4D97-AF65-F5344CB8AC3E}">
        <p14:creationId xmlns:p14="http://schemas.microsoft.com/office/powerpoint/2010/main" xmlns="" val="23877168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up 10"/>
          <p:cNvGrpSpPr/>
          <p:nvPr/>
        </p:nvGrpSpPr>
        <p:grpSpPr>
          <a:xfrm>
            <a:off x="3868477" y="549275"/>
            <a:ext cx="8323523" cy="6315154"/>
            <a:chOff x="3868477" y="549275"/>
            <a:chExt cx="8323523" cy="6315154"/>
          </a:xfrm>
        </p:grpSpPr>
        <p:sp>
          <p:nvSpPr>
            <p:cNvPr id="12" name="Çapraz Şerit 11"/>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3" name="Çapraz Şerit 12"/>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4" name="Yarım Çerçeve 13"/>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Archiving</a:t>
            </a:r>
            <a:endParaRPr lang="tr-TR" dirty="0">
              <a:solidFill>
                <a:srgbClr val="FFCC00"/>
              </a:solidFill>
              <a:latin typeface="Bahnschrift SemiBold SemiConden" panose="020B0502040204020203" pitchFamily="34" charset="0"/>
            </a:endParaRPr>
          </a:p>
        </p:txBody>
      </p:sp>
      <p:sp>
        <p:nvSpPr>
          <p:cNvPr id="5" name="İçerik Yer Tutucusu 4"/>
          <p:cNvSpPr>
            <a:spLocks noGrp="1"/>
          </p:cNvSpPr>
          <p:nvPr>
            <p:ph idx="1"/>
          </p:nvPr>
        </p:nvSpPr>
        <p:spPr>
          <a:xfrm>
            <a:off x="956979" y="1571347"/>
            <a:ext cx="3914313" cy="4650004"/>
          </a:xfrm>
        </p:spPr>
        <p:txBody>
          <a:bodyPr>
            <a:normAutofit/>
          </a:bodyPr>
          <a:lstStyle/>
          <a:p>
            <a:pPr marL="0" indent="0">
              <a:buNone/>
            </a:pPr>
            <a:r>
              <a:rPr lang="tr-TR" sz="2000" dirty="0" smtClean="0">
                <a:solidFill>
                  <a:schemeClr val="bg1"/>
                </a:solidFill>
                <a:latin typeface="Bahnschrift SemiCondensed" panose="020B0502040204020203" pitchFamily="34" charset="0"/>
              </a:rPr>
              <a:t>I</a:t>
            </a:r>
            <a:r>
              <a:rPr lang="en-US" sz="2000" dirty="0" smtClean="0">
                <a:solidFill>
                  <a:schemeClr val="bg1"/>
                </a:solidFill>
                <a:latin typeface="Bahnschrift SemiCondensed" panose="020B0502040204020203" pitchFamily="34" charset="0"/>
              </a:rPr>
              <a:t>n </a:t>
            </a:r>
            <a:r>
              <a:rPr lang="en-US" sz="2000" dirty="0">
                <a:solidFill>
                  <a:schemeClr val="bg1"/>
                </a:solidFill>
                <a:latin typeface="Bahnschrift SemiCondensed" panose="020B0502040204020203" pitchFamily="34" charset="0"/>
              </a:rPr>
              <a:t>2011, a flaw in a software update caused Google to accidentally delete the saved email messages in about 40,000 Gmail accounts. That loss occurred despite there being several copies of the data stored on hard drives across multiple data centers. Fortunately, the data was also recorded on tape, and Google could eventually restore all the lost data from that </a:t>
            </a:r>
            <a:r>
              <a:rPr lang="en-US" sz="2000" dirty="0" smtClean="0">
                <a:solidFill>
                  <a:schemeClr val="bg1"/>
                </a:solidFill>
                <a:latin typeface="Bahnschrift SemiCondensed" panose="020B0502040204020203" pitchFamily="34" charset="0"/>
              </a:rPr>
              <a:t>backup</a:t>
            </a:r>
            <a:r>
              <a:rPr lang="tr-TR" sz="2000" dirty="0" smtClean="0">
                <a:solidFill>
                  <a:schemeClr val="bg1"/>
                </a:solidFill>
                <a:latin typeface="Bahnschrift SemiCondensed" panose="020B0502040204020203" pitchFamily="34" charset="0"/>
              </a:rPr>
              <a:t>.</a:t>
            </a:r>
            <a:endParaRPr lang="tr-TR" sz="2000" dirty="0">
              <a:solidFill>
                <a:schemeClr val="bg1"/>
              </a:solidFill>
              <a:latin typeface="Bahnschrift SemiCondensed" panose="020B0502040204020203" pitchFamily="34" charset="0"/>
            </a:endParaRPr>
          </a:p>
        </p:txBody>
      </p:sp>
      <p:grpSp>
        <p:nvGrpSpPr>
          <p:cNvPr id="8" name="Grup 7"/>
          <p:cNvGrpSpPr/>
          <p:nvPr/>
        </p:nvGrpSpPr>
        <p:grpSpPr>
          <a:xfrm>
            <a:off x="4924759" y="1690688"/>
            <a:ext cx="6210954" cy="4316450"/>
            <a:chOff x="5123359" y="1571347"/>
            <a:chExt cx="6482508" cy="4505172"/>
          </a:xfrm>
        </p:grpSpPr>
        <p:pic>
          <p:nvPicPr>
            <p:cNvPr id="6" name="Resim 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123359" y="1571347"/>
              <a:ext cx="6482508" cy="4135840"/>
            </a:xfrm>
            <a:prstGeom prst="rect">
              <a:avLst/>
            </a:prstGeom>
          </p:spPr>
        </p:pic>
        <p:sp>
          <p:nvSpPr>
            <p:cNvPr id="7" name="Metin kutusu 6"/>
            <p:cNvSpPr txBox="1"/>
            <p:nvPr/>
          </p:nvSpPr>
          <p:spPr>
            <a:xfrm>
              <a:off x="5123359" y="5707187"/>
              <a:ext cx="6482508" cy="369332"/>
            </a:xfrm>
            <a:prstGeom prst="rect">
              <a:avLst/>
            </a:prstGeom>
            <a:noFill/>
          </p:spPr>
          <p:txBody>
            <a:bodyPr wrap="square" rtlCol="0">
              <a:spAutoFit/>
            </a:bodyPr>
            <a:lstStyle/>
            <a:p>
              <a:pPr algn="ctr"/>
              <a:r>
                <a:rPr lang="tr-TR" dirty="0" err="1" smtClean="0">
                  <a:solidFill>
                    <a:srgbClr val="FF9900"/>
                  </a:solidFill>
                  <a:latin typeface="Bahnschrift SemiCondensed" panose="020B0502040204020203" pitchFamily="34" charset="0"/>
                </a:rPr>
                <a:t>Google’s</a:t>
              </a:r>
              <a:r>
                <a:rPr lang="tr-TR" dirty="0" smtClean="0">
                  <a:solidFill>
                    <a:srgbClr val="FF9900"/>
                  </a:solidFill>
                  <a:latin typeface="Bahnschrift SemiCondensed" panose="020B0502040204020203" pitchFamily="34" charset="0"/>
                </a:rPr>
                <a:t> </a:t>
              </a:r>
              <a:r>
                <a:rPr lang="tr-TR" dirty="0" err="1" smtClean="0">
                  <a:solidFill>
                    <a:srgbClr val="FF9900"/>
                  </a:solidFill>
                  <a:latin typeface="Bahnschrift SemiCondensed" panose="020B0502040204020203" pitchFamily="34" charset="0"/>
                </a:rPr>
                <a:t>Tape</a:t>
              </a:r>
              <a:r>
                <a:rPr lang="tr-TR" dirty="0" smtClean="0">
                  <a:solidFill>
                    <a:srgbClr val="FF9900"/>
                  </a:solidFill>
                  <a:latin typeface="Bahnschrift SemiCondensed" panose="020B0502040204020203" pitchFamily="34" charset="0"/>
                </a:rPr>
                <a:t> Library</a:t>
              </a:r>
              <a:endParaRPr lang="tr-TR" dirty="0">
                <a:solidFill>
                  <a:srgbClr val="FF9900"/>
                </a:solidFill>
                <a:latin typeface="Bahnschrift SemiCondensed" panose="020B0502040204020203" pitchFamily="34" charset="0"/>
              </a:endParaRPr>
            </a:p>
          </p:txBody>
        </p:sp>
      </p:grpSp>
    </p:spTree>
    <p:extLst>
      <p:ext uri="{BB962C8B-B14F-4D97-AF65-F5344CB8AC3E}">
        <p14:creationId xmlns:p14="http://schemas.microsoft.com/office/powerpoint/2010/main" xmlns="" val="28187260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 8"/>
          <p:cNvGrpSpPr/>
          <p:nvPr/>
        </p:nvGrpSpPr>
        <p:grpSpPr>
          <a:xfrm>
            <a:off x="3868477" y="549275"/>
            <a:ext cx="8323523" cy="6315154"/>
            <a:chOff x="3868477" y="549275"/>
            <a:chExt cx="8323523" cy="6315154"/>
          </a:xfrm>
        </p:grpSpPr>
        <p:sp>
          <p:nvSpPr>
            <p:cNvPr id="14" name="Çapraz Şerit 13"/>
            <p:cNvSpPr/>
            <p:nvPr/>
          </p:nvSpPr>
          <p:spPr>
            <a:xfrm rot="10800000">
              <a:off x="9882186" y="4405338"/>
              <a:ext cx="2309813" cy="2459085"/>
            </a:xfrm>
            <a:prstGeom prst="diagStrip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5" name="Çapraz Şerit 14"/>
            <p:cNvSpPr/>
            <p:nvPr/>
          </p:nvSpPr>
          <p:spPr>
            <a:xfrm rot="10800000">
              <a:off x="10481604" y="5043497"/>
              <a:ext cx="1710396" cy="1820932"/>
            </a:xfrm>
            <a:prstGeom prst="diagStripe">
              <a:avLst>
                <a:gd name="adj" fmla="val 0"/>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6" name="Yarım Çerçeve 15"/>
            <p:cNvSpPr/>
            <p:nvPr/>
          </p:nvSpPr>
          <p:spPr>
            <a:xfrm rot="10800000">
              <a:off x="3868477" y="549275"/>
              <a:ext cx="8323519" cy="6315139"/>
            </a:xfrm>
            <a:prstGeom prst="halfFrame">
              <a:avLst>
                <a:gd name="adj1" fmla="val 9021"/>
                <a:gd name="adj2" fmla="val 8882"/>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grpSp>
      <p:sp>
        <p:nvSpPr>
          <p:cNvPr id="2" name="Unvan 1"/>
          <p:cNvSpPr>
            <a:spLocks noGrp="1"/>
          </p:cNvSpPr>
          <p:nvPr>
            <p:ph type="title"/>
          </p:nvPr>
        </p:nvSpPr>
        <p:spPr/>
        <p:txBody>
          <a:bodyPr/>
          <a:lstStyle/>
          <a:p>
            <a:r>
              <a:rPr lang="tr-TR" dirty="0" err="1" smtClean="0">
                <a:solidFill>
                  <a:srgbClr val="FFCC00"/>
                </a:solidFill>
                <a:latin typeface="Bahnschrift SemiBold SemiConden" panose="020B0502040204020203" pitchFamily="34" charset="0"/>
              </a:rPr>
              <a:t>Summary</a:t>
            </a:r>
            <a:endParaRPr lang="tr-TR" dirty="0">
              <a:solidFill>
                <a:srgbClr val="FFCC00"/>
              </a:solidFill>
              <a:latin typeface="Bahnschrift SemiBold SemiConden" panose="020B0502040204020203" pitchFamily="34" charset="0"/>
            </a:endParaRPr>
          </a:p>
        </p:txBody>
      </p:sp>
      <p:sp>
        <p:nvSpPr>
          <p:cNvPr id="3" name="İçerik Yer Tutucusu 2"/>
          <p:cNvSpPr>
            <a:spLocks noGrp="1"/>
          </p:cNvSpPr>
          <p:nvPr>
            <p:ph idx="1"/>
          </p:nvPr>
        </p:nvSpPr>
        <p:spPr/>
        <p:txBody>
          <a:bodyPr/>
          <a:lstStyle/>
          <a:p>
            <a:pPr marL="0" indent="0">
              <a:buNone/>
            </a:pPr>
            <a:r>
              <a:rPr lang="tr-TR" dirty="0" err="1" smtClean="0">
                <a:solidFill>
                  <a:schemeClr val="bg1"/>
                </a:solidFill>
                <a:latin typeface="Bahnschrift SemiCondensed" panose="020B0502040204020203" pitchFamily="34" charset="0"/>
              </a:rPr>
              <a:t>The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old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school</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magnetic</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tapes</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are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slow</a:t>
            </a:r>
            <a:r>
              <a:rPr lang="tr-TR" dirty="0">
                <a:solidFill>
                  <a:schemeClr val="bg1"/>
                </a:solidFill>
                <a:latin typeface="Bahnschrift SemiCondensed" panose="020B0502040204020203" pitchFamily="34" charset="0"/>
              </a:rPr>
              <a:t> </a:t>
            </a:r>
            <a:r>
              <a:rPr lang="tr-TR" dirty="0" smtClean="0">
                <a:solidFill>
                  <a:schemeClr val="bg1"/>
                </a:solidFill>
                <a:latin typeface="Bahnschrift SemiCondensed" panose="020B0502040204020203" pitchFamily="34" charset="0"/>
              </a:rPr>
              <a:t>but </a:t>
            </a:r>
            <a:r>
              <a:rPr lang="tr-TR" dirty="0" err="1" smtClean="0">
                <a:solidFill>
                  <a:schemeClr val="bg1"/>
                </a:solidFill>
                <a:latin typeface="Bahnschrift SemiCondensed" panose="020B0502040204020203" pitchFamily="34" charset="0"/>
              </a:rPr>
              <a:t>new</a:t>
            </a:r>
            <a:r>
              <a:rPr lang="tr-TR" dirty="0" smtClean="0">
                <a:solidFill>
                  <a:schemeClr val="bg1"/>
                </a:solidFill>
                <a:latin typeface="Bahnschrift SemiCondensed" panose="020B0502040204020203" pitchFamily="34" charset="0"/>
              </a:rPr>
              <a:t> LTFS </a:t>
            </a:r>
            <a:r>
              <a:rPr lang="tr-TR" dirty="0" err="1" smtClean="0">
                <a:solidFill>
                  <a:schemeClr val="bg1"/>
                </a:solidFill>
                <a:latin typeface="Bahnschrift SemiCondensed" panose="020B0502040204020203" pitchFamily="34" charset="0"/>
              </a:rPr>
              <a:t>magnetic</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tapes</a:t>
            </a:r>
            <a:r>
              <a:rPr lang="tr-TR" dirty="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are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faster</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than</a:t>
            </a:r>
            <a:r>
              <a:rPr lang="tr-TR" dirty="0" smtClean="0">
                <a:solidFill>
                  <a:schemeClr val="bg1"/>
                </a:solidFill>
                <a:latin typeface="Bahnschrift SemiCondensed" panose="020B0502040204020203" pitchFamily="34" charset="0"/>
              </a:rPr>
              <a:t> hard </a:t>
            </a:r>
            <a:r>
              <a:rPr lang="tr-TR" dirty="0" err="1" smtClean="0">
                <a:solidFill>
                  <a:schemeClr val="bg1"/>
                </a:solidFill>
                <a:latin typeface="Bahnschrift SemiCondensed" panose="020B0502040204020203" pitchFamily="34" charset="0"/>
              </a:rPr>
              <a:t>disks</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and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they</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have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high</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capacity</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including</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their</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high</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lifetime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Due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to</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their</a:t>
            </a:r>
            <a:r>
              <a:rPr lang="tr-TR" dirty="0">
                <a:solidFill>
                  <a:schemeClr val="bg1"/>
                </a:solidFill>
                <a:latin typeface="Bahnschrift SemiCondensed" panose="020B0502040204020203" pitchFamily="34" charset="0"/>
              </a:rPr>
              <a:t> </a:t>
            </a:r>
            <a:r>
              <a:rPr lang="tr-TR" dirty="0" smtClean="0">
                <a:solidFill>
                  <a:schemeClr val="bg1"/>
                </a:solidFill>
                <a:latin typeface="Bahnschrift SemiCondensed" panose="020B0502040204020203" pitchFamily="34" charset="0"/>
              </a:rPr>
              <a:t>offline </a:t>
            </a:r>
            <a:r>
              <a:rPr lang="tr-TR" dirty="0" err="1" smtClean="0">
                <a:solidFill>
                  <a:schemeClr val="bg1"/>
                </a:solidFill>
                <a:latin typeface="Bahnschrift SemiCondensed" panose="020B0502040204020203" pitchFamily="34" charset="0"/>
              </a:rPr>
              <a:t>storage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and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high</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performance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features</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magnetic</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tapes</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most</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preferred</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usage</a:t>
            </a:r>
            <a:r>
              <a:rPr lang="tr-TR" dirty="0" smtClean="0">
                <a:solidFill>
                  <a:schemeClr val="bg1"/>
                </a:solidFill>
                <a:latin typeface="Bahnschrift SemiCondensed" panose="020B0502040204020203" pitchFamily="34" charset="0"/>
              </a:rPr>
              <a:t> </a:t>
            </a:r>
            <a:r>
              <a:rPr lang="tr-TR" dirty="0" err="1" smtClean="0">
                <a:solidFill>
                  <a:schemeClr val="bg1"/>
                </a:solidFill>
                <a:latin typeface="Bahnschrift SemiCondensed" panose="020B0502040204020203" pitchFamily="34" charset="0"/>
              </a:rPr>
              <a:t>area</a:t>
            </a:r>
            <a:r>
              <a:rPr lang="tr-TR" dirty="0" smtClean="0">
                <a:solidFill>
                  <a:schemeClr val="bg1"/>
                </a:solidFill>
                <a:latin typeface="Bahnschrift SemiCondensed" panose="020B0502040204020203" pitchFamily="34" charset="0"/>
              </a:rPr>
              <a:t> is data </a:t>
            </a:r>
            <a:r>
              <a:rPr lang="tr-TR" dirty="0" err="1" smtClean="0">
                <a:solidFill>
                  <a:schemeClr val="bg1"/>
                </a:solidFill>
                <a:latin typeface="Bahnschrift SemiCondensed" panose="020B0502040204020203" pitchFamily="34" charset="0"/>
              </a:rPr>
              <a:t>archiving</a:t>
            </a:r>
            <a:r>
              <a:rPr lang="tr-TR" dirty="0" smtClean="0">
                <a:solidFill>
                  <a:schemeClr val="bg1"/>
                </a:solidFill>
                <a:latin typeface="Bahnschrift SemiCondensed" panose="020B0502040204020203" pitchFamily="34" charset="0"/>
              </a:rPr>
              <a:t>.</a:t>
            </a:r>
            <a:endParaRPr lang="tr-TR" dirty="0">
              <a:solidFill>
                <a:schemeClr val="bg1"/>
              </a:solidFill>
              <a:latin typeface="Bahnschrift SemiCondensed" panose="020B0502040204020203" pitchFamily="34" charset="0"/>
            </a:endParaRPr>
          </a:p>
        </p:txBody>
      </p:sp>
      <p:pic>
        <p:nvPicPr>
          <p:cNvPr id="5" name="Resim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704935" y="3627599"/>
            <a:ext cx="4782130" cy="2831796"/>
          </a:xfrm>
          <a:prstGeom prst="rect">
            <a:avLst/>
          </a:prstGeom>
        </p:spPr>
      </p:pic>
    </p:spTree>
    <p:extLst>
      <p:ext uri="{BB962C8B-B14F-4D97-AF65-F5344CB8AC3E}">
        <p14:creationId xmlns:p14="http://schemas.microsoft.com/office/powerpoint/2010/main" xmlns="" val="37961654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22DDE17DC32DC54EB010413460834BFE" ma:contentTypeVersion="2" ma:contentTypeDescription="Yeni belge oluşturun." ma:contentTypeScope="" ma:versionID="f0e3d91972186a053038bdf45065f1ee">
  <xsd:schema xmlns:xsd="http://www.w3.org/2001/XMLSchema" xmlns:xs="http://www.w3.org/2001/XMLSchema" xmlns:p="http://schemas.microsoft.com/office/2006/metadata/properties" xmlns:ns2="ecabdfc0-4a02-4d75-8d22-fdc26463eb0a" targetNamespace="http://schemas.microsoft.com/office/2006/metadata/properties" ma:root="true" ma:fieldsID="b55a7095206caf5b532e4ae8c7c05c5c" ns2:_="">
    <xsd:import namespace="ecabdfc0-4a02-4d75-8d22-fdc26463eb0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abdfc0-4a02-4d75-8d22-fdc26463eb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E1DEE58-709D-4003-82EE-31EE253D21CF}"/>
</file>

<file path=customXml/itemProps2.xml><?xml version="1.0" encoding="utf-8"?>
<ds:datastoreItem xmlns:ds="http://schemas.openxmlformats.org/officeDocument/2006/customXml" ds:itemID="{6E25D242-F8B1-43F2-BF91-03360FA64784}"/>
</file>

<file path=customXml/itemProps3.xml><?xml version="1.0" encoding="utf-8"?>
<ds:datastoreItem xmlns:ds="http://schemas.openxmlformats.org/officeDocument/2006/customXml" ds:itemID="{1D9480C7-B8B6-4475-BFAB-DB6EF74DD09D}"/>
</file>

<file path=docProps/app.xml><?xml version="1.0" encoding="utf-8"?>
<Properties xmlns="http://schemas.openxmlformats.org/officeDocument/2006/extended-properties" xmlns:vt="http://schemas.openxmlformats.org/officeDocument/2006/docPropsVTypes">
  <TotalTime>2978</TotalTime>
  <Words>1549</Words>
  <Application>Microsoft Office PowerPoint</Application>
  <PresentationFormat>Özel</PresentationFormat>
  <Paragraphs>161</Paragraphs>
  <Slides>24</Slides>
  <Notes>4</Notes>
  <HiddenSlides>0</HiddenSlides>
  <MMClips>0</MMClips>
  <ScaleCrop>false</ScaleCrop>
  <HeadingPairs>
    <vt:vector size="4" baseType="variant">
      <vt:variant>
        <vt:lpstr>Tema</vt:lpstr>
      </vt:variant>
      <vt:variant>
        <vt:i4>1</vt:i4>
      </vt:variant>
      <vt:variant>
        <vt:lpstr>Slayt Başlıkları</vt:lpstr>
      </vt:variant>
      <vt:variant>
        <vt:i4>24</vt:i4>
      </vt:variant>
    </vt:vector>
  </HeadingPairs>
  <TitlesOfParts>
    <vt:vector size="25" baseType="lpstr">
      <vt:lpstr>Office Teması</vt:lpstr>
      <vt:lpstr>Slayt 1</vt:lpstr>
      <vt:lpstr>Introduction</vt:lpstr>
      <vt:lpstr>History</vt:lpstr>
      <vt:lpstr>History</vt:lpstr>
      <vt:lpstr>History</vt:lpstr>
      <vt:lpstr>Tape Organization</vt:lpstr>
      <vt:lpstr>Tape Organization</vt:lpstr>
      <vt:lpstr>Attributes</vt:lpstr>
      <vt:lpstr>Attributes</vt:lpstr>
      <vt:lpstr>Reading</vt:lpstr>
      <vt:lpstr>Reading</vt:lpstr>
      <vt:lpstr>Types: Audio</vt:lpstr>
      <vt:lpstr>Types: Video</vt:lpstr>
      <vt:lpstr>Types: Computer data</vt:lpstr>
      <vt:lpstr>Types and Capacity</vt:lpstr>
      <vt:lpstr>Usage</vt:lpstr>
      <vt:lpstr>Advantages</vt:lpstr>
      <vt:lpstr>Disadvantages</vt:lpstr>
      <vt:lpstr>Tape vs. Disk</vt:lpstr>
      <vt:lpstr>New Technology: LTFS</vt:lpstr>
      <vt:lpstr>Slayt 21</vt:lpstr>
      <vt:lpstr>LTFS</vt:lpstr>
      <vt:lpstr>Archiving</vt:lpstr>
      <vt:lpstr>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MAGNETIC TAPES</dc:title>
  <dc:creator>ASUS</dc:creator>
  <cp:lastModifiedBy>Fatih Akay</cp:lastModifiedBy>
  <cp:revision>211</cp:revision>
  <dcterms:created xsi:type="dcterms:W3CDTF">2020-10-21T07:07:25Z</dcterms:created>
  <dcterms:modified xsi:type="dcterms:W3CDTF">2020-10-26T09:58:49Z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0x01010022DDE17DC32DC54EB010413460834BFE</vt:lpwstr>
  </property>
</Properties>
</file>