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sldIdLst>
    <p:sldId id="257"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9" autoAdjust="0"/>
  </p:normalViewPr>
  <p:slideViewPr>
    <p:cSldViewPr snapToGrid="0">
      <p:cViewPr varScale="1">
        <p:scale>
          <a:sx n="69" d="100"/>
          <a:sy n="69" d="100"/>
        </p:scale>
        <p:origin x="-696" y="-10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xmlns="" id="{7FA0ACE7-29A8-47D3-A7D9-257B711D8023}"/>
              </a:ext>
            </a:extLst>
          </p:cNvPr>
          <p:cNvSpPr>
            <a:spLocks noGrp="1"/>
          </p:cNvSpPr>
          <p:nvPr>
            <p:ph type="dt" sz="half" idx="10"/>
          </p:nvPr>
        </p:nvSpPr>
        <p:spPr/>
        <p:txBody>
          <a:bodyPr/>
          <a:lstStyle/>
          <a:p>
            <a:fld id="{ED291B17-9318-49DB-B28B-6E5994AE9581}" type="datetime1">
              <a:rPr lang="en-US" smtClean="0"/>
              <a:pPr/>
              <a:t>11/2/2020</a:t>
            </a:fld>
            <a:endParaRPr lang="en-US" dirty="0"/>
          </a:p>
        </p:txBody>
      </p:sp>
      <p:sp>
        <p:nvSpPr>
          <p:cNvPr id="9" name="Footer Placeholder 8">
            <a:extLst>
              <a:ext uri="{FF2B5EF4-FFF2-40B4-BE49-F238E27FC236}">
                <a16:creationId xmlns:a16="http://schemas.microsoft.com/office/drawing/2014/main" xmlns=""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xmlns="" id="{5898A89F-CA25-400F-B05A-AECBF2517E4F}"/>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xmlns=""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xmlns="" id="{770E6237-3456-439F-802D-3BA93FC7E3E5}"/>
              </a:ext>
            </a:extLst>
          </p:cNvPr>
          <p:cNvSpPr>
            <a:spLocks noGrp="1"/>
          </p:cNvSpPr>
          <p:nvPr>
            <p:ph type="dt" sz="half" idx="10"/>
          </p:nvPr>
        </p:nvSpPr>
        <p:spPr/>
        <p:txBody>
          <a:bodyPr/>
          <a:lstStyle/>
          <a:p>
            <a:fld id="{78DD82B9-B8EE-4375-B6FF-88FA6ABB15D9}" type="datetime1">
              <a:rPr lang="en-US" smtClean="0"/>
              <a:pPr/>
              <a:t>11/2/2020</a:t>
            </a:fld>
            <a:endParaRPr lang="en-US" dirty="0"/>
          </a:p>
        </p:txBody>
      </p:sp>
      <p:sp>
        <p:nvSpPr>
          <p:cNvPr id="9" name="Footer Placeholder 8">
            <a:extLst>
              <a:ext uri="{FF2B5EF4-FFF2-40B4-BE49-F238E27FC236}">
                <a16:creationId xmlns:a16="http://schemas.microsoft.com/office/drawing/2014/main" xmlns=""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xmlns="" id="{02B78BF7-69D3-4CE0-A631-50EFD41EEEB8}"/>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xmlns=""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xmlns="" id="{61582016-5696-4A93-887F-BBB3B9002FE5}"/>
              </a:ext>
            </a:extLst>
          </p:cNvPr>
          <p:cNvSpPr>
            <a:spLocks noGrp="1"/>
          </p:cNvSpPr>
          <p:nvPr>
            <p:ph type="dt" sz="half" idx="10"/>
          </p:nvPr>
        </p:nvSpPr>
        <p:spPr/>
        <p:txBody>
          <a:bodyPr/>
          <a:lstStyle/>
          <a:p>
            <a:fld id="{B2497495-0637-405E-AE64-5CC7506D51F5}" type="datetime1">
              <a:rPr lang="en-US" smtClean="0"/>
              <a:pPr/>
              <a:t>11/2/2020</a:t>
            </a:fld>
            <a:endParaRPr lang="en-US" dirty="0"/>
          </a:p>
        </p:txBody>
      </p:sp>
      <p:sp>
        <p:nvSpPr>
          <p:cNvPr id="9" name="Footer Placeholder 8">
            <a:extLst>
              <a:ext uri="{FF2B5EF4-FFF2-40B4-BE49-F238E27FC236}">
                <a16:creationId xmlns:a16="http://schemas.microsoft.com/office/drawing/2014/main" xmlns=""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xmlns="" id="{E39A109E-5018-4794-92B3-FD5E5BCD95E8}"/>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xmlns=""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pPr/>
              <a:t>11/2/2020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xmlns=""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pPr/>
              <a:t>11/2/2020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xmlns=""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pPr/>
              <a:t>11/2/2020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xmlns=""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pPr/>
              <a:t>11/2/2020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xmlns=""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xmlns=""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pPr/>
              <a:t>11/2/2020</a:t>
            </a:fld>
            <a:endParaRPr lang="en-US" dirty="0"/>
          </a:p>
        </p:txBody>
      </p:sp>
      <p:sp>
        <p:nvSpPr>
          <p:cNvPr id="10" name="Footer Placeholder 9">
            <a:extLst>
              <a:ext uri="{FF2B5EF4-FFF2-40B4-BE49-F238E27FC236}">
                <a16:creationId xmlns:a16="http://schemas.microsoft.com/office/drawing/2014/main" xmlns=""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xmlns=""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xmlns=""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pPr/>
              <a:t>11/2/2020</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xmlns=""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pPr/>
              <a:t>11/2/2020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xmlns=""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xmlns=""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xmlns=""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xmlns=""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xmlns="" id="{5C74A470-3BD3-4F33-80E5-67E6E87FCBE7}"/>
              </a:ext>
            </a:extLst>
          </p:cNvPr>
          <p:cNvSpPr>
            <a:spLocks noGrp="1"/>
          </p:cNvSpPr>
          <p:nvPr>
            <p:ph type="dt" sz="half" idx="10"/>
          </p:nvPr>
        </p:nvSpPr>
        <p:spPr/>
        <p:txBody>
          <a:bodyPr/>
          <a:lstStyle/>
          <a:p>
            <a:fld id="{ED291B17-9318-49DB-B28B-6E5994AE9581}" type="datetime1">
              <a:rPr lang="en-US" smtClean="0"/>
              <a:pPr/>
              <a:t>11/2/2020</a:t>
            </a:fld>
            <a:endParaRPr lang="en-US" dirty="0"/>
          </a:p>
        </p:txBody>
      </p:sp>
      <p:sp>
        <p:nvSpPr>
          <p:cNvPr id="12" name="Footer Placeholder 11">
            <a:extLst>
              <a:ext uri="{FF2B5EF4-FFF2-40B4-BE49-F238E27FC236}">
                <a16:creationId xmlns:a16="http://schemas.microsoft.com/office/drawing/2014/main" xmlns=""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xmlns="" id="{76FF9E58-C0B2-436B-A21C-DB45A00D6515}"/>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xmlns=""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pPr/>
              <a:t>11/2/2020</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pPr/>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xmlns=""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vhdlwhiz.com/finite-state-machin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xmlns="" id="{D6D7A0BC-0046-4CAA-8E7F-DCAFE511EA0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1C21E816-31F5-48BB-BD02-D15F2F18B48A}"/>
              </a:ext>
            </a:extLst>
          </p:cNvPr>
          <p:cNvSpPr>
            <a:spLocks noGrp="1"/>
          </p:cNvSpPr>
          <p:nvPr>
            <p:ph type="ctrTitle"/>
          </p:nvPr>
        </p:nvSpPr>
        <p:spPr>
          <a:xfrm>
            <a:off x="581191" y="1020431"/>
            <a:ext cx="10993549" cy="1475013"/>
          </a:xfrm>
        </p:spPr>
        <p:txBody>
          <a:bodyPr>
            <a:normAutofit/>
          </a:bodyPr>
          <a:lstStyle/>
          <a:p>
            <a:r>
              <a:rPr lang="tr-TR" dirty="0"/>
              <a:t>Traffıc lıghts wıth fsm usıng vhdl</a:t>
            </a:r>
            <a:endParaRPr lang="en-US" dirty="0"/>
          </a:p>
        </p:txBody>
      </p:sp>
      <p:sp>
        <p:nvSpPr>
          <p:cNvPr id="3" name="Subtitle 2">
            <a:extLst>
              <a:ext uri="{FF2B5EF4-FFF2-40B4-BE49-F238E27FC236}">
                <a16:creationId xmlns:a16="http://schemas.microsoft.com/office/drawing/2014/main" xmlns="" id="{835D6E6B-3353-491C-A3C6-F278D6CED8B3}"/>
              </a:ext>
            </a:extLst>
          </p:cNvPr>
          <p:cNvSpPr>
            <a:spLocks noGrp="1"/>
          </p:cNvSpPr>
          <p:nvPr>
            <p:ph type="subTitle" idx="1"/>
          </p:nvPr>
        </p:nvSpPr>
        <p:spPr>
          <a:xfrm>
            <a:off x="581194" y="2495445"/>
            <a:ext cx="10993546" cy="468233"/>
          </a:xfrm>
        </p:spPr>
        <p:txBody>
          <a:bodyPr>
            <a:normAutofit/>
          </a:bodyPr>
          <a:lstStyle/>
          <a:p>
            <a:r>
              <a:rPr lang="tr-TR" sz="1800" b="1" dirty="0"/>
              <a:t>Oguzhan Dılber</a:t>
            </a:r>
            <a:endParaRPr lang="en-US" sz="1800" b="1" dirty="0"/>
          </a:p>
        </p:txBody>
      </p:sp>
      <p:sp>
        <p:nvSpPr>
          <p:cNvPr id="20" name="Rectangle 19">
            <a:extLst>
              <a:ext uri="{FF2B5EF4-FFF2-40B4-BE49-F238E27FC236}">
                <a16:creationId xmlns:a16="http://schemas.microsoft.com/office/drawing/2014/main" xmlns="" id="{E7C6334F-6411-41EC-AD7D-179EDD8B58C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xmlns="" id="{E6B02CEE-3AF8-4349-9B3E-8970E6DF62B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xmlns="" id="{AAA01CF0-3FB5-44EB-B7DE-F2E86374C2F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6" name="Picture 5" descr="abstract image">
            <a:extLst>
              <a:ext uri="{FF2B5EF4-FFF2-40B4-BE49-F238E27FC236}">
                <a16:creationId xmlns:a16="http://schemas.microsoft.com/office/drawing/2014/main" xmlns="" id="{F1A8C364-94D4-4630-BAD0-78722F347055}"/>
              </a:ext>
            </a:extLst>
          </p:cNvPr>
          <p:cNvPicPr>
            <a:picLocks noChangeAspect="1"/>
          </p:cNvPicPr>
          <p:nvPr/>
        </p:nvPicPr>
        <p:blipFill rotWithShape="1">
          <a:blip r:embed="rId2">
            <a:extLst>
              <a:ext uri="{28A0092B-C50C-407E-A947-70E740481C1C}">
                <a14:useLocalDpi xmlns:a14="http://schemas.microsoft.com/office/drawing/2010/main" xmlns="" val="0"/>
              </a:ext>
            </a:extLst>
          </a:blip>
          <a:srcRect/>
          <a:stretch/>
        </p:blipFill>
        <p:spPr>
          <a:xfrm>
            <a:off x="448733" y="3081867"/>
            <a:ext cx="11260667" cy="3310466"/>
          </a:xfrm>
          <a:prstGeom prst="rect">
            <a:avLst/>
          </a:prstGeom>
        </p:spPr>
      </p:pic>
    </p:spTree>
    <p:extLst>
      <p:ext uri="{BB962C8B-B14F-4D97-AF65-F5344CB8AC3E}">
        <p14:creationId xmlns:p14="http://schemas.microsoft.com/office/powerpoint/2010/main" xmlns=""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3F8ADC-C0B7-4183-8048-EBFB06A9E08D}"/>
              </a:ext>
            </a:extLst>
          </p:cNvPr>
          <p:cNvSpPr>
            <a:spLocks noGrp="1"/>
          </p:cNvSpPr>
          <p:nvPr>
            <p:ph type="title"/>
          </p:nvPr>
        </p:nvSpPr>
        <p:spPr/>
        <p:txBody>
          <a:bodyPr/>
          <a:lstStyle/>
          <a:p>
            <a:r>
              <a:rPr lang="tr-TR" dirty="0"/>
              <a:t>What ıs a fınıte state machıne ? And why use ıt ?</a:t>
            </a:r>
          </a:p>
        </p:txBody>
      </p:sp>
      <p:sp>
        <p:nvSpPr>
          <p:cNvPr id="3" name="Content Placeholder 2">
            <a:extLst>
              <a:ext uri="{FF2B5EF4-FFF2-40B4-BE49-F238E27FC236}">
                <a16:creationId xmlns:a16="http://schemas.microsoft.com/office/drawing/2014/main" xmlns="" id="{2FDB4FAC-C184-4D65-AB50-ACB07AF87684}"/>
              </a:ext>
            </a:extLst>
          </p:cNvPr>
          <p:cNvSpPr>
            <a:spLocks noGrp="1"/>
          </p:cNvSpPr>
          <p:nvPr>
            <p:ph idx="1"/>
          </p:nvPr>
        </p:nvSpPr>
        <p:spPr/>
        <p:txBody>
          <a:bodyPr/>
          <a:lstStyle/>
          <a:p>
            <a:r>
              <a:rPr lang="en-US" b="0" i="0" dirty="0">
                <a:solidFill>
                  <a:srgbClr val="333333"/>
                </a:solidFill>
                <a:effectLst/>
                <a:latin typeface="Lato"/>
              </a:rPr>
              <a:t>A finite-state machine (FSM) is a mechanism whose output is dependent not only on the current state of the input, but also on past input and output values.</a:t>
            </a:r>
            <a:endParaRPr lang="tr-TR" b="0" i="0" dirty="0">
              <a:solidFill>
                <a:srgbClr val="333333"/>
              </a:solidFill>
              <a:effectLst/>
              <a:latin typeface="Lato"/>
            </a:endParaRPr>
          </a:p>
          <a:p>
            <a:endParaRPr lang="tr-TR" dirty="0">
              <a:solidFill>
                <a:srgbClr val="333333"/>
              </a:solidFill>
              <a:latin typeface="Lato"/>
            </a:endParaRPr>
          </a:p>
          <a:p>
            <a:r>
              <a:rPr lang="en-US" b="0" i="0" dirty="0">
                <a:solidFill>
                  <a:srgbClr val="333333"/>
                </a:solidFill>
                <a:effectLst/>
                <a:latin typeface="Lato"/>
              </a:rPr>
              <a:t>Whenever you need to create some sort of time-dependent algorithm in VHDL, or if you are faced with the problem of implementing a computer program in an FPGA, it can usually be solved by using an FSM.</a:t>
            </a:r>
            <a:endParaRPr lang="tr-TR" dirty="0">
              <a:solidFill>
                <a:srgbClr val="333333"/>
              </a:solidFill>
              <a:latin typeface="Lato"/>
            </a:endParaRPr>
          </a:p>
          <a:p>
            <a:pPr marL="0" indent="0">
              <a:buNone/>
            </a:pPr>
            <a:endParaRPr lang="tr-TR" dirty="0">
              <a:solidFill>
                <a:srgbClr val="333333"/>
              </a:solidFill>
              <a:latin typeface="Lato"/>
            </a:endParaRPr>
          </a:p>
          <a:p>
            <a:r>
              <a:rPr lang="en-US" b="0" i="0" dirty="0">
                <a:solidFill>
                  <a:srgbClr val="333333"/>
                </a:solidFill>
                <a:effectLst/>
                <a:latin typeface="Lato"/>
              </a:rPr>
              <a:t>State-machines in VHDL are clocked processes whose outputs are controlled by the value of a state signal. The state signal serves as an internal memory of what happened in the previous iteration.</a:t>
            </a:r>
            <a:endParaRPr lang="tr-TR" dirty="0">
              <a:solidFill>
                <a:srgbClr val="333333"/>
              </a:solidFill>
              <a:latin typeface="Lato"/>
            </a:endParaRPr>
          </a:p>
          <a:p>
            <a:endParaRPr lang="tr-TR" dirty="0">
              <a:solidFill>
                <a:srgbClr val="333333"/>
              </a:solidFill>
              <a:latin typeface="Lato"/>
            </a:endParaRPr>
          </a:p>
          <a:p>
            <a:endParaRPr lang="tr-TR" dirty="0"/>
          </a:p>
        </p:txBody>
      </p:sp>
    </p:spTree>
    <p:extLst>
      <p:ext uri="{BB962C8B-B14F-4D97-AF65-F5344CB8AC3E}">
        <p14:creationId xmlns:p14="http://schemas.microsoft.com/office/powerpoint/2010/main" xmlns="" val="35032870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B26B957-4F82-4861-B132-8D43D364628A}"/>
              </a:ext>
            </a:extLst>
          </p:cNvPr>
          <p:cNvSpPr>
            <a:spLocks noGrp="1"/>
          </p:cNvSpPr>
          <p:nvPr>
            <p:ph type="title"/>
          </p:nvPr>
        </p:nvSpPr>
        <p:spPr/>
        <p:txBody>
          <a:bodyPr/>
          <a:lstStyle/>
          <a:p>
            <a:r>
              <a:rPr lang="tr-TR" dirty="0"/>
              <a:t>logıc</a:t>
            </a:r>
          </a:p>
        </p:txBody>
      </p:sp>
      <p:pic>
        <p:nvPicPr>
          <p:cNvPr id="5" name="Content Placeholder 4">
            <a:extLst>
              <a:ext uri="{FF2B5EF4-FFF2-40B4-BE49-F238E27FC236}">
                <a16:creationId xmlns:a16="http://schemas.microsoft.com/office/drawing/2014/main" xmlns="" id="{16E273D8-A31D-4BB1-8D13-41EC98D68073}"/>
              </a:ext>
            </a:extLst>
          </p:cNvPr>
          <p:cNvPicPr>
            <a:picLocks noGrp="1" noChangeAspect="1"/>
          </p:cNvPicPr>
          <p:nvPr>
            <p:ph idx="1"/>
          </p:nvPr>
        </p:nvPicPr>
        <p:blipFill>
          <a:blip r:embed="rId2"/>
          <a:stretch>
            <a:fillRect/>
          </a:stretch>
        </p:blipFill>
        <p:spPr>
          <a:xfrm>
            <a:off x="581191" y="2033424"/>
            <a:ext cx="11029615" cy="4367375"/>
          </a:xfrm>
        </p:spPr>
      </p:pic>
    </p:spTree>
    <p:extLst>
      <p:ext uri="{BB962C8B-B14F-4D97-AF65-F5344CB8AC3E}">
        <p14:creationId xmlns:p14="http://schemas.microsoft.com/office/powerpoint/2010/main" xmlns="" val="9723907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BE35BB-EACB-4324-A3AD-D916536ED979}"/>
              </a:ext>
            </a:extLst>
          </p:cNvPr>
          <p:cNvSpPr>
            <a:spLocks noGrp="1"/>
          </p:cNvSpPr>
          <p:nvPr>
            <p:ph type="title"/>
          </p:nvPr>
        </p:nvSpPr>
        <p:spPr/>
        <p:txBody>
          <a:bodyPr/>
          <a:lstStyle/>
          <a:p>
            <a:r>
              <a:rPr lang="tr-TR" dirty="0"/>
              <a:t>ımplementatıon</a:t>
            </a:r>
          </a:p>
        </p:txBody>
      </p:sp>
      <p:sp>
        <p:nvSpPr>
          <p:cNvPr id="3" name="Content Placeholder 2">
            <a:extLst>
              <a:ext uri="{FF2B5EF4-FFF2-40B4-BE49-F238E27FC236}">
                <a16:creationId xmlns:a16="http://schemas.microsoft.com/office/drawing/2014/main" xmlns="" id="{E9E50B40-D852-45AA-AFD4-76E2908A1FF3}"/>
              </a:ext>
            </a:extLst>
          </p:cNvPr>
          <p:cNvSpPr>
            <a:spLocks noGrp="1"/>
          </p:cNvSpPr>
          <p:nvPr>
            <p:ph idx="1"/>
          </p:nvPr>
        </p:nvSpPr>
        <p:spPr/>
        <p:txBody>
          <a:bodyPr/>
          <a:lstStyle/>
          <a:p>
            <a:r>
              <a:rPr lang="en-US" b="0" i="0" dirty="0">
                <a:solidFill>
                  <a:srgbClr val="333333"/>
                </a:solidFill>
                <a:effectLst/>
                <a:latin typeface="Lato"/>
              </a:rPr>
              <a:t>The syntax for declaring a signal</a:t>
            </a:r>
            <a:r>
              <a:rPr lang="tr-TR" b="0" i="0" dirty="0">
                <a:solidFill>
                  <a:srgbClr val="333333"/>
                </a:solidFill>
                <a:effectLst/>
                <a:latin typeface="Lato"/>
              </a:rPr>
              <a:t> is</a:t>
            </a:r>
          </a:p>
          <a:p>
            <a:r>
              <a:rPr lang="tr-TR" dirty="0">
                <a:solidFill>
                  <a:srgbClr val="333333"/>
                </a:solidFill>
                <a:latin typeface="Lato"/>
              </a:rPr>
              <a:t>    </a:t>
            </a:r>
            <a:r>
              <a:rPr lang="en-US" b="0" i="0" dirty="0">
                <a:solidFill>
                  <a:srgbClr val="333333"/>
                </a:solidFill>
                <a:effectLst/>
                <a:latin typeface="Monaco"/>
              </a:rPr>
              <a:t>type &lt;</a:t>
            </a:r>
            <a:r>
              <a:rPr lang="en-US" b="0" i="0" dirty="0" err="1">
                <a:solidFill>
                  <a:srgbClr val="333333"/>
                </a:solidFill>
                <a:effectLst/>
                <a:latin typeface="Monaco"/>
              </a:rPr>
              <a:t>type_name</a:t>
            </a:r>
            <a:r>
              <a:rPr lang="en-US" b="0" i="0" dirty="0">
                <a:solidFill>
                  <a:srgbClr val="333333"/>
                </a:solidFill>
                <a:effectLst/>
                <a:latin typeface="Monaco"/>
              </a:rPr>
              <a:t>&gt; is (&lt;state_name1&gt;, &lt;state_name2&gt;, ...);</a:t>
            </a:r>
            <a:r>
              <a:rPr lang="en-US" dirty="0"/>
              <a:t/>
            </a:r>
            <a:br>
              <a:rPr lang="en-US" dirty="0"/>
            </a:br>
            <a:r>
              <a:rPr lang="tr-TR" dirty="0"/>
              <a:t>    </a:t>
            </a:r>
            <a:r>
              <a:rPr lang="en-US" b="0" i="0" dirty="0">
                <a:solidFill>
                  <a:srgbClr val="333333"/>
                </a:solidFill>
                <a:effectLst/>
                <a:latin typeface="Monaco"/>
              </a:rPr>
              <a:t>signal &lt;</a:t>
            </a:r>
            <a:r>
              <a:rPr lang="en-US" b="0" i="0" dirty="0" err="1">
                <a:solidFill>
                  <a:srgbClr val="333333"/>
                </a:solidFill>
                <a:effectLst/>
                <a:latin typeface="Monaco"/>
              </a:rPr>
              <a:t>signal_name</a:t>
            </a:r>
            <a:r>
              <a:rPr lang="en-US" b="0" i="0" dirty="0">
                <a:solidFill>
                  <a:srgbClr val="333333"/>
                </a:solidFill>
                <a:effectLst/>
                <a:latin typeface="Monaco"/>
              </a:rPr>
              <a:t>&gt; : &lt;</a:t>
            </a:r>
            <a:r>
              <a:rPr lang="en-US" b="0" i="0" dirty="0" err="1">
                <a:solidFill>
                  <a:srgbClr val="333333"/>
                </a:solidFill>
                <a:effectLst/>
                <a:latin typeface="Monaco"/>
              </a:rPr>
              <a:t>type_name</a:t>
            </a:r>
            <a:r>
              <a:rPr lang="en-US" b="0" i="0" dirty="0">
                <a:solidFill>
                  <a:srgbClr val="333333"/>
                </a:solidFill>
                <a:effectLst/>
                <a:latin typeface="Monaco"/>
              </a:rPr>
              <a:t>&gt;;</a:t>
            </a:r>
            <a:endParaRPr lang="tr-TR" b="0" i="0" dirty="0">
              <a:solidFill>
                <a:srgbClr val="333333"/>
              </a:solidFill>
              <a:effectLst/>
              <a:latin typeface="Monaco"/>
            </a:endParaRPr>
          </a:p>
          <a:p>
            <a:endParaRPr lang="tr-TR" dirty="0">
              <a:solidFill>
                <a:srgbClr val="333333"/>
              </a:solidFill>
              <a:latin typeface="Monaco"/>
            </a:endParaRPr>
          </a:p>
          <a:p>
            <a:r>
              <a:rPr lang="en-US" b="0" i="0" dirty="0">
                <a:solidFill>
                  <a:srgbClr val="333333"/>
                </a:solidFill>
                <a:effectLst/>
                <a:latin typeface="Lato"/>
              </a:rPr>
              <a:t>Using the state signal, the finite-state machine can then be implemented in a process with a Case statement. The Case statement contains a When statement for each of the possible states, causing the program to take different paths for every state. The When statement can also contain code which should be executed while in that particular state. The state will then typically change when a predefined condition is met.</a:t>
            </a:r>
            <a:endParaRPr lang="tr-TR" dirty="0">
              <a:solidFill>
                <a:srgbClr val="333333"/>
              </a:solidFill>
              <a:latin typeface="Monaco"/>
            </a:endParaRPr>
          </a:p>
          <a:p>
            <a:pPr marL="0" indent="0">
              <a:buNone/>
            </a:pPr>
            <a:endParaRPr lang="tr-TR" dirty="0">
              <a:solidFill>
                <a:srgbClr val="333333"/>
              </a:solidFill>
              <a:latin typeface="Monaco"/>
            </a:endParaRPr>
          </a:p>
          <a:p>
            <a:endParaRPr lang="tr-TR" dirty="0"/>
          </a:p>
        </p:txBody>
      </p:sp>
    </p:spTree>
    <p:extLst>
      <p:ext uri="{BB962C8B-B14F-4D97-AF65-F5344CB8AC3E}">
        <p14:creationId xmlns:p14="http://schemas.microsoft.com/office/powerpoint/2010/main" xmlns="" val="1763490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DB5639-3D35-4A96-9028-937B4D56EBA8}"/>
              </a:ext>
            </a:extLst>
          </p:cNvPr>
          <p:cNvSpPr>
            <a:spLocks noGrp="1"/>
          </p:cNvSpPr>
          <p:nvPr>
            <p:ph type="title"/>
          </p:nvPr>
        </p:nvSpPr>
        <p:spPr/>
        <p:txBody>
          <a:bodyPr/>
          <a:lstStyle/>
          <a:p>
            <a:endParaRPr lang="tr-TR" dirty="0"/>
          </a:p>
        </p:txBody>
      </p:sp>
      <p:pic>
        <p:nvPicPr>
          <p:cNvPr id="5" name="Content Placeholder 4">
            <a:extLst>
              <a:ext uri="{FF2B5EF4-FFF2-40B4-BE49-F238E27FC236}">
                <a16:creationId xmlns:a16="http://schemas.microsoft.com/office/drawing/2014/main" xmlns="" id="{38817AD3-FE37-4D39-A4D1-965157ABF80B}"/>
              </a:ext>
            </a:extLst>
          </p:cNvPr>
          <p:cNvPicPr>
            <a:picLocks noGrp="1" noChangeAspect="1"/>
          </p:cNvPicPr>
          <p:nvPr>
            <p:ph idx="1"/>
          </p:nvPr>
        </p:nvPicPr>
        <p:blipFill>
          <a:blip r:embed="rId2"/>
          <a:stretch>
            <a:fillRect/>
          </a:stretch>
        </p:blipFill>
        <p:spPr>
          <a:xfrm>
            <a:off x="1" y="0"/>
            <a:ext cx="6095999" cy="6858000"/>
          </a:xfrm>
        </p:spPr>
      </p:pic>
      <p:pic>
        <p:nvPicPr>
          <p:cNvPr id="6" name="Content Placeholder 4">
            <a:extLst>
              <a:ext uri="{FF2B5EF4-FFF2-40B4-BE49-F238E27FC236}">
                <a16:creationId xmlns:a16="http://schemas.microsoft.com/office/drawing/2014/main" xmlns="" id="{F455FF0F-4739-4DEA-9006-1B30969D8920}"/>
              </a:ext>
            </a:extLst>
          </p:cNvPr>
          <p:cNvPicPr>
            <a:picLocks noChangeAspect="1"/>
          </p:cNvPicPr>
          <p:nvPr/>
        </p:nvPicPr>
        <p:blipFill>
          <a:blip r:embed="rId3"/>
          <a:stretch>
            <a:fillRect/>
          </a:stretch>
        </p:blipFill>
        <p:spPr>
          <a:xfrm>
            <a:off x="6096000" y="0"/>
            <a:ext cx="6096000" cy="6858000"/>
          </a:xfrm>
          <a:prstGeom prst="rect">
            <a:avLst/>
          </a:prstGeom>
        </p:spPr>
      </p:pic>
    </p:spTree>
    <p:extLst>
      <p:ext uri="{BB962C8B-B14F-4D97-AF65-F5344CB8AC3E}">
        <p14:creationId xmlns:p14="http://schemas.microsoft.com/office/powerpoint/2010/main" xmlns="" val="3051121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77C9ED2-95CE-4CB6-B296-C73C955AB864}"/>
              </a:ext>
            </a:extLst>
          </p:cNvPr>
          <p:cNvSpPr>
            <a:spLocks noGrp="1"/>
          </p:cNvSpPr>
          <p:nvPr>
            <p:ph type="title"/>
          </p:nvPr>
        </p:nvSpPr>
        <p:spPr/>
        <p:txBody>
          <a:bodyPr/>
          <a:lstStyle/>
          <a:p>
            <a:endParaRPr lang="tr-TR" dirty="0"/>
          </a:p>
        </p:txBody>
      </p:sp>
      <p:pic>
        <p:nvPicPr>
          <p:cNvPr id="7" name="Content Placeholder 6">
            <a:extLst>
              <a:ext uri="{FF2B5EF4-FFF2-40B4-BE49-F238E27FC236}">
                <a16:creationId xmlns:a16="http://schemas.microsoft.com/office/drawing/2014/main" xmlns="" id="{F035471F-9701-4DA4-A1FC-446E5DD0E8D8}"/>
              </a:ext>
            </a:extLst>
          </p:cNvPr>
          <p:cNvPicPr>
            <a:picLocks noGrp="1" noChangeAspect="1"/>
          </p:cNvPicPr>
          <p:nvPr>
            <p:ph idx="1"/>
          </p:nvPr>
        </p:nvPicPr>
        <p:blipFill>
          <a:blip r:embed="rId2"/>
          <a:stretch>
            <a:fillRect/>
          </a:stretch>
        </p:blipFill>
        <p:spPr>
          <a:xfrm>
            <a:off x="0" y="0"/>
            <a:ext cx="6096000" cy="6858000"/>
          </a:xfrm>
        </p:spPr>
      </p:pic>
      <p:pic>
        <p:nvPicPr>
          <p:cNvPr id="9" name="Picture 8">
            <a:extLst>
              <a:ext uri="{FF2B5EF4-FFF2-40B4-BE49-F238E27FC236}">
                <a16:creationId xmlns:a16="http://schemas.microsoft.com/office/drawing/2014/main" xmlns="" id="{0E3C97CF-1B27-46C3-8603-C262A798DF81}"/>
              </a:ext>
            </a:extLst>
          </p:cNvPr>
          <p:cNvPicPr>
            <a:picLocks noChangeAspect="1"/>
          </p:cNvPicPr>
          <p:nvPr/>
        </p:nvPicPr>
        <p:blipFill>
          <a:blip r:embed="rId3"/>
          <a:stretch>
            <a:fillRect/>
          </a:stretch>
        </p:blipFill>
        <p:spPr>
          <a:xfrm>
            <a:off x="5376729" y="0"/>
            <a:ext cx="6815271" cy="6858000"/>
          </a:xfrm>
          <a:prstGeom prst="rect">
            <a:avLst/>
          </a:prstGeom>
        </p:spPr>
      </p:pic>
    </p:spTree>
    <p:extLst>
      <p:ext uri="{BB962C8B-B14F-4D97-AF65-F5344CB8AC3E}">
        <p14:creationId xmlns:p14="http://schemas.microsoft.com/office/powerpoint/2010/main" xmlns="" val="2273316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B74670F-234B-40C5-93F8-420A99B36AB7}"/>
              </a:ext>
            </a:extLst>
          </p:cNvPr>
          <p:cNvSpPr>
            <a:spLocks noGrp="1"/>
          </p:cNvSpPr>
          <p:nvPr>
            <p:ph type="title"/>
          </p:nvPr>
        </p:nvSpPr>
        <p:spPr/>
        <p:txBody>
          <a:bodyPr/>
          <a:lstStyle/>
          <a:p>
            <a:endParaRPr lang="tr-TR"/>
          </a:p>
        </p:txBody>
      </p:sp>
      <p:pic>
        <p:nvPicPr>
          <p:cNvPr id="5" name="Content Placeholder 4">
            <a:extLst>
              <a:ext uri="{FF2B5EF4-FFF2-40B4-BE49-F238E27FC236}">
                <a16:creationId xmlns:a16="http://schemas.microsoft.com/office/drawing/2014/main" xmlns="" id="{DD37F921-75CD-4827-8C8A-D54FD31C8A16}"/>
              </a:ext>
            </a:extLst>
          </p:cNvPr>
          <p:cNvPicPr>
            <a:picLocks noGrp="1" noChangeAspect="1"/>
          </p:cNvPicPr>
          <p:nvPr>
            <p:ph idx="1"/>
          </p:nvPr>
        </p:nvPicPr>
        <p:blipFill>
          <a:blip r:embed="rId2"/>
          <a:stretch>
            <a:fillRect/>
          </a:stretch>
        </p:blipFill>
        <p:spPr>
          <a:xfrm>
            <a:off x="0" y="0"/>
            <a:ext cx="6096000" cy="6858000"/>
          </a:xfrm>
        </p:spPr>
      </p:pic>
      <p:pic>
        <p:nvPicPr>
          <p:cNvPr id="7" name="Picture 6">
            <a:extLst>
              <a:ext uri="{FF2B5EF4-FFF2-40B4-BE49-F238E27FC236}">
                <a16:creationId xmlns:a16="http://schemas.microsoft.com/office/drawing/2014/main" xmlns="" id="{A119A177-952E-4587-AC3A-289AC0E87CF1}"/>
              </a:ext>
            </a:extLst>
          </p:cNvPr>
          <p:cNvPicPr>
            <a:picLocks noChangeAspect="1"/>
          </p:cNvPicPr>
          <p:nvPr/>
        </p:nvPicPr>
        <p:blipFill>
          <a:blip r:embed="rId3"/>
          <a:stretch>
            <a:fillRect/>
          </a:stretch>
        </p:blipFill>
        <p:spPr>
          <a:xfrm>
            <a:off x="5752730" y="0"/>
            <a:ext cx="6439270" cy="6858000"/>
          </a:xfrm>
          <a:prstGeom prst="rect">
            <a:avLst/>
          </a:prstGeom>
        </p:spPr>
      </p:pic>
    </p:spTree>
    <p:extLst>
      <p:ext uri="{BB962C8B-B14F-4D97-AF65-F5344CB8AC3E}">
        <p14:creationId xmlns:p14="http://schemas.microsoft.com/office/powerpoint/2010/main" xmlns="" val="3086569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1C9BDC-4C42-4199-978B-8F04776BE994}"/>
              </a:ext>
            </a:extLst>
          </p:cNvPr>
          <p:cNvSpPr>
            <a:spLocks noGrp="1"/>
          </p:cNvSpPr>
          <p:nvPr>
            <p:ph type="title"/>
          </p:nvPr>
        </p:nvSpPr>
        <p:spPr/>
        <p:txBody>
          <a:bodyPr/>
          <a:lstStyle/>
          <a:p>
            <a:endParaRPr lang="tr-TR"/>
          </a:p>
        </p:txBody>
      </p:sp>
      <p:pic>
        <p:nvPicPr>
          <p:cNvPr id="5" name="Content Placeholder 4">
            <a:extLst>
              <a:ext uri="{FF2B5EF4-FFF2-40B4-BE49-F238E27FC236}">
                <a16:creationId xmlns:a16="http://schemas.microsoft.com/office/drawing/2014/main" xmlns="" id="{3D4BEC69-3ABE-4A53-AD4E-4980A5DD8353}"/>
              </a:ext>
            </a:extLst>
          </p:cNvPr>
          <p:cNvPicPr>
            <a:picLocks noGrp="1" noChangeAspect="1"/>
          </p:cNvPicPr>
          <p:nvPr>
            <p:ph idx="1"/>
          </p:nvPr>
        </p:nvPicPr>
        <p:blipFill>
          <a:blip r:embed="rId2"/>
          <a:stretch>
            <a:fillRect/>
          </a:stretch>
        </p:blipFill>
        <p:spPr>
          <a:xfrm>
            <a:off x="0" y="0"/>
            <a:ext cx="6096000" cy="6858000"/>
          </a:xfrm>
        </p:spPr>
      </p:pic>
      <p:pic>
        <p:nvPicPr>
          <p:cNvPr id="7" name="Picture 6">
            <a:extLst>
              <a:ext uri="{FF2B5EF4-FFF2-40B4-BE49-F238E27FC236}">
                <a16:creationId xmlns:a16="http://schemas.microsoft.com/office/drawing/2014/main" xmlns="" id="{C843F62C-541B-4A3D-B128-E3DEC40EEEDD}"/>
              </a:ext>
            </a:extLst>
          </p:cNvPr>
          <p:cNvPicPr>
            <a:picLocks noChangeAspect="1"/>
          </p:cNvPicPr>
          <p:nvPr/>
        </p:nvPicPr>
        <p:blipFill>
          <a:blip r:embed="rId3"/>
          <a:stretch>
            <a:fillRect/>
          </a:stretch>
        </p:blipFill>
        <p:spPr>
          <a:xfrm>
            <a:off x="5814874" y="0"/>
            <a:ext cx="6377126" cy="6858000"/>
          </a:xfrm>
          <a:prstGeom prst="rect">
            <a:avLst/>
          </a:prstGeom>
        </p:spPr>
      </p:pic>
    </p:spTree>
    <p:extLst>
      <p:ext uri="{BB962C8B-B14F-4D97-AF65-F5344CB8AC3E}">
        <p14:creationId xmlns:p14="http://schemas.microsoft.com/office/powerpoint/2010/main" xmlns="" val="31431077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7BF7EB0-467D-4735-A843-083BDE7E0372}"/>
              </a:ext>
            </a:extLst>
          </p:cNvPr>
          <p:cNvSpPr>
            <a:spLocks noGrp="1"/>
          </p:cNvSpPr>
          <p:nvPr>
            <p:ph type="title"/>
          </p:nvPr>
        </p:nvSpPr>
        <p:spPr/>
        <p:txBody>
          <a:bodyPr/>
          <a:lstStyle/>
          <a:p>
            <a:endParaRPr lang="tr-TR"/>
          </a:p>
        </p:txBody>
      </p:sp>
      <p:pic>
        <p:nvPicPr>
          <p:cNvPr id="5" name="Content Placeholder 4">
            <a:extLst>
              <a:ext uri="{FF2B5EF4-FFF2-40B4-BE49-F238E27FC236}">
                <a16:creationId xmlns:a16="http://schemas.microsoft.com/office/drawing/2014/main" xmlns="" id="{10B095C5-67CA-4583-A691-5DC23231A7EC}"/>
              </a:ext>
            </a:extLst>
          </p:cNvPr>
          <p:cNvPicPr>
            <a:picLocks noGrp="1" noChangeAspect="1"/>
          </p:cNvPicPr>
          <p:nvPr>
            <p:ph idx="1"/>
          </p:nvPr>
        </p:nvPicPr>
        <p:blipFill>
          <a:blip r:embed="rId2"/>
          <a:stretch>
            <a:fillRect/>
          </a:stretch>
        </p:blipFill>
        <p:spPr>
          <a:xfrm>
            <a:off x="0" y="0"/>
            <a:ext cx="12195143" cy="6858000"/>
          </a:xfrm>
        </p:spPr>
      </p:pic>
    </p:spTree>
    <p:extLst>
      <p:ext uri="{BB962C8B-B14F-4D97-AF65-F5344CB8AC3E}">
        <p14:creationId xmlns:p14="http://schemas.microsoft.com/office/powerpoint/2010/main" xmlns="" val="3430834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E753DC-9C87-4DA3-97EC-0E0B3D6A9868}"/>
              </a:ext>
            </a:extLst>
          </p:cNvPr>
          <p:cNvSpPr>
            <a:spLocks noGrp="1"/>
          </p:cNvSpPr>
          <p:nvPr>
            <p:ph type="title"/>
          </p:nvPr>
        </p:nvSpPr>
        <p:spPr/>
        <p:txBody>
          <a:bodyPr/>
          <a:lstStyle/>
          <a:p>
            <a:endParaRPr lang="tr-TR"/>
          </a:p>
        </p:txBody>
      </p:sp>
      <p:pic>
        <p:nvPicPr>
          <p:cNvPr id="5" name="Content Placeholder 4">
            <a:extLst>
              <a:ext uri="{FF2B5EF4-FFF2-40B4-BE49-F238E27FC236}">
                <a16:creationId xmlns:a16="http://schemas.microsoft.com/office/drawing/2014/main" xmlns="" id="{AD7A02FE-06E7-4E6E-9784-CB476D8EC9B0}"/>
              </a:ext>
            </a:extLst>
          </p:cNvPr>
          <p:cNvPicPr>
            <a:picLocks noGrp="1" noChangeAspect="1"/>
          </p:cNvPicPr>
          <p:nvPr>
            <p:ph idx="1"/>
          </p:nvPr>
        </p:nvPicPr>
        <p:blipFill>
          <a:blip r:embed="rId2"/>
          <a:stretch>
            <a:fillRect/>
          </a:stretch>
        </p:blipFill>
        <p:spPr>
          <a:xfrm>
            <a:off x="0" y="0"/>
            <a:ext cx="6096000" cy="6858000"/>
          </a:xfrm>
        </p:spPr>
      </p:pic>
      <p:pic>
        <p:nvPicPr>
          <p:cNvPr id="7" name="Picture 6">
            <a:extLst>
              <a:ext uri="{FF2B5EF4-FFF2-40B4-BE49-F238E27FC236}">
                <a16:creationId xmlns:a16="http://schemas.microsoft.com/office/drawing/2014/main" xmlns="" id="{4E7B2B70-7C40-4B24-BB44-E0FED1427B26}"/>
              </a:ext>
            </a:extLst>
          </p:cNvPr>
          <p:cNvPicPr>
            <a:picLocks noChangeAspect="1"/>
          </p:cNvPicPr>
          <p:nvPr/>
        </p:nvPicPr>
        <p:blipFill>
          <a:blip r:embed="rId3"/>
          <a:stretch>
            <a:fillRect/>
          </a:stretch>
        </p:blipFill>
        <p:spPr>
          <a:xfrm>
            <a:off x="5575177" y="0"/>
            <a:ext cx="6616823" cy="6858000"/>
          </a:xfrm>
          <a:prstGeom prst="rect">
            <a:avLst/>
          </a:prstGeom>
        </p:spPr>
      </p:pic>
    </p:spTree>
    <p:extLst>
      <p:ext uri="{BB962C8B-B14F-4D97-AF65-F5344CB8AC3E}">
        <p14:creationId xmlns:p14="http://schemas.microsoft.com/office/powerpoint/2010/main" xmlns="" val="2449636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EDF3E9-0878-4C3D-AA06-1969D6F079CF}"/>
              </a:ext>
            </a:extLst>
          </p:cNvPr>
          <p:cNvSpPr>
            <a:spLocks noGrp="1"/>
          </p:cNvSpPr>
          <p:nvPr>
            <p:ph type="title"/>
          </p:nvPr>
        </p:nvSpPr>
        <p:spPr/>
        <p:txBody>
          <a:bodyPr/>
          <a:lstStyle/>
          <a:p>
            <a:endParaRPr lang="tr-TR"/>
          </a:p>
        </p:txBody>
      </p:sp>
      <p:pic>
        <p:nvPicPr>
          <p:cNvPr id="5" name="Content Placeholder 4">
            <a:extLst>
              <a:ext uri="{FF2B5EF4-FFF2-40B4-BE49-F238E27FC236}">
                <a16:creationId xmlns:a16="http://schemas.microsoft.com/office/drawing/2014/main" xmlns="" id="{CBEB6EDF-C286-4E4E-950B-44B1E4675743}"/>
              </a:ext>
            </a:extLst>
          </p:cNvPr>
          <p:cNvPicPr>
            <a:picLocks noGrp="1" noChangeAspect="1"/>
          </p:cNvPicPr>
          <p:nvPr>
            <p:ph idx="1"/>
          </p:nvPr>
        </p:nvPicPr>
        <p:blipFill>
          <a:blip r:embed="rId2"/>
          <a:stretch>
            <a:fillRect/>
          </a:stretch>
        </p:blipFill>
        <p:spPr>
          <a:xfrm>
            <a:off x="0" y="0"/>
            <a:ext cx="6096000" cy="6858000"/>
          </a:xfrm>
        </p:spPr>
      </p:pic>
      <p:pic>
        <p:nvPicPr>
          <p:cNvPr id="7" name="Picture 6">
            <a:extLst>
              <a:ext uri="{FF2B5EF4-FFF2-40B4-BE49-F238E27FC236}">
                <a16:creationId xmlns:a16="http://schemas.microsoft.com/office/drawing/2014/main" xmlns="" id="{62447345-425A-4A0C-B784-CCE3A6DB1CFF}"/>
              </a:ext>
            </a:extLst>
          </p:cNvPr>
          <p:cNvPicPr>
            <a:picLocks noChangeAspect="1"/>
          </p:cNvPicPr>
          <p:nvPr/>
        </p:nvPicPr>
        <p:blipFill>
          <a:blip r:embed="rId3"/>
          <a:stretch>
            <a:fillRect/>
          </a:stretch>
        </p:blipFill>
        <p:spPr>
          <a:xfrm>
            <a:off x="5877017" y="0"/>
            <a:ext cx="6314983" cy="6858000"/>
          </a:xfrm>
          <a:prstGeom prst="rect">
            <a:avLst/>
          </a:prstGeom>
        </p:spPr>
      </p:pic>
    </p:spTree>
    <p:extLst>
      <p:ext uri="{BB962C8B-B14F-4D97-AF65-F5344CB8AC3E}">
        <p14:creationId xmlns:p14="http://schemas.microsoft.com/office/powerpoint/2010/main" xmlns="" val="34122003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F70A79-6F6B-469F-B246-11A4CFB332E1}"/>
              </a:ext>
            </a:extLst>
          </p:cNvPr>
          <p:cNvSpPr>
            <a:spLocks noGrp="1"/>
          </p:cNvSpPr>
          <p:nvPr>
            <p:ph type="title"/>
          </p:nvPr>
        </p:nvSpPr>
        <p:spPr/>
        <p:txBody>
          <a:bodyPr/>
          <a:lstStyle/>
          <a:p>
            <a:r>
              <a:rPr lang="tr-TR" dirty="0"/>
              <a:t>source</a:t>
            </a:r>
          </a:p>
        </p:txBody>
      </p:sp>
      <p:sp>
        <p:nvSpPr>
          <p:cNvPr id="3" name="Content Placeholder 2">
            <a:extLst>
              <a:ext uri="{FF2B5EF4-FFF2-40B4-BE49-F238E27FC236}">
                <a16:creationId xmlns:a16="http://schemas.microsoft.com/office/drawing/2014/main" xmlns="" id="{62E9FDA5-6F7D-46A2-9468-C447C69630AF}"/>
              </a:ext>
            </a:extLst>
          </p:cNvPr>
          <p:cNvSpPr>
            <a:spLocks noGrp="1"/>
          </p:cNvSpPr>
          <p:nvPr>
            <p:ph idx="1"/>
          </p:nvPr>
        </p:nvSpPr>
        <p:spPr/>
        <p:txBody>
          <a:bodyPr/>
          <a:lstStyle/>
          <a:p>
            <a:r>
              <a:rPr lang="tr-TR" dirty="0"/>
              <a:t>For source codes and more information :</a:t>
            </a:r>
          </a:p>
          <a:p>
            <a:r>
              <a:rPr lang="tr-TR" dirty="0"/>
              <a:t>  </a:t>
            </a:r>
            <a:r>
              <a:rPr lang="tr-TR" dirty="0">
                <a:hlinkClick r:id="rId2"/>
              </a:rPr>
              <a:t>https://vhdlwhiz.com/finite-state-machine/</a:t>
            </a:r>
            <a:endParaRPr lang="tr-TR" dirty="0"/>
          </a:p>
          <a:p>
            <a:endParaRPr lang="tr-TR" dirty="0"/>
          </a:p>
          <a:p>
            <a:endParaRPr lang="tr-TR" dirty="0"/>
          </a:p>
          <a:p>
            <a:endParaRPr lang="tr-TR" dirty="0"/>
          </a:p>
          <a:p>
            <a:endParaRPr lang="tr-TR" dirty="0"/>
          </a:p>
          <a:p>
            <a:endParaRPr lang="tr-TR" dirty="0"/>
          </a:p>
          <a:p>
            <a:endParaRPr lang="tr-TR" dirty="0"/>
          </a:p>
          <a:p>
            <a:endParaRPr lang="tr-TR" dirty="0"/>
          </a:p>
        </p:txBody>
      </p:sp>
    </p:spTree>
    <p:extLst>
      <p:ext uri="{BB962C8B-B14F-4D97-AF65-F5344CB8AC3E}">
        <p14:creationId xmlns:p14="http://schemas.microsoft.com/office/powerpoint/2010/main" xmlns="" val="315152869"/>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DividendVTI" id="{97558BDE-0B66-457C-BB6F-7B1B22DAA9B8}" vid="{F53508A3-AC60-448A-AF37-934D5F1A0D5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Belge" ma:contentTypeID="0x01010022DDE17DC32DC54EB010413460834BFE" ma:contentTypeVersion="2" ma:contentTypeDescription="Yeni belge oluşturun." ma:contentTypeScope="" ma:versionID="f0e3d91972186a053038bdf45065f1ee">
  <xsd:schema xmlns:xsd="http://www.w3.org/2001/XMLSchema" xmlns:xs="http://www.w3.org/2001/XMLSchema" xmlns:p="http://schemas.microsoft.com/office/2006/metadata/properties" xmlns:ns2="ecabdfc0-4a02-4d75-8d22-fdc26463eb0a" targetNamespace="http://schemas.microsoft.com/office/2006/metadata/properties" ma:root="true" ma:fieldsID="b55a7095206caf5b532e4ae8c7c05c5c" ns2:_="">
    <xsd:import namespace="ecabdfc0-4a02-4d75-8d22-fdc26463eb0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abdfc0-4a02-4d75-8d22-fdc26463eb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EDE73FD7-7127-4F60-9110-C69F5E5A9E8E}"/>
</file>

<file path=customXml/itemProps3.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{D68257BC-A081-42B7-BEAD-4DCC94DF34F0}tf33552983</Template>
  <TotalTime>211</TotalTime>
  <Words>161</Words>
  <Application>Microsoft Office PowerPoint</Application>
  <PresentationFormat>Özel</PresentationFormat>
  <Paragraphs>22</Paragraphs>
  <Slides>12</Slides>
  <Notes>0</Notes>
  <HiddenSlides>0</HiddenSlides>
  <MMClips>0</MMClips>
  <ScaleCrop>false</ScaleCrop>
  <HeadingPairs>
    <vt:vector size="4" baseType="variant">
      <vt:variant>
        <vt:lpstr>Tema</vt:lpstr>
      </vt:variant>
      <vt:variant>
        <vt:i4>1</vt:i4>
      </vt:variant>
      <vt:variant>
        <vt:lpstr>Slayt Başlıkları</vt:lpstr>
      </vt:variant>
      <vt:variant>
        <vt:i4>12</vt:i4>
      </vt:variant>
    </vt:vector>
  </HeadingPairs>
  <TitlesOfParts>
    <vt:vector size="13" baseType="lpstr">
      <vt:lpstr>DividendVTI</vt:lpstr>
      <vt:lpstr>Traffıc lıghts wıth fsm usıng vhdl</vt:lpstr>
      <vt:lpstr>What ıs a fınıte state machıne ? And why use ıt ?</vt:lpstr>
      <vt:lpstr>logıc</vt:lpstr>
      <vt:lpstr>ımplementatıon</vt:lpstr>
      <vt:lpstr>Slayt 5</vt:lpstr>
      <vt:lpstr>Slayt 6</vt:lpstr>
      <vt:lpstr>Slayt 7</vt:lpstr>
      <vt:lpstr>Slayt 8</vt:lpstr>
      <vt:lpstr>Slayt 9</vt:lpstr>
      <vt:lpstr>Slayt 10</vt:lpstr>
      <vt:lpstr>Slayt 11</vt:lpstr>
      <vt:lpstr>source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Traffıc lıghts wıth fsm usıng vhdl</dc:title>
  <dc:creator>Oğuzhan Dilber</dc:creator>
  <cp:lastModifiedBy>Fatih Akay</cp:lastModifiedBy>
  <cp:revision>13</cp:revision>
  <dcterms:created xsi:type="dcterms:W3CDTF">2020-11-01T20:25:38Z</dcterms:created>
  <dcterms:modified xsi:type="dcterms:W3CDTF">2020-11-02T14:06:44Z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0x01010022DDE17DC32DC54EB010413460834BFE</vt:lpwstr>
  </property>
</Properties>
</file>