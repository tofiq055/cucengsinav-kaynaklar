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4E9C7-34D9-41D6-A94D-8AFD1E3BF4CC}" v="924" dt="2020-10-20T08:06:40.105"/>
    <p1510:client id="{CDC1337C-019C-43CC-BB3C-C0625F6CF65C}" v="7" dt="2020-10-20T08:11:21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-49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13A3-10E9-421F-81BE-56E0786AB515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913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B50C-7EEE-46CD-BAF7-BBC4026D959A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072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DBB876-5FD9-4964-BD37-6F05DAEBE3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11C4-AE09-4254-A5E3-6DA9B099C971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350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42C3-E082-4760-93B2-E209268DD00C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147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C950-F824-48B9-B984-CAEE265865E5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332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3A0F-68E7-4D17-BB84-ED1BA4F6AC6B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177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BC4F-EDA1-4BA2-BFF3-FE5B31CCB58B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13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694C-1394-4838-A564-7380835C2E77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732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566AF89-5FBD-43DD-958D-A5C608AE2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4B19-1A00-4EDB-8425-E1827A377364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455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ABC0-2199-478F-BA77-33A651B6CB89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601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30C6-DF61-47F4-B8C5-1B70E884BF06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901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0076A27-8146-4F75-9851-A83577C6FD8A}" type="datetime2">
              <a:rPr lang="en-US" smtClean="0"/>
              <a:pPr/>
              <a:t>Tuesday, October 20,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404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63" r:id="rId6"/>
    <p:sldLayoutId id="2147483759" r:id="rId7"/>
    <p:sldLayoutId id="2147483760" r:id="rId8"/>
    <p:sldLayoutId id="2147483761" r:id="rId9"/>
    <p:sldLayoutId id="2147483762" r:id="rId10"/>
    <p:sldLayoutId id="214748376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F23DF24-8E9A-4AD0-93DF-A82A416667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3768" y="3968153"/>
            <a:ext cx="4978735" cy="19953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600">
                <a:cs typeface="Calibri Light"/>
              </a:rPr>
              <a:t>CPU</a:t>
            </a:r>
            <a:br>
              <a:rPr lang="en-US" sz="3600">
                <a:cs typeface="Calibri Light"/>
              </a:rPr>
            </a:br>
            <a:r>
              <a:rPr lang="en-US" sz="3600">
                <a:cs typeface="Calibri Light"/>
              </a:rPr>
              <a:t>(Central Processing Unit)</a:t>
            </a:r>
            <a:endParaRPr lang="en-US" sz="3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728B9D0-05A6-4333-BB22-46585AA77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2BACE5B-B094-444A-A9B3-E31F591F37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17416"/>
            <a:ext cx="4038600" cy="6840156"/>
          </a:xfrm>
          <a:prstGeom prst="rect">
            <a:avLst/>
          </a:prstGeom>
          <a:gradFill>
            <a:gsLst>
              <a:gs pos="2200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F8B47F9-648C-4086-8D7A-EA234E2EE8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29604" y="614984"/>
            <a:ext cx="6812404" cy="5638799"/>
          </a:xfrm>
          <a:prstGeom prst="rect">
            <a:avLst/>
          </a:prstGeom>
          <a:gradFill>
            <a:gsLst>
              <a:gs pos="2000">
                <a:schemeClr val="accent5">
                  <a:alpha val="19000"/>
                </a:schemeClr>
              </a:gs>
              <a:gs pos="100000">
                <a:schemeClr val="accent4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48844505-07B5-4F60-8809-3CA2D031ED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chemeClr val="accent6">
                  <a:alpha val="0"/>
                </a:schemeClr>
              </a:gs>
              <a:gs pos="85000">
                <a:schemeClr val="accent6">
                  <a:lumMod val="60000"/>
                  <a:lumOff val="40000"/>
                  <a:alpha val="23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93DAF4AA-9270-40B5-B73C-B11B9A92F0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A42627-0B81-4156-8A4E-7B0DB53DF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462743"/>
            <a:ext cx="5327375" cy="1560022"/>
          </a:xfrm>
        </p:spPr>
        <p:txBody>
          <a:bodyPr anchor="b">
            <a:normAutofit/>
          </a:bodyPr>
          <a:lstStyle/>
          <a:p>
            <a:r>
              <a:rPr lang="en-US" dirty="0"/>
              <a:t>The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44C639-080C-4497-A0FB-744723861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79374"/>
            <a:ext cx="5327373" cy="3601436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1600">
                <a:latin typeface="Arial"/>
                <a:cs typeface="Arial"/>
              </a:rPr>
              <a:t>The </a:t>
            </a:r>
            <a:r>
              <a:rPr lang="en-US" sz="1600" b="1">
                <a:latin typeface="Arial"/>
                <a:cs typeface="Arial"/>
              </a:rPr>
              <a:t>CPU</a:t>
            </a:r>
            <a:r>
              <a:rPr lang="en-US" sz="1600">
                <a:latin typeface="Arial"/>
                <a:cs typeface="Arial"/>
              </a:rPr>
              <a:t> (</a:t>
            </a:r>
            <a:r>
              <a:rPr lang="en-US" sz="1600" b="1" i="1">
                <a:latin typeface="Arial"/>
                <a:cs typeface="Arial"/>
              </a:rPr>
              <a:t>C</a:t>
            </a:r>
            <a:r>
              <a:rPr lang="en-US" sz="1600" i="1">
                <a:latin typeface="Arial"/>
                <a:cs typeface="Arial"/>
              </a:rPr>
              <a:t>entral </a:t>
            </a:r>
            <a:r>
              <a:rPr lang="en-US" sz="1600" b="1" i="1">
                <a:latin typeface="Arial"/>
                <a:cs typeface="Arial"/>
              </a:rPr>
              <a:t>P</a:t>
            </a:r>
            <a:r>
              <a:rPr lang="en-US" sz="1600" i="1">
                <a:latin typeface="Arial"/>
                <a:cs typeface="Arial"/>
              </a:rPr>
              <a:t>rocessing </a:t>
            </a:r>
            <a:r>
              <a:rPr lang="en-US" sz="1600" b="1" i="1">
                <a:latin typeface="Arial"/>
                <a:cs typeface="Arial"/>
              </a:rPr>
              <a:t>U</a:t>
            </a:r>
            <a:r>
              <a:rPr lang="en-US" sz="1600" i="1">
                <a:latin typeface="Arial"/>
                <a:cs typeface="Arial"/>
              </a:rPr>
              <a:t>nit)</a:t>
            </a:r>
            <a:r>
              <a:rPr lang="en-US" sz="1600">
                <a:latin typeface="Arial"/>
                <a:cs typeface="Arial"/>
              </a:rPr>
              <a:t> is the ‘brains’ of the computer.</a:t>
            </a:r>
            <a:endParaRPr lang="en-US" sz="1600">
              <a:ea typeface="+mn-lt"/>
              <a:cs typeface="+mn-lt"/>
            </a:endParaRPr>
          </a:p>
          <a:p>
            <a:r>
              <a:rPr lang="en-GB" sz="1600">
                <a:latin typeface="Arial"/>
                <a:cs typeface="Arial"/>
              </a:rPr>
              <a:t>The </a:t>
            </a:r>
            <a:r>
              <a:rPr lang="en-GB" sz="1600" b="1">
                <a:latin typeface="Arial"/>
                <a:cs typeface="Arial"/>
              </a:rPr>
              <a:t>purpose</a:t>
            </a:r>
            <a:r>
              <a:rPr lang="en-GB" sz="1600">
                <a:latin typeface="Arial"/>
                <a:cs typeface="Arial"/>
              </a:rPr>
              <a:t> of the CPU is to carry out program instructions </a:t>
            </a:r>
            <a:r>
              <a:rPr lang="en-GB" sz="1600" i="1">
                <a:latin typeface="Arial"/>
                <a:cs typeface="Arial"/>
              </a:rPr>
              <a:t>(each CPU type is designed to understand a specific group of instructions, the </a:t>
            </a:r>
            <a:r>
              <a:rPr lang="en-GB" sz="1600" b="1" i="1">
                <a:latin typeface="Arial"/>
                <a:cs typeface="Arial"/>
              </a:rPr>
              <a:t>instruction set</a:t>
            </a:r>
            <a:r>
              <a:rPr lang="en-GB" sz="1600" i="1">
                <a:latin typeface="Arial"/>
                <a:cs typeface="Arial"/>
              </a:rPr>
              <a:t>).</a:t>
            </a:r>
            <a:endParaRPr lang="en-US" sz="1600">
              <a:ea typeface="+mn-lt"/>
              <a:cs typeface="+mn-lt"/>
            </a:endParaRPr>
          </a:p>
          <a:p>
            <a:r>
              <a:rPr lang="en-US" sz="1600">
                <a:latin typeface="Arial"/>
                <a:cs typeface="Arial"/>
              </a:rPr>
              <a:t>On personal computers and small workstations, the CPU is housed in a single chip</a:t>
            </a:r>
            <a:br>
              <a:rPr lang="en-US" sz="1600">
                <a:latin typeface="Arial"/>
                <a:cs typeface="Arial"/>
              </a:rPr>
            </a:br>
            <a:r>
              <a:rPr lang="en-US" sz="1600">
                <a:latin typeface="Arial"/>
                <a:cs typeface="Arial"/>
              </a:rPr>
              <a:t>called a </a:t>
            </a:r>
            <a:r>
              <a:rPr lang="en-US" sz="1600" i="1">
                <a:latin typeface="Arial"/>
                <a:cs typeface="Arial"/>
              </a:rPr>
              <a:t>microprocessor</a:t>
            </a:r>
            <a:r>
              <a:rPr lang="en-US" sz="1600">
                <a:latin typeface="Arial"/>
                <a:cs typeface="Arial"/>
              </a:rPr>
              <a:t>.</a:t>
            </a:r>
            <a:endParaRPr lang="en-US" sz="1600">
              <a:ea typeface="+mn-lt"/>
              <a:cs typeface="+mn-lt"/>
            </a:endParaRPr>
          </a:p>
          <a:p>
            <a:endParaRPr lang="en-US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1D5E60A-D6B1-4F21-A993-313958AF0C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15300" y="-4"/>
            <a:ext cx="4076699" cy="685800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9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7BB16B-E108-4C64-97D5-7AC67CC5E2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6724863" y="1390436"/>
            <a:ext cx="6857572" cy="4076700"/>
          </a:xfrm>
          <a:prstGeom prst="rect">
            <a:avLst/>
          </a:prstGeom>
          <a:gradFill>
            <a:gsLst>
              <a:gs pos="0">
                <a:schemeClr val="accent4">
                  <a:alpha val="13000"/>
                </a:schemeClr>
              </a:gs>
              <a:gs pos="99000">
                <a:schemeClr val="accent2">
                  <a:alpha val="5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5F6A003-4671-4F7B-A12E-2946D61E43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6785110" y="1451112"/>
            <a:ext cx="6858001" cy="3955771"/>
          </a:xfrm>
          <a:prstGeom prst="rect">
            <a:avLst/>
          </a:prstGeom>
          <a:gradFill>
            <a:gsLst>
              <a:gs pos="0">
                <a:schemeClr val="accent6">
                  <a:alpha val="0"/>
                </a:schemeClr>
              </a:gs>
              <a:gs pos="72000">
                <a:schemeClr val="tx2">
                  <a:lumMod val="75000"/>
                  <a:lumOff val="25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A circuit board&#10;&#10;Description automatically generated">
            <a:extLst>
              <a:ext uri="{FF2B5EF4-FFF2-40B4-BE49-F238E27FC236}">
                <a16:creationId xmlns:a16="http://schemas.microsoft.com/office/drawing/2014/main" xmlns="" id="{6480F8D6-365A-43E3-A338-F6F0DD2133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9796" y="1028699"/>
            <a:ext cx="4076701" cy="343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87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76E93B-592E-45CC-87B6-94AFF868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</a:t>
            </a:r>
            <a:r>
              <a:rPr lang="en-US" dirty="0" err="1"/>
              <a:t>typıcal</a:t>
            </a:r>
            <a:r>
              <a:rPr lang="en-US" dirty="0"/>
              <a:t> </a:t>
            </a:r>
            <a:r>
              <a:rPr lang="en-US" dirty="0" err="1"/>
              <a:t>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ECD6D9-61EF-4BE3-A81F-0D2373B6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>
                <a:latin typeface="Arial"/>
                <a:cs typeface="Arial"/>
              </a:rPr>
              <a:t>There are huge variations in CPU designs but most will share the following key components: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An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electronic clock</a:t>
            </a: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control unit</a:t>
            </a:r>
            <a:endParaRPr lang="en-US" dirty="0">
              <a:solidFill>
                <a:schemeClr val="accent2"/>
              </a:solidFill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An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instruction unit </a:t>
            </a:r>
            <a:r>
              <a:rPr lang="en-GB" dirty="0">
                <a:latin typeface="Arial"/>
                <a:cs typeface="Arial"/>
              </a:rPr>
              <a:t>which consists of: 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latin typeface="Arial"/>
                <a:cs typeface="Arial"/>
              </a:rPr>
              <a:t>arithmetic logic unit</a:t>
            </a:r>
            <a:r>
              <a:rPr lang="en-GB" dirty="0">
                <a:latin typeface="Arial"/>
                <a:cs typeface="Arial"/>
              </a:rPr>
              <a:t> (ALU)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latin typeface="Arial"/>
                <a:cs typeface="Arial"/>
              </a:rPr>
              <a:t>floating point unit</a:t>
            </a:r>
            <a:r>
              <a:rPr lang="en-GB" dirty="0">
                <a:latin typeface="Arial"/>
                <a:cs typeface="Arial"/>
              </a:rPr>
              <a:t> (FPU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GB" dirty="0">
                <a:latin typeface="Arial"/>
                <a:cs typeface="Arial"/>
              </a:rPr>
              <a:t>Various </a:t>
            </a:r>
            <a:r>
              <a:rPr lang="en-GB" b="1" dirty="0">
                <a:latin typeface="Arial"/>
                <a:cs typeface="Arial"/>
              </a:rPr>
              <a:t>registers.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Various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buses</a:t>
            </a:r>
            <a:endParaRPr lang="en-GB" dirty="0">
              <a:solidFill>
                <a:schemeClr val="accent2"/>
              </a:solidFill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bus management unit</a:t>
            </a:r>
            <a:endParaRPr lang="en-GB" dirty="0">
              <a:solidFill>
                <a:schemeClr val="accent2"/>
              </a:solidFill>
              <a:ea typeface="+mn-lt"/>
              <a:cs typeface="+mn-lt"/>
            </a:endParaRPr>
          </a:p>
          <a:p>
            <a:endParaRPr lang="en-GB" b="1" dirty="0">
              <a:solidFill>
                <a:schemeClr val="accent2"/>
              </a:solidFill>
              <a:latin typeface="Arial"/>
              <a:cs typeface="Arial"/>
            </a:endParaRPr>
          </a:p>
          <a:p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197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172F81-3DAE-488E-8A94-8BCA95A3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9AE15F-6C78-4893-BF07-63963A74C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An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electronic clock</a:t>
            </a:r>
            <a:r>
              <a:rPr lang="en-GB" dirty="0">
                <a:latin typeface="Arial"/>
                <a:cs typeface="Arial"/>
              </a:rPr>
              <a:t> regulates the rate at which the CPU runs and synchronizes all the various computer components. 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 higher the clock frequency, the more instructions the CPU can execute per second.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 speed of the clock (</a:t>
            </a:r>
            <a:r>
              <a:rPr lang="en-GB" i="1" dirty="0">
                <a:latin typeface="Arial"/>
                <a:cs typeface="Arial"/>
              </a:rPr>
              <a:t>and therefore the speed of the CPU</a:t>
            </a:r>
            <a:r>
              <a:rPr lang="en-GB" dirty="0">
                <a:latin typeface="Arial"/>
                <a:cs typeface="Arial"/>
              </a:rPr>
              <a:t>) is measured in Megahertz (MHz).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latin typeface="Arial"/>
                <a:cs typeface="Arial"/>
              </a:rPr>
              <a:t>Assuming that we have a </a:t>
            </a:r>
            <a:r>
              <a:rPr lang="en-US" dirty="0" err="1">
                <a:latin typeface="Arial"/>
                <a:cs typeface="Arial"/>
              </a:rPr>
              <a:t>cpu</a:t>
            </a:r>
            <a:r>
              <a:rPr lang="en-US" dirty="0">
                <a:latin typeface="Arial"/>
                <a:cs typeface="Arial"/>
              </a:rPr>
              <a:t> that runs on 3 </a:t>
            </a:r>
            <a:r>
              <a:rPr lang="en-US" dirty="0" err="1">
                <a:latin typeface="Arial"/>
                <a:cs typeface="Arial"/>
              </a:rPr>
              <a:t>Ghz</a:t>
            </a:r>
            <a:r>
              <a:rPr lang="en-US" dirty="0">
                <a:latin typeface="Arial"/>
                <a:cs typeface="Arial"/>
              </a:rPr>
              <a:t> . It is capable of making 3 billion cycles per second and assume that an addition process requires 10 cycles , a </a:t>
            </a:r>
            <a:r>
              <a:rPr lang="en-US" dirty="0" err="1">
                <a:latin typeface="Arial"/>
                <a:cs typeface="Arial"/>
              </a:rPr>
              <a:t>cpu</a:t>
            </a:r>
            <a:r>
              <a:rPr lang="en-US" dirty="0">
                <a:latin typeface="Arial"/>
                <a:cs typeface="Arial"/>
              </a:rPr>
              <a:t> can handle 300 million additions in a second.</a:t>
            </a:r>
          </a:p>
        </p:txBody>
      </p:sp>
    </p:spTree>
    <p:extLst>
      <p:ext uri="{BB962C8B-B14F-4D97-AF65-F5344CB8AC3E}">
        <p14:creationId xmlns:p14="http://schemas.microsoft.com/office/powerpoint/2010/main" xmlns="" val="313012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BD46F-BD37-4FD8-B24E-88129F4F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Control </a:t>
            </a:r>
            <a:r>
              <a:rPr lang="en-US" dirty="0" err="1"/>
              <a:t>Unıt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DD4A3C-D483-4BB8-A18C-1BDBA1D0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dirty="0">
                <a:latin typeface="Arial"/>
                <a:ea typeface="+mn-lt"/>
                <a:cs typeface="Arial"/>
              </a:rPr>
              <a:t>The </a:t>
            </a:r>
            <a:r>
              <a:rPr lang="en-GB" b="1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control unit</a:t>
            </a:r>
            <a:r>
              <a:rPr lang="en-GB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GB" dirty="0">
                <a:latin typeface="Arial"/>
                <a:ea typeface="+mn-lt"/>
                <a:cs typeface="Arial"/>
              </a:rPr>
              <a:t>performs the tasks of: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b="1" dirty="0">
                <a:latin typeface="Arial"/>
                <a:ea typeface="+mn-lt"/>
                <a:cs typeface="Arial"/>
              </a:rPr>
              <a:t>Fetching</a:t>
            </a:r>
            <a:r>
              <a:rPr lang="en-GB" dirty="0">
                <a:latin typeface="Arial"/>
                <a:ea typeface="+mn-lt"/>
                <a:cs typeface="Arial"/>
              </a:rPr>
              <a:t> instructions from memory</a:t>
            </a:r>
            <a:endParaRPr lang="en-GB" dirty="0">
              <a:ea typeface="+mn-lt"/>
              <a:cs typeface="+mn-lt"/>
            </a:endParaRPr>
          </a:p>
          <a:p>
            <a:pPr lvl="1"/>
            <a:r>
              <a:rPr lang="en-GB" b="1" dirty="0">
                <a:latin typeface="Arial"/>
                <a:ea typeface="+mn-lt"/>
                <a:cs typeface="Arial"/>
              </a:rPr>
              <a:t>Decoding</a:t>
            </a:r>
            <a:r>
              <a:rPr lang="en-GB" dirty="0">
                <a:latin typeface="Arial"/>
                <a:ea typeface="+mn-lt"/>
                <a:cs typeface="Arial"/>
              </a:rPr>
              <a:t> the instructions</a:t>
            </a:r>
            <a:endParaRPr lang="en-GB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ea typeface="+mn-lt"/>
                <a:cs typeface="Arial"/>
              </a:rPr>
              <a:t>Managing the </a:t>
            </a:r>
            <a:r>
              <a:rPr lang="en-GB" b="1" dirty="0">
                <a:latin typeface="Arial"/>
                <a:ea typeface="+mn-lt"/>
                <a:cs typeface="Arial"/>
              </a:rPr>
              <a:t>execution</a:t>
            </a:r>
            <a:r>
              <a:rPr lang="en-GB" dirty="0">
                <a:latin typeface="Arial"/>
                <a:ea typeface="+mn-lt"/>
                <a:cs typeface="Arial"/>
              </a:rPr>
              <a:t> of instructions and the storing of the results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It does this mainly by controlling the links between the other components of the CPU.</a:t>
            </a:r>
            <a:endParaRPr lang="en-GB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It also contains various registers such as:</a:t>
            </a:r>
            <a:endParaRPr lang="en-GB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 the </a:t>
            </a:r>
            <a:r>
              <a:rPr lang="en-GB" b="1" dirty="0">
                <a:latin typeface="Arial"/>
                <a:cs typeface="Arial"/>
              </a:rPr>
              <a:t>Program Counter </a:t>
            </a:r>
            <a:r>
              <a:rPr lang="en-GB" dirty="0">
                <a:latin typeface="Arial"/>
                <a:cs typeface="Arial"/>
              </a:rPr>
              <a:t>which stores the memory address of the next instruction.</a:t>
            </a:r>
            <a:endParaRPr lang="en-GB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 the </a:t>
            </a:r>
            <a:r>
              <a:rPr lang="en-GB" b="1" dirty="0">
                <a:latin typeface="Arial"/>
                <a:cs typeface="Arial"/>
              </a:rPr>
              <a:t>Current Instruction register </a:t>
            </a:r>
            <a:r>
              <a:rPr lang="en-GB" dirty="0">
                <a:latin typeface="Arial"/>
                <a:cs typeface="Arial"/>
              </a:rPr>
              <a:t>which stores the instruction currently being executed.</a:t>
            </a:r>
            <a:endParaRPr lang="en-GB" dirty="0">
              <a:ea typeface="+mn-lt"/>
              <a:cs typeface="+mn-lt"/>
            </a:endParaRPr>
          </a:p>
          <a:p>
            <a:pPr lvl="1"/>
            <a:endParaRPr lang="en-GB" dirty="0">
              <a:latin typeface="Arial"/>
              <a:cs typeface="Arial"/>
            </a:endParaRPr>
          </a:p>
          <a:p>
            <a:endParaRPr lang="en-GB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383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A0DD6A-A4D5-4879-B45D-D5A6862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ınstruction</a:t>
            </a:r>
            <a:r>
              <a:rPr lang="en-US" dirty="0"/>
              <a:t> </a:t>
            </a:r>
            <a:r>
              <a:rPr lang="en-US" dirty="0" err="1"/>
              <a:t>unıt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253A14-5E18-4D48-B2EC-E8389AA11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GB" dirty="0">
                <a:latin typeface="Arial"/>
                <a:cs typeface="Arial"/>
              </a:rPr>
              <a:t>An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instruction unit </a:t>
            </a:r>
            <a:r>
              <a:rPr lang="en-GB" dirty="0">
                <a:latin typeface="Arial"/>
                <a:cs typeface="Arial"/>
              </a:rPr>
              <a:t>consists of: 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latin typeface="Arial"/>
                <a:cs typeface="Arial"/>
              </a:rPr>
              <a:t>arithmetic logic unit</a:t>
            </a:r>
            <a:r>
              <a:rPr lang="en-GB" dirty="0">
                <a:latin typeface="Arial"/>
                <a:cs typeface="Arial"/>
              </a:rPr>
              <a:t> (ALU) which </a:t>
            </a:r>
            <a:r>
              <a:rPr lang="en-GB" b="1" dirty="0">
                <a:latin typeface="Arial"/>
                <a:cs typeface="Arial"/>
              </a:rPr>
              <a:t>executes</a:t>
            </a:r>
            <a:r>
              <a:rPr lang="en-GB" dirty="0">
                <a:latin typeface="Arial"/>
                <a:cs typeface="Arial"/>
              </a:rPr>
              <a:t> basic arithmetic and logical operations on integer data that it is linked to. Examples of such operations include: 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Integer arithmetic operations (</a:t>
            </a:r>
            <a:r>
              <a:rPr lang="en-GB" i="1" dirty="0">
                <a:latin typeface="Arial"/>
                <a:cs typeface="Arial"/>
              </a:rPr>
              <a:t>addition, subtraction</a:t>
            </a:r>
            <a:r>
              <a:rPr lang="en-GB" dirty="0">
                <a:latin typeface="Arial"/>
                <a:cs typeface="Arial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Logic operations (</a:t>
            </a:r>
            <a:r>
              <a:rPr lang="en-GB" i="1" dirty="0">
                <a:latin typeface="Arial"/>
                <a:cs typeface="Arial"/>
              </a:rPr>
              <a:t>AND, NOT, OR, XOR</a:t>
            </a:r>
            <a:r>
              <a:rPr lang="en-GB" dirty="0">
                <a:latin typeface="Arial"/>
                <a:cs typeface="Arial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latin typeface="Arial"/>
                <a:cs typeface="Arial"/>
              </a:rPr>
              <a:t>floating point unit</a:t>
            </a:r>
            <a:r>
              <a:rPr lang="en-GB" dirty="0">
                <a:latin typeface="Arial"/>
                <a:cs typeface="Arial"/>
              </a:rPr>
              <a:t> (FPU) which performs math functions on floating point numbers (</a:t>
            </a:r>
            <a:r>
              <a:rPr lang="en-GB" i="1" dirty="0">
                <a:latin typeface="Arial"/>
                <a:cs typeface="Arial"/>
              </a:rPr>
              <a:t>non-integer numbers</a:t>
            </a:r>
            <a:r>
              <a:rPr lang="en-GB" dirty="0">
                <a:latin typeface="Arial"/>
                <a:cs typeface="Arial"/>
              </a:rPr>
              <a:t>).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Various </a:t>
            </a:r>
            <a:r>
              <a:rPr lang="en-GB" b="1" dirty="0">
                <a:latin typeface="Arial"/>
                <a:cs typeface="Arial"/>
              </a:rPr>
              <a:t>registers</a:t>
            </a:r>
            <a:r>
              <a:rPr lang="en-GB" dirty="0">
                <a:latin typeface="Arial"/>
                <a:cs typeface="Arial"/>
              </a:rPr>
              <a:t> such as the </a:t>
            </a:r>
            <a:r>
              <a:rPr lang="en-GB" b="1" dirty="0">
                <a:latin typeface="Arial"/>
                <a:cs typeface="Arial"/>
              </a:rPr>
              <a:t>accumulator</a:t>
            </a:r>
            <a:r>
              <a:rPr lang="en-GB" dirty="0">
                <a:latin typeface="Arial"/>
                <a:cs typeface="Arial"/>
              </a:rPr>
              <a:t> that are used while instructions are being executed.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6027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2F8AAE-350A-4529-99CB-F760B832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BD2334-99FD-44FB-AF0F-14CD2611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Buses</a:t>
            </a:r>
            <a:r>
              <a:rPr lang="en-GB" dirty="0">
                <a:latin typeface="Arial"/>
                <a:cs typeface="Arial"/>
              </a:rPr>
              <a:t> are sets of tiny parallel wires that carry data between CPU components and between the CPU and external devices and RAM. The three main bus types are: 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b="1" dirty="0">
                <a:latin typeface="Arial"/>
                <a:cs typeface="Arial"/>
              </a:rPr>
              <a:t>address buses</a:t>
            </a:r>
            <a:r>
              <a:rPr lang="en-GB" dirty="0">
                <a:latin typeface="Arial"/>
                <a:cs typeface="Arial"/>
              </a:rPr>
              <a:t> - used to set which</a:t>
            </a:r>
            <a:r>
              <a:rPr lang="en-GB" b="1" dirty="0">
                <a:latin typeface="Arial"/>
                <a:cs typeface="Arial"/>
              </a:rPr>
              <a:t> memory address</a:t>
            </a:r>
            <a:r>
              <a:rPr lang="en-GB" dirty="0">
                <a:latin typeface="Arial"/>
                <a:cs typeface="Arial"/>
              </a:rPr>
              <a:t> a CPU component is linked to for a read/write operation.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b="1" dirty="0">
                <a:latin typeface="Arial"/>
                <a:cs typeface="Arial"/>
              </a:rPr>
              <a:t>data buses</a:t>
            </a:r>
            <a:r>
              <a:rPr lang="en-GB" dirty="0">
                <a:latin typeface="Arial"/>
                <a:cs typeface="Arial"/>
              </a:rPr>
              <a:t> - used to </a:t>
            </a:r>
            <a:r>
              <a:rPr lang="en-GB" b="1" dirty="0">
                <a:latin typeface="Arial"/>
                <a:cs typeface="Arial"/>
              </a:rPr>
              <a:t>exchange</a:t>
            </a:r>
            <a:r>
              <a:rPr lang="en-GB" dirty="0">
                <a:latin typeface="Arial"/>
                <a:cs typeface="Arial"/>
              </a:rPr>
              <a:t> the </a:t>
            </a:r>
            <a:r>
              <a:rPr lang="en-GB" b="1" dirty="0">
                <a:latin typeface="Arial"/>
                <a:cs typeface="Arial"/>
              </a:rPr>
              <a:t>data</a:t>
            </a:r>
            <a:r>
              <a:rPr lang="en-GB" dirty="0">
                <a:latin typeface="Arial"/>
                <a:cs typeface="Arial"/>
              </a:rPr>
              <a:t> between a memory address and the CPU when a read/write operation is carried out.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b="1" dirty="0">
                <a:latin typeface="Arial"/>
                <a:cs typeface="Arial"/>
              </a:rPr>
              <a:t>control buses</a:t>
            </a:r>
            <a:r>
              <a:rPr lang="en-GB" dirty="0">
                <a:latin typeface="Arial"/>
                <a:cs typeface="Arial"/>
              </a:rPr>
              <a:t> - used to </a:t>
            </a:r>
            <a:r>
              <a:rPr lang="en-GB" b="1" dirty="0">
                <a:latin typeface="Arial"/>
                <a:cs typeface="Arial"/>
              </a:rPr>
              <a:t>transfer command codes</a:t>
            </a:r>
            <a:r>
              <a:rPr lang="en-GB" dirty="0">
                <a:latin typeface="Arial"/>
                <a:cs typeface="Arial"/>
              </a:rPr>
              <a:t> and return status signals between components of the CPU and external devices.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 </a:t>
            </a:r>
            <a:r>
              <a:rPr lang="en-GB" b="1" dirty="0">
                <a:solidFill>
                  <a:schemeClr val="accent2"/>
                </a:solidFill>
                <a:latin typeface="Arial"/>
                <a:cs typeface="Arial"/>
              </a:rPr>
              <a:t>bus management unit</a:t>
            </a:r>
            <a:r>
              <a:rPr lang="en-GB" dirty="0">
                <a:solidFill>
                  <a:schemeClr val="accent2"/>
                </a:solidFill>
                <a:latin typeface="Arial"/>
                <a:cs typeface="Arial"/>
              </a:rPr>
              <a:t> </a:t>
            </a:r>
            <a:r>
              <a:rPr lang="en-GB" dirty="0">
                <a:latin typeface="Arial"/>
                <a:cs typeface="Arial"/>
              </a:rPr>
              <a:t>manages the transfer of data along the external bus connections, including the links to RAM.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238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2FC8BC-BA6F-4163-8E2E-27FFCA6B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Graphical user interface, chart&#10;&#10;Description automatically generated">
            <a:extLst>
              <a:ext uri="{FF2B5EF4-FFF2-40B4-BE49-F238E27FC236}">
                <a16:creationId xmlns:a16="http://schemas.microsoft.com/office/drawing/2014/main" xmlns="" id="{C98D1F8E-7BA9-40F1-92AB-7EC198933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01618" y="209940"/>
            <a:ext cx="9688771" cy="5824007"/>
          </a:xfrm>
        </p:spPr>
      </p:pic>
    </p:spTree>
    <p:extLst>
      <p:ext uri="{BB962C8B-B14F-4D97-AF65-F5344CB8AC3E}">
        <p14:creationId xmlns:p14="http://schemas.microsoft.com/office/powerpoint/2010/main" xmlns="" val="274628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211574-6BFA-4818-B4F3-BFBCB530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functions of </a:t>
            </a:r>
            <a:r>
              <a:rPr lang="en-US" dirty="0" err="1"/>
              <a:t>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52FDCC-4D8D-40C4-989F-203298090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1 - The Fetch step: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This involves </a:t>
            </a: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retrieving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 a binary instruction from a memory address and storing it in the </a:t>
            </a: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Current Instruction 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register.</a:t>
            </a:r>
            <a:endParaRPr lang="en-US" dirty="0">
              <a:solidFill>
                <a:schemeClr val="tx1">
                  <a:lumMod val="85000"/>
                </a:schemeClr>
              </a:solidFill>
              <a:ea typeface="+mn-lt"/>
              <a:cs typeface="+mn-lt"/>
            </a:endParaRPr>
          </a:p>
          <a:p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The memory address of the instruction is stored in a register called the </a:t>
            </a: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Program Counter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 (PC) so the CPU can keep track of which instruction is next.</a:t>
            </a:r>
            <a:endParaRPr lang="en-US" dirty="0">
              <a:solidFill>
                <a:schemeClr val="tx1">
                  <a:lumMod val="85000"/>
                </a:schemeClr>
              </a:solidFill>
              <a:ea typeface="+mn-lt"/>
              <a:cs typeface="+mn-lt"/>
            </a:endParaRPr>
          </a:p>
          <a:p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After an instruction is fetched, the PC is </a:t>
            </a: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updated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 so the CPU knows the address of the next instruction it has to fetch.</a:t>
            </a:r>
          </a:p>
          <a:p>
            <a:endParaRPr lang="en-GB" dirty="0">
              <a:solidFill>
                <a:schemeClr val="tx1">
                  <a:lumMod val="85000"/>
                </a:schemeClr>
              </a:solidFill>
              <a:latin typeface="Arial"/>
              <a:ea typeface="+mn-lt"/>
              <a:cs typeface="Arial"/>
            </a:endParaRP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xmlns="" id="{EED51074-E75D-41E7-B0F3-86DB222BB5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29254" y="5100240"/>
            <a:ext cx="2743200" cy="8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2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934B38-6A23-4C32-8472-E8C169929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2 - The Decode step: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This involves the CPU </a:t>
            </a:r>
            <a:r>
              <a:rPr lang="en-GB" b="1" dirty="0">
                <a:ea typeface="+mn-lt"/>
                <a:cs typeface="+mn-lt"/>
              </a:rPr>
              <a:t>identifying</a:t>
            </a:r>
            <a:r>
              <a:rPr lang="en-GB" dirty="0">
                <a:ea typeface="+mn-lt"/>
                <a:cs typeface="+mn-lt"/>
              </a:rPr>
              <a:t> the operation code (op-code) part of the instruction which tells it which operation to perform.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If the op-code requires the CPU to act on some data then the second part of the instruction will contain either the data or the memory address where the data is stored.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4" descr="Table&#10;&#10;Description automatically generated">
            <a:extLst>
              <a:ext uri="{FF2B5EF4-FFF2-40B4-BE49-F238E27FC236}">
                <a16:creationId xmlns:a16="http://schemas.microsoft.com/office/drawing/2014/main" xmlns="" id="{EF521432-411F-424A-B2CB-A77CC4F622B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24400" y="4441967"/>
            <a:ext cx="2743200" cy="139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112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73F954-AB90-4E99-B3BC-A6056B36C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3 - The Execute step: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In this step the </a:t>
            </a:r>
            <a:r>
              <a:rPr lang="en-GB" b="1" dirty="0">
                <a:ea typeface="+mn-lt"/>
                <a:cs typeface="+mn-lt"/>
              </a:rPr>
              <a:t>control unit </a:t>
            </a:r>
            <a:r>
              <a:rPr lang="en-GB" dirty="0">
                <a:ea typeface="+mn-lt"/>
                <a:cs typeface="+mn-lt"/>
              </a:rPr>
              <a:t>links together</a:t>
            </a:r>
            <a:r>
              <a:rPr lang="en-GB" b="1" dirty="0">
                <a:ea typeface="+mn-lt"/>
                <a:cs typeface="+mn-lt"/>
              </a:rPr>
              <a:t> </a:t>
            </a:r>
            <a:r>
              <a:rPr lang="en-GB" dirty="0">
                <a:ea typeface="+mn-lt"/>
                <a:cs typeface="+mn-lt"/>
              </a:rPr>
              <a:t>the</a:t>
            </a:r>
            <a:r>
              <a:rPr lang="en-GB" b="1" dirty="0">
                <a:ea typeface="+mn-lt"/>
                <a:cs typeface="+mn-lt"/>
              </a:rPr>
              <a:t> </a:t>
            </a:r>
            <a:r>
              <a:rPr lang="en-GB" dirty="0">
                <a:ea typeface="+mn-lt"/>
                <a:cs typeface="+mn-lt"/>
              </a:rPr>
              <a:t>parts of the CPU that are needed to </a:t>
            </a:r>
            <a:r>
              <a:rPr lang="en-GB" b="1" dirty="0">
                <a:ea typeface="+mn-lt"/>
                <a:cs typeface="+mn-lt"/>
              </a:rPr>
              <a:t>execute the instruction</a:t>
            </a:r>
            <a:r>
              <a:rPr lang="en-GB" dirty="0">
                <a:latin typeface="Arial"/>
                <a:cs typeface="Arial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If the instruction involved integer arithmetic or logical operations then the </a:t>
            </a:r>
            <a:r>
              <a:rPr lang="en-GB" b="1" dirty="0">
                <a:latin typeface="Arial"/>
                <a:cs typeface="Arial"/>
              </a:rPr>
              <a:t>arithmetic logic unit </a:t>
            </a:r>
            <a:r>
              <a:rPr lang="en-GB" dirty="0">
                <a:latin typeface="Arial"/>
                <a:cs typeface="Arial"/>
              </a:rPr>
              <a:t>(ALU) would be connected to the relevant memory locations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Some types of instructions </a:t>
            </a:r>
            <a:r>
              <a:rPr lang="en-GB" b="1" dirty="0">
                <a:latin typeface="Arial"/>
                <a:cs typeface="Arial"/>
              </a:rPr>
              <a:t>alter the program counter</a:t>
            </a:r>
            <a:r>
              <a:rPr lang="en-GB" dirty="0">
                <a:latin typeface="Arial"/>
                <a:cs typeface="Arial"/>
              </a:rPr>
              <a:t> rather than produce result data. This allows programs to carry out </a:t>
            </a:r>
            <a:r>
              <a:rPr lang="en-GB" b="1" dirty="0">
                <a:latin typeface="Arial"/>
                <a:cs typeface="Arial"/>
              </a:rPr>
              <a:t>iteration loops</a:t>
            </a:r>
            <a:r>
              <a:rPr lang="en-GB" dirty="0">
                <a:latin typeface="Arial"/>
                <a:cs typeface="Arial"/>
              </a:rPr>
              <a:t> and </a:t>
            </a:r>
            <a:r>
              <a:rPr lang="en-GB" b="1" dirty="0">
                <a:latin typeface="Arial"/>
                <a:cs typeface="Arial"/>
              </a:rPr>
              <a:t>conditional program execution </a:t>
            </a:r>
            <a:r>
              <a:rPr lang="en-GB" dirty="0">
                <a:latin typeface="Arial"/>
                <a:cs typeface="Arial"/>
              </a:rPr>
              <a:t>rather than stepping through instructions in sequence.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Some instructions involve an additional </a:t>
            </a:r>
            <a:r>
              <a:rPr lang="en-GB" b="1" dirty="0">
                <a:latin typeface="Arial"/>
                <a:cs typeface="Arial"/>
              </a:rPr>
              <a:t>write-back step</a:t>
            </a:r>
            <a:r>
              <a:rPr lang="en-GB" dirty="0">
                <a:latin typeface="Arial"/>
                <a:cs typeface="Arial"/>
              </a:rPr>
              <a:t> if data is written back to RAM.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161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E36BFC-AE08-4D2F-92F7-3921F621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</a:t>
            </a:r>
            <a:r>
              <a:rPr lang="en-US" dirty="0" err="1"/>
              <a:t>characterisctics</a:t>
            </a:r>
            <a:r>
              <a:rPr lang="en-US" dirty="0"/>
              <a:t>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94B485-054D-494A-B18A-46A8107B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85000" lnSpcReduction="10000"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Clock speed: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 Narrow"/>
              </a:rPr>
              <a:t>Although it might seem that a computer is</a:t>
            </a:r>
            <a:br>
              <a:rPr lang="en-GB" dirty="0">
                <a:latin typeface="Arial Narrow"/>
              </a:rPr>
            </a:br>
            <a:r>
              <a:rPr lang="en-GB" dirty="0">
                <a:latin typeface="Arial Narrow"/>
              </a:rPr>
              <a:t>carrying out many tasks simultaneously, the</a:t>
            </a:r>
            <a:br>
              <a:rPr lang="en-GB" dirty="0">
                <a:latin typeface="Arial Narrow"/>
              </a:rPr>
            </a:br>
            <a:r>
              <a:rPr lang="en-GB" dirty="0">
                <a:latin typeface="Arial Narrow"/>
              </a:rPr>
              <a:t>CPU is actually only ever processing one</a:t>
            </a:r>
            <a:br>
              <a:rPr lang="en-GB" dirty="0">
                <a:latin typeface="Arial Narrow"/>
              </a:rPr>
            </a:br>
            <a:r>
              <a:rPr lang="en-GB" dirty="0">
                <a:latin typeface="Arial Narrow"/>
              </a:rPr>
              <a:t>instruction at a time and is constantly</a:t>
            </a:r>
            <a:br>
              <a:rPr lang="en-GB" dirty="0">
                <a:latin typeface="Arial Narrow"/>
              </a:rPr>
            </a:br>
            <a:r>
              <a:rPr lang="en-GB" dirty="0">
                <a:latin typeface="Arial Narrow"/>
              </a:rPr>
              <a:t>switching between programs (</a:t>
            </a:r>
            <a:r>
              <a:rPr lang="en-GB" i="1" dirty="0">
                <a:latin typeface="Arial Narrow"/>
              </a:rPr>
              <a:t>sets of instructions</a:t>
            </a:r>
            <a:r>
              <a:rPr lang="en-GB" dirty="0">
                <a:latin typeface="Arial Narrow"/>
              </a:rPr>
              <a:t>).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latin typeface="Arial Narrow"/>
              </a:rPr>
              <a:t>The speed that the processor executes instructions is controlled by the </a:t>
            </a:r>
            <a:r>
              <a:rPr lang="en-US" i="1" dirty="0">
                <a:latin typeface="Arial Narrow"/>
              </a:rPr>
              <a:t>clock speed </a:t>
            </a:r>
            <a:r>
              <a:rPr lang="en-US" dirty="0">
                <a:latin typeface="Arial Narrow"/>
              </a:rPr>
              <a:t>and is measured in MHz (</a:t>
            </a:r>
            <a:r>
              <a:rPr lang="en-US" b="1" i="1" dirty="0">
                <a:latin typeface="Arial Narrow"/>
              </a:rPr>
              <a:t>megahertz</a:t>
            </a:r>
            <a:r>
              <a:rPr lang="en-US" dirty="0">
                <a:latin typeface="Arial Narrow"/>
              </a:rPr>
              <a:t>).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latin typeface="Arial Narrow"/>
              </a:rPr>
              <a:t>The CPU requires a fixed number of clock cycles to perform each instruction.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C00000"/>
                </a:solidFill>
                <a:latin typeface="Arial Narrow"/>
              </a:rPr>
              <a:t>Summary: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C00000"/>
                </a:solidFill>
                <a:latin typeface="Arial Narrow"/>
              </a:rPr>
              <a:t>The </a:t>
            </a:r>
            <a:r>
              <a:rPr lang="en-US" b="1" dirty="0">
                <a:solidFill>
                  <a:srgbClr val="C00000"/>
                </a:solidFill>
                <a:latin typeface="Arial Narrow"/>
              </a:rPr>
              <a:t>higher </a:t>
            </a:r>
            <a:r>
              <a:rPr lang="en-US" dirty="0">
                <a:solidFill>
                  <a:srgbClr val="C00000"/>
                </a:solidFill>
                <a:latin typeface="Arial Narrow"/>
              </a:rPr>
              <a:t>the clock speed, the more instructions the CPU can execute per second, resulting in a faster running computer system.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xmlns="" id="{BF2B058A-B210-4390-A887-F462066DB7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89180" y="2203326"/>
            <a:ext cx="2743200" cy="163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2891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D51502-F3B6-4D28-AFF2-66FA079E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8047831" cy="3956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Cache size: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 Narrow"/>
              </a:rPr>
              <a:t>Cache memory is a small amount of very fast memory that is built into the CPU. </a:t>
            </a:r>
            <a:r>
              <a:rPr lang="en-GB" b="1" dirty="0">
                <a:latin typeface="Arial Narrow"/>
              </a:rPr>
              <a:t>Blocks</a:t>
            </a:r>
            <a:r>
              <a:rPr lang="en-GB" dirty="0">
                <a:latin typeface="Arial Narrow"/>
              </a:rPr>
              <a:t> of instructions and data that are in use by the CPU are copied from RAM into cache memory, along with the associated memory addresses. 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 Narrow"/>
              </a:rPr>
              <a:t>If the CPU needs to access a memory address it first checks the cache memory to see if there is a match. If there is then it access the contents of the cache version.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C00000"/>
                </a:solidFill>
                <a:latin typeface="Arial Narrow"/>
              </a:rPr>
              <a:t>Summary: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solidFill>
                  <a:srgbClr val="C00000"/>
                </a:solidFill>
                <a:latin typeface="Arial Narrow"/>
              </a:rPr>
              <a:t>A CPU with a larger cache memory and more levels of cache memory will have a higher performance than one without cache memory.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9184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implified diagram showing L2 cache memory buffering data transfer between CPU and ROM">
            <a:extLst>
              <a:ext uri="{FF2B5EF4-FFF2-40B4-BE49-F238E27FC236}">
                <a16:creationId xmlns:a16="http://schemas.microsoft.com/office/drawing/2014/main" xmlns="" id="{9B57C1C9-0442-4069-987C-8285E0852F5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5039" y="609795"/>
            <a:ext cx="4724670" cy="5493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15039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FFF2DF-2E72-4428-AF47-912027A1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GB" b="1" dirty="0">
                <a:solidFill>
                  <a:srgbClr val="C00000"/>
                </a:solidFill>
                <a:latin typeface="Arial"/>
                <a:cs typeface="Arial"/>
              </a:rPr>
              <a:t>Number of Cores: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A multi-core processor is a single computing component with two or more independent actual processors (called "cores").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A dual-core processor contains two cores and a quad-core processor contains four cores. Each core can process instructions independently of the other cores.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latin typeface="Arial"/>
                <a:cs typeface="Arial"/>
              </a:rPr>
              <a:t>The biggest performance gain when using a multi-core processor is when the software has been specifically written to run on multiple cores.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C00000"/>
                </a:solidFill>
                <a:latin typeface="Arial"/>
                <a:cs typeface="Arial"/>
              </a:rPr>
              <a:t>Summary:</a:t>
            </a:r>
            <a:endParaRPr lang="en-US" dirty="0">
              <a:ea typeface="+mn-lt"/>
              <a:cs typeface="+mn-lt"/>
            </a:endParaRPr>
          </a:p>
          <a:p>
            <a:r>
              <a:rPr lang="en-GB" dirty="0">
                <a:solidFill>
                  <a:srgbClr val="C00000"/>
                </a:solidFill>
                <a:latin typeface="Arial"/>
                <a:cs typeface="Arial"/>
              </a:rPr>
              <a:t>A multi-core CPU will have a higher performance than a single-core CPU with the same clock speed.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682364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Custom 5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radientRiseVTI" id="{C2FC082F-B444-4222-AF20-78444CCB5722}" vid="{39F213E4-0CBC-40CB-B3F6-8C5562B6B99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B18126-2963-4BD8-A20F-EC1CCAA32333}"/>
</file>

<file path=customXml/itemProps2.xml><?xml version="1.0" encoding="utf-8"?>
<ds:datastoreItem xmlns:ds="http://schemas.openxmlformats.org/officeDocument/2006/customXml" ds:itemID="{2C6BB6B9-0417-4FCF-B9F0-07FE77C58A91}"/>
</file>

<file path=customXml/itemProps3.xml><?xml version="1.0" encoding="utf-8"?>
<ds:datastoreItem xmlns:ds="http://schemas.openxmlformats.org/officeDocument/2006/customXml" ds:itemID="{007D7B50-A8E4-4457-AF43-ECD1197D664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</Words>
  <Application>Microsoft Office PowerPoint</Application>
  <PresentationFormat>Özel</PresentationFormat>
  <Paragraphs>75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GradientRiseVTI</vt:lpstr>
      <vt:lpstr>CPU (Central Processing Unit)</vt:lpstr>
      <vt:lpstr>The CPU</vt:lpstr>
      <vt:lpstr>Components Of a typıcal cpu</vt:lpstr>
      <vt:lpstr>THE CLOCK</vt:lpstr>
      <vt:lpstr>The Control Unıt</vt:lpstr>
      <vt:lpstr>The ınstruction unıt</vt:lpstr>
      <vt:lpstr>BUSES</vt:lpstr>
      <vt:lpstr>Slayt 8</vt:lpstr>
      <vt:lpstr>The functions of cpu</vt:lpstr>
      <vt:lpstr>Slayt 10</vt:lpstr>
      <vt:lpstr>Slayt 11</vt:lpstr>
      <vt:lpstr>CPU characterisctics and performance</vt:lpstr>
      <vt:lpstr>Slayt 13</vt:lpstr>
      <vt:lpstr>Slayt 14</vt:lpstr>
      <vt:lpstr>Slayt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Fatih Akay</dc:creator>
  <cp:lastModifiedBy>Fatih Akay</cp:lastModifiedBy>
  <cp:revision>236</cp:revision>
  <dcterms:created xsi:type="dcterms:W3CDTF">2020-10-20T06:43:12Z</dcterms:created>
  <dcterms:modified xsi:type="dcterms:W3CDTF">2020-10-20T08:19:15Z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