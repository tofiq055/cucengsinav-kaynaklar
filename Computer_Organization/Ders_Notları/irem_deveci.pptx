
<file path=[Content_Types].xml><?xml version="1.0" encoding="utf-8"?>
<Types xmlns="http://schemas.openxmlformats.org/package/2006/content-types">
  <Default Extension="svg" ContentType="image/svg+xml"/>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Layouts/slideLayout15.xml" ContentType="application/vnd.openxmlformats-officedocument.presentationml.slideLayout+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6.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ommentAuthors.xml" ContentType="application/vnd.openxmlformats-officedocument.presentationml.commentAuthors+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5" r:id="rId1"/>
  </p:sldMasterIdLst>
  <p:sldIdLst>
    <p:sldId id="256" r:id="rId2"/>
    <p:sldId id="257" r:id="rId3"/>
    <p:sldId id="260" r:id="rId4"/>
    <p:sldId id="258" r:id="rId5"/>
    <p:sldId id="259" r:id="rId6"/>
    <p:sldId id="261" r:id="rId7"/>
    <p:sldId id="263" r:id="rId8"/>
    <p:sldId id="279" r:id="rId9"/>
    <p:sldId id="265" r:id="rId10"/>
    <p:sldId id="276" r:id="rId11"/>
    <p:sldId id="278" r:id="rId12"/>
    <p:sldId id="266" r:id="rId13"/>
    <p:sldId id="268" r:id="rId14"/>
    <p:sldId id="270" r:id="rId15"/>
    <p:sldId id="271" r:id="rId16"/>
    <p:sldId id="272" r:id="rId17"/>
    <p:sldId id="273" r:id="rId18"/>
    <p:sldId id="274" r:id="rId19"/>
    <p:sldId id="28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rem" initials="İ" lastIdx="1" clrIdx="0">
    <p:extLst>
      <p:ext uri="{19B8F6BF-5375-455C-9EA6-DF929625EA0E}">
        <p15:presenceInfo xmlns:p15="http://schemas.microsoft.com/office/powerpoint/2012/main" xmlns="" userId="44a9f259904fa07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558"/>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007" autoAdjust="0"/>
  </p:normalViewPr>
  <p:slideViewPr>
    <p:cSldViewPr snapToGrid="0">
      <p:cViewPr varScale="1">
        <p:scale>
          <a:sx n="65" d="100"/>
          <a:sy n="65" d="100"/>
        </p:scale>
        <p:origin x="-732"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217107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11709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2121694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4E29C3F3-FF3E-4815-B454-977A29BC3F53}" type="datetimeFigureOut">
              <a:rPr lang="tr-TR" smtClean="0"/>
              <a:pPr/>
              <a:t>2.11.2020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636398898"/>
      </p:ext>
    </p:extLst>
  </p:cSld>
  <p:clrMapOvr>
    <a:masterClrMapping/>
  </p:clrMapOvr>
  <p:extLst>
    <p:ext uri="{DCECCB84-F9BA-43D5-87BE-67443E8EF086}">
      <p15:sldGuideLst xmlns:p15="http://schemas.microsoft.com/office/powerpoint/2012/main" xmlns=""/>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4E29C3F3-FF3E-4815-B454-977A29BC3F53}" type="datetimeFigureOut">
              <a:rPr lang="tr-TR" smtClean="0"/>
              <a:pPr/>
              <a:t>2.11.2020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3964758166"/>
      </p:ext>
    </p:extLst>
  </p:cSld>
  <p:clrMapOvr>
    <a:masterClrMapping/>
  </p:clrMapOvr>
  <p:extLst>
    <p:ext uri="{DCECCB84-F9BA-43D5-87BE-67443E8EF086}">
      <p15:sldGuideLst xmlns:p15="http://schemas.microsoft.com/office/powerpoint/2012/main" xmlns=""/>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4E29C3F3-FF3E-4815-B454-977A29BC3F53}" type="datetimeFigureOut">
              <a:rPr lang="tr-TR" smtClean="0"/>
              <a:pPr/>
              <a:t>2.11.2020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3285999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29C3F3-FF3E-4815-B454-977A29BC3F53}" type="datetimeFigureOut">
              <a:rPr lang="tr-TR" smtClean="0"/>
              <a:pPr/>
              <a:t>2.11.2020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1512173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tr-TR"/>
              <a:t>Asıl başlık stilini düzenlemek için tıklayın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4E29C3F3-FF3E-4815-B454-977A29BC3F53}" type="datetimeFigureOut">
              <a:rPr lang="tr-TR" smtClean="0"/>
              <a:pPr/>
              <a:t>2.11.2020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732621279"/>
      </p:ext>
    </p:extLst>
  </p:cSld>
  <p:clrMapOvr>
    <a:masterClrMapping/>
  </p:clrMapOvr>
  <p:extLst>
    <p:ext uri="{DCECCB84-F9BA-43D5-87BE-67443E8EF086}">
      <p15:sldGuideLst xmlns:p15="http://schemas.microsoft.com/office/powerpoint/2012/main" xmlns=""/>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370B73E-DF20-47FE-BD92-90F50D4ADFF4}" type="slidenum">
              <a:rPr lang="tr-TR" smtClean="0"/>
              <a:pPr/>
              <a:t>‹#›</a:t>
            </a:fld>
            <a:endParaRPr lang="tr-TR"/>
          </a:p>
        </p:txBody>
      </p:sp>
      <p:sp>
        <p:nvSpPr>
          <p:cNvPr id="5" name="Date Placeholder 4"/>
          <p:cNvSpPr>
            <a:spLocks noGrp="1"/>
          </p:cNvSpPr>
          <p:nvPr>
            <p:ph type="dt" sz="half" idx="10"/>
          </p:nvPr>
        </p:nvSpPr>
        <p:spPr/>
        <p:txBody>
          <a:bodyPr/>
          <a:lstStyle/>
          <a:p>
            <a:fld id="{4E29C3F3-FF3E-4815-B454-977A29BC3F53}" type="datetimeFigureOut">
              <a:rPr lang="tr-TR" smtClean="0"/>
              <a:pPr/>
              <a:t>2.11.2020</a:t>
            </a:fld>
            <a:endParaRPr lang="tr-TR"/>
          </a:p>
        </p:txBody>
      </p:sp>
    </p:spTree>
    <p:extLst>
      <p:ext uri="{BB962C8B-B14F-4D97-AF65-F5344CB8AC3E}">
        <p14:creationId xmlns:p14="http://schemas.microsoft.com/office/powerpoint/2010/main" xmlns="" val="2347237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1022629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457710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2797460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2868911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3017579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2350038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E29C3F3-FF3E-4815-B454-977A29BC3F53}" type="datetimeFigureOut">
              <a:rPr lang="tr-TR" smtClean="0"/>
              <a:pPr/>
              <a:t>2.11.2020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935255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E29C3F3-FF3E-4815-B454-977A29BC3F53}" type="datetimeFigureOut">
              <a:rPr lang="tr-TR" smtClean="0"/>
              <a:pPr/>
              <a:t>2.11.2020</a:t>
            </a:fld>
            <a:endParaRPr lang="tr-T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370B73E-DF20-47FE-BD92-90F50D4ADFF4}" type="slidenum">
              <a:rPr lang="tr-TR" smtClean="0"/>
              <a:pPr/>
              <a:t>‹#›</a:t>
            </a:fld>
            <a:endParaRPr lang="tr-TR"/>
          </a:p>
        </p:txBody>
      </p:sp>
    </p:spTree>
    <p:extLst>
      <p:ext uri="{BB962C8B-B14F-4D97-AF65-F5344CB8AC3E}">
        <p14:creationId xmlns:p14="http://schemas.microsoft.com/office/powerpoint/2010/main" xmlns="" val="3096117338"/>
      </p:ext>
    </p:extLst>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298" r:id="rId13"/>
    <p:sldLayoutId id="2147484299" r:id="rId14"/>
    <p:sldLayoutId id="2147484300" r:id="rId15"/>
    <p:sldLayoutId id="214748430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www.tutorialspoint.com/vlsi_design/vlsi_design_vhdl_introduction.htm" TargetMode="External"/><Relationship Id="rId7" Type="http://schemas.openxmlformats.org/officeDocument/2006/relationships/image" Target="../media/image12.svg"/><Relationship Id="rId2" Type="http://schemas.openxmlformats.org/officeDocument/2006/relationships/hyperlink" Target="http://www.uco.es/~ff1mumuj/h_intro.htm" TargetMode="Externa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hyperlink" Target="https://en.wikipedia.org/wiki/VHDL" TargetMode="External"/><Relationship Id="rId4" Type="http://schemas.openxmlformats.org/officeDocument/2006/relationships/hyperlink" Target="https://www.slideshare.net/yayavaram/presentation-vhdl" TargetMode="External"/><Relationship Id="rId9"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DA23AE55-074C-40E6-AC4A-4388FA0E0B25}"/>
              </a:ext>
            </a:extLst>
          </p:cNvPr>
          <p:cNvSpPr>
            <a:spLocks noGrp="1"/>
          </p:cNvSpPr>
          <p:nvPr>
            <p:ph type="ctrTitle"/>
          </p:nvPr>
        </p:nvSpPr>
        <p:spPr>
          <a:xfrm>
            <a:off x="5419494" y="115158"/>
            <a:ext cx="3534935" cy="3531290"/>
          </a:xfrm>
        </p:spPr>
        <p:txBody>
          <a:bodyPr/>
          <a:lstStyle/>
          <a:p>
            <a:r>
              <a:rPr lang="tr-TR" dirty="0"/>
              <a:t>VHDL</a:t>
            </a:r>
            <a:br>
              <a:rPr lang="tr-TR" dirty="0"/>
            </a:br>
            <a:r>
              <a:rPr lang="tr-TR" sz="2000" dirty="0">
                <a:solidFill>
                  <a:schemeClr val="accent2">
                    <a:lumMod val="75000"/>
                  </a:schemeClr>
                </a:solidFill>
              </a:rPr>
              <a:t>İrem Deveci</a:t>
            </a:r>
            <a:br>
              <a:rPr lang="tr-TR" sz="2000" dirty="0">
                <a:solidFill>
                  <a:schemeClr val="accent2">
                    <a:lumMod val="75000"/>
                  </a:schemeClr>
                </a:solidFill>
              </a:rPr>
            </a:br>
            <a:r>
              <a:rPr lang="tr-TR" sz="2000" dirty="0">
                <a:solidFill>
                  <a:schemeClr val="accent2">
                    <a:lumMod val="75000"/>
                  </a:schemeClr>
                </a:solidFill>
              </a:rPr>
              <a:t>2017556017</a:t>
            </a:r>
            <a:r>
              <a:rPr lang="tr-TR" dirty="0"/>
              <a:t/>
            </a:r>
            <a:br>
              <a:rPr lang="tr-TR" dirty="0"/>
            </a:br>
            <a:r>
              <a:rPr lang="tr-TR" dirty="0"/>
              <a:t> </a:t>
            </a:r>
          </a:p>
        </p:txBody>
      </p:sp>
      <p:pic>
        <p:nvPicPr>
          <p:cNvPr id="3" name="Resim 2">
            <a:extLst>
              <a:ext uri="{FF2B5EF4-FFF2-40B4-BE49-F238E27FC236}">
                <a16:creationId xmlns:a16="http://schemas.microsoft.com/office/drawing/2014/main" xmlns="" id="{44554D3F-8067-4B6E-B7E6-4E866CE1EDFC}"/>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39394" y="2471841"/>
            <a:ext cx="6039826" cy="361445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xmlns="" val="2386790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A14B1130-1331-48D8-B290-957D1CBBCC13}"/>
              </a:ext>
            </a:extLst>
          </p:cNvPr>
          <p:cNvSpPr>
            <a:spLocks noGrp="1"/>
          </p:cNvSpPr>
          <p:nvPr>
            <p:ph type="title"/>
          </p:nvPr>
        </p:nvSpPr>
        <p:spPr>
          <a:xfrm>
            <a:off x="685801" y="685800"/>
            <a:ext cx="3380172" cy="3158231"/>
          </a:xfrm>
        </p:spPr>
        <p:txBody>
          <a:bodyPr>
            <a:normAutofit/>
          </a:bodyPr>
          <a:lstStyle/>
          <a:p>
            <a:r>
              <a:rPr lang="tr-TR" b="0" i="0" dirty="0" err="1">
                <a:solidFill>
                  <a:schemeClr val="accent2">
                    <a:lumMod val="75000"/>
                  </a:schemeClr>
                </a:solidFill>
                <a:effectLst/>
                <a:latin typeface="erdana"/>
              </a:rPr>
              <a:t>What</a:t>
            </a:r>
            <a:r>
              <a:rPr lang="tr-TR" b="0" i="0" dirty="0">
                <a:solidFill>
                  <a:schemeClr val="accent2">
                    <a:lumMod val="75000"/>
                  </a:schemeClr>
                </a:solidFill>
                <a:effectLst/>
                <a:latin typeface="erdana"/>
              </a:rPr>
              <a:t> is HDL?</a:t>
            </a:r>
            <a:br>
              <a:rPr lang="tr-TR" b="0" i="0" dirty="0">
                <a:solidFill>
                  <a:schemeClr val="accent2">
                    <a:lumMod val="75000"/>
                  </a:schemeClr>
                </a:solidFill>
                <a:effectLst/>
                <a:latin typeface="erdana"/>
              </a:rPr>
            </a:br>
            <a:endParaRPr lang="tr-TR" dirty="0">
              <a:solidFill>
                <a:schemeClr val="accent2">
                  <a:lumMod val="75000"/>
                </a:schemeClr>
              </a:solidFill>
            </a:endParaRPr>
          </a:p>
        </p:txBody>
      </p:sp>
      <p:sp>
        <p:nvSpPr>
          <p:cNvPr id="3" name="İçerik Yer Tutucusu 2">
            <a:extLst>
              <a:ext uri="{FF2B5EF4-FFF2-40B4-BE49-F238E27FC236}">
                <a16:creationId xmlns:a16="http://schemas.microsoft.com/office/drawing/2014/main" xmlns="" id="{132A4834-F02B-4A0B-A2CE-FD66934B5BE4}"/>
              </a:ext>
            </a:extLst>
          </p:cNvPr>
          <p:cNvSpPr>
            <a:spLocks noGrp="1"/>
          </p:cNvSpPr>
          <p:nvPr>
            <p:ph idx="1"/>
          </p:nvPr>
        </p:nvSpPr>
        <p:spPr>
          <a:xfrm>
            <a:off x="685801" y="1609378"/>
            <a:ext cx="6281873" cy="5248622"/>
          </a:xfrm>
        </p:spPr>
        <p:txBody>
          <a:bodyPr>
            <a:normAutofit/>
          </a:bodyPr>
          <a:lstStyle/>
          <a:p>
            <a:r>
              <a:rPr lang="en-US" sz="1800" b="0" i="0" dirty="0">
                <a:solidFill>
                  <a:srgbClr val="000000"/>
                </a:solidFill>
                <a:effectLst/>
                <a:latin typeface="verdana" panose="020B0604030504040204" pitchFamily="34" charset="0"/>
              </a:rPr>
              <a:t>HDL stands for </a:t>
            </a:r>
            <a:r>
              <a:rPr lang="en-US" sz="1800" b="1" i="0" dirty="0">
                <a:effectLst/>
                <a:latin typeface="verdana" panose="020B0604030504040204" pitchFamily="34" charset="0"/>
              </a:rPr>
              <a:t>Hardware Description Language</a:t>
            </a:r>
            <a:r>
              <a:rPr lang="en-US" sz="1800" b="0" i="0" dirty="0">
                <a:solidFill>
                  <a:srgbClr val="000000"/>
                </a:solidFill>
                <a:effectLst/>
                <a:latin typeface="verdana" panose="020B0604030504040204" pitchFamily="34" charset="0"/>
              </a:rPr>
              <a:t>. It is a </a:t>
            </a:r>
            <a:r>
              <a:rPr lang="en-US" sz="1800" b="1" i="0" dirty="0">
                <a:effectLst/>
                <a:latin typeface="verdana" panose="020B0604030504040204" pitchFamily="34" charset="0"/>
              </a:rPr>
              <a:t>programming language</a:t>
            </a:r>
            <a:r>
              <a:rPr lang="en-US" sz="1800" b="0" i="0" dirty="0">
                <a:solidFill>
                  <a:srgbClr val="000000"/>
                </a:solidFill>
                <a:effectLst/>
                <a:latin typeface="verdana" panose="020B0604030504040204" pitchFamily="34" charset="0"/>
              </a:rPr>
              <a:t> that is used to </a:t>
            </a:r>
            <a:r>
              <a:rPr lang="en-US" sz="1800" b="1" i="0" dirty="0">
                <a:effectLst/>
                <a:latin typeface="verdana" panose="020B0604030504040204" pitchFamily="34" charset="0"/>
              </a:rPr>
              <a:t>describe, simulate,</a:t>
            </a:r>
            <a:r>
              <a:rPr lang="en-US" sz="1800" b="0" i="0" dirty="0">
                <a:solidFill>
                  <a:srgbClr val="000000"/>
                </a:solidFill>
                <a:effectLst/>
                <a:latin typeface="verdana" panose="020B0604030504040204" pitchFamily="34" charset="0"/>
              </a:rPr>
              <a:t> and </a:t>
            </a:r>
            <a:r>
              <a:rPr lang="en-US" sz="1800" b="1" i="0" dirty="0">
                <a:effectLst/>
                <a:latin typeface="verdana" panose="020B0604030504040204" pitchFamily="34" charset="0"/>
              </a:rPr>
              <a:t>create</a:t>
            </a:r>
            <a:r>
              <a:rPr lang="en-US" sz="1800" b="0" i="0" dirty="0">
                <a:solidFill>
                  <a:srgbClr val="000000"/>
                </a:solidFill>
                <a:effectLst/>
                <a:latin typeface="verdana" panose="020B0604030504040204" pitchFamily="34" charset="0"/>
              </a:rPr>
              <a:t> hardware like digital circuits (ICS). HDL is mainly used to discover the faults in the design before implementing it in the hardware.</a:t>
            </a:r>
            <a:endParaRPr lang="tr-TR" sz="1800" b="0" i="0" dirty="0">
              <a:solidFill>
                <a:srgbClr val="000000"/>
              </a:solidFill>
              <a:effectLst/>
              <a:latin typeface="verdana" panose="020B0604030504040204" pitchFamily="34" charset="0"/>
            </a:endParaRPr>
          </a:p>
          <a:p>
            <a:r>
              <a:rPr lang="en-US" sz="1800" b="0" i="0" dirty="0">
                <a:solidFill>
                  <a:srgbClr val="000000"/>
                </a:solidFill>
                <a:effectLst/>
                <a:latin typeface="verdana" panose="020B0604030504040204" pitchFamily="34" charset="0"/>
              </a:rPr>
              <a:t>Today, there are many HDLs available in the market, but </a:t>
            </a:r>
            <a:r>
              <a:rPr lang="en-US" sz="1800" b="1" i="0" dirty="0">
                <a:effectLst/>
                <a:latin typeface="verdana" panose="020B0604030504040204" pitchFamily="34" charset="0"/>
              </a:rPr>
              <a:t>VHDL</a:t>
            </a:r>
            <a:r>
              <a:rPr lang="en-US" sz="1800" b="0" i="0" dirty="0">
                <a:solidFill>
                  <a:srgbClr val="000000"/>
                </a:solidFill>
                <a:effectLst/>
                <a:latin typeface="verdana" panose="020B0604030504040204" pitchFamily="34" charset="0"/>
              </a:rPr>
              <a:t> and </a:t>
            </a:r>
            <a:r>
              <a:rPr lang="en-US" sz="1800" b="1" i="0" dirty="0">
                <a:effectLst/>
                <a:latin typeface="verdana" panose="020B0604030504040204" pitchFamily="34" charset="0"/>
              </a:rPr>
              <a:t>Verilog</a:t>
            </a:r>
            <a:r>
              <a:rPr lang="en-US" sz="1800" b="0" i="0" dirty="0">
                <a:solidFill>
                  <a:srgbClr val="000000"/>
                </a:solidFill>
                <a:effectLst/>
                <a:latin typeface="verdana" panose="020B0604030504040204" pitchFamily="34" charset="0"/>
              </a:rPr>
              <a:t> are the most popular HDLs.</a:t>
            </a:r>
            <a:endParaRPr lang="tr-TR" sz="1800" dirty="0"/>
          </a:p>
        </p:txBody>
      </p:sp>
    </p:spTree>
    <p:extLst>
      <p:ext uri="{BB962C8B-B14F-4D97-AF65-F5344CB8AC3E}">
        <p14:creationId xmlns:p14="http://schemas.microsoft.com/office/powerpoint/2010/main" xmlns="" val="1162483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58FAD9C8-78B3-4380-97BB-03D9DF9482E8}"/>
              </a:ext>
            </a:extLst>
          </p:cNvPr>
          <p:cNvSpPr>
            <a:spLocks noGrp="1"/>
          </p:cNvSpPr>
          <p:nvPr>
            <p:ph type="title"/>
          </p:nvPr>
        </p:nvSpPr>
        <p:spPr/>
        <p:txBody>
          <a:bodyPr>
            <a:normAutofit/>
          </a:bodyPr>
          <a:lstStyle/>
          <a:p>
            <a:r>
              <a:rPr lang="tr-TR" b="0" i="0" dirty="0" err="1">
                <a:solidFill>
                  <a:schemeClr val="accent2">
                    <a:lumMod val="75000"/>
                  </a:schemeClr>
                </a:solidFill>
                <a:effectLst/>
                <a:latin typeface="erdana"/>
              </a:rPr>
              <a:t>What</a:t>
            </a:r>
            <a:r>
              <a:rPr lang="tr-TR" b="0" i="0" dirty="0">
                <a:solidFill>
                  <a:schemeClr val="accent2">
                    <a:lumMod val="75000"/>
                  </a:schemeClr>
                </a:solidFill>
                <a:effectLst/>
                <a:latin typeface="erdana"/>
              </a:rPr>
              <a:t> is </a:t>
            </a:r>
            <a:r>
              <a:rPr lang="tr-TR" b="0" i="0" dirty="0" err="1">
                <a:solidFill>
                  <a:schemeClr val="accent2">
                    <a:lumMod val="75000"/>
                  </a:schemeClr>
                </a:solidFill>
                <a:effectLst/>
                <a:latin typeface="erdana"/>
              </a:rPr>
              <a:t>Verilog</a:t>
            </a:r>
            <a:r>
              <a:rPr lang="tr-TR" b="0" i="0" dirty="0">
                <a:solidFill>
                  <a:schemeClr val="accent2">
                    <a:lumMod val="75000"/>
                  </a:schemeClr>
                </a:solidFill>
                <a:effectLst/>
                <a:latin typeface="erdana"/>
              </a:rPr>
              <a:t>?</a:t>
            </a:r>
            <a:br>
              <a:rPr lang="tr-TR" b="0" i="0" dirty="0">
                <a:solidFill>
                  <a:schemeClr val="accent2">
                    <a:lumMod val="75000"/>
                  </a:schemeClr>
                </a:solidFill>
                <a:effectLst/>
                <a:latin typeface="erdana"/>
              </a:rPr>
            </a:br>
            <a:endParaRPr lang="tr-TR" dirty="0">
              <a:solidFill>
                <a:schemeClr val="accent2">
                  <a:lumMod val="75000"/>
                </a:schemeClr>
              </a:solidFill>
            </a:endParaRPr>
          </a:p>
        </p:txBody>
      </p:sp>
      <p:sp>
        <p:nvSpPr>
          <p:cNvPr id="3" name="İçerik Yer Tutucusu 2">
            <a:extLst>
              <a:ext uri="{FF2B5EF4-FFF2-40B4-BE49-F238E27FC236}">
                <a16:creationId xmlns:a16="http://schemas.microsoft.com/office/drawing/2014/main" xmlns="" id="{43612F10-63C3-4677-8FAE-0996E9BE9DC2}"/>
              </a:ext>
            </a:extLst>
          </p:cNvPr>
          <p:cNvSpPr>
            <a:spLocks noGrp="1"/>
          </p:cNvSpPr>
          <p:nvPr>
            <p:ph idx="1"/>
          </p:nvPr>
        </p:nvSpPr>
        <p:spPr/>
        <p:txBody>
          <a:bodyPr/>
          <a:lstStyle/>
          <a:p>
            <a:pPr algn="l"/>
            <a:r>
              <a:rPr lang="en-US" b="0" i="0" dirty="0">
                <a:solidFill>
                  <a:srgbClr val="000000"/>
                </a:solidFill>
                <a:effectLst/>
                <a:latin typeface="verdana" panose="020B0604030504040204" pitchFamily="34" charset="0"/>
              </a:rPr>
              <a:t>Verilog is also a HDL (Hardware Description Languages) for describing electronic circuits and systems. It is used in both hardware simulation and synthesis.</a:t>
            </a:r>
          </a:p>
          <a:p>
            <a:pPr algn="l"/>
            <a:r>
              <a:rPr lang="en-US" b="0" i="0" dirty="0">
                <a:solidFill>
                  <a:srgbClr val="000000"/>
                </a:solidFill>
                <a:effectLst/>
                <a:latin typeface="verdana" panose="020B0604030504040204" pitchFamily="34" charset="0"/>
              </a:rPr>
              <a:t>The most popular examples of Verilog are network switch, a microprocessor, a memory, a simple flip-flop, etc.</a:t>
            </a:r>
          </a:p>
          <a:p>
            <a:endParaRPr lang="tr-TR" dirty="0"/>
          </a:p>
        </p:txBody>
      </p:sp>
    </p:spTree>
    <p:extLst>
      <p:ext uri="{BB962C8B-B14F-4D97-AF65-F5344CB8AC3E}">
        <p14:creationId xmlns:p14="http://schemas.microsoft.com/office/powerpoint/2010/main" xmlns="" val="3918830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D3F8EFED-B76D-4991-83E6-5F26F9E31853}"/>
              </a:ext>
            </a:extLst>
          </p:cNvPr>
          <p:cNvSpPr>
            <a:spLocks noGrp="1"/>
          </p:cNvSpPr>
          <p:nvPr>
            <p:ph type="title"/>
          </p:nvPr>
        </p:nvSpPr>
        <p:spPr>
          <a:xfrm>
            <a:off x="570802" y="751642"/>
            <a:ext cx="3504049" cy="1183689"/>
          </a:xfrm>
        </p:spPr>
        <p:txBody>
          <a:bodyPr>
            <a:normAutofit fontScale="90000"/>
          </a:bodyPr>
          <a:lstStyle/>
          <a:p>
            <a:r>
              <a:rPr lang="tr-TR" b="0" i="0" dirty="0" err="1">
                <a:solidFill>
                  <a:schemeClr val="accent2">
                    <a:lumMod val="75000"/>
                  </a:schemeClr>
                </a:solidFill>
                <a:effectLst/>
                <a:latin typeface="erdana"/>
              </a:rPr>
              <a:t>What</a:t>
            </a:r>
            <a:r>
              <a:rPr lang="tr-TR" b="0" i="0" dirty="0">
                <a:solidFill>
                  <a:schemeClr val="accent2">
                    <a:lumMod val="75000"/>
                  </a:schemeClr>
                </a:solidFill>
                <a:effectLst/>
                <a:latin typeface="erdana"/>
              </a:rPr>
              <a:t> is VHDL?</a:t>
            </a:r>
            <a:br>
              <a:rPr lang="tr-TR" b="0" i="0" dirty="0">
                <a:solidFill>
                  <a:schemeClr val="accent2">
                    <a:lumMod val="75000"/>
                  </a:schemeClr>
                </a:solidFill>
                <a:effectLst/>
                <a:latin typeface="erdana"/>
              </a:rPr>
            </a:br>
            <a:endParaRPr lang="tr-TR" dirty="0">
              <a:solidFill>
                <a:schemeClr val="accent2">
                  <a:lumMod val="75000"/>
                </a:schemeClr>
              </a:solidFill>
            </a:endParaRPr>
          </a:p>
        </p:txBody>
      </p:sp>
      <p:sp>
        <p:nvSpPr>
          <p:cNvPr id="3" name="İçerik Yer Tutucusu 2">
            <a:extLst>
              <a:ext uri="{FF2B5EF4-FFF2-40B4-BE49-F238E27FC236}">
                <a16:creationId xmlns:a16="http://schemas.microsoft.com/office/drawing/2014/main" xmlns="" id="{DA3000D7-B41B-41DC-A30D-73D66C34F9F7}"/>
              </a:ext>
            </a:extLst>
          </p:cNvPr>
          <p:cNvSpPr>
            <a:spLocks noGrp="1"/>
          </p:cNvSpPr>
          <p:nvPr>
            <p:ph idx="1"/>
          </p:nvPr>
        </p:nvSpPr>
        <p:spPr>
          <a:xfrm>
            <a:off x="570802" y="2630009"/>
            <a:ext cx="5687955" cy="2935192"/>
          </a:xfrm>
        </p:spPr>
        <p:txBody>
          <a:bodyPr>
            <a:normAutofit fontScale="85000" lnSpcReduction="10000"/>
          </a:bodyPr>
          <a:lstStyle/>
          <a:p>
            <a:r>
              <a:rPr lang="en-US" sz="1600" b="0" i="0" dirty="0">
                <a:solidFill>
                  <a:srgbClr val="000000"/>
                </a:solidFill>
                <a:effectLst/>
                <a:latin typeface="verdana" panose="020B0604030504040204" pitchFamily="34" charset="0"/>
              </a:rPr>
              <a:t>VHDL stands for Very High-Speed Integration Circuit HDL (Hardware Description Language). It is an IEEE (Institute of Electrical and Electronics Engineers) standard hardware description language that is used to describe and simulate the behavior of complex digital circuits.</a:t>
            </a:r>
            <a:endParaRPr lang="tr-TR" sz="1600" b="0" i="0" dirty="0">
              <a:solidFill>
                <a:srgbClr val="000000"/>
              </a:solidFill>
              <a:effectLst/>
              <a:latin typeface="verdana" panose="020B0604030504040204" pitchFamily="34" charset="0"/>
            </a:endParaRPr>
          </a:p>
          <a:p>
            <a:pPr marL="0" indent="0">
              <a:buNone/>
            </a:pPr>
            <a:endParaRPr lang="tr-TR" sz="1600" b="0" i="0" dirty="0">
              <a:solidFill>
                <a:srgbClr val="000000"/>
              </a:solidFill>
              <a:effectLst/>
              <a:latin typeface="verdana" panose="020B0604030504040204" pitchFamily="34" charset="0"/>
            </a:endParaRPr>
          </a:p>
          <a:p>
            <a:r>
              <a:rPr lang="en-US" sz="1600" b="0" i="0" dirty="0">
                <a:solidFill>
                  <a:srgbClr val="000000"/>
                </a:solidFill>
                <a:effectLst/>
                <a:latin typeface="verdana" panose="020B0604030504040204" pitchFamily="34" charset="0"/>
              </a:rPr>
              <a:t>VHDL was developed by the Department of </a:t>
            </a:r>
            <a:r>
              <a:rPr lang="en-US" sz="1600" b="0" i="0" dirty="0" err="1">
                <a:solidFill>
                  <a:srgbClr val="000000"/>
                </a:solidFill>
                <a:effectLst/>
                <a:latin typeface="verdana" panose="020B0604030504040204" pitchFamily="34" charset="0"/>
              </a:rPr>
              <a:t>Defence</a:t>
            </a:r>
            <a:r>
              <a:rPr lang="en-US" sz="1600" b="0" i="0" dirty="0">
                <a:solidFill>
                  <a:srgbClr val="000000"/>
                </a:solidFill>
                <a:effectLst/>
                <a:latin typeface="verdana" panose="020B0604030504040204" pitchFamily="34" charset="0"/>
              </a:rPr>
              <a:t> (DOD) in 1980.</a:t>
            </a:r>
          </a:p>
          <a:p>
            <a:pPr marL="0" indent="0">
              <a:buNone/>
            </a:pPr>
            <a:endParaRPr lang="tr-TR" sz="1600" b="0" i="0" dirty="0">
              <a:solidFill>
                <a:srgbClr val="000000"/>
              </a:solidFill>
              <a:effectLst/>
              <a:latin typeface="verdana" panose="020B0604030504040204" pitchFamily="34" charset="0"/>
            </a:endParaRPr>
          </a:p>
          <a:p>
            <a:r>
              <a:rPr lang="en-US" sz="1600" b="0" i="0" dirty="0">
                <a:solidFill>
                  <a:srgbClr val="000000"/>
                </a:solidFill>
                <a:effectLst/>
                <a:latin typeface="verdana" panose="020B0604030504040204" pitchFamily="34" charset="0"/>
              </a:rPr>
              <a:t>The most popular examples of VHDL are </a:t>
            </a:r>
            <a:r>
              <a:rPr lang="en-US" sz="1600" b="1" i="0" dirty="0">
                <a:effectLst/>
                <a:latin typeface="verdana" panose="020B0604030504040204" pitchFamily="34" charset="0"/>
              </a:rPr>
              <a:t>Odd Parity Generator, Pulse Generator, Priority Encoder, Behavioral Model</a:t>
            </a:r>
            <a:r>
              <a:rPr lang="en-US" sz="1600" b="0" i="0" dirty="0">
                <a:solidFill>
                  <a:srgbClr val="000000"/>
                </a:solidFill>
                <a:effectLst/>
                <a:latin typeface="verdana" panose="020B0604030504040204" pitchFamily="34" charset="0"/>
              </a:rPr>
              <a:t> for 16 words, 8bit RAM, etc.</a:t>
            </a:r>
            <a:endParaRPr lang="tr-TR" sz="1600" dirty="0"/>
          </a:p>
        </p:txBody>
      </p:sp>
      <p:pic>
        <p:nvPicPr>
          <p:cNvPr id="7" name="Resim 6">
            <a:extLst>
              <a:ext uri="{FF2B5EF4-FFF2-40B4-BE49-F238E27FC236}">
                <a16:creationId xmlns:a16="http://schemas.microsoft.com/office/drawing/2014/main" xmlns="" id="{8900D173-1CB6-4F90-A9FB-F48BD8590F1D}"/>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816645" y="751642"/>
            <a:ext cx="4411181" cy="1618695"/>
          </a:xfrm>
          <a:prstGeom prst="rect">
            <a:avLst/>
          </a:prstGeom>
        </p:spPr>
      </p:pic>
    </p:spTree>
    <p:extLst>
      <p:ext uri="{BB962C8B-B14F-4D97-AF65-F5344CB8AC3E}">
        <p14:creationId xmlns:p14="http://schemas.microsoft.com/office/powerpoint/2010/main" xmlns="" val="4057004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8F447721-3CA5-485A-B02D-A60C8AE229F7}"/>
              </a:ext>
            </a:extLst>
          </p:cNvPr>
          <p:cNvSpPr>
            <a:spLocks noGrp="1"/>
          </p:cNvSpPr>
          <p:nvPr>
            <p:ph idx="1"/>
          </p:nvPr>
        </p:nvSpPr>
        <p:spPr>
          <a:xfrm>
            <a:off x="534880" y="470517"/>
            <a:ext cx="10396883" cy="4389163"/>
          </a:xfrm>
        </p:spPr>
        <p:txBody>
          <a:bodyPr>
            <a:normAutofit/>
          </a:bodyPr>
          <a:lstStyle/>
          <a:p>
            <a:pPr marL="0" indent="0" algn="l">
              <a:buNone/>
            </a:pPr>
            <a:r>
              <a:rPr lang="en-US" sz="2600" b="0" i="0" dirty="0">
                <a:solidFill>
                  <a:schemeClr val="accent2">
                    <a:lumMod val="75000"/>
                  </a:schemeClr>
                </a:solidFill>
                <a:effectLst/>
                <a:latin typeface="verdana" panose="020B0604030504040204" pitchFamily="34" charset="0"/>
              </a:rPr>
              <a:t>VHDL supports the following features:</a:t>
            </a:r>
            <a:endParaRPr lang="tr-TR" sz="2600" b="0" i="0" dirty="0">
              <a:solidFill>
                <a:schemeClr val="accent2">
                  <a:lumMod val="75000"/>
                </a:schemeClr>
              </a:solidFill>
              <a:effectLst/>
              <a:latin typeface="verdana" panose="020B0604030504040204" pitchFamily="34" charset="0"/>
            </a:endParaRPr>
          </a:p>
          <a:p>
            <a:pPr marL="0" indent="0" algn="l">
              <a:buNone/>
            </a:pPr>
            <a:endParaRPr lang="tr-TR" b="0" dirty="0">
              <a:solidFill>
                <a:srgbClr val="000000"/>
              </a:solidFill>
              <a:effectLst/>
              <a:latin typeface="verdana" panose="020B0604030504040204" pitchFamily="34" charset="0"/>
            </a:endParaRPr>
          </a:p>
          <a:p>
            <a:pPr algn="l">
              <a:buFont typeface="Arial" panose="020B0604020202020204" pitchFamily="34" charset="0"/>
              <a:buChar char="•"/>
            </a:pPr>
            <a:r>
              <a:rPr lang="en-US" b="0" dirty="0">
                <a:solidFill>
                  <a:srgbClr val="000000"/>
                </a:solidFill>
                <a:effectLst/>
                <a:latin typeface="verdana" panose="020B0604030504040204" pitchFamily="34" charset="0"/>
              </a:rPr>
              <a:t>Design methodologies and their features.</a:t>
            </a:r>
          </a:p>
          <a:p>
            <a:pPr algn="l">
              <a:buFont typeface="Arial" panose="020B0604020202020204" pitchFamily="34" charset="0"/>
              <a:buChar char="•"/>
            </a:pPr>
            <a:r>
              <a:rPr lang="en-US" b="0" dirty="0">
                <a:solidFill>
                  <a:srgbClr val="000000"/>
                </a:solidFill>
                <a:effectLst/>
                <a:latin typeface="verdana" panose="020B0604030504040204" pitchFamily="34" charset="0"/>
              </a:rPr>
              <a:t>Sequential and concurrent activities.</a:t>
            </a:r>
          </a:p>
          <a:p>
            <a:pPr algn="l">
              <a:buFont typeface="Arial" panose="020B0604020202020204" pitchFamily="34" charset="0"/>
              <a:buChar char="•"/>
            </a:pPr>
            <a:r>
              <a:rPr lang="en-US" b="0" dirty="0">
                <a:solidFill>
                  <a:srgbClr val="000000"/>
                </a:solidFill>
                <a:effectLst/>
                <a:latin typeface="verdana" panose="020B0604030504040204" pitchFamily="34" charset="0"/>
              </a:rPr>
              <a:t>Design exchange</a:t>
            </a:r>
          </a:p>
          <a:p>
            <a:pPr algn="l">
              <a:buFont typeface="Arial" panose="020B0604020202020204" pitchFamily="34" charset="0"/>
              <a:buChar char="•"/>
            </a:pPr>
            <a:r>
              <a:rPr lang="en-US" b="0" dirty="0">
                <a:solidFill>
                  <a:srgbClr val="000000"/>
                </a:solidFill>
                <a:effectLst/>
                <a:latin typeface="verdana" panose="020B0604030504040204" pitchFamily="34" charset="0"/>
              </a:rPr>
              <a:t>Standardization</a:t>
            </a:r>
          </a:p>
          <a:p>
            <a:pPr algn="l">
              <a:buFont typeface="Arial" panose="020B0604020202020204" pitchFamily="34" charset="0"/>
              <a:buChar char="•"/>
            </a:pPr>
            <a:r>
              <a:rPr lang="en-US" b="0" dirty="0">
                <a:solidFill>
                  <a:srgbClr val="000000"/>
                </a:solidFill>
                <a:effectLst/>
                <a:latin typeface="verdana" panose="020B0604030504040204" pitchFamily="34" charset="0"/>
              </a:rPr>
              <a:t>Documentation</a:t>
            </a:r>
          </a:p>
          <a:p>
            <a:pPr algn="l">
              <a:buFont typeface="Arial" panose="020B0604020202020204" pitchFamily="34" charset="0"/>
              <a:buChar char="•"/>
            </a:pPr>
            <a:r>
              <a:rPr lang="en-US" b="0" dirty="0">
                <a:solidFill>
                  <a:srgbClr val="000000"/>
                </a:solidFill>
                <a:effectLst/>
                <a:latin typeface="verdana" panose="020B0604030504040204" pitchFamily="34" charset="0"/>
              </a:rPr>
              <a:t>Readability</a:t>
            </a:r>
          </a:p>
          <a:p>
            <a:pPr algn="l">
              <a:buFont typeface="Arial" panose="020B0604020202020204" pitchFamily="34" charset="0"/>
              <a:buChar char="•"/>
            </a:pPr>
            <a:r>
              <a:rPr lang="en-US" b="0" dirty="0">
                <a:solidFill>
                  <a:srgbClr val="000000"/>
                </a:solidFill>
                <a:effectLst/>
                <a:latin typeface="verdana" panose="020B0604030504040204" pitchFamily="34" charset="0"/>
              </a:rPr>
              <a:t>Large-scale design</a:t>
            </a:r>
          </a:p>
          <a:p>
            <a:pPr algn="l">
              <a:buFont typeface="Arial" panose="020B0604020202020204" pitchFamily="34" charset="0"/>
              <a:buChar char="•"/>
            </a:pPr>
            <a:r>
              <a:rPr lang="en-US" b="0" dirty="0">
                <a:solidFill>
                  <a:srgbClr val="000000"/>
                </a:solidFill>
                <a:effectLst/>
                <a:latin typeface="verdana" panose="020B0604030504040204" pitchFamily="34" charset="0"/>
              </a:rPr>
              <a:t>A wide range of descriptive capability</a:t>
            </a:r>
          </a:p>
          <a:p>
            <a:endParaRPr lang="tr-TR" dirty="0"/>
          </a:p>
        </p:txBody>
      </p:sp>
      <p:pic>
        <p:nvPicPr>
          <p:cNvPr id="6" name="Resim 5">
            <a:extLst>
              <a:ext uri="{FF2B5EF4-FFF2-40B4-BE49-F238E27FC236}">
                <a16:creationId xmlns:a16="http://schemas.microsoft.com/office/drawing/2014/main" xmlns="" id="{4896AE91-5CF2-428F-BE11-EA8098BA7B8B}"/>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569476" y="1387134"/>
            <a:ext cx="2624627" cy="4298302"/>
          </a:xfrm>
          <a:prstGeom prst="rect">
            <a:avLst/>
          </a:prstGeom>
        </p:spPr>
      </p:pic>
    </p:spTree>
    <p:extLst>
      <p:ext uri="{BB962C8B-B14F-4D97-AF65-F5344CB8AC3E}">
        <p14:creationId xmlns:p14="http://schemas.microsoft.com/office/powerpoint/2010/main" xmlns="" val="3130823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A41174B1-B563-4A74-9B30-EA9FF876FD10}"/>
              </a:ext>
            </a:extLst>
          </p:cNvPr>
          <p:cNvSpPr>
            <a:spLocks noGrp="1"/>
          </p:cNvSpPr>
          <p:nvPr>
            <p:ph type="title"/>
          </p:nvPr>
        </p:nvSpPr>
        <p:spPr/>
        <p:txBody>
          <a:bodyPr>
            <a:normAutofit/>
          </a:bodyPr>
          <a:lstStyle/>
          <a:p>
            <a:r>
              <a:rPr lang="en-US" b="0" i="0" dirty="0">
                <a:solidFill>
                  <a:schemeClr val="accent2">
                    <a:lumMod val="75000"/>
                  </a:schemeClr>
                </a:solidFill>
                <a:effectLst/>
                <a:latin typeface="erdana"/>
              </a:rPr>
              <a:t>Difference between VHDL and Verilog</a:t>
            </a:r>
            <a:br>
              <a:rPr lang="en-US" b="0" i="0" dirty="0">
                <a:solidFill>
                  <a:schemeClr val="accent2">
                    <a:lumMod val="75000"/>
                  </a:schemeClr>
                </a:solidFill>
                <a:effectLst/>
                <a:latin typeface="erdana"/>
              </a:rPr>
            </a:br>
            <a:endParaRPr lang="tr-TR" dirty="0">
              <a:solidFill>
                <a:schemeClr val="accent2">
                  <a:lumMod val="75000"/>
                </a:schemeClr>
              </a:solidFill>
            </a:endParaRPr>
          </a:p>
        </p:txBody>
      </p:sp>
      <p:graphicFrame>
        <p:nvGraphicFramePr>
          <p:cNvPr id="4" name="İçerik Yer Tutucusu 3">
            <a:extLst>
              <a:ext uri="{FF2B5EF4-FFF2-40B4-BE49-F238E27FC236}">
                <a16:creationId xmlns:a16="http://schemas.microsoft.com/office/drawing/2014/main" xmlns="" id="{F8894C58-BF0C-4006-9018-A8B514A35A3B}"/>
              </a:ext>
            </a:extLst>
          </p:cNvPr>
          <p:cNvGraphicFramePr>
            <a:graphicFrameLocks noGrp="1"/>
          </p:cNvGraphicFramePr>
          <p:nvPr>
            <p:ph idx="1"/>
            <p:extLst>
              <p:ext uri="{D42A27DB-BD31-4B8C-83A1-F6EECF244321}">
                <p14:modId xmlns:p14="http://schemas.microsoft.com/office/powerpoint/2010/main" xmlns="" val="2706450054"/>
              </p:ext>
            </p:extLst>
          </p:nvPr>
        </p:nvGraphicFramePr>
        <p:xfrm>
          <a:off x="303029" y="1763337"/>
          <a:ext cx="9521456" cy="3537511"/>
        </p:xfrm>
        <a:graphic>
          <a:graphicData uri="http://schemas.openxmlformats.org/drawingml/2006/table">
            <a:tbl>
              <a:tblPr/>
              <a:tblGrid>
                <a:gridCol w="4760728">
                  <a:extLst>
                    <a:ext uri="{9D8B030D-6E8A-4147-A177-3AD203B41FA5}">
                      <a16:colId xmlns:a16="http://schemas.microsoft.com/office/drawing/2014/main" xmlns="" val="3115678825"/>
                    </a:ext>
                  </a:extLst>
                </a:gridCol>
                <a:gridCol w="4760728">
                  <a:extLst>
                    <a:ext uri="{9D8B030D-6E8A-4147-A177-3AD203B41FA5}">
                      <a16:colId xmlns:a16="http://schemas.microsoft.com/office/drawing/2014/main" xmlns="" val="3588851052"/>
                    </a:ext>
                  </a:extLst>
                </a:gridCol>
              </a:tblGrid>
              <a:tr h="384512">
                <a:tc>
                  <a:txBody>
                    <a:bodyPr/>
                    <a:lstStyle/>
                    <a:p>
                      <a:pPr algn="l" fontAlgn="t"/>
                      <a:r>
                        <a:rPr lang="tr-TR" sz="1400" dirty="0">
                          <a:solidFill>
                            <a:schemeClr val="accent2">
                              <a:lumMod val="75000"/>
                            </a:schemeClr>
                          </a:solidFill>
                          <a:effectLst/>
                          <a:latin typeface="times new roman" panose="02020603050405020304" pitchFamily="18" charset="0"/>
                        </a:rPr>
                        <a:t>VHDL</a:t>
                      </a:r>
                    </a:p>
                  </a:txBody>
                  <a:tcPr marL="71990" marR="71990" marT="71990" marB="71990">
                    <a:lnL w="7620" cap="flat" cmpd="sng" algn="ctr">
                      <a:solidFill>
                        <a:srgbClr val="A0BC16"/>
                      </a:solidFill>
                      <a:prstDash val="solid"/>
                      <a:round/>
                      <a:headEnd type="none" w="med" len="med"/>
                      <a:tailEnd type="none" w="med" len="med"/>
                    </a:lnL>
                    <a:lnR w="7620" cap="flat" cmpd="sng" algn="ctr">
                      <a:solidFill>
                        <a:srgbClr val="A0BC16"/>
                      </a:solidFill>
                      <a:prstDash val="solid"/>
                      <a:round/>
                      <a:headEnd type="none" w="med" len="med"/>
                      <a:tailEnd type="none" w="med" len="med"/>
                    </a:lnR>
                    <a:lnT w="7620" cap="flat" cmpd="sng" algn="ctr">
                      <a:solidFill>
                        <a:srgbClr val="A0BC1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tr-TR" sz="1400" dirty="0" err="1">
                          <a:solidFill>
                            <a:schemeClr val="accent2">
                              <a:lumMod val="75000"/>
                            </a:schemeClr>
                          </a:solidFill>
                          <a:effectLst/>
                          <a:latin typeface="times new roman" panose="02020603050405020304" pitchFamily="18" charset="0"/>
                        </a:rPr>
                        <a:t>Verilog</a:t>
                      </a:r>
                      <a:endParaRPr lang="tr-TR" sz="1400" dirty="0">
                        <a:solidFill>
                          <a:schemeClr val="accent2">
                            <a:lumMod val="75000"/>
                          </a:schemeClr>
                        </a:solidFill>
                        <a:effectLst/>
                        <a:latin typeface="times new roman" panose="02020603050405020304" pitchFamily="18" charset="0"/>
                      </a:endParaRPr>
                    </a:p>
                  </a:txBody>
                  <a:tcPr marL="71990" marR="71990" marT="71990" marB="71990">
                    <a:lnL w="7620" cap="flat" cmpd="sng" algn="ctr">
                      <a:solidFill>
                        <a:srgbClr val="A0BC16"/>
                      </a:solidFill>
                      <a:prstDash val="solid"/>
                      <a:round/>
                      <a:headEnd type="none" w="med" len="med"/>
                      <a:tailEnd type="none" w="med" len="med"/>
                    </a:lnL>
                    <a:lnR w="7620" cap="flat" cmpd="sng" algn="ctr">
                      <a:solidFill>
                        <a:srgbClr val="A0BC16"/>
                      </a:solidFill>
                      <a:prstDash val="solid"/>
                      <a:round/>
                      <a:headEnd type="none" w="med" len="med"/>
                      <a:tailEnd type="none" w="med" len="med"/>
                    </a:lnR>
                    <a:lnT w="7620" cap="flat" cmpd="sng" algn="ctr">
                      <a:solidFill>
                        <a:srgbClr val="A0BC1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xmlns="" val="695805679"/>
                  </a:ext>
                </a:extLst>
              </a:tr>
              <a:tr h="563951">
                <a:tc>
                  <a:txBody>
                    <a:bodyPr/>
                    <a:lstStyle/>
                    <a:p>
                      <a:pPr algn="l" fontAlgn="t"/>
                      <a:r>
                        <a:rPr lang="en-US" sz="1400">
                          <a:solidFill>
                            <a:srgbClr val="000000"/>
                          </a:solidFill>
                          <a:effectLst/>
                          <a:latin typeface="verdana" panose="020B0604030504040204" pitchFamily="34" charset="0"/>
                        </a:rPr>
                        <a:t>It allows the user to define data types.</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effectLst/>
                          <a:latin typeface="verdana" panose="020B0604030504040204" pitchFamily="34" charset="0"/>
                        </a:rPr>
                        <a:t>It does not allow the user to define data types.</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4009734329"/>
                  </a:ext>
                </a:extLst>
              </a:tr>
              <a:tr h="563951">
                <a:tc>
                  <a:txBody>
                    <a:bodyPr/>
                    <a:lstStyle/>
                    <a:p>
                      <a:pPr algn="l" fontAlgn="t"/>
                      <a:r>
                        <a:rPr lang="en-US" sz="1400">
                          <a:solidFill>
                            <a:srgbClr val="000000"/>
                          </a:solidFill>
                          <a:effectLst/>
                          <a:latin typeface="verdana" panose="020B0604030504040204" pitchFamily="34" charset="0"/>
                        </a:rPr>
                        <a:t>It supports the Multi-Dimensional array.</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dirty="0">
                          <a:solidFill>
                            <a:srgbClr val="000000"/>
                          </a:solidFill>
                          <a:effectLst/>
                          <a:latin typeface="verdana" panose="020B0604030504040204" pitchFamily="34" charset="0"/>
                        </a:rPr>
                        <a:t>It does not support the Multi-Dimensional array.</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446489439"/>
                  </a:ext>
                </a:extLst>
              </a:tr>
              <a:tr h="563951">
                <a:tc>
                  <a:txBody>
                    <a:bodyPr/>
                    <a:lstStyle/>
                    <a:p>
                      <a:pPr algn="l" fontAlgn="t"/>
                      <a:r>
                        <a:rPr lang="en-US" sz="1400">
                          <a:solidFill>
                            <a:srgbClr val="000000"/>
                          </a:solidFill>
                          <a:effectLst/>
                          <a:latin typeface="verdana" panose="020B0604030504040204" pitchFamily="34" charset="0"/>
                        </a:rPr>
                        <a:t>It allows concurrent procedure calls.</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effectLst/>
                          <a:latin typeface="verdana" panose="020B0604030504040204" pitchFamily="34" charset="0"/>
                        </a:rPr>
                        <a:t>It does not allow concurrent calls.</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1489057826"/>
                  </a:ext>
                </a:extLst>
              </a:tr>
              <a:tr h="563951">
                <a:tc>
                  <a:txBody>
                    <a:bodyPr/>
                    <a:lstStyle/>
                    <a:p>
                      <a:pPr algn="l" fontAlgn="t"/>
                      <a:r>
                        <a:rPr lang="en-US" sz="1400">
                          <a:solidFill>
                            <a:srgbClr val="000000"/>
                          </a:solidFill>
                          <a:effectLst/>
                          <a:latin typeface="verdana" panose="020B0604030504040204" pitchFamily="34" charset="0"/>
                        </a:rPr>
                        <a:t>A mod operator is present.</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a:solidFill>
                            <a:srgbClr val="000000"/>
                          </a:solidFill>
                          <a:effectLst/>
                          <a:latin typeface="verdana" panose="020B0604030504040204" pitchFamily="34" charset="0"/>
                        </a:rPr>
                        <a:t>A mod operator is not present.</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476597755"/>
                  </a:ext>
                </a:extLst>
              </a:tr>
              <a:tr h="563951">
                <a:tc>
                  <a:txBody>
                    <a:bodyPr/>
                    <a:lstStyle/>
                    <a:p>
                      <a:pPr algn="l" fontAlgn="t"/>
                      <a:r>
                        <a:rPr lang="en-US" sz="1400">
                          <a:solidFill>
                            <a:srgbClr val="000000"/>
                          </a:solidFill>
                          <a:effectLst/>
                          <a:latin typeface="verdana" panose="020B0604030504040204" pitchFamily="34" charset="0"/>
                        </a:rPr>
                        <a:t>Unary reduction operator is not present.</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l" fontAlgn="t"/>
                      <a:r>
                        <a:rPr lang="en-US" sz="1400">
                          <a:solidFill>
                            <a:srgbClr val="000000"/>
                          </a:solidFill>
                          <a:effectLst/>
                          <a:latin typeface="verdana" panose="020B0604030504040204" pitchFamily="34" charset="0"/>
                        </a:rPr>
                        <a:t>Unary reduction operator is present.</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731858746"/>
                  </a:ext>
                </a:extLst>
              </a:tr>
              <a:tr h="333244">
                <a:tc>
                  <a:txBody>
                    <a:bodyPr/>
                    <a:lstStyle/>
                    <a:p>
                      <a:pPr algn="l" fontAlgn="t"/>
                      <a:r>
                        <a:rPr lang="en-US" sz="1400" dirty="0">
                          <a:solidFill>
                            <a:srgbClr val="000000"/>
                          </a:solidFill>
                          <a:effectLst/>
                          <a:latin typeface="verdana" panose="020B0604030504040204" pitchFamily="34" charset="0"/>
                        </a:rPr>
                        <a:t>It is more difficult to learn.</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l" fontAlgn="t"/>
                      <a:r>
                        <a:rPr lang="en-US" sz="1400" dirty="0">
                          <a:solidFill>
                            <a:srgbClr val="000000"/>
                          </a:solidFill>
                          <a:effectLst/>
                          <a:latin typeface="verdana" panose="020B0604030504040204" pitchFamily="34" charset="0"/>
                        </a:rPr>
                        <a:t>It is easy to learn.</a:t>
                      </a:r>
                    </a:p>
                  </a:txBody>
                  <a:tcPr marL="47993" marR="47993" marT="47993" marB="47993">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4150291680"/>
                  </a:ext>
                </a:extLst>
              </a:tr>
            </a:tbl>
          </a:graphicData>
        </a:graphic>
      </p:graphicFrame>
    </p:spTree>
    <p:extLst>
      <p:ext uri="{BB962C8B-B14F-4D97-AF65-F5344CB8AC3E}">
        <p14:creationId xmlns:p14="http://schemas.microsoft.com/office/powerpoint/2010/main" xmlns="" val="286674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220E7CA0-B2F2-439C-B602-61C875B2C462}"/>
              </a:ext>
            </a:extLst>
          </p:cNvPr>
          <p:cNvSpPr>
            <a:spLocks noGrp="1"/>
          </p:cNvSpPr>
          <p:nvPr>
            <p:ph type="title"/>
          </p:nvPr>
        </p:nvSpPr>
        <p:spPr/>
        <p:txBody>
          <a:bodyPr>
            <a:normAutofit/>
          </a:bodyPr>
          <a:lstStyle/>
          <a:p>
            <a:r>
              <a:rPr lang="tr-TR" b="0" i="0" dirty="0" err="1">
                <a:solidFill>
                  <a:schemeClr val="accent2">
                    <a:lumMod val="75000"/>
                  </a:schemeClr>
                </a:solidFill>
                <a:effectLst/>
                <a:latin typeface="erdana"/>
              </a:rPr>
              <a:t>Why</a:t>
            </a:r>
            <a:r>
              <a:rPr lang="tr-TR" b="0" i="0" dirty="0">
                <a:solidFill>
                  <a:schemeClr val="accent2">
                    <a:lumMod val="75000"/>
                  </a:schemeClr>
                </a:solidFill>
                <a:effectLst/>
                <a:latin typeface="erdana"/>
              </a:rPr>
              <a:t> VHDL?</a:t>
            </a:r>
            <a:br>
              <a:rPr lang="tr-TR" b="0" i="0" dirty="0">
                <a:solidFill>
                  <a:schemeClr val="accent2">
                    <a:lumMod val="75000"/>
                  </a:schemeClr>
                </a:solidFill>
                <a:effectLst/>
                <a:latin typeface="erdana"/>
              </a:rPr>
            </a:br>
            <a:endParaRPr lang="tr-TR" dirty="0">
              <a:solidFill>
                <a:schemeClr val="accent2">
                  <a:lumMod val="75000"/>
                </a:schemeClr>
              </a:solidFill>
            </a:endParaRPr>
          </a:p>
        </p:txBody>
      </p:sp>
      <p:sp>
        <p:nvSpPr>
          <p:cNvPr id="3" name="İçerik Yer Tutucusu 2">
            <a:extLst>
              <a:ext uri="{FF2B5EF4-FFF2-40B4-BE49-F238E27FC236}">
                <a16:creationId xmlns:a16="http://schemas.microsoft.com/office/drawing/2014/main" xmlns="" id="{6DC458CF-89FC-465E-8038-4267716DA5BD}"/>
              </a:ext>
            </a:extLst>
          </p:cNvPr>
          <p:cNvSpPr>
            <a:spLocks noGrp="1"/>
          </p:cNvSpPr>
          <p:nvPr>
            <p:ph idx="1"/>
          </p:nvPr>
        </p:nvSpPr>
        <p:spPr/>
        <p:txBody>
          <a:bodyPr/>
          <a:lstStyle/>
          <a:p>
            <a:pPr marL="0" indent="0" algn="l">
              <a:buNone/>
            </a:pPr>
            <a:r>
              <a:rPr lang="en-US" b="0" i="0" dirty="0">
                <a:solidFill>
                  <a:srgbClr val="000000"/>
                </a:solidFill>
                <a:effectLst/>
                <a:latin typeface="verdana" panose="020B0604030504040204" pitchFamily="34" charset="0"/>
              </a:rPr>
              <a:t>VHDL is used for the following purposes:</a:t>
            </a:r>
          </a:p>
          <a:p>
            <a:pPr algn="l">
              <a:buFont typeface="Arial" panose="020B0604020202020204" pitchFamily="34" charset="0"/>
              <a:buChar char="•"/>
            </a:pPr>
            <a:r>
              <a:rPr lang="en-US" b="0" dirty="0">
                <a:solidFill>
                  <a:srgbClr val="000000"/>
                </a:solidFill>
                <a:effectLst/>
                <a:latin typeface="verdana" panose="020B0604030504040204" pitchFamily="34" charset="0"/>
              </a:rPr>
              <a:t>For Describing hardware</a:t>
            </a:r>
          </a:p>
          <a:p>
            <a:pPr algn="l">
              <a:buFont typeface="Arial" panose="020B0604020202020204" pitchFamily="34" charset="0"/>
              <a:buChar char="•"/>
            </a:pPr>
            <a:r>
              <a:rPr lang="en-US" b="0" dirty="0">
                <a:solidFill>
                  <a:srgbClr val="000000"/>
                </a:solidFill>
                <a:effectLst/>
                <a:latin typeface="verdana" panose="020B0604030504040204" pitchFamily="34" charset="0"/>
              </a:rPr>
              <a:t>As a modeling language</a:t>
            </a:r>
          </a:p>
          <a:p>
            <a:pPr algn="l">
              <a:buFont typeface="Arial" panose="020B0604020202020204" pitchFamily="34" charset="0"/>
              <a:buChar char="•"/>
            </a:pPr>
            <a:r>
              <a:rPr lang="en-US" b="0" dirty="0">
                <a:solidFill>
                  <a:srgbClr val="000000"/>
                </a:solidFill>
                <a:effectLst/>
                <a:latin typeface="verdana" panose="020B0604030504040204" pitchFamily="34" charset="0"/>
              </a:rPr>
              <a:t>For a simulation of hardware</a:t>
            </a:r>
          </a:p>
          <a:p>
            <a:pPr algn="l">
              <a:buFont typeface="Arial" panose="020B0604020202020204" pitchFamily="34" charset="0"/>
              <a:buChar char="•"/>
            </a:pPr>
            <a:r>
              <a:rPr lang="en-US" b="0" dirty="0">
                <a:solidFill>
                  <a:srgbClr val="000000"/>
                </a:solidFill>
                <a:effectLst/>
                <a:latin typeface="verdana" panose="020B0604030504040204" pitchFamily="34" charset="0"/>
              </a:rPr>
              <a:t>For early performance estimation of system architecture</a:t>
            </a:r>
          </a:p>
          <a:p>
            <a:pPr algn="l">
              <a:buFont typeface="Arial" panose="020B0604020202020204" pitchFamily="34" charset="0"/>
              <a:buChar char="•"/>
            </a:pPr>
            <a:r>
              <a:rPr lang="en-US" b="0" dirty="0">
                <a:solidFill>
                  <a:srgbClr val="000000"/>
                </a:solidFill>
                <a:effectLst/>
                <a:latin typeface="verdana" panose="020B0604030504040204" pitchFamily="34" charset="0"/>
              </a:rPr>
              <a:t>For the synthesis of hardware</a:t>
            </a:r>
          </a:p>
          <a:p>
            <a:endParaRPr lang="tr-TR" dirty="0"/>
          </a:p>
        </p:txBody>
      </p:sp>
    </p:spTree>
    <p:extLst>
      <p:ext uri="{BB962C8B-B14F-4D97-AF65-F5344CB8AC3E}">
        <p14:creationId xmlns:p14="http://schemas.microsoft.com/office/powerpoint/2010/main" xmlns="" val="253459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o 4">
            <a:extLst>
              <a:ext uri="{FF2B5EF4-FFF2-40B4-BE49-F238E27FC236}">
                <a16:creationId xmlns:a16="http://schemas.microsoft.com/office/drawing/2014/main" xmlns="" id="{83A0F0EB-5599-4567-A4A3-379D8DA8B197}"/>
              </a:ext>
            </a:extLst>
          </p:cNvPr>
          <p:cNvGraphicFramePr>
            <a:graphicFrameLocks noGrp="1"/>
          </p:cNvGraphicFramePr>
          <p:nvPr>
            <p:ph idx="1"/>
            <p:extLst>
              <p:ext uri="{D42A27DB-BD31-4B8C-83A1-F6EECF244321}">
                <p14:modId xmlns:p14="http://schemas.microsoft.com/office/powerpoint/2010/main" xmlns="" val="40112090"/>
              </p:ext>
            </p:extLst>
          </p:nvPr>
        </p:nvGraphicFramePr>
        <p:xfrm>
          <a:off x="566350" y="413386"/>
          <a:ext cx="8596312" cy="6135753"/>
        </p:xfrm>
        <a:graphic>
          <a:graphicData uri="http://schemas.openxmlformats.org/drawingml/2006/table">
            <a:tbl>
              <a:tblPr firstRow="1" bandRow="1">
                <a:tableStyleId>{5C22544A-7EE6-4342-B048-85BDC9FD1C3A}</a:tableStyleId>
              </a:tblPr>
              <a:tblGrid>
                <a:gridCol w="4273278">
                  <a:extLst>
                    <a:ext uri="{9D8B030D-6E8A-4147-A177-3AD203B41FA5}">
                      <a16:colId xmlns:a16="http://schemas.microsoft.com/office/drawing/2014/main" xmlns="" val="1641024140"/>
                    </a:ext>
                  </a:extLst>
                </a:gridCol>
                <a:gridCol w="4323034">
                  <a:extLst>
                    <a:ext uri="{9D8B030D-6E8A-4147-A177-3AD203B41FA5}">
                      <a16:colId xmlns:a16="http://schemas.microsoft.com/office/drawing/2014/main" xmlns="" val="2772085627"/>
                    </a:ext>
                  </a:extLst>
                </a:gridCol>
              </a:tblGrid>
              <a:tr h="634829">
                <a:tc>
                  <a:txBody>
                    <a:bodyPr/>
                    <a:lstStyle/>
                    <a:p>
                      <a:r>
                        <a:rPr lang="tr-TR" b="0" i="0" dirty="0" err="1">
                          <a:solidFill>
                            <a:schemeClr val="accent2">
                              <a:lumMod val="75000"/>
                            </a:schemeClr>
                          </a:solidFill>
                          <a:effectLst/>
                          <a:latin typeface="erdana"/>
                        </a:rPr>
                        <a:t>Advantages</a:t>
                      </a:r>
                      <a:r>
                        <a:rPr lang="tr-TR" b="0" i="0" dirty="0">
                          <a:solidFill>
                            <a:schemeClr val="accent2">
                              <a:lumMod val="75000"/>
                            </a:schemeClr>
                          </a:solidFill>
                          <a:effectLst/>
                          <a:latin typeface="erdana"/>
                        </a:rPr>
                        <a:t> of VHDL</a:t>
                      </a:r>
                      <a:endParaRPr lang="tr-TR" dirty="0">
                        <a:solidFill>
                          <a:schemeClr val="accent2">
                            <a:lumMod val="75000"/>
                          </a:schemeClr>
                        </a:solidFill>
                      </a:endParaRPr>
                    </a:p>
                  </a:txBody>
                  <a:tcPr/>
                </a:tc>
                <a:tc>
                  <a:txBody>
                    <a:bodyPr/>
                    <a:lstStyle/>
                    <a:p>
                      <a:r>
                        <a:rPr lang="tr-TR" b="0" i="0" dirty="0" err="1">
                          <a:solidFill>
                            <a:schemeClr val="accent2">
                              <a:lumMod val="75000"/>
                            </a:schemeClr>
                          </a:solidFill>
                          <a:effectLst/>
                          <a:latin typeface="erdana"/>
                        </a:rPr>
                        <a:t>Disadvantages</a:t>
                      </a:r>
                      <a:r>
                        <a:rPr lang="tr-TR" b="0" i="0" dirty="0">
                          <a:solidFill>
                            <a:schemeClr val="accent2">
                              <a:lumMod val="75000"/>
                            </a:schemeClr>
                          </a:solidFill>
                          <a:effectLst/>
                          <a:latin typeface="erdana"/>
                        </a:rPr>
                        <a:t> of VHDL</a:t>
                      </a:r>
                      <a:endParaRPr lang="tr-TR" dirty="0">
                        <a:solidFill>
                          <a:schemeClr val="accent2">
                            <a:lumMod val="75000"/>
                          </a:schemeClr>
                        </a:solidFill>
                      </a:endParaRPr>
                    </a:p>
                  </a:txBody>
                  <a:tcPr/>
                </a:tc>
                <a:extLst>
                  <a:ext uri="{0D108BD9-81ED-4DB2-BD59-A6C34878D82A}">
                    <a16:rowId xmlns:a16="http://schemas.microsoft.com/office/drawing/2014/main" xmlns="" val="228464639"/>
                  </a:ext>
                </a:extLst>
              </a:tr>
              <a:tr h="8970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supports various design methodologies like Top-down approach and Bottom-up approach.</a:t>
                      </a:r>
                    </a:p>
                    <a:p>
                      <a:endParaRPr lang="tr-TR"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requires specific knowledge of the structure and syntax of the language.</a:t>
                      </a:r>
                    </a:p>
                    <a:p>
                      <a:endParaRPr lang="tr-TR" sz="1600" dirty="0"/>
                    </a:p>
                  </a:txBody>
                  <a:tcPr/>
                </a:tc>
                <a:extLst>
                  <a:ext uri="{0D108BD9-81ED-4DB2-BD59-A6C34878D82A}">
                    <a16:rowId xmlns:a16="http://schemas.microsoft.com/office/drawing/2014/main" xmlns="" val="3615586027"/>
                  </a:ext>
                </a:extLst>
              </a:tr>
              <a:tr h="62193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provides a flexible design language.</a:t>
                      </a:r>
                    </a:p>
                    <a:p>
                      <a:endParaRPr lang="tr-TR"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is more difficult to visualize and troubleshoot a design.</a:t>
                      </a:r>
                    </a:p>
                    <a:p>
                      <a:endParaRPr lang="tr-TR" sz="1600" dirty="0"/>
                    </a:p>
                  </a:txBody>
                  <a:tcPr/>
                </a:tc>
                <a:extLst>
                  <a:ext uri="{0D108BD9-81ED-4DB2-BD59-A6C34878D82A}">
                    <a16:rowId xmlns:a16="http://schemas.microsoft.com/office/drawing/2014/main" xmlns="" val="3509306942"/>
                  </a:ext>
                </a:extLst>
              </a:tr>
              <a:tr h="6130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allows better design management.</a:t>
                      </a:r>
                    </a:p>
                    <a:p>
                      <a:endParaRPr lang="tr-TR"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Some VHDL programs cannot be synthesized.</a:t>
                      </a:r>
                    </a:p>
                    <a:p>
                      <a:endParaRPr lang="tr-TR" sz="1600" dirty="0"/>
                    </a:p>
                  </a:txBody>
                  <a:tcPr/>
                </a:tc>
                <a:extLst>
                  <a:ext uri="{0D108BD9-81ED-4DB2-BD59-A6C34878D82A}">
                    <a16:rowId xmlns:a16="http://schemas.microsoft.com/office/drawing/2014/main" xmlns="" val="962036843"/>
                  </a:ext>
                </a:extLst>
              </a:tr>
              <a:tr h="60154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allows detailed implementations.</a:t>
                      </a:r>
                    </a:p>
                    <a:p>
                      <a:endParaRPr lang="tr-TR"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VHDL is more difficult to learn.</a:t>
                      </a:r>
                    </a:p>
                    <a:p>
                      <a:endParaRPr lang="tr-TR" sz="1600" dirty="0"/>
                    </a:p>
                  </a:txBody>
                  <a:tcPr/>
                </a:tc>
                <a:extLst>
                  <a:ext uri="{0D108BD9-81ED-4DB2-BD59-A6C34878D82A}">
                    <a16:rowId xmlns:a16="http://schemas.microsoft.com/office/drawing/2014/main" xmlns="" val="2731041973"/>
                  </a:ext>
                </a:extLst>
              </a:tr>
              <a:tr h="504359">
                <a:tc>
                  <a:txBody>
                    <a:bodyPr/>
                    <a:lstStyle/>
                    <a:p>
                      <a:r>
                        <a:rPr lang="en-US" sz="1600" b="0" dirty="0">
                          <a:solidFill>
                            <a:srgbClr val="000000"/>
                          </a:solidFill>
                          <a:effectLst/>
                          <a:latin typeface="verdana" panose="020B0604030504040204" pitchFamily="34" charset="0"/>
                        </a:rPr>
                        <a:t>It supports a multi-level abstraction</a:t>
                      </a:r>
                      <a:endParaRPr lang="tr-TR" sz="1600" dirty="0"/>
                    </a:p>
                  </a:txBody>
                  <a:tcPr/>
                </a:tc>
                <a:tc>
                  <a:txBody>
                    <a:bodyPr/>
                    <a:lstStyle/>
                    <a:p>
                      <a:endParaRPr lang="tr-TR" sz="1600" dirty="0"/>
                    </a:p>
                  </a:txBody>
                  <a:tcPr/>
                </a:tc>
                <a:extLst>
                  <a:ext uri="{0D108BD9-81ED-4DB2-BD59-A6C34878D82A}">
                    <a16:rowId xmlns:a16="http://schemas.microsoft.com/office/drawing/2014/main" xmlns="" val="2638430784"/>
                  </a:ext>
                </a:extLst>
              </a:tr>
              <a:tr h="65792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strongly supports code reusability and code sharing.</a:t>
                      </a:r>
                    </a:p>
                    <a:p>
                      <a:endParaRPr lang="tr-TR" sz="1600" dirty="0"/>
                    </a:p>
                  </a:txBody>
                  <a:tcPr/>
                </a:tc>
                <a:tc>
                  <a:txBody>
                    <a:bodyPr/>
                    <a:lstStyle/>
                    <a:p>
                      <a:endParaRPr lang="tr-TR" sz="1600" dirty="0"/>
                    </a:p>
                  </a:txBody>
                  <a:tcPr/>
                </a:tc>
                <a:extLst>
                  <a:ext uri="{0D108BD9-81ED-4DB2-BD59-A6C34878D82A}">
                    <a16:rowId xmlns:a16="http://schemas.microsoft.com/office/drawing/2014/main" xmlns="" val="4003209777"/>
                  </a:ext>
                </a:extLst>
              </a:tr>
              <a:tr h="8593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dirty="0">
                          <a:solidFill>
                            <a:srgbClr val="000000"/>
                          </a:solidFill>
                          <a:effectLst/>
                          <a:latin typeface="verdana" panose="020B0604030504040204" pitchFamily="34" charset="0"/>
                        </a:rPr>
                        <a:t>It provides tight coupling to lower levels of design.</a:t>
                      </a:r>
                    </a:p>
                    <a:p>
                      <a:endParaRPr lang="tr-TR" sz="1600" dirty="0"/>
                    </a:p>
                  </a:txBody>
                  <a:tcPr/>
                </a:tc>
                <a:tc>
                  <a:txBody>
                    <a:bodyPr/>
                    <a:lstStyle/>
                    <a:p>
                      <a:endParaRPr lang="tr-TR" sz="1600" dirty="0"/>
                    </a:p>
                  </a:txBody>
                  <a:tcPr/>
                </a:tc>
                <a:extLst>
                  <a:ext uri="{0D108BD9-81ED-4DB2-BD59-A6C34878D82A}">
                    <a16:rowId xmlns:a16="http://schemas.microsoft.com/office/drawing/2014/main" xmlns="" val="2369224579"/>
                  </a:ext>
                </a:extLst>
              </a:tr>
            </a:tbl>
          </a:graphicData>
        </a:graphic>
      </p:graphicFrame>
    </p:spTree>
    <p:extLst>
      <p:ext uri="{BB962C8B-B14F-4D97-AF65-F5344CB8AC3E}">
        <p14:creationId xmlns:p14="http://schemas.microsoft.com/office/powerpoint/2010/main" xmlns="" val="1893594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99123440-FB01-4A32-A841-B5C1DADC2706}"/>
              </a:ext>
            </a:extLst>
          </p:cNvPr>
          <p:cNvSpPr>
            <a:spLocks noGrp="1"/>
          </p:cNvSpPr>
          <p:nvPr>
            <p:ph type="title"/>
          </p:nvPr>
        </p:nvSpPr>
        <p:spPr/>
        <p:txBody>
          <a:bodyPr>
            <a:normAutofit/>
          </a:bodyPr>
          <a:lstStyle/>
          <a:p>
            <a:r>
              <a:rPr lang="tr-TR" b="0" i="0" dirty="0">
                <a:solidFill>
                  <a:schemeClr val="accent2">
                    <a:lumMod val="75000"/>
                  </a:schemeClr>
                </a:solidFill>
                <a:effectLst/>
                <a:latin typeface="erdana"/>
              </a:rPr>
              <a:t>Basic </a:t>
            </a:r>
            <a:r>
              <a:rPr lang="tr-TR" b="0" i="0" dirty="0" err="1">
                <a:solidFill>
                  <a:schemeClr val="accent2">
                    <a:lumMod val="75000"/>
                  </a:schemeClr>
                </a:solidFill>
                <a:effectLst/>
                <a:latin typeface="erdana"/>
              </a:rPr>
              <a:t>Elements</a:t>
            </a:r>
            <a:r>
              <a:rPr lang="tr-TR" b="0" i="0" dirty="0">
                <a:solidFill>
                  <a:schemeClr val="accent2">
                    <a:lumMod val="75000"/>
                  </a:schemeClr>
                </a:solidFill>
                <a:effectLst/>
                <a:latin typeface="erdana"/>
              </a:rPr>
              <a:t> of VHDL</a:t>
            </a:r>
            <a:br>
              <a:rPr lang="tr-TR" b="0" i="0" dirty="0">
                <a:solidFill>
                  <a:schemeClr val="accent2">
                    <a:lumMod val="75000"/>
                  </a:schemeClr>
                </a:solidFill>
                <a:effectLst/>
                <a:latin typeface="erdana"/>
              </a:rPr>
            </a:br>
            <a:endParaRPr lang="tr-TR" dirty="0">
              <a:solidFill>
                <a:schemeClr val="accent2">
                  <a:lumMod val="75000"/>
                </a:schemeClr>
              </a:solidFill>
            </a:endParaRPr>
          </a:p>
        </p:txBody>
      </p:sp>
      <p:sp>
        <p:nvSpPr>
          <p:cNvPr id="3" name="İçerik Yer Tutucusu 2">
            <a:extLst>
              <a:ext uri="{FF2B5EF4-FFF2-40B4-BE49-F238E27FC236}">
                <a16:creationId xmlns:a16="http://schemas.microsoft.com/office/drawing/2014/main" xmlns="" id="{E64EDEFD-9A9F-4295-8CC2-82E3C2EE7CF9}"/>
              </a:ext>
            </a:extLst>
          </p:cNvPr>
          <p:cNvSpPr>
            <a:spLocks noGrp="1"/>
          </p:cNvSpPr>
          <p:nvPr>
            <p:ph idx="1"/>
          </p:nvPr>
        </p:nvSpPr>
        <p:spPr>
          <a:xfrm>
            <a:off x="677334" y="1660125"/>
            <a:ext cx="8777384" cy="2343704"/>
          </a:xfrm>
        </p:spPr>
        <p:txBody>
          <a:bodyPr>
            <a:normAutofit/>
          </a:bodyPr>
          <a:lstStyle/>
          <a:p>
            <a:pPr marL="0" indent="0">
              <a:buNone/>
            </a:pPr>
            <a:r>
              <a:rPr lang="tr-TR" sz="2000" b="0" i="0" dirty="0">
                <a:solidFill>
                  <a:srgbClr val="610B4B"/>
                </a:solidFill>
                <a:effectLst/>
                <a:latin typeface="erdana"/>
              </a:rPr>
              <a:t>1. </a:t>
            </a:r>
            <a:r>
              <a:rPr lang="tr-TR" sz="2000" b="0" i="0" dirty="0" err="1">
                <a:solidFill>
                  <a:srgbClr val="610B4B"/>
                </a:solidFill>
                <a:effectLst/>
                <a:latin typeface="erdana"/>
              </a:rPr>
              <a:t>Entity</a:t>
            </a:r>
            <a:endParaRPr lang="tr-TR" sz="2000" b="0" i="0" dirty="0">
              <a:solidFill>
                <a:srgbClr val="610B4B"/>
              </a:solidFill>
              <a:effectLst/>
              <a:latin typeface="erdana"/>
            </a:endParaRPr>
          </a:p>
          <a:p>
            <a:pPr algn="l"/>
            <a:r>
              <a:rPr lang="en-US" sz="1600" b="0" i="0" dirty="0">
                <a:solidFill>
                  <a:srgbClr val="000000"/>
                </a:solidFill>
                <a:effectLst/>
                <a:latin typeface="verdana" panose="020B0604030504040204" pitchFamily="34" charset="0"/>
              </a:rPr>
              <a:t>The Entity is used to specify the input and output ports of the circuit. An Entity usually has one or more ports that can be inputs (in), outputs (out), input-outputs (</a:t>
            </a:r>
            <a:r>
              <a:rPr lang="en-US" sz="1600" b="0" i="0" dirty="0" err="1">
                <a:solidFill>
                  <a:srgbClr val="000000"/>
                </a:solidFill>
                <a:effectLst/>
                <a:latin typeface="verdana" panose="020B0604030504040204" pitchFamily="34" charset="0"/>
              </a:rPr>
              <a:t>inout</a:t>
            </a:r>
            <a:r>
              <a:rPr lang="en-US" sz="1600" b="0" i="0" dirty="0">
                <a:solidFill>
                  <a:srgbClr val="000000"/>
                </a:solidFill>
                <a:effectLst/>
                <a:latin typeface="verdana" panose="020B0604030504040204" pitchFamily="34" charset="0"/>
              </a:rPr>
              <a:t>), or buffer.</a:t>
            </a:r>
          </a:p>
          <a:p>
            <a:pPr algn="l"/>
            <a:r>
              <a:rPr lang="en-US" sz="1600" b="0" i="0" dirty="0">
                <a:solidFill>
                  <a:srgbClr val="000000"/>
                </a:solidFill>
                <a:effectLst/>
                <a:latin typeface="verdana" panose="020B0604030504040204" pitchFamily="34" charset="0"/>
              </a:rPr>
              <a:t>An Entity may also include a set of generic values that are used to declare properties of the circuit.</a:t>
            </a:r>
          </a:p>
        </p:txBody>
      </p:sp>
      <p:pic>
        <p:nvPicPr>
          <p:cNvPr id="7" name="Resim 6">
            <a:extLst>
              <a:ext uri="{FF2B5EF4-FFF2-40B4-BE49-F238E27FC236}">
                <a16:creationId xmlns:a16="http://schemas.microsoft.com/office/drawing/2014/main" xmlns="" id="{0A74376D-0B2F-4A17-8FBF-4896423268D7}"/>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85331" y="3928368"/>
            <a:ext cx="6736401" cy="2049384"/>
          </a:xfrm>
          <a:prstGeom prst="rect">
            <a:avLst/>
          </a:prstGeom>
        </p:spPr>
      </p:pic>
    </p:spTree>
    <p:extLst>
      <p:ext uri="{BB962C8B-B14F-4D97-AF65-F5344CB8AC3E}">
        <p14:creationId xmlns:p14="http://schemas.microsoft.com/office/powerpoint/2010/main" xmlns="" val="588519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1851E009-D15E-4A62-BEDB-651AECD85BD7}"/>
              </a:ext>
            </a:extLst>
          </p:cNvPr>
          <p:cNvSpPr>
            <a:spLocks noGrp="1"/>
          </p:cNvSpPr>
          <p:nvPr>
            <p:ph idx="1"/>
          </p:nvPr>
        </p:nvSpPr>
        <p:spPr>
          <a:xfrm>
            <a:off x="348860" y="115410"/>
            <a:ext cx="8883916" cy="2997228"/>
          </a:xfrm>
        </p:spPr>
        <p:txBody>
          <a:bodyPr/>
          <a:lstStyle/>
          <a:p>
            <a:pPr marL="0" indent="0">
              <a:buNone/>
            </a:pPr>
            <a:r>
              <a:rPr lang="tr-TR" sz="2400" b="0" i="0" dirty="0">
                <a:solidFill>
                  <a:srgbClr val="610B4B"/>
                </a:solidFill>
                <a:effectLst/>
                <a:latin typeface="erdana"/>
              </a:rPr>
              <a:t>2. Architecture</a:t>
            </a:r>
          </a:p>
          <a:p>
            <a:r>
              <a:rPr lang="en-US" sz="1800" b="0" i="0" dirty="0">
                <a:solidFill>
                  <a:srgbClr val="000000"/>
                </a:solidFill>
                <a:effectLst/>
                <a:latin typeface="verdana" panose="020B0604030504040204" pitchFamily="34" charset="0"/>
              </a:rPr>
              <a:t>Architecture is the actual description of the design, which is used to describe how the circuit operates. It can contain both concurrent and sequential statements.</a:t>
            </a:r>
            <a:endParaRPr lang="tr-TR" sz="1800" b="0" i="0" dirty="0">
              <a:solidFill>
                <a:srgbClr val="000000"/>
              </a:solidFill>
              <a:effectLst/>
              <a:latin typeface="verdana" panose="020B0604030504040204" pitchFamily="34" charset="0"/>
            </a:endParaRPr>
          </a:p>
          <a:p>
            <a:pPr marL="0" indent="0">
              <a:buNone/>
            </a:pPr>
            <a:r>
              <a:rPr lang="tr-TR" sz="2400" b="0" i="0" dirty="0">
                <a:solidFill>
                  <a:srgbClr val="610B4B"/>
                </a:solidFill>
                <a:effectLst/>
                <a:latin typeface="erdana"/>
              </a:rPr>
              <a:t>3. </a:t>
            </a:r>
            <a:r>
              <a:rPr lang="tr-TR" sz="2400" b="0" i="0" dirty="0" err="1">
                <a:solidFill>
                  <a:srgbClr val="610B4B"/>
                </a:solidFill>
                <a:effectLst/>
                <a:latin typeface="erdana"/>
              </a:rPr>
              <a:t>Configuration</a:t>
            </a:r>
            <a:endParaRPr lang="tr-TR" b="0" i="0" dirty="0">
              <a:solidFill>
                <a:srgbClr val="000000"/>
              </a:solidFill>
              <a:effectLst/>
              <a:latin typeface="verdana" panose="020B0604030504040204" pitchFamily="34" charset="0"/>
            </a:endParaRPr>
          </a:p>
          <a:p>
            <a:r>
              <a:rPr lang="en-US" sz="1800" b="0" i="0" dirty="0">
                <a:solidFill>
                  <a:srgbClr val="000000"/>
                </a:solidFill>
                <a:effectLst/>
                <a:latin typeface="verdana" panose="020B0604030504040204" pitchFamily="34" charset="0"/>
              </a:rPr>
              <a:t>A configuration defines how the design hierarchy is linked together. It is also used to associate architecture with an entity.</a:t>
            </a:r>
            <a:endParaRPr lang="tr-TR" sz="1800" dirty="0"/>
          </a:p>
          <a:p>
            <a:endParaRPr lang="tr-TR" dirty="0"/>
          </a:p>
        </p:txBody>
      </p:sp>
      <p:pic>
        <p:nvPicPr>
          <p:cNvPr id="9" name="Resim 8">
            <a:extLst>
              <a:ext uri="{FF2B5EF4-FFF2-40B4-BE49-F238E27FC236}">
                <a16:creationId xmlns:a16="http://schemas.microsoft.com/office/drawing/2014/main" xmlns="" id="{EAD3E58B-E03D-4F02-8630-DE604425C7C2}"/>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92982" y="3112638"/>
            <a:ext cx="7377925" cy="2631214"/>
          </a:xfrm>
          <a:prstGeom prst="rect">
            <a:avLst/>
          </a:prstGeom>
        </p:spPr>
      </p:pic>
    </p:spTree>
    <p:extLst>
      <p:ext uri="{BB962C8B-B14F-4D97-AF65-F5344CB8AC3E}">
        <p14:creationId xmlns:p14="http://schemas.microsoft.com/office/powerpoint/2010/main" xmlns="" val="3869198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çerik Yer Tutucusu 6">
            <a:extLst>
              <a:ext uri="{FF2B5EF4-FFF2-40B4-BE49-F238E27FC236}">
                <a16:creationId xmlns:a16="http://schemas.microsoft.com/office/drawing/2014/main" xmlns="" id="{352E43A9-CBE0-4B30-9B87-5D4386160E7A}"/>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675316" y="1127722"/>
            <a:ext cx="7634182" cy="5525105"/>
          </a:xfrm>
        </p:spPr>
      </p:pic>
      <p:sp>
        <p:nvSpPr>
          <p:cNvPr id="8" name="Başlık 1">
            <a:extLst>
              <a:ext uri="{FF2B5EF4-FFF2-40B4-BE49-F238E27FC236}">
                <a16:creationId xmlns:a16="http://schemas.microsoft.com/office/drawing/2014/main" xmlns="" id="{E77D8A3F-8F6E-40B8-94CE-58936DE9F7B3}"/>
              </a:ext>
            </a:extLst>
          </p:cNvPr>
          <p:cNvSpPr>
            <a:spLocks noGrp="1"/>
          </p:cNvSpPr>
          <p:nvPr>
            <p:ph type="title"/>
          </p:nvPr>
        </p:nvSpPr>
        <p:spPr>
          <a:xfrm>
            <a:off x="561925" y="467322"/>
            <a:ext cx="8596668" cy="1320800"/>
          </a:xfrm>
        </p:spPr>
        <p:txBody>
          <a:bodyPr>
            <a:normAutofit/>
          </a:bodyPr>
          <a:lstStyle/>
          <a:p>
            <a:r>
              <a:rPr lang="en-US" b="0" i="0" dirty="0">
                <a:solidFill>
                  <a:schemeClr val="accent2">
                    <a:lumMod val="75000"/>
                  </a:schemeClr>
                </a:solidFill>
                <a:effectLst/>
                <a:latin typeface="erdana"/>
              </a:rPr>
              <a:t>Types of Modeling styles in VHDL</a:t>
            </a:r>
            <a:br>
              <a:rPr lang="en-US" b="0" i="0" dirty="0">
                <a:solidFill>
                  <a:schemeClr val="accent2">
                    <a:lumMod val="75000"/>
                  </a:schemeClr>
                </a:solidFill>
                <a:effectLst/>
                <a:latin typeface="erdana"/>
              </a:rPr>
            </a:br>
            <a:endParaRPr lang="tr-TR" dirty="0">
              <a:solidFill>
                <a:schemeClr val="accent2">
                  <a:lumMod val="75000"/>
                </a:schemeClr>
              </a:solidFill>
            </a:endParaRPr>
          </a:p>
        </p:txBody>
      </p:sp>
    </p:spTree>
    <p:extLst>
      <p:ext uri="{BB962C8B-B14F-4D97-AF65-F5344CB8AC3E}">
        <p14:creationId xmlns:p14="http://schemas.microsoft.com/office/powerpoint/2010/main" xmlns="" val="586899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92107B48-5377-4619-A43C-E274481E822B}"/>
              </a:ext>
            </a:extLst>
          </p:cNvPr>
          <p:cNvSpPr>
            <a:spLocks noGrp="1"/>
          </p:cNvSpPr>
          <p:nvPr>
            <p:ph idx="1"/>
          </p:nvPr>
        </p:nvSpPr>
        <p:spPr>
          <a:xfrm>
            <a:off x="677334" y="994299"/>
            <a:ext cx="8596668" cy="5047063"/>
          </a:xfrm>
        </p:spPr>
        <p:txBody>
          <a:bodyPr>
            <a:normAutofit lnSpcReduction="10000"/>
          </a:bodyPr>
          <a:lstStyle/>
          <a:p>
            <a:pPr marL="0" indent="0" algn="l">
              <a:buNone/>
            </a:pPr>
            <a:r>
              <a:rPr lang="tr-TR" b="1" i="0" dirty="0">
                <a:solidFill>
                  <a:srgbClr val="000000"/>
                </a:solidFill>
                <a:effectLst/>
                <a:latin typeface="verdana" panose="020B0604030504040204" pitchFamily="34" charset="0"/>
              </a:rPr>
              <a:t>1.</a:t>
            </a:r>
            <a:r>
              <a:rPr lang="en-US" b="1" i="0" dirty="0">
                <a:solidFill>
                  <a:srgbClr val="000000"/>
                </a:solidFill>
                <a:effectLst/>
                <a:latin typeface="verdana" panose="020B0604030504040204" pitchFamily="34" charset="0"/>
              </a:rPr>
              <a:t>Data flow modeling </a:t>
            </a:r>
            <a:endParaRPr lang="tr-TR" b="1" dirty="0">
              <a:solidFill>
                <a:srgbClr val="000000"/>
              </a:solidFill>
              <a:latin typeface="verdana" panose="020B0604030504040204" pitchFamily="34" charset="0"/>
            </a:endParaRPr>
          </a:p>
          <a:p>
            <a:pPr marL="0" indent="0" algn="l">
              <a:buNone/>
            </a:pPr>
            <a:r>
              <a:rPr lang="tr-TR" b="0" i="0" dirty="0">
                <a:solidFill>
                  <a:srgbClr val="000000"/>
                </a:solidFill>
                <a:effectLst/>
                <a:latin typeface="verdana" panose="020B0604030504040204" pitchFamily="34" charset="0"/>
              </a:rPr>
              <a:t> </a:t>
            </a:r>
            <a:r>
              <a:rPr lang="en-US" b="0" i="0" dirty="0">
                <a:solidFill>
                  <a:srgbClr val="000000"/>
                </a:solidFill>
                <a:effectLst/>
                <a:latin typeface="verdana" panose="020B0604030504040204" pitchFamily="34" charset="0"/>
              </a:rPr>
              <a:t>Data flow modeling can be described based on the Boolean expression. It shows how the data flows from input to output. It works on Concurrent execution.</a:t>
            </a:r>
          </a:p>
          <a:p>
            <a:pPr marL="0" indent="0" algn="l">
              <a:buNone/>
            </a:pPr>
            <a:r>
              <a:rPr lang="en-US" b="1" i="0" dirty="0">
                <a:solidFill>
                  <a:srgbClr val="000000"/>
                </a:solidFill>
                <a:effectLst/>
                <a:latin typeface="verdana" panose="020B0604030504040204" pitchFamily="34" charset="0"/>
              </a:rPr>
              <a:t>2. Behavioral modeling </a:t>
            </a:r>
            <a:endParaRPr lang="tr-TR" b="1" dirty="0">
              <a:solidFill>
                <a:srgbClr val="000000"/>
              </a:solidFill>
              <a:latin typeface="verdana" panose="020B0604030504040204" pitchFamily="34" charset="0"/>
            </a:endParaRPr>
          </a:p>
          <a:p>
            <a:pPr marL="0" indent="0" algn="l">
              <a:buNone/>
            </a:pPr>
            <a:r>
              <a:rPr lang="en-US" b="0" i="0" dirty="0">
                <a:solidFill>
                  <a:srgbClr val="000000"/>
                </a:solidFill>
                <a:effectLst/>
                <a:latin typeface="verdana" panose="020B0604030504040204" pitchFamily="34" charset="0"/>
              </a:rPr>
              <a:t>Behavioral modeling is used to execute statements sequentially. It shows that how the system performs according to the current statement.</a:t>
            </a:r>
          </a:p>
          <a:p>
            <a:pPr marL="0" indent="0" algn="l">
              <a:buNone/>
            </a:pPr>
            <a:r>
              <a:rPr lang="en-US" b="0" i="0" dirty="0">
                <a:solidFill>
                  <a:srgbClr val="000000"/>
                </a:solidFill>
                <a:effectLst/>
                <a:latin typeface="verdana" panose="020B0604030504040204" pitchFamily="34" charset="0"/>
              </a:rPr>
              <a:t>Behavioral modeling may contain Process statements, Sequential statements, Signal assignment statements, and wait statements.</a:t>
            </a:r>
          </a:p>
          <a:p>
            <a:pPr marL="0" indent="0" algn="l">
              <a:buNone/>
            </a:pPr>
            <a:r>
              <a:rPr lang="en-US" b="1" i="0" dirty="0">
                <a:solidFill>
                  <a:srgbClr val="000000"/>
                </a:solidFill>
                <a:effectLst/>
                <a:latin typeface="verdana" panose="020B0604030504040204" pitchFamily="34" charset="0"/>
              </a:rPr>
              <a:t>3. Structural modeling </a:t>
            </a:r>
            <a:endParaRPr lang="tr-TR" b="1" dirty="0">
              <a:solidFill>
                <a:srgbClr val="000000"/>
              </a:solidFill>
              <a:latin typeface="verdana" panose="020B0604030504040204" pitchFamily="34" charset="0"/>
            </a:endParaRPr>
          </a:p>
          <a:p>
            <a:pPr marL="0" indent="0" algn="l">
              <a:buNone/>
            </a:pPr>
            <a:r>
              <a:rPr lang="en-US" b="0" i="0" dirty="0">
                <a:solidFill>
                  <a:srgbClr val="000000"/>
                </a:solidFill>
                <a:effectLst/>
                <a:latin typeface="verdana" panose="020B0604030504040204" pitchFamily="34" charset="0"/>
              </a:rPr>
              <a:t>Structural modeling is used to specify the functionality and structure of the circuit.</a:t>
            </a:r>
          </a:p>
          <a:p>
            <a:pPr marL="0" indent="0" algn="l">
              <a:buNone/>
            </a:pPr>
            <a:r>
              <a:rPr lang="en-US" b="0" i="0" dirty="0">
                <a:solidFill>
                  <a:srgbClr val="000000"/>
                </a:solidFill>
                <a:effectLst/>
                <a:latin typeface="verdana" panose="020B0604030504040204" pitchFamily="34" charset="0"/>
              </a:rPr>
              <a:t>Structural modeling contain signal declarations, component instances, and port maps in component instance.</a:t>
            </a:r>
          </a:p>
          <a:p>
            <a:endParaRPr lang="tr-TR" dirty="0"/>
          </a:p>
        </p:txBody>
      </p:sp>
    </p:spTree>
    <p:extLst>
      <p:ext uri="{BB962C8B-B14F-4D97-AF65-F5344CB8AC3E}">
        <p14:creationId xmlns:p14="http://schemas.microsoft.com/office/powerpoint/2010/main" xmlns="" val="2678006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33C20EC4-5165-4FB0-9677-0E652CEEDF0C}"/>
              </a:ext>
            </a:extLst>
          </p:cNvPr>
          <p:cNvSpPr>
            <a:spLocks noGrp="1"/>
          </p:cNvSpPr>
          <p:nvPr>
            <p:ph type="title"/>
          </p:nvPr>
        </p:nvSpPr>
        <p:spPr/>
        <p:txBody>
          <a:bodyPr>
            <a:normAutofit/>
          </a:bodyPr>
          <a:lstStyle/>
          <a:p>
            <a:r>
              <a:rPr lang="tr-TR" b="0" i="0" dirty="0">
                <a:solidFill>
                  <a:schemeClr val="accent2">
                    <a:lumMod val="75000"/>
                  </a:schemeClr>
                </a:solidFill>
                <a:effectLst/>
                <a:latin typeface="erdana"/>
              </a:rPr>
              <a:t>VHDL </a:t>
            </a:r>
            <a:r>
              <a:rPr lang="tr-TR" dirty="0">
                <a:solidFill>
                  <a:schemeClr val="accent2">
                    <a:lumMod val="75000"/>
                  </a:schemeClr>
                </a:solidFill>
                <a:latin typeface="erdana"/>
              </a:rPr>
              <a:t>O</a:t>
            </a:r>
            <a:r>
              <a:rPr lang="tr-TR" b="0" i="0" dirty="0">
                <a:solidFill>
                  <a:schemeClr val="accent2">
                    <a:lumMod val="75000"/>
                  </a:schemeClr>
                </a:solidFill>
                <a:effectLst/>
                <a:latin typeface="erdana"/>
              </a:rPr>
              <a:t>bjects</a:t>
            </a:r>
            <a:br>
              <a:rPr lang="tr-TR" b="0" i="0" dirty="0">
                <a:solidFill>
                  <a:schemeClr val="accent2">
                    <a:lumMod val="75000"/>
                  </a:schemeClr>
                </a:solidFill>
                <a:effectLst/>
                <a:latin typeface="erdana"/>
              </a:rPr>
            </a:br>
            <a:endParaRPr lang="tr-TR" dirty="0">
              <a:solidFill>
                <a:schemeClr val="accent2">
                  <a:lumMod val="75000"/>
                </a:schemeClr>
              </a:solidFill>
            </a:endParaRPr>
          </a:p>
        </p:txBody>
      </p:sp>
      <p:sp>
        <p:nvSpPr>
          <p:cNvPr id="3" name="İçerik Yer Tutucusu 2">
            <a:extLst>
              <a:ext uri="{FF2B5EF4-FFF2-40B4-BE49-F238E27FC236}">
                <a16:creationId xmlns:a16="http://schemas.microsoft.com/office/drawing/2014/main" xmlns="" id="{536756E2-87A6-4D48-A07F-DD598D93EA4D}"/>
              </a:ext>
            </a:extLst>
          </p:cNvPr>
          <p:cNvSpPr>
            <a:spLocks noGrp="1"/>
          </p:cNvSpPr>
          <p:nvPr>
            <p:ph idx="1"/>
          </p:nvPr>
        </p:nvSpPr>
        <p:spPr>
          <a:xfrm>
            <a:off x="419882" y="1334966"/>
            <a:ext cx="8596668" cy="4178067"/>
          </a:xfrm>
        </p:spPr>
        <p:txBody>
          <a:bodyPr>
            <a:normAutofit fontScale="92500" lnSpcReduction="10000"/>
          </a:bodyPr>
          <a:lstStyle/>
          <a:p>
            <a:pPr marL="0" indent="0" algn="l">
              <a:buNone/>
            </a:pPr>
            <a:r>
              <a:rPr lang="en-US" b="0" i="0" dirty="0">
                <a:solidFill>
                  <a:srgbClr val="000000"/>
                </a:solidFill>
                <a:effectLst/>
                <a:latin typeface="verdana" panose="020B0604030504040204" pitchFamily="34" charset="0"/>
              </a:rPr>
              <a:t>VHDL uses the following three types of objects:</a:t>
            </a:r>
          </a:p>
          <a:p>
            <a:pPr marL="0" indent="0" algn="l">
              <a:buNone/>
            </a:pPr>
            <a:r>
              <a:rPr lang="en-US" b="1" i="0" dirty="0">
                <a:solidFill>
                  <a:srgbClr val="000000"/>
                </a:solidFill>
                <a:effectLst/>
                <a:latin typeface="verdana" panose="020B0604030504040204" pitchFamily="34" charset="0"/>
              </a:rPr>
              <a:t>1. Constants</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Constant is an object which can only hold a single value that cannot be changed during the whole code.</a:t>
            </a:r>
          </a:p>
          <a:p>
            <a:pPr marL="0" indent="0" algn="l">
              <a:buNone/>
            </a:pPr>
            <a:r>
              <a:rPr lang="en-US" b="1" i="0" dirty="0">
                <a:solidFill>
                  <a:srgbClr val="000000"/>
                </a:solidFill>
                <a:effectLst/>
                <a:latin typeface="verdana" panose="020B0604030504040204" pitchFamily="34" charset="0"/>
              </a:rPr>
              <a:t>2. Variables</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A variable also holds a single value of a given type. The value of the variable may be changed during the simulation by using variable assignment operator.</a:t>
            </a:r>
          </a:p>
          <a:p>
            <a:pPr algn="l"/>
            <a:r>
              <a:rPr lang="en-US" b="0" i="0" dirty="0">
                <a:solidFill>
                  <a:srgbClr val="000000"/>
                </a:solidFill>
                <a:effectLst/>
                <a:latin typeface="verdana" panose="020B0604030504040204" pitchFamily="34" charset="0"/>
              </a:rPr>
              <a:t>Variables are used in the processes and subprograms.</a:t>
            </a:r>
          </a:p>
          <a:p>
            <a:pPr marL="0" indent="0" algn="l">
              <a:buNone/>
            </a:pPr>
            <a:r>
              <a:rPr lang="en-US" b="1" i="0" dirty="0">
                <a:solidFill>
                  <a:srgbClr val="000000"/>
                </a:solidFill>
                <a:effectLst/>
                <a:latin typeface="verdana" panose="020B0604030504040204" pitchFamily="34" charset="0"/>
              </a:rPr>
              <a:t>3. Signals</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Signals can be declared in architecture and used anywhere within the architecture.</a:t>
            </a:r>
            <a:endParaRPr lang="tr-TR"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 Signals are assigned by the assignment operator "</a:t>
            </a:r>
            <a:r>
              <a:rPr lang="en-US" b="1" i="0" dirty="0">
                <a:solidFill>
                  <a:srgbClr val="000000"/>
                </a:solidFill>
                <a:effectLst/>
                <a:latin typeface="verdana" panose="020B0604030504040204" pitchFamily="34" charset="0"/>
              </a:rPr>
              <a:t>&lt;=</a:t>
            </a:r>
            <a:r>
              <a:rPr lang="en-US" b="0" i="0" dirty="0">
                <a:solidFill>
                  <a:srgbClr val="000000"/>
                </a:solidFill>
                <a:effectLst/>
                <a:latin typeface="verdana" panose="020B0604030504040204" pitchFamily="34" charset="0"/>
              </a:rPr>
              <a:t>".</a:t>
            </a:r>
          </a:p>
          <a:p>
            <a:pPr algn="l"/>
            <a:endParaRPr lang="en-US" b="0" i="0" dirty="0">
              <a:solidFill>
                <a:srgbClr val="000000"/>
              </a:solidFill>
              <a:effectLst/>
              <a:latin typeface="verdana" panose="020B0604030504040204" pitchFamily="34" charset="0"/>
            </a:endParaRPr>
          </a:p>
          <a:p>
            <a:endParaRPr lang="tr-TR" dirty="0"/>
          </a:p>
        </p:txBody>
      </p:sp>
    </p:spTree>
    <p:extLst>
      <p:ext uri="{BB962C8B-B14F-4D97-AF65-F5344CB8AC3E}">
        <p14:creationId xmlns:p14="http://schemas.microsoft.com/office/powerpoint/2010/main" xmlns="" val="730010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D7418FEE-F4CB-4661-8087-F7B681868484}"/>
              </a:ext>
            </a:extLst>
          </p:cNvPr>
          <p:cNvSpPr>
            <a:spLocks noGrp="1"/>
          </p:cNvSpPr>
          <p:nvPr>
            <p:ph type="title"/>
          </p:nvPr>
        </p:nvSpPr>
        <p:spPr/>
        <p:txBody>
          <a:bodyPr>
            <a:normAutofit/>
          </a:bodyPr>
          <a:lstStyle/>
          <a:p>
            <a:r>
              <a:rPr lang="tr-TR" b="0" i="0" dirty="0">
                <a:solidFill>
                  <a:schemeClr val="accent2">
                    <a:lumMod val="75000"/>
                  </a:schemeClr>
                </a:solidFill>
                <a:effectLst/>
                <a:latin typeface="erdana"/>
              </a:rPr>
              <a:t>Data </a:t>
            </a:r>
            <a:r>
              <a:rPr lang="tr-TR" b="0" i="0" dirty="0" err="1">
                <a:solidFill>
                  <a:schemeClr val="accent2">
                    <a:lumMod val="75000"/>
                  </a:schemeClr>
                </a:solidFill>
                <a:effectLst/>
                <a:latin typeface="erdana"/>
              </a:rPr>
              <a:t>Types</a:t>
            </a:r>
            <a:r>
              <a:rPr lang="tr-TR" b="0" i="0" dirty="0">
                <a:solidFill>
                  <a:schemeClr val="accent2">
                    <a:lumMod val="75000"/>
                  </a:schemeClr>
                </a:solidFill>
                <a:effectLst/>
                <a:latin typeface="erdana"/>
              </a:rPr>
              <a:t> in VHDL</a:t>
            </a:r>
            <a:r>
              <a:rPr lang="tr-TR" b="0" i="0" dirty="0">
                <a:solidFill>
                  <a:srgbClr val="610B38"/>
                </a:solidFill>
                <a:effectLst/>
                <a:latin typeface="erdana"/>
              </a:rPr>
              <a:t/>
            </a:r>
            <a:br>
              <a:rPr lang="tr-TR" b="0" i="0" dirty="0">
                <a:solidFill>
                  <a:srgbClr val="610B38"/>
                </a:solidFill>
                <a:effectLst/>
                <a:latin typeface="erdana"/>
              </a:rPr>
            </a:br>
            <a:endParaRPr lang="tr-TR" dirty="0"/>
          </a:p>
        </p:txBody>
      </p:sp>
      <p:sp>
        <p:nvSpPr>
          <p:cNvPr id="3" name="İçerik Yer Tutucusu 2">
            <a:extLst>
              <a:ext uri="{FF2B5EF4-FFF2-40B4-BE49-F238E27FC236}">
                <a16:creationId xmlns:a16="http://schemas.microsoft.com/office/drawing/2014/main" xmlns="" id="{A89F7C3B-8CF0-4785-ABF0-BE993050C24B}"/>
              </a:ext>
            </a:extLst>
          </p:cNvPr>
          <p:cNvSpPr>
            <a:spLocks noGrp="1"/>
          </p:cNvSpPr>
          <p:nvPr>
            <p:ph idx="1"/>
          </p:nvPr>
        </p:nvSpPr>
        <p:spPr>
          <a:xfrm>
            <a:off x="608508" y="1328336"/>
            <a:ext cx="8596668" cy="834762"/>
          </a:xfrm>
        </p:spPr>
        <p:txBody>
          <a:bodyPr>
            <a:normAutofit/>
          </a:bodyPr>
          <a:lstStyle/>
          <a:p>
            <a:pPr marL="0" indent="0" algn="l">
              <a:buNone/>
            </a:pPr>
            <a:r>
              <a:rPr lang="en-US" b="0" i="0" dirty="0">
                <a:solidFill>
                  <a:srgbClr val="000000"/>
                </a:solidFill>
                <a:effectLst/>
                <a:latin typeface="verdana" panose="020B0604030504040204" pitchFamily="34" charset="0"/>
              </a:rPr>
              <a:t>Data Types are the abstract representation of stored data.</a:t>
            </a:r>
          </a:p>
          <a:p>
            <a:pPr marL="0" indent="0" algn="l">
              <a:buNone/>
            </a:pPr>
            <a:r>
              <a:rPr lang="en-US" b="0" i="0" dirty="0">
                <a:solidFill>
                  <a:srgbClr val="000000"/>
                </a:solidFill>
                <a:effectLst/>
                <a:latin typeface="verdana" panose="020B0604030504040204" pitchFamily="34" charset="0"/>
              </a:rPr>
              <a:t>There are the following data types in VHDL </a:t>
            </a:r>
          </a:p>
          <a:p>
            <a:endParaRPr lang="tr-TR" dirty="0"/>
          </a:p>
        </p:txBody>
      </p:sp>
      <p:pic>
        <p:nvPicPr>
          <p:cNvPr id="6" name="Resim 5">
            <a:extLst>
              <a:ext uri="{FF2B5EF4-FFF2-40B4-BE49-F238E27FC236}">
                <a16:creationId xmlns:a16="http://schemas.microsoft.com/office/drawing/2014/main" xmlns="" id="{67CA5576-7D06-4238-9BF8-7B8664F807E5}"/>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77334" y="2220432"/>
            <a:ext cx="7154428" cy="4269578"/>
          </a:xfrm>
          <a:prstGeom prst="rect">
            <a:avLst/>
          </a:prstGeom>
        </p:spPr>
      </p:pic>
    </p:spTree>
    <p:extLst>
      <p:ext uri="{BB962C8B-B14F-4D97-AF65-F5344CB8AC3E}">
        <p14:creationId xmlns:p14="http://schemas.microsoft.com/office/powerpoint/2010/main" xmlns="" val="241765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D511FD8F-B30E-4FCA-8A55-2054F80FBB3C}"/>
              </a:ext>
            </a:extLst>
          </p:cNvPr>
          <p:cNvSpPr>
            <a:spLocks noGrp="1"/>
          </p:cNvSpPr>
          <p:nvPr>
            <p:ph idx="1"/>
          </p:nvPr>
        </p:nvSpPr>
        <p:spPr>
          <a:xfrm>
            <a:off x="677334" y="107577"/>
            <a:ext cx="8596668" cy="6131858"/>
          </a:xfrm>
        </p:spPr>
        <p:txBody>
          <a:bodyPr>
            <a:normAutofit lnSpcReduction="10000"/>
          </a:bodyPr>
          <a:lstStyle/>
          <a:p>
            <a:pPr algn="l">
              <a:buFont typeface="Arial" panose="020B0604020202020204" pitchFamily="34" charset="0"/>
              <a:buChar char="•"/>
            </a:pPr>
            <a:endParaRPr lang="tr-TR" b="1" dirty="0">
              <a:solidFill>
                <a:srgbClr val="000000"/>
              </a:solidFill>
              <a:effectLst/>
              <a:latin typeface="verdana" panose="020B0604030504040204" pitchFamily="34" charset="0"/>
            </a:endParaRPr>
          </a:p>
          <a:p>
            <a:pPr marL="0" indent="0" algn="l">
              <a:buNone/>
            </a:pPr>
            <a:r>
              <a:rPr lang="en-US" b="1" i="0" dirty="0">
                <a:solidFill>
                  <a:srgbClr val="000000"/>
                </a:solidFill>
                <a:effectLst/>
                <a:latin typeface="verdana" panose="020B0604030504040204" pitchFamily="34" charset="0"/>
              </a:rPr>
              <a:t>1. Scalar Types</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1" dirty="0">
                <a:solidFill>
                  <a:srgbClr val="000000"/>
                </a:solidFill>
                <a:effectLst/>
                <a:latin typeface="verdana" panose="020B0604030504040204" pitchFamily="34" charset="0"/>
              </a:rPr>
              <a:t>Integer</a:t>
            </a:r>
            <a:r>
              <a:rPr lang="en-US" b="0" dirty="0">
                <a:solidFill>
                  <a:srgbClr val="000000"/>
                </a:solidFill>
                <a:effectLst/>
                <a:latin typeface="verdana" panose="020B0604030504040204" pitchFamily="34" charset="0"/>
              </a:rPr>
              <a:t/>
            </a:r>
            <a:br>
              <a:rPr lang="en-US" b="0" dirty="0">
                <a:solidFill>
                  <a:srgbClr val="000000"/>
                </a:solidFill>
                <a:effectLst/>
                <a:latin typeface="verdana" panose="020B0604030504040204" pitchFamily="34" charset="0"/>
              </a:rPr>
            </a:br>
            <a:r>
              <a:rPr lang="en-US" b="0" dirty="0" err="1">
                <a:solidFill>
                  <a:srgbClr val="000000"/>
                </a:solidFill>
                <a:effectLst/>
                <a:latin typeface="verdana" panose="020B0604030504040204" pitchFamily="34" charset="0"/>
              </a:rPr>
              <a:t>Integer</a:t>
            </a:r>
            <a:r>
              <a:rPr lang="en-US" b="0" dirty="0">
                <a:solidFill>
                  <a:srgbClr val="000000"/>
                </a:solidFill>
                <a:effectLst/>
                <a:latin typeface="verdana" panose="020B0604030504040204" pitchFamily="34" charset="0"/>
              </a:rPr>
              <a:t> data types are the set of positive and negative whole numbers.</a:t>
            </a:r>
          </a:p>
          <a:p>
            <a:pPr algn="l">
              <a:buFont typeface="Arial" panose="020B0604020202020204" pitchFamily="34" charset="0"/>
              <a:buChar char="•"/>
            </a:pPr>
            <a:r>
              <a:rPr lang="en-US" b="1" dirty="0">
                <a:solidFill>
                  <a:srgbClr val="000000"/>
                </a:solidFill>
                <a:effectLst/>
                <a:latin typeface="verdana" panose="020B0604030504040204" pitchFamily="34" charset="0"/>
              </a:rPr>
              <a:t>Floating point</a:t>
            </a:r>
            <a:r>
              <a:rPr lang="en-US" b="0" dirty="0">
                <a:solidFill>
                  <a:srgbClr val="000000"/>
                </a:solidFill>
                <a:effectLst/>
                <a:latin typeface="verdana" panose="020B0604030504040204" pitchFamily="34" charset="0"/>
              </a:rPr>
              <a:t/>
            </a:r>
            <a:br>
              <a:rPr lang="en-US" b="0" dirty="0">
                <a:solidFill>
                  <a:srgbClr val="000000"/>
                </a:solidFill>
                <a:effectLst/>
                <a:latin typeface="verdana" panose="020B0604030504040204" pitchFamily="34" charset="0"/>
              </a:rPr>
            </a:br>
            <a:r>
              <a:rPr lang="en-US" b="0" dirty="0">
                <a:solidFill>
                  <a:srgbClr val="000000"/>
                </a:solidFill>
                <a:effectLst/>
                <a:latin typeface="verdana" panose="020B0604030504040204" pitchFamily="34" charset="0"/>
              </a:rPr>
              <a:t>Floating point data types are the set of positive and negative numbers that contain a decimal point.</a:t>
            </a:r>
          </a:p>
          <a:p>
            <a:pPr algn="l">
              <a:buFont typeface="Arial" panose="020B0604020202020204" pitchFamily="34" charset="0"/>
              <a:buChar char="•"/>
            </a:pPr>
            <a:r>
              <a:rPr lang="en-US" b="1" dirty="0">
                <a:solidFill>
                  <a:srgbClr val="000000"/>
                </a:solidFill>
                <a:effectLst/>
                <a:latin typeface="verdana" panose="020B0604030504040204" pitchFamily="34" charset="0"/>
              </a:rPr>
              <a:t>Enumeration</a:t>
            </a:r>
            <a:r>
              <a:rPr lang="en-US" b="0" dirty="0">
                <a:solidFill>
                  <a:srgbClr val="000000"/>
                </a:solidFill>
                <a:effectLst/>
                <a:latin typeface="verdana" panose="020B0604030504040204" pitchFamily="34" charset="0"/>
              </a:rPr>
              <a:t/>
            </a:r>
            <a:br>
              <a:rPr lang="en-US" b="0" dirty="0">
                <a:solidFill>
                  <a:srgbClr val="000000"/>
                </a:solidFill>
                <a:effectLst/>
                <a:latin typeface="verdana" panose="020B0604030504040204" pitchFamily="34" charset="0"/>
              </a:rPr>
            </a:br>
            <a:r>
              <a:rPr lang="en-US" b="0" dirty="0" err="1">
                <a:solidFill>
                  <a:srgbClr val="000000"/>
                </a:solidFill>
                <a:effectLst/>
                <a:latin typeface="verdana" panose="020B0604030504040204" pitchFamily="34" charset="0"/>
              </a:rPr>
              <a:t>Enumeration</a:t>
            </a:r>
            <a:r>
              <a:rPr lang="en-US" b="0" dirty="0">
                <a:solidFill>
                  <a:srgbClr val="000000"/>
                </a:solidFill>
                <a:effectLst/>
                <a:latin typeface="verdana" panose="020B0604030504040204" pitchFamily="34" charset="0"/>
              </a:rPr>
              <a:t> data type is used to increase the readability of the code.</a:t>
            </a:r>
            <a:endParaRPr lang="tr-TR" b="0" dirty="0">
              <a:solidFill>
                <a:srgbClr val="000000"/>
              </a:solidFill>
              <a:effectLst/>
              <a:latin typeface="verdana" panose="020B0604030504040204" pitchFamily="34" charset="0"/>
            </a:endParaRPr>
          </a:p>
          <a:p>
            <a:pPr algn="l">
              <a:buFont typeface="Arial" panose="020B0604020202020204" pitchFamily="34" charset="0"/>
              <a:buChar char="•"/>
            </a:pPr>
            <a:r>
              <a:rPr lang="en-US" b="1" dirty="0">
                <a:solidFill>
                  <a:srgbClr val="000000"/>
                </a:solidFill>
                <a:effectLst/>
                <a:latin typeface="verdana" panose="020B0604030504040204" pitchFamily="34" charset="0"/>
              </a:rPr>
              <a:t>Physical</a:t>
            </a:r>
            <a:r>
              <a:rPr lang="en-US" b="0" dirty="0">
                <a:solidFill>
                  <a:srgbClr val="000000"/>
                </a:solidFill>
                <a:effectLst/>
                <a:latin typeface="verdana" panose="020B0604030504040204" pitchFamily="34" charset="0"/>
              </a:rPr>
              <a:t/>
            </a:r>
            <a:br>
              <a:rPr lang="en-US" b="0" dirty="0">
                <a:solidFill>
                  <a:srgbClr val="000000"/>
                </a:solidFill>
                <a:effectLst/>
                <a:latin typeface="verdana" panose="020B0604030504040204" pitchFamily="34" charset="0"/>
              </a:rPr>
            </a:br>
            <a:r>
              <a:rPr lang="en-US" b="0" dirty="0">
                <a:solidFill>
                  <a:srgbClr val="000000"/>
                </a:solidFill>
                <a:effectLst/>
                <a:latin typeface="verdana" panose="020B0604030504040204" pitchFamily="34" charset="0"/>
              </a:rPr>
              <a:t>Physical data type describes objects in terms of a base unit, multiples of base unit, and a specified range.</a:t>
            </a:r>
          </a:p>
          <a:p>
            <a:pPr marL="0" indent="0" algn="l">
              <a:buNone/>
            </a:pPr>
            <a:r>
              <a:rPr lang="en-US" b="1" i="0" dirty="0">
                <a:solidFill>
                  <a:srgbClr val="000000"/>
                </a:solidFill>
                <a:effectLst/>
                <a:latin typeface="verdana" panose="020B0604030504040204" pitchFamily="34" charset="0"/>
              </a:rPr>
              <a:t>2. Composite Types</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1" dirty="0">
                <a:solidFill>
                  <a:srgbClr val="000000"/>
                </a:solidFill>
                <a:effectLst/>
                <a:latin typeface="verdana" panose="020B0604030504040204" pitchFamily="34" charset="0"/>
              </a:rPr>
              <a:t>Arrays</a:t>
            </a:r>
            <a:r>
              <a:rPr lang="en-US" b="0" dirty="0">
                <a:solidFill>
                  <a:srgbClr val="000000"/>
                </a:solidFill>
                <a:effectLst/>
                <a:latin typeface="verdana" panose="020B0604030504040204" pitchFamily="34" charset="0"/>
              </a:rPr>
              <a:t/>
            </a:r>
            <a:br>
              <a:rPr lang="en-US" b="0" dirty="0">
                <a:solidFill>
                  <a:srgbClr val="000000"/>
                </a:solidFill>
                <a:effectLst/>
                <a:latin typeface="verdana" panose="020B0604030504040204" pitchFamily="34" charset="0"/>
              </a:rPr>
            </a:br>
            <a:r>
              <a:rPr lang="en-US" b="0" dirty="0" err="1">
                <a:solidFill>
                  <a:srgbClr val="000000"/>
                </a:solidFill>
                <a:effectLst/>
                <a:latin typeface="verdana" panose="020B0604030504040204" pitchFamily="34" charset="0"/>
              </a:rPr>
              <a:t>Arrays</a:t>
            </a:r>
            <a:r>
              <a:rPr lang="en-US" b="0" dirty="0">
                <a:solidFill>
                  <a:srgbClr val="000000"/>
                </a:solidFill>
                <a:effectLst/>
                <a:latin typeface="verdana" panose="020B0604030504040204" pitchFamily="34" charset="0"/>
              </a:rPr>
              <a:t> are used to hold multiple values of the same types under a single identifier</a:t>
            </a:r>
          </a:p>
          <a:p>
            <a:pPr algn="l">
              <a:buFont typeface="Arial" panose="020B0604020202020204" pitchFamily="34" charset="0"/>
              <a:buChar char="•"/>
            </a:pPr>
            <a:r>
              <a:rPr lang="en-US" b="1" dirty="0">
                <a:solidFill>
                  <a:srgbClr val="000000"/>
                </a:solidFill>
                <a:effectLst/>
                <a:latin typeface="verdana" panose="020B0604030504040204" pitchFamily="34" charset="0"/>
              </a:rPr>
              <a:t>Record</a:t>
            </a:r>
            <a:r>
              <a:rPr lang="en-US" b="0" dirty="0">
                <a:solidFill>
                  <a:srgbClr val="000000"/>
                </a:solidFill>
                <a:effectLst/>
                <a:latin typeface="verdana" panose="020B0604030504040204" pitchFamily="34" charset="0"/>
              </a:rPr>
              <a:t/>
            </a:r>
            <a:br>
              <a:rPr lang="en-US" b="0" dirty="0">
                <a:solidFill>
                  <a:srgbClr val="000000"/>
                </a:solidFill>
                <a:effectLst/>
                <a:latin typeface="verdana" panose="020B0604030504040204" pitchFamily="34" charset="0"/>
              </a:rPr>
            </a:br>
            <a:r>
              <a:rPr lang="en-US" b="0" dirty="0">
                <a:solidFill>
                  <a:srgbClr val="000000"/>
                </a:solidFill>
                <a:effectLst/>
                <a:latin typeface="verdana" panose="020B0604030504040204" pitchFamily="34" charset="0"/>
              </a:rPr>
              <a:t>Records are used to specify one or more elements, and each element has a different name and different type.</a:t>
            </a:r>
          </a:p>
          <a:p>
            <a:endParaRPr lang="tr-TR" dirty="0"/>
          </a:p>
        </p:txBody>
      </p:sp>
    </p:spTree>
    <p:extLst>
      <p:ext uri="{BB962C8B-B14F-4D97-AF65-F5344CB8AC3E}">
        <p14:creationId xmlns:p14="http://schemas.microsoft.com/office/powerpoint/2010/main" xmlns="" val="955427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D941F0C6-CD51-4029-9FB7-A9F1F0EE1537}"/>
              </a:ext>
            </a:extLst>
          </p:cNvPr>
          <p:cNvSpPr>
            <a:spLocks noGrp="1"/>
          </p:cNvSpPr>
          <p:nvPr>
            <p:ph type="title"/>
          </p:nvPr>
        </p:nvSpPr>
        <p:spPr/>
        <p:txBody>
          <a:bodyPr>
            <a:normAutofit/>
          </a:bodyPr>
          <a:lstStyle/>
          <a:p>
            <a:r>
              <a:rPr lang="tr-TR" b="0" i="0" dirty="0">
                <a:solidFill>
                  <a:schemeClr val="accent2">
                    <a:lumMod val="75000"/>
                  </a:schemeClr>
                </a:solidFill>
                <a:effectLst/>
                <a:latin typeface="erdana"/>
              </a:rPr>
              <a:t>VHDL </a:t>
            </a:r>
            <a:r>
              <a:rPr lang="tr-TR" b="0" i="0" dirty="0" err="1">
                <a:solidFill>
                  <a:schemeClr val="accent2">
                    <a:lumMod val="75000"/>
                  </a:schemeClr>
                </a:solidFill>
                <a:effectLst/>
                <a:latin typeface="erdana"/>
              </a:rPr>
              <a:t>Operators</a:t>
            </a:r>
            <a:r>
              <a:rPr lang="tr-TR" b="0" i="0" dirty="0">
                <a:solidFill>
                  <a:schemeClr val="accent2">
                    <a:lumMod val="75000"/>
                  </a:schemeClr>
                </a:solidFill>
                <a:effectLst/>
                <a:latin typeface="erdana"/>
              </a:rPr>
              <a:t/>
            </a:r>
            <a:br>
              <a:rPr lang="tr-TR" b="0" i="0" dirty="0">
                <a:solidFill>
                  <a:schemeClr val="accent2">
                    <a:lumMod val="75000"/>
                  </a:schemeClr>
                </a:solidFill>
                <a:effectLst/>
                <a:latin typeface="erdana"/>
              </a:rPr>
            </a:br>
            <a:endParaRPr lang="tr-TR" dirty="0">
              <a:solidFill>
                <a:schemeClr val="accent2">
                  <a:lumMod val="75000"/>
                </a:schemeClr>
              </a:solidFill>
            </a:endParaRPr>
          </a:p>
        </p:txBody>
      </p:sp>
      <p:sp>
        <p:nvSpPr>
          <p:cNvPr id="3" name="İçerik Yer Tutucusu 2">
            <a:extLst>
              <a:ext uri="{FF2B5EF4-FFF2-40B4-BE49-F238E27FC236}">
                <a16:creationId xmlns:a16="http://schemas.microsoft.com/office/drawing/2014/main" xmlns="" id="{8392F568-0A20-4B1C-BFEC-4EBDD92812AB}"/>
              </a:ext>
            </a:extLst>
          </p:cNvPr>
          <p:cNvSpPr>
            <a:spLocks noGrp="1"/>
          </p:cNvSpPr>
          <p:nvPr>
            <p:ph idx="1"/>
          </p:nvPr>
        </p:nvSpPr>
        <p:spPr>
          <a:xfrm>
            <a:off x="462423" y="1654562"/>
            <a:ext cx="8596668" cy="3880773"/>
          </a:xfrm>
        </p:spPr>
        <p:txBody>
          <a:bodyPr>
            <a:normAutofit fontScale="85000" lnSpcReduction="20000"/>
          </a:bodyPr>
          <a:lstStyle/>
          <a:p>
            <a:pPr marL="0" indent="0" algn="l">
              <a:buNone/>
            </a:pPr>
            <a:r>
              <a:rPr lang="en-US" b="0" i="0" dirty="0">
                <a:solidFill>
                  <a:srgbClr val="000000"/>
                </a:solidFill>
                <a:effectLst/>
                <a:latin typeface="verdana" panose="020B0604030504040204" pitchFamily="34" charset="0"/>
              </a:rPr>
              <a:t>VHDL Operators are used for constructing the expressions.</a:t>
            </a:r>
          </a:p>
          <a:p>
            <a:pPr marL="0" indent="0" algn="l">
              <a:buNone/>
            </a:pPr>
            <a:r>
              <a:rPr lang="en-US" b="0" i="0" dirty="0">
                <a:solidFill>
                  <a:srgbClr val="000000"/>
                </a:solidFill>
                <a:effectLst/>
                <a:latin typeface="verdana" panose="020B0604030504040204" pitchFamily="34" charset="0"/>
              </a:rPr>
              <a:t>There are the following types of operators in VHDL:</a:t>
            </a:r>
          </a:p>
          <a:p>
            <a:pPr marL="0" indent="0" algn="l">
              <a:buNone/>
            </a:pPr>
            <a:r>
              <a:rPr lang="en-US" b="1" i="0" dirty="0">
                <a:solidFill>
                  <a:srgbClr val="000000"/>
                </a:solidFill>
                <a:effectLst/>
                <a:latin typeface="verdana" panose="020B0604030504040204" pitchFamily="34" charset="0"/>
              </a:rPr>
              <a:t>1. Logical Operators</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Logical Operators are used to control the program flow. When the logical operators combined with signals or variables, then it is used to create combinational logic.</a:t>
            </a:r>
          </a:p>
          <a:p>
            <a:pPr algn="l"/>
            <a:r>
              <a:rPr lang="en-US" b="0" i="0" dirty="0">
                <a:solidFill>
                  <a:srgbClr val="000000"/>
                </a:solidFill>
                <a:effectLst/>
                <a:latin typeface="verdana" panose="020B0604030504040204" pitchFamily="34" charset="0"/>
              </a:rPr>
              <a:t>VHDL supports the following logical operators:</a:t>
            </a:r>
          </a:p>
          <a:p>
            <a:pPr algn="l">
              <a:buFont typeface="Arial" panose="020B0604020202020204" pitchFamily="34" charset="0"/>
              <a:buChar char="•"/>
            </a:pPr>
            <a:r>
              <a:rPr lang="en-US" b="0" dirty="0">
                <a:solidFill>
                  <a:srgbClr val="000000"/>
                </a:solidFill>
                <a:effectLst/>
                <a:latin typeface="verdana" panose="020B0604030504040204" pitchFamily="34" charset="0"/>
              </a:rPr>
              <a:t>and</a:t>
            </a:r>
          </a:p>
          <a:p>
            <a:pPr algn="l">
              <a:buFont typeface="Arial" panose="020B0604020202020204" pitchFamily="34" charset="0"/>
              <a:buChar char="•"/>
            </a:pPr>
            <a:r>
              <a:rPr lang="en-US" b="0" dirty="0">
                <a:solidFill>
                  <a:srgbClr val="000000"/>
                </a:solidFill>
                <a:effectLst/>
                <a:latin typeface="verdana" panose="020B0604030504040204" pitchFamily="34" charset="0"/>
              </a:rPr>
              <a:t>or</a:t>
            </a:r>
          </a:p>
          <a:p>
            <a:pPr algn="l">
              <a:buFont typeface="Arial" panose="020B0604020202020204" pitchFamily="34" charset="0"/>
              <a:buChar char="•"/>
            </a:pPr>
            <a:r>
              <a:rPr lang="en-US" b="0" dirty="0" err="1">
                <a:solidFill>
                  <a:srgbClr val="000000"/>
                </a:solidFill>
                <a:effectLst/>
                <a:latin typeface="verdana" panose="020B0604030504040204" pitchFamily="34" charset="0"/>
              </a:rPr>
              <a:t>nand</a:t>
            </a:r>
            <a:endParaRPr lang="en-US" b="0" dirty="0">
              <a:solidFill>
                <a:srgbClr val="000000"/>
              </a:solidFill>
              <a:effectLst/>
              <a:latin typeface="verdana" panose="020B0604030504040204" pitchFamily="34" charset="0"/>
            </a:endParaRPr>
          </a:p>
          <a:p>
            <a:pPr algn="l">
              <a:buFont typeface="Arial" panose="020B0604020202020204" pitchFamily="34" charset="0"/>
              <a:buChar char="•"/>
            </a:pPr>
            <a:r>
              <a:rPr lang="en-US" b="0" dirty="0">
                <a:solidFill>
                  <a:srgbClr val="000000"/>
                </a:solidFill>
                <a:effectLst/>
                <a:latin typeface="verdana" panose="020B0604030504040204" pitchFamily="34" charset="0"/>
              </a:rPr>
              <a:t>nor</a:t>
            </a:r>
          </a:p>
          <a:p>
            <a:pPr algn="l">
              <a:buFont typeface="Arial" panose="020B0604020202020204" pitchFamily="34" charset="0"/>
              <a:buChar char="•"/>
            </a:pPr>
            <a:r>
              <a:rPr lang="en-US" b="0" dirty="0" err="1">
                <a:solidFill>
                  <a:srgbClr val="000000"/>
                </a:solidFill>
                <a:effectLst/>
                <a:latin typeface="verdana" panose="020B0604030504040204" pitchFamily="34" charset="0"/>
              </a:rPr>
              <a:t>xor</a:t>
            </a:r>
            <a:endParaRPr lang="en-US" b="0" dirty="0">
              <a:solidFill>
                <a:srgbClr val="000000"/>
              </a:solidFill>
              <a:effectLst/>
              <a:latin typeface="verdana" panose="020B0604030504040204" pitchFamily="34" charset="0"/>
            </a:endParaRPr>
          </a:p>
          <a:p>
            <a:pPr algn="l">
              <a:buFont typeface="Arial" panose="020B0604020202020204" pitchFamily="34" charset="0"/>
              <a:buChar char="•"/>
            </a:pPr>
            <a:r>
              <a:rPr lang="en-US" b="0" dirty="0" err="1">
                <a:solidFill>
                  <a:srgbClr val="000000"/>
                </a:solidFill>
                <a:effectLst/>
                <a:latin typeface="verdana" panose="020B0604030504040204" pitchFamily="34" charset="0"/>
              </a:rPr>
              <a:t>xnor</a:t>
            </a:r>
            <a:endParaRPr lang="en-US" b="0" dirty="0">
              <a:solidFill>
                <a:srgbClr val="000000"/>
              </a:solidFill>
              <a:effectLst/>
              <a:latin typeface="verdana" panose="020B0604030504040204" pitchFamily="34" charset="0"/>
            </a:endParaRPr>
          </a:p>
          <a:p>
            <a:pPr algn="l">
              <a:buFont typeface="Arial" panose="020B0604020202020204" pitchFamily="34" charset="0"/>
              <a:buChar char="•"/>
            </a:pPr>
            <a:r>
              <a:rPr lang="en-US" b="0" dirty="0">
                <a:solidFill>
                  <a:srgbClr val="000000"/>
                </a:solidFill>
                <a:effectLst/>
                <a:latin typeface="verdana" panose="020B0604030504040204" pitchFamily="34" charset="0"/>
              </a:rPr>
              <a:t>not</a:t>
            </a:r>
          </a:p>
          <a:p>
            <a:endParaRPr lang="tr-TR" dirty="0"/>
          </a:p>
        </p:txBody>
      </p:sp>
      <p:pic>
        <p:nvPicPr>
          <p:cNvPr id="5" name="Resim 4">
            <a:extLst>
              <a:ext uri="{FF2B5EF4-FFF2-40B4-BE49-F238E27FC236}">
                <a16:creationId xmlns:a16="http://schemas.microsoft.com/office/drawing/2014/main" xmlns="" id="{D2353737-0B40-43E5-BEAD-F7EE1FAE225A}"/>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856194" y="4100975"/>
            <a:ext cx="7202897" cy="1560237"/>
          </a:xfrm>
          <a:prstGeom prst="rect">
            <a:avLst/>
          </a:prstGeom>
        </p:spPr>
      </p:pic>
    </p:spTree>
    <p:extLst>
      <p:ext uri="{BB962C8B-B14F-4D97-AF65-F5344CB8AC3E}">
        <p14:creationId xmlns:p14="http://schemas.microsoft.com/office/powerpoint/2010/main" xmlns="" val="2431635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3F0CF4BD-2B8C-45EA-B1B7-B64A17B4881C}"/>
              </a:ext>
            </a:extLst>
          </p:cNvPr>
          <p:cNvSpPr>
            <a:spLocks noGrp="1"/>
          </p:cNvSpPr>
          <p:nvPr>
            <p:ph idx="1"/>
          </p:nvPr>
        </p:nvSpPr>
        <p:spPr>
          <a:xfrm>
            <a:off x="677334" y="284085"/>
            <a:ext cx="8596668" cy="6294268"/>
          </a:xfrm>
        </p:spPr>
        <p:txBody>
          <a:bodyPr>
            <a:normAutofit/>
          </a:bodyPr>
          <a:lstStyle/>
          <a:p>
            <a:pPr marL="0" indent="0" algn="l">
              <a:buNone/>
            </a:pPr>
            <a:r>
              <a:rPr lang="en-US" b="1" i="0" dirty="0">
                <a:solidFill>
                  <a:srgbClr val="000000"/>
                </a:solidFill>
                <a:effectLst/>
                <a:latin typeface="verdana" panose="020B0604030504040204" pitchFamily="34" charset="0"/>
              </a:rPr>
              <a:t>2. Relational Operators</a:t>
            </a:r>
            <a:endParaRPr lang="en-US" b="0" i="0" dirty="0">
              <a:solidFill>
                <a:srgbClr val="000000"/>
              </a:solidFill>
              <a:effectLst/>
              <a:latin typeface="verdana" panose="020B0604030504040204" pitchFamily="34" charset="0"/>
            </a:endParaRPr>
          </a:p>
          <a:p>
            <a:pPr algn="l"/>
            <a:r>
              <a:rPr lang="en-US" sz="1500" b="0" i="0" dirty="0">
                <a:solidFill>
                  <a:srgbClr val="000000"/>
                </a:solidFill>
                <a:effectLst/>
                <a:latin typeface="verdana" panose="020B0604030504040204" pitchFamily="34" charset="0"/>
              </a:rPr>
              <a:t>In VHDL, relational operators are used to compare two operands of the same data type, and the received result is always of the Boolean type.</a:t>
            </a:r>
          </a:p>
          <a:p>
            <a:pPr algn="l"/>
            <a:r>
              <a:rPr lang="en-US" sz="1500" b="0" i="0" dirty="0">
                <a:solidFill>
                  <a:srgbClr val="000000"/>
                </a:solidFill>
                <a:effectLst/>
                <a:latin typeface="verdana" panose="020B0604030504040204" pitchFamily="34" charset="0"/>
              </a:rPr>
              <a:t>VHDL supports the following Relational Operators:</a:t>
            </a:r>
          </a:p>
          <a:p>
            <a:pPr algn="l">
              <a:buFont typeface="Arial" panose="020B0604020202020204" pitchFamily="34" charset="0"/>
              <a:buChar char="•"/>
            </a:pPr>
            <a:r>
              <a:rPr lang="en-US" sz="1500" b="0" dirty="0">
                <a:solidFill>
                  <a:srgbClr val="000000"/>
                </a:solidFill>
                <a:effectLst/>
                <a:latin typeface="verdana" panose="020B0604030504040204" pitchFamily="34" charset="0"/>
              </a:rPr>
              <a:t>= Equal to</a:t>
            </a:r>
          </a:p>
          <a:p>
            <a:pPr algn="l">
              <a:buFont typeface="Arial" panose="020B0604020202020204" pitchFamily="34" charset="0"/>
              <a:buChar char="•"/>
            </a:pPr>
            <a:r>
              <a:rPr lang="en-US" sz="1500" b="0" dirty="0">
                <a:solidFill>
                  <a:srgbClr val="000000"/>
                </a:solidFill>
                <a:effectLst/>
                <a:latin typeface="verdana" panose="020B0604030504040204" pitchFamily="34" charset="0"/>
              </a:rPr>
              <a:t>/= Not Equal to</a:t>
            </a:r>
          </a:p>
          <a:p>
            <a:pPr algn="l">
              <a:buFont typeface="Arial" panose="020B0604020202020204" pitchFamily="34" charset="0"/>
              <a:buChar char="•"/>
            </a:pPr>
            <a:r>
              <a:rPr lang="en-US" sz="1500" b="0" dirty="0">
                <a:solidFill>
                  <a:srgbClr val="000000"/>
                </a:solidFill>
                <a:effectLst/>
                <a:latin typeface="verdana" panose="020B0604030504040204" pitchFamily="34" charset="0"/>
              </a:rPr>
              <a:t>&lt; Less than</a:t>
            </a:r>
          </a:p>
          <a:p>
            <a:pPr algn="l">
              <a:buFont typeface="Arial" panose="020B0604020202020204" pitchFamily="34" charset="0"/>
              <a:buChar char="•"/>
            </a:pPr>
            <a:r>
              <a:rPr lang="en-US" sz="1500" b="0" dirty="0">
                <a:solidFill>
                  <a:srgbClr val="000000"/>
                </a:solidFill>
                <a:effectLst/>
                <a:latin typeface="verdana" panose="020B0604030504040204" pitchFamily="34" charset="0"/>
              </a:rPr>
              <a:t>&gt; Greater than</a:t>
            </a:r>
          </a:p>
          <a:p>
            <a:pPr algn="l">
              <a:buFont typeface="Arial" panose="020B0604020202020204" pitchFamily="34" charset="0"/>
              <a:buChar char="•"/>
            </a:pPr>
            <a:r>
              <a:rPr lang="en-US" sz="1500" b="0" dirty="0">
                <a:solidFill>
                  <a:srgbClr val="000000"/>
                </a:solidFill>
                <a:effectLst/>
                <a:latin typeface="verdana" panose="020B0604030504040204" pitchFamily="34" charset="0"/>
              </a:rPr>
              <a:t>&lt;= Less than or equal to</a:t>
            </a:r>
          </a:p>
          <a:p>
            <a:pPr algn="l">
              <a:buFont typeface="Arial" panose="020B0604020202020204" pitchFamily="34" charset="0"/>
              <a:buChar char="•"/>
            </a:pPr>
            <a:r>
              <a:rPr lang="en-US" sz="1500" b="0" dirty="0">
                <a:solidFill>
                  <a:srgbClr val="000000"/>
                </a:solidFill>
                <a:effectLst/>
                <a:latin typeface="verdana" panose="020B0604030504040204" pitchFamily="34" charset="0"/>
              </a:rPr>
              <a:t>&gt;= Greater than or equal to</a:t>
            </a:r>
            <a:endParaRPr lang="tr-TR" sz="1500" b="0" dirty="0">
              <a:solidFill>
                <a:srgbClr val="000000"/>
              </a:solidFill>
              <a:effectLst/>
              <a:latin typeface="verdana" panose="020B0604030504040204" pitchFamily="34" charset="0"/>
            </a:endParaRPr>
          </a:p>
          <a:p>
            <a:pPr algn="l"/>
            <a:r>
              <a:rPr lang="en-US" sz="1600" b="1" i="0" dirty="0">
                <a:solidFill>
                  <a:srgbClr val="000000"/>
                </a:solidFill>
                <a:effectLst/>
                <a:latin typeface="verdana" panose="020B0604030504040204" pitchFamily="34" charset="0"/>
              </a:rPr>
              <a:t>3. Arithmetic Operators</a:t>
            </a:r>
            <a:endParaRPr lang="en-US" sz="1600" b="0" i="0" dirty="0">
              <a:solidFill>
                <a:srgbClr val="000000"/>
              </a:solidFill>
              <a:effectLst/>
              <a:latin typeface="verdana" panose="020B0604030504040204" pitchFamily="34" charset="0"/>
            </a:endParaRPr>
          </a:p>
          <a:p>
            <a:pPr algn="l"/>
            <a:r>
              <a:rPr lang="en-US" sz="1600" b="0" i="0" dirty="0">
                <a:solidFill>
                  <a:srgbClr val="000000"/>
                </a:solidFill>
                <a:effectLst/>
                <a:latin typeface="verdana" panose="020B0604030504040204" pitchFamily="34" charset="0"/>
              </a:rPr>
              <a:t>Arithmetic Operators are used to perform arithmetic operations. These operators are </a:t>
            </a:r>
            <a:r>
              <a:rPr lang="en-US" sz="1600" b="1" i="0" dirty="0">
                <a:solidFill>
                  <a:srgbClr val="000000"/>
                </a:solidFill>
                <a:effectLst/>
                <a:latin typeface="verdana" panose="020B0604030504040204" pitchFamily="34" charset="0"/>
              </a:rPr>
              <a:t>numeric types</a:t>
            </a:r>
            <a:r>
              <a:rPr lang="en-US" sz="1600" b="0" i="0" dirty="0">
                <a:solidFill>
                  <a:srgbClr val="000000"/>
                </a:solidFill>
                <a:effectLst/>
                <a:latin typeface="verdana" panose="020B0604030504040204" pitchFamily="34" charset="0"/>
              </a:rPr>
              <a:t>, such as </a:t>
            </a:r>
            <a:r>
              <a:rPr lang="en-US" sz="1600" b="1" i="0" dirty="0">
                <a:solidFill>
                  <a:srgbClr val="000000"/>
                </a:solidFill>
                <a:effectLst/>
                <a:latin typeface="verdana" panose="020B0604030504040204" pitchFamily="34" charset="0"/>
              </a:rPr>
              <a:t>integer</a:t>
            </a:r>
            <a:r>
              <a:rPr lang="en-US" sz="1600" b="0" i="0" dirty="0">
                <a:solidFill>
                  <a:srgbClr val="000000"/>
                </a:solidFill>
                <a:effectLst/>
                <a:latin typeface="verdana" panose="020B0604030504040204" pitchFamily="34" charset="0"/>
              </a:rPr>
              <a:t> and </a:t>
            </a:r>
            <a:r>
              <a:rPr lang="en-US" sz="1600" b="1" i="0" dirty="0">
                <a:solidFill>
                  <a:srgbClr val="000000"/>
                </a:solidFill>
                <a:effectLst/>
                <a:latin typeface="verdana" panose="020B0604030504040204" pitchFamily="34" charset="0"/>
              </a:rPr>
              <a:t>real</a:t>
            </a:r>
            <a:r>
              <a:rPr lang="en-US" sz="1600" b="0" i="0" dirty="0">
                <a:solidFill>
                  <a:srgbClr val="000000"/>
                </a:solidFill>
                <a:effectLst/>
                <a:latin typeface="verdana" panose="020B0604030504040204" pitchFamily="34" charset="0"/>
              </a:rPr>
              <a:t>.</a:t>
            </a:r>
          </a:p>
          <a:p>
            <a:pPr algn="l"/>
            <a:r>
              <a:rPr lang="en-US" sz="1600" b="0" i="0" dirty="0">
                <a:solidFill>
                  <a:srgbClr val="000000"/>
                </a:solidFill>
                <a:effectLst/>
                <a:latin typeface="verdana" panose="020B0604030504040204" pitchFamily="34" charset="0"/>
              </a:rPr>
              <a:t>VHDL uses the following Arithmetic Operators:</a:t>
            </a:r>
          </a:p>
          <a:p>
            <a:pPr algn="l">
              <a:buFont typeface="Arial" panose="020B0604020202020204" pitchFamily="34" charset="0"/>
              <a:buChar char="•"/>
            </a:pPr>
            <a:r>
              <a:rPr lang="en-US" sz="1600" b="0" dirty="0">
                <a:solidFill>
                  <a:srgbClr val="000000"/>
                </a:solidFill>
                <a:effectLst/>
                <a:latin typeface="verdana" panose="020B0604030504040204" pitchFamily="34" charset="0"/>
              </a:rPr>
              <a:t>+ Addition</a:t>
            </a:r>
          </a:p>
          <a:p>
            <a:pPr algn="l">
              <a:buFont typeface="Arial" panose="020B0604020202020204" pitchFamily="34" charset="0"/>
              <a:buChar char="•"/>
            </a:pPr>
            <a:r>
              <a:rPr lang="en-US" sz="1600" b="0" dirty="0">
                <a:solidFill>
                  <a:srgbClr val="000000"/>
                </a:solidFill>
                <a:effectLst/>
                <a:latin typeface="verdana" panose="020B0604030504040204" pitchFamily="34" charset="0"/>
              </a:rPr>
              <a:t>- Subtraction</a:t>
            </a:r>
          </a:p>
          <a:p>
            <a:pPr algn="l">
              <a:buFont typeface="Arial" panose="020B0604020202020204" pitchFamily="34" charset="0"/>
              <a:buChar char="•"/>
            </a:pPr>
            <a:r>
              <a:rPr lang="en-US" sz="1600" b="0" dirty="0">
                <a:solidFill>
                  <a:srgbClr val="000000"/>
                </a:solidFill>
                <a:effectLst/>
                <a:latin typeface="verdana" panose="020B0604030504040204" pitchFamily="34" charset="0"/>
              </a:rPr>
              <a:t>* Multiplication</a:t>
            </a:r>
          </a:p>
          <a:p>
            <a:pPr algn="l">
              <a:buFont typeface="Arial" panose="020B0604020202020204" pitchFamily="34" charset="0"/>
              <a:buChar char="•"/>
            </a:pPr>
            <a:r>
              <a:rPr lang="en-US" sz="1600" b="0" dirty="0">
                <a:solidFill>
                  <a:srgbClr val="000000"/>
                </a:solidFill>
                <a:effectLst/>
                <a:latin typeface="verdana" panose="020B0604030504040204" pitchFamily="34" charset="0"/>
              </a:rPr>
              <a:t>/ Division</a:t>
            </a:r>
          </a:p>
          <a:p>
            <a:pPr algn="l">
              <a:buFont typeface="Arial" panose="020B0604020202020204" pitchFamily="34" charset="0"/>
              <a:buChar char="•"/>
            </a:pPr>
            <a:endParaRPr lang="en-US" sz="1500" b="0" dirty="0">
              <a:solidFill>
                <a:srgbClr val="000000"/>
              </a:solidFill>
              <a:effectLst/>
              <a:latin typeface="verdana" panose="020B0604030504040204" pitchFamily="34" charset="0"/>
            </a:endParaRPr>
          </a:p>
          <a:p>
            <a:endParaRPr lang="tr-TR" dirty="0"/>
          </a:p>
        </p:txBody>
      </p:sp>
    </p:spTree>
    <p:extLst>
      <p:ext uri="{BB962C8B-B14F-4D97-AF65-F5344CB8AC3E}">
        <p14:creationId xmlns:p14="http://schemas.microsoft.com/office/powerpoint/2010/main" xmlns="" val="962712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xmlns="" id="{B18AFAF2-5466-466B-9D14-4B247067E69E}"/>
              </a:ext>
            </a:extLst>
          </p:cNvPr>
          <p:cNvSpPr>
            <a:spLocks noGrp="1"/>
          </p:cNvSpPr>
          <p:nvPr>
            <p:ph idx="1"/>
          </p:nvPr>
        </p:nvSpPr>
        <p:spPr>
          <a:xfrm>
            <a:off x="677334" y="328475"/>
            <a:ext cx="5545913" cy="4845475"/>
          </a:xfrm>
        </p:spPr>
        <p:txBody>
          <a:bodyPr>
            <a:normAutofit fontScale="92500" lnSpcReduction="20000"/>
          </a:bodyPr>
          <a:lstStyle/>
          <a:p>
            <a:pPr algn="l">
              <a:buFont typeface="Arial" panose="020B0604020202020204" pitchFamily="34" charset="0"/>
              <a:buChar char="•"/>
            </a:pPr>
            <a:r>
              <a:rPr lang="en-US" sz="1500" b="0" dirty="0">
                <a:solidFill>
                  <a:srgbClr val="000000"/>
                </a:solidFill>
                <a:effectLst/>
                <a:latin typeface="verdana" panose="020B0604030504040204" pitchFamily="34" charset="0"/>
              </a:rPr>
              <a:t>&amp; Concatenation</a:t>
            </a:r>
          </a:p>
          <a:p>
            <a:pPr algn="l">
              <a:buFont typeface="Arial" panose="020B0604020202020204" pitchFamily="34" charset="0"/>
              <a:buChar char="•"/>
            </a:pPr>
            <a:r>
              <a:rPr lang="en-US" sz="1500" b="0" dirty="0">
                <a:solidFill>
                  <a:srgbClr val="000000"/>
                </a:solidFill>
                <a:effectLst/>
                <a:latin typeface="verdana" panose="020B0604030504040204" pitchFamily="34" charset="0"/>
              </a:rPr>
              <a:t>mod Modulus</a:t>
            </a:r>
          </a:p>
          <a:p>
            <a:pPr algn="l">
              <a:buFont typeface="Arial" panose="020B0604020202020204" pitchFamily="34" charset="0"/>
              <a:buChar char="•"/>
            </a:pPr>
            <a:r>
              <a:rPr lang="en-US" sz="1500" b="0" dirty="0">
                <a:solidFill>
                  <a:srgbClr val="000000"/>
                </a:solidFill>
                <a:effectLst/>
                <a:latin typeface="verdana" panose="020B0604030504040204" pitchFamily="34" charset="0"/>
              </a:rPr>
              <a:t>rem Remainder</a:t>
            </a:r>
          </a:p>
          <a:p>
            <a:pPr algn="l">
              <a:buFont typeface="Arial" panose="020B0604020202020204" pitchFamily="34" charset="0"/>
              <a:buChar char="•"/>
            </a:pPr>
            <a:r>
              <a:rPr lang="en-US" sz="1500" b="0" dirty="0">
                <a:solidFill>
                  <a:srgbClr val="000000"/>
                </a:solidFill>
                <a:effectLst/>
                <a:latin typeface="verdana" panose="020B0604030504040204" pitchFamily="34" charset="0"/>
              </a:rPr>
              <a:t>abs Absolute Value</a:t>
            </a:r>
          </a:p>
          <a:p>
            <a:pPr algn="l">
              <a:buFont typeface="Arial" panose="020B0604020202020204" pitchFamily="34" charset="0"/>
              <a:buChar char="•"/>
            </a:pPr>
            <a:r>
              <a:rPr lang="en-US" sz="1500" b="0" dirty="0">
                <a:solidFill>
                  <a:srgbClr val="000000"/>
                </a:solidFill>
                <a:effectLst/>
                <a:latin typeface="verdana" panose="020B0604030504040204" pitchFamily="34" charset="0"/>
              </a:rPr>
              <a:t>** Exponentiation</a:t>
            </a:r>
            <a:endParaRPr lang="tr-TR" sz="1500" b="0" dirty="0">
              <a:solidFill>
                <a:srgbClr val="000000"/>
              </a:solidFill>
              <a:effectLst/>
              <a:latin typeface="verdana" panose="020B0604030504040204" pitchFamily="34" charset="0"/>
            </a:endParaRPr>
          </a:p>
          <a:p>
            <a:pPr marL="0" indent="0" algn="l">
              <a:buNone/>
            </a:pPr>
            <a:r>
              <a:rPr lang="en-US" b="1" i="0" dirty="0">
                <a:solidFill>
                  <a:srgbClr val="000000"/>
                </a:solidFill>
                <a:effectLst/>
                <a:latin typeface="verdana" panose="020B0604030504040204" pitchFamily="34" charset="0"/>
              </a:rPr>
              <a:t>4. Shift Operators</a:t>
            </a:r>
            <a:endParaRPr lang="en-US" b="0" i="0" dirty="0">
              <a:solidFill>
                <a:srgbClr val="000000"/>
              </a:solidFill>
              <a:effectLst/>
              <a:latin typeface="verdana" panose="020B0604030504040204" pitchFamily="34" charset="0"/>
            </a:endParaRPr>
          </a:p>
          <a:p>
            <a:pPr algn="l"/>
            <a:r>
              <a:rPr lang="en-US" sz="1500" b="0" i="0" dirty="0">
                <a:solidFill>
                  <a:srgbClr val="000000"/>
                </a:solidFill>
                <a:effectLst/>
                <a:latin typeface="verdana" panose="020B0604030504040204" pitchFamily="34" charset="0"/>
              </a:rPr>
              <a:t>In VHDL, shift operator is used to perform the bit manipulation on the data by shifting and rotating the bits of its first operand right or left.</a:t>
            </a:r>
          </a:p>
          <a:p>
            <a:pPr algn="l"/>
            <a:r>
              <a:rPr lang="en-US" sz="1500" b="0" i="0" dirty="0">
                <a:solidFill>
                  <a:srgbClr val="000000"/>
                </a:solidFill>
                <a:effectLst/>
                <a:latin typeface="verdana" panose="020B0604030504040204" pitchFamily="34" charset="0"/>
              </a:rPr>
              <a:t>VHDL supports the following Miscellaneous Operators:</a:t>
            </a:r>
          </a:p>
          <a:p>
            <a:pPr algn="l">
              <a:buFont typeface="Arial" panose="020B0604020202020204" pitchFamily="34" charset="0"/>
              <a:buChar char="•"/>
            </a:pPr>
            <a:r>
              <a:rPr lang="en-US" sz="1500" b="0" dirty="0" err="1">
                <a:solidFill>
                  <a:srgbClr val="000000"/>
                </a:solidFill>
                <a:effectLst/>
                <a:latin typeface="verdana" panose="020B0604030504040204" pitchFamily="34" charset="0"/>
              </a:rPr>
              <a:t>Sll</a:t>
            </a:r>
            <a:r>
              <a:rPr lang="en-US" sz="1500" b="0" dirty="0">
                <a:solidFill>
                  <a:srgbClr val="000000"/>
                </a:solidFill>
                <a:effectLst/>
                <a:latin typeface="verdana" panose="020B0604030504040204" pitchFamily="34" charset="0"/>
              </a:rPr>
              <a:t> shift logical left</a:t>
            </a:r>
          </a:p>
          <a:p>
            <a:pPr algn="l">
              <a:buFont typeface="Arial" panose="020B0604020202020204" pitchFamily="34" charset="0"/>
              <a:buChar char="•"/>
            </a:pPr>
            <a:r>
              <a:rPr lang="en-US" sz="1500" b="0" dirty="0" err="1">
                <a:solidFill>
                  <a:srgbClr val="000000"/>
                </a:solidFill>
                <a:effectLst/>
                <a:latin typeface="verdana" panose="020B0604030504040204" pitchFamily="34" charset="0"/>
              </a:rPr>
              <a:t>Srl</a:t>
            </a:r>
            <a:r>
              <a:rPr lang="en-US" sz="1500" b="0" dirty="0">
                <a:solidFill>
                  <a:srgbClr val="000000"/>
                </a:solidFill>
                <a:effectLst/>
                <a:latin typeface="verdana" panose="020B0604030504040204" pitchFamily="34" charset="0"/>
              </a:rPr>
              <a:t> shift logical right</a:t>
            </a:r>
          </a:p>
          <a:p>
            <a:pPr algn="l">
              <a:buFont typeface="Arial" panose="020B0604020202020204" pitchFamily="34" charset="0"/>
              <a:buChar char="•"/>
            </a:pPr>
            <a:r>
              <a:rPr lang="en-US" sz="1500" b="0" dirty="0">
                <a:solidFill>
                  <a:srgbClr val="000000"/>
                </a:solidFill>
                <a:effectLst/>
                <a:latin typeface="verdana" panose="020B0604030504040204" pitchFamily="34" charset="0"/>
              </a:rPr>
              <a:t>Sla shift arithmetic left</a:t>
            </a:r>
          </a:p>
          <a:p>
            <a:pPr algn="l">
              <a:buFont typeface="Arial" panose="020B0604020202020204" pitchFamily="34" charset="0"/>
              <a:buChar char="•"/>
            </a:pPr>
            <a:r>
              <a:rPr lang="en-US" sz="1500" b="0" dirty="0" err="1">
                <a:solidFill>
                  <a:srgbClr val="000000"/>
                </a:solidFill>
                <a:effectLst/>
                <a:latin typeface="verdana" panose="020B0604030504040204" pitchFamily="34" charset="0"/>
              </a:rPr>
              <a:t>Sra</a:t>
            </a:r>
            <a:r>
              <a:rPr lang="en-US" sz="1500" b="0" dirty="0">
                <a:solidFill>
                  <a:srgbClr val="000000"/>
                </a:solidFill>
                <a:effectLst/>
                <a:latin typeface="verdana" panose="020B0604030504040204" pitchFamily="34" charset="0"/>
              </a:rPr>
              <a:t> shift arithmetic right</a:t>
            </a:r>
          </a:p>
          <a:p>
            <a:pPr algn="l">
              <a:buFont typeface="Arial" panose="020B0604020202020204" pitchFamily="34" charset="0"/>
              <a:buChar char="•"/>
            </a:pPr>
            <a:r>
              <a:rPr lang="en-US" sz="1500" b="0" dirty="0" err="1">
                <a:solidFill>
                  <a:srgbClr val="000000"/>
                </a:solidFill>
                <a:effectLst/>
                <a:latin typeface="verdana" panose="020B0604030504040204" pitchFamily="34" charset="0"/>
              </a:rPr>
              <a:t>Rol</a:t>
            </a:r>
            <a:r>
              <a:rPr lang="en-US" sz="1500" b="0" dirty="0">
                <a:solidFill>
                  <a:srgbClr val="000000"/>
                </a:solidFill>
                <a:effectLst/>
                <a:latin typeface="verdana" panose="020B0604030504040204" pitchFamily="34" charset="0"/>
              </a:rPr>
              <a:t> rotate left</a:t>
            </a:r>
          </a:p>
          <a:p>
            <a:pPr algn="l">
              <a:buFont typeface="Arial" panose="020B0604020202020204" pitchFamily="34" charset="0"/>
              <a:buChar char="•"/>
            </a:pPr>
            <a:r>
              <a:rPr lang="en-US" sz="1500" b="0" dirty="0" err="1">
                <a:solidFill>
                  <a:srgbClr val="000000"/>
                </a:solidFill>
                <a:effectLst/>
                <a:latin typeface="verdana" panose="020B0604030504040204" pitchFamily="34" charset="0"/>
              </a:rPr>
              <a:t>Ror</a:t>
            </a:r>
            <a:r>
              <a:rPr lang="en-US" sz="1500" b="0" dirty="0">
                <a:solidFill>
                  <a:srgbClr val="000000"/>
                </a:solidFill>
                <a:effectLst/>
                <a:latin typeface="verdana" panose="020B0604030504040204" pitchFamily="34" charset="0"/>
              </a:rPr>
              <a:t> rotate right</a:t>
            </a:r>
          </a:p>
          <a:p>
            <a:pPr algn="l">
              <a:buFont typeface="Arial" panose="020B0604020202020204" pitchFamily="34" charset="0"/>
              <a:buChar char="•"/>
            </a:pPr>
            <a:endParaRPr lang="en-US" sz="1800" b="0" dirty="0">
              <a:solidFill>
                <a:srgbClr val="000000"/>
              </a:solidFill>
              <a:effectLst/>
              <a:latin typeface="verdana" panose="020B0604030504040204" pitchFamily="34" charset="0"/>
            </a:endParaRPr>
          </a:p>
          <a:p>
            <a:endParaRPr lang="tr-TR" dirty="0"/>
          </a:p>
        </p:txBody>
      </p:sp>
      <p:pic>
        <p:nvPicPr>
          <p:cNvPr id="4" name="Resim 3">
            <a:extLst>
              <a:ext uri="{FF2B5EF4-FFF2-40B4-BE49-F238E27FC236}">
                <a16:creationId xmlns:a16="http://schemas.microsoft.com/office/drawing/2014/main" xmlns="" id="{C0327521-7AED-4B06-874C-AEE5044AF6D2}"/>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223247" y="328475"/>
            <a:ext cx="3006486" cy="3965421"/>
          </a:xfrm>
          <a:prstGeom prst="rect">
            <a:avLst/>
          </a:prstGeom>
        </p:spPr>
      </p:pic>
      <p:pic>
        <p:nvPicPr>
          <p:cNvPr id="6" name="Resim 5">
            <a:extLst>
              <a:ext uri="{FF2B5EF4-FFF2-40B4-BE49-F238E27FC236}">
                <a16:creationId xmlns:a16="http://schemas.microsoft.com/office/drawing/2014/main" xmlns="" id="{02214D89-B115-4FA7-B27B-56A9EE634670}"/>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677334" y="5082765"/>
            <a:ext cx="7677589" cy="1446760"/>
          </a:xfrm>
          <a:prstGeom prst="rect">
            <a:avLst/>
          </a:prstGeom>
        </p:spPr>
      </p:pic>
    </p:spTree>
    <p:extLst>
      <p:ext uri="{BB962C8B-B14F-4D97-AF65-F5344CB8AC3E}">
        <p14:creationId xmlns:p14="http://schemas.microsoft.com/office/powerpoint/2010/main" xmlns="" val="338678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xmlns="" id="{C1099E89-5F9D-428B-AAF4-D98ACA33B978}"/>
              </a:ext>
            </a:extLst>
          </p:cNvPr>
          <p:cNvSpPr>
            <a:spLocks noGrp="1"/>
          </p:cNvSpPr>
          <p:nvPr>
            <p:ph type="title"/>
          </p:nvPr>
        </p:nvSpPr>
        <p:spPr>
          <a:xfrm>
            <a:off x="545959" y="473959"/>
            <a:ext cx="3854528" cy="677682"/>
          </a:xfrm>
        </p:spPr>
        <p:txBody>
          <a:bodyPr/>
          <a:lstStyle/>
          <a:p>
            <a:r>
              <a:rPr lang="tr-TR" dirty="0" err="1">
                <a:solidFill>
                  <a:schemeClr val="accent2">
                    <a:lumMod val="75000"/>
                  </a:schemeClr>
                </a:solidFill>
              </a:rPr>
              <a:t>References</a:t>
            </a:r>
            <a:endParaRPr lang="tr-TR" dirty="0">
              <a:solidFill>
                <a:schemeClr val="accent2">
                  <a:lumMod val="75000"/>
                </a:schemeClr>
              </a:solidFill>
            </a:endParaRPr>
          </a:p>
        </p:txBody>
      </p:sp>
      <p:sp>
        <p:nvSpPr>
          <p:cNvPr id="9" name="İçerik Yer Tutucusu 8">
            <a:extLst>
              <a:ext uri="{FF2B5EF4-FFF2-40B4-BE49-F238E27FC236}">
                <a16:creationId xmlns:a16="http://schemas.microsoft.com/office/drawing/2014/main" xmlns="" id="{CDC650C8-46F5-45FE-A74B-B0C73B98C566}"/>
              </a:ext>
            </a:extLst>
          </p:cNvPr>
          <p:cNvSpPr>
            <a:spLocks noGrp="1"/>
          </p:cNvSpPr>
          <p:nvPr>
            <p:ph idx="1"/>
          </p:nvPr>
        </p:nvSpPr>
        <p:spPr>
          <a:xfrm>
            <a:off x="393734" y="1588296"/>
            <a:ext cx="6342466" cy="2936570"/>
          </a:xfrm>
        </p:spPr>
        <p:txBody>
          <a:bodyPr/>
          <a:lstStyle/>
          <a:p>
            <a:r>
              <a:rPr lang="tr-TR" dirty="0">
                <a:hlinkClick r:id="rId2"/>
              </a:rPr>
              <a:t>http://www.uco.es/~ff1mumuj/h_intro.htm</a:t>
            </a:r>
            <a:endParaRPr lang="tr-TR" dirty="0"/>
          </a:p>
          <a:p>
            <a:r>
              <a:rPr lang="tr-TR" dirty="0">
                <a:hlinkClick r:id="rId3"/>
              </a:rPr>
              <a:t>https://www.tutorialspoint.com/vlsi_design/vlsi_design_vhdl_introduction.htm#:~:text=VHDL%20stands%20for%20very%20high,DoD)%20under%20the%20VHSIC%20program</a:t>
            </a:r>
            <a:r>
              <a:rPr lang="tr-TR" dirty="0"/>
              <a:t>.</a:t>
            </a:r>
          </a:p>
          <a:p>
            <a:r>
              <a:rPr lang="tr-TR" dirty="0">
                <a:hlinkClick r:id="rId4"/>
              </a:rPr>
              <a:t>https://www.slideshare.net/yayavaram/presentation-vhdl</a:t>
            </a:r>
            <a:endParaRPr lang="tr-TR" dirty="0"/>
          </a:p>
          <a:p>
            <a:r>
              <a:rPr lang="tr-TR" dirty="0">
                <a:hlinkClick r:id="rId5"/>
              </a:rPr>
              <a:t>https://en.wikipedia.org/wiki/VHDL</a:t>
            </a:r>
            <a:endParaRPr lang="tr-TR" dirty="0"/>
          </a:p>
          <a:p>
            <a:endParaRPr lang="tr-TR" dirty="0"/>
          </a:p>
          <a:p>
            <a:endParaRPr lang="tr-TR" dirty="0"/>
          </a:p>
          <a:p>
            <a:endParaRPr lang="tr-TR" dirty="0"/>
          </a:p>
        </p:txBody>
      </p:sp>
      <p:sp>
        <p:nvSpPr>
          <p:cNvPr id="16" name="Metin Yer Tutucusu 15">
            <a:extLst>
              <a:ext uri="{FF2B5EF4-FFF2-40B4-BE49-F238E27FC236}">
                <a16:creationId xmlns:a16="http://schemas.microsoft.com/office/drawing/2014/main" xmlns="" id="{2A1F5965-5D8E-492A-B858-B86AC3CD932C}"/>
              </a:ext>
            </a:extLst>
          </p:cNvPr>
          <p:cNvSpPr>
            <a:spLocks noGrp="1"/>
          </p:cNvSpPr>
          <p:nvPr>
            <p:ph type="body" sz="half" idx="2"/>
          </p:nvPr>
        </p:nvSpPr>
        <p:spPr>
          <a:xfrm>
            <a:off x="4168736" y="4704557"/>
            <a:ext cx="3854528" cy="1696241"/>
          </a:xfrm>
        </p:spPr>
        <p:txBody>
          <a:bodyPr>
            <a:normAutofit/>
          </a:bodyPr>
          <a:lstStyle/>
          <a:p>
            <a:endParaRPr lang="tr-TR" sz="2800" dirty="0"/>
          </a:p>
          <a:p>
            <a:r>
              <a:rPr lang="tr-TR" sz="2800" dirty="0">
                <a:solidFill>
                  <a:srgbClr val="C00000"/>
                </a:solidFill>
              </a:rPr>
              <a:t>T</a:t>
            </a:r>
            <a:r>
              <a:rPr lang="en-US" sz="2800" dirty="0">
                <a:solidFill>
                  <a:srgbClr val="C00000"/>
                </a:solidFill>
              </a:rPr>
              <a:t>hank you for listening </a:t>
            </a:r>
            <a:endParaRPr lang="tr-TR" sz="2800" dirty="0">
              <a:solidFill>
                <a:srgbClr val="C00000"/>
              </a:solidFill>
            </a:endParaRPr>
          </a:p>
        </p:txBody>
      </p:sp>
      <p:pic>
        <p:nvPicPr>
          <p:cNvPr id="12" name="İçerik Yer Tutucusu 11" descr="Web tasarımı">
            <a:extLst>
              <a:ext uri="{FF2B5EF4-FFF2-40B4-BE49-F238E27FC236}">
                <a16:creationId xmlns:a16="http://schemas.microsoft.com/office/drawing/2014/main" xmlns="" id="{25F66E92-EFB5-4BD0-819F-E40B6EDDF7FF}"/>
              </a:ext>
            </a:extLst>
          </p:cNvPr>
          <p:cNvPicPr>
            <a:picLocks noGrp="1" noChangeAspect="1"/>
          </p:cNvPicPr>
          <p:nvPr>
            <p:ph sz="half" idx="4294967295"/>
          </p:nvPr>
        </p:nvPicPr>
        <p:blipFill>
          <a:blip r:embed="rId6" cstate="print">
            <a:extLst>
              <a:ext uri="{28A0092B-C50C-407E-A947-70E740481C1C}">
                <a14:useLocalDpi xmlns:a14="http://schemas.microsoft.com/office/drawing/2010/main" xmlns="" val="0"/>
              </a:ext>
              <a:ext uri="{96DAC541-7B7A-43D3-8B79-37D633B846F1}">
                <asvg:svgBlip xmlns:asvg="http://schemas.microsoft.com/office/drawing/2016/SVG/main" xmlns="" r:embed="rId7"/>
              </a:ext>
            </a:extLst>
          </a:blip>
          <a:stretch>
            <a:fillRect/>
          </a:stretch>
        </p:blipFill>
        <p:spPr>
          <a:xfrm>
            <a:off x="8023264" y="5095479"/>
            <a:ext cx="914400" cy="914400"/>
          </a:xfrm>
        </p:spPr>
      </p:pic>
      <p:pic>
        <p:nvPicPr>
          <p:cNvPr id="14" name="Grafik 13" descr="Serpantin flama">
            <a:extLst>
              <a:ext uri="{FF2B5EF4-FFF2-40B4-BE49-F238E27FC236}">
                <a16:creationId xmlns:a16="http://schemas.microsoft.com/office/drawing/2014/main" xmlns="" id="{E57B5793-BA54-4C88-83B7-03B8B12005A9}"/>
              </a:ext>
            </a:extLst>
          </p:cNvPr>
          <p:cNvPicPr>
            <a:picLocks noChangeAspect="1"/>
          </p:cNvPicPr>
          <p:nvPr/>
        </p:nvPicPr>
        <p:blipFill>
          <a:blip r:embed="rId8" cstate="print">
            <a:extLst>
              <a:ext uri="{28A0092B-C50C-407E-A947-70E740481C1C}">
                <a14:useLocalDpi xmlns:a14="http://schemas.microsoft.com/office/drawing/2010/main" xmlns="" val="0"/>
              </a:ext>
              <a:ext uri="{96DAC541-7B7A-43D3-8B79-37D633B846F1}">
                <asvg:svgBlip xmlns:asvg="http://schemas.microsoft.com/office/drawing/2016/SVG/main" xmlns="" r:embed="rId9"/>
              </a:ext>
            </a:extLst>
          </a:blip>
          <a:stretch>
            <a:fillRect/>
          </a:stretch>
        </p:blipFill>
        <p:spPr>
          <a:xfrm>
            <a:off x="3323572" y="5095479"/>
            <a:ext cx="914400" cy="914400"/>
          </a:xfrm>
          <a:prstGeom prst="rect">
            <a:avLst/>
          </a:prstGeom>
        </p:spPr>
      </p:pic>
    </p:spTree>
    <p:extLst>
      <p:ext uri="{BB962C8B-B14F-4D97-AF65-F5344CB8AC3E}">
        <p14:creationId xmlns:p14="http://schemas.microsoft.com/office/powerpoint/2010/main" xmlns="" val="2698623757"/>
      </p:ext>
    </p:extLst>
  </p:cSld>
  <p:clrMapOvr>
    <a:masterClrMapping/>
  </p:clrMapOvr>
</p:sld>
</file>

<file path=ppt/theme/theme1.xml><?xml version="1.0" encoding="utf-8"?>
<a:theme xmlns:a="http://schemas.openxmlformats.org/drawingml/2006/main" name="Yüzeyler">
  <a:themeElements>
    <a:clrScheme name="Yüzeyler">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Yüzeyler">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Yüzeyler">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2DDE17DC32DC54EB010413460834BFE" ma:contentTypeVersion="2" ma:contentTypeDescription="Yeni belge oluşturun." ma:contentTypeScope="" ma:versionID="f0e3d91972186a053038bdf45065f1ee">
  <xsd:schema xmlns:xsd="http://www.w3.org/2001/XMLSchema" xmlns:xs="http://www.w3.org/2001/XMLSchema" xmlns:p="http://schemas.microsoft.com/office/2006/metadata/properties" xmlns:ns2="ecabdfc0-4a02-4d75-8d22-fdc26463eb0a" targetNamespace="http://schemas.microsoft.com/office/2006/metadata/properties" ma:root="true" ma:fieldsID="b55a7095206caf5b532e4ae8c7c05c5c" ns2:_="">
    <xsd:import namespace="ecabdfc0-4a02-4d75-8d22-fdc26463eb0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abdfc0-4a02-4d75-8d22-fdc26463eb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6311EF-1612-488C-BDDB-4EBE238764A2}"/>
</file>

<file path=customXml/itemProps2.xml><?xml version="1.0" encoding="utf-8"?>
<ds:datastoreItem xmlns:ds="http://schemas.openxmlformats.org/officeDocument/2006/customXml" ds:itemID="{5B5C9316-8DE0-4829-BCA2-D433B06DB4C9}"/>
</file>

<file path=customXml/itemProps3.xml><?xml version="1.0" encoding="utf-8"?>
<ds:datastoreItem xmlns:ds="http://schemas.openxmlformats.org/officeDocument/2006/customXml" ds:itemID="{B9EAF94C-8C66-4D4A-A721-84C42E0B3317}"/>
</file>

<file path=docProps/app.xml><?xml version="1.0" encoding="utf-8"?>
<Properties xmlns="http://schemas.openxmlformats.org/officeDocument/2006/extended-properties" xmlns:vt="http://schemas.openxmlformats.org/officeDocument/2006/docPropsVTypes">
  <Template>Facet</Template>
  <TotalTime>463</TotalTime>
  <Words>1000</Words>
  <Application>Microsoft Office PowerPoint</Application>
  <PresentationFormat>Özel</PresentationFormat>
  <Paragraphs>148</Paragraphs>
  <Slides>19</Slides>
  <Notes>0</Notes>
  <HiddenSlides>0</HiddenSlides>
  <MMClips>0</MMClips>
  <ScaleCrop>false</ScaleCrop>
  <HeadingPairs>
    <vt:vector size="4" baseType="variant">
      <vt:variant>
        <vt:lpstr>Tema</vt:lpstr>
      </vt:variant>
      <vt:variant>
        <vt:i4>1</vt:i4>
      </vt:variant>
      <vt:variant>
        <vt:lpstr>Slayt Başlıkları</vt:lpstr>
      </vt:variant>
      <vt:variant>
        <vt:i4>19</vt:i4>
      </vt:variant>
    </vt:vector>
  </HeadingPairs>
  <TitlesOfParts>
    <vt:vector size="20" baseType="lpstr">
      <vt:lpstr>Yüzeyler</vt:lpstr>
      <vt:lpstr>VHDL İrem Deveci 2017556017  </vt:lpstr>
      <vt:lpstr>What is HDL? </vt:lpstr>
      <vt:lpstr>What is Verilog? </vt:lpstr>
      <vt:lpstr>What is VHDL? </vt:lpstr>
      <vt:lpstr>Slayt 5</vt:lpstr>
      <vt:lpstr>Difference between VHDL and Verilog </vt:lpstr>
      <vt:lpstr>Why VHDL? </vt:lpstr>
      <vt:lpstr>Slayt 8</vt:lpstr>
      <vt:lpstr>Basic Elements of VHDL </vt:lpstr>
      <vt:lpstr>Slayt 10</vt:lpstr>
      <vt:lpstr>Types of Modeling styles in VHDL </vt:lpstr>
      <vt:lpstr>Slayt 12</vt:lpstr>
      <vt:lpstr>VHDL Objects </vt:lpstr>
      <vt:lpstr>Data Types in VHDL </vt:lpstr>
      <vt:lpstr>Slayt 15</vt:lpstr>
      <vt:lpstr>VHDL Operators </vt:lpstr>
      <vt:lpstr>Slayt 17</vt:lpstr>
      <vt:lpstr>Slayt 18</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VHDL</dc:title>
  <dc:creator>İrem</dc:creator>
  <cp:lastModifiedBy>Fatih Akay</cp:lastModifiedBy>
  <cp:revision>29</cp:revision>
  <dcterms:created xsi:type="dcterms:W3CDTF">2020-11-01T12:45:58Z</dcterms:created>
  <dcterms:modified xsi:type="dcterms:W3CDTF">2020-11-02T14:14:15Z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0x01010022DDE17DC32DC54EB010413460834BFE</vt:lpwstr>
  </property>
</Properties>
</file>