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1042" r:id="rId2"/>
    <p:sldId id="1043" r:id="rId3"/>
    <p:sldId id="1057" r:id="rId4"/>
    <p:sldId id="1058" r:id="rId5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90" d="100"/>
          <a:sy n="90" d="100"/>
        </p:scale>
        <p:origin x="57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F9CAF4-9C9B-4802-9E84-8CC9384433C8}" type="datetimeFigureOut">
              <a:rPr lang="tr-TR" smtClean="0"/>
              <a:t>10.10.2018</a:t>
            </a:fld>
            <a:endParaRPr lang="tr-TR"/>
          </a:p>
        </p:txBody>
      </p:sp>
      <p:sp>
        <p:nvSpPr>
          <p:cNvPr id="4" name="Slayt Resmi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14AC22-74A1-493F-A3B4-AC905B37BE6A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568983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7">
            <a:extLst>
              <a:ext uri="{FF2B5EF4-FFF2-40B4-BE49-F238E27FC236}">
                <a16:creationId xmlns:a16="http://schemas.microsoft.com/office/drawing/2014/main" id="{F5FC8DFC-9E25-4196-A696-B6E39F02CF8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318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1F3DDCE-7520-4F93-99F7-C583756BC460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318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37219" name="Rectangle 2">
            <a:extLst>
              <a:ext uri="{FF2B5EF4-FFF2-40B4-BE49-F238E27FC236}">
                <a16:creationId xmlns:a16="http://schemas.microsoft.com/office/drawing/2014/main" id="{EB1EE7B1-ED22-42E5-909B-F36F3760C2FC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7220" name="Rectangle 3">
            <a:extLst>
              <a:ext uri="{FF2B5EF4-FFF2-40B4-BE49-F238E27FC236}">
                <a16:creationId xmlns:a16="http://schemas.microsoft.com/office/drawing/2014/main" id="{E7453130-F85E-44DA-BAA0-38C1891FDB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/>
              <a:t>MK: Machine learning used the term “feature VECTORS” &gt;  I made some changes to the wording of this slide because it implied that our previous data were not vectors, but they were all feature vectors.  I also changed the example since the one used was from Tan’s book (see next slide).</a:t>
            </a:r>
          </a:p>
          <a:p>
            <a:endParaRPr lang="en-US" altLang="en-US"/>
          </a:p>
          <a:p>
            <a:r>
              <a:rPr lang="en-US" altLang="en-US"/>
              <a:t>Chapter 3: Statistics Methods</a:t>
            </a:r>
          </a:p>
          <a:p>
            <a:endParaRPr lang="en-US" altLang="en-US"/>
          </a:p>
          <a:p>
            <a:r>
              <a:rPr lang="en-US" altLang="en-US"/>
              <a:t>Co-variance distance</a:t>
            </a:r>
          </a:p>
          <a:p>
            <a:endParaRPr lang="en-US" altLang="en-US"/>
          </a:p>
          <a:p>
            <a:r>
              <a:rPr lang="en-US" altLang="en-US"/>
              <a:t>K-L divergence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7">
            <a:extLst>
              <a:ext uri="{FF2B5EF4-FFF2-40B4-BE49-F238E27FC236}">
                <a16:creationId xmlns:a16="http://schemas.microsoft.com/office/drawing/2014/main" id="{BE1F30EF-E1F6-4272-820B-59405171766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318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FC1B38C-7561-4790-B644-689F6B0CABAF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318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38243" name="Rectangle 2">
            <a:extLst>
              <a:ext uri="{FF2B5EF4-FFF2-40B4-BE49-F238E27FC236}">
                <a16:creationId xmlns:a16="http://schemas.microsoft.com/office/drawing/2014/main" id="{2757A561-73FF-4CBC-B1E9-159F87C34976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8244" name="Rectangle 3">
            <a:extLst>
              <a:ext uri="{FF2B5EF4-FFF2-40B4-BE49-F238E27FC236}">
                <a16:creationId xmlns:a16="http://schemas.microsoft.com/office/drawing/2014/main" id="{4668F1E7-A8B0-489F-A34C-F827DE4A9E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/>
              <a:t>09/09/25MK: New example (previous one was from Tan’s book).</a:t>
            </a:r>
          </a:p>
          <a:p>
            <a:endParaRPr lang="en-US" altLang="en-US"/>
          </a:p>
          <a:p>
            <a:r>
              <a:rPr lang="en-US" altLang="en-US"/>
              <a:t>Chapter 3: Statistics Methods</a:t>
            </a:r>
          </a:p>
          <a:p>
            <a:endParaRPr lang="en-US" altLang="en-US"/>
          </a:p>
          <a:p>
            <a:r>
              <a:rPr lang="en-US" altLang="en-US"/>
              <a:t>Co-variance distance</a:t>
            </a:r>
          </a:p>
          <a:p>
            <a:endParaRPr lang="en-US" altLang="en-US"/>
          </a:p>
          <a:p>
            <a:r>
              <a:rPr lang="en-US" altLang="en-US"/>
              <a:t>K-L divergence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7">
            <a:extLst>
              <a:ext uri="{FF2B5EF4-FFF2-40B4-BE49-F238E27FC236}">
                <a16:creationId xmlns:a16="http://schemas.microsoft.com/office/drawing/2014/main" id="{E27F8D5D-0F1E-4F19-9D6F-9E4688C0FA8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318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9B546AA-D46E-4D3C-8D48-ADDBE72597A0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318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39267" name="Rectangle 2">
            <a:extLst>
              <a:ext uri="{FF2B5EF4-FFF2-40B4-BE49-F238E27FC236}">
                <a16:creationId xmlns:a16="http://schemas.microsoft.com/office/drawing/2014/main" id="{73CE890C-F4AD-43CC-9B4A-A855B831DBA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9268" name="Rectangle 3">
            <a:extLst>
              <a:ext uri="{FF2B5EF4-FFF2-40B4-BE49-F238E27FC236}">
                <a16:creationId xmlns:a16="http://schemas.microsoft.com/office/drawing/2014/main" id="{E5F4349F-51FC-425D-9D0A-D7DBFCE39A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7">
            <a:extLst>
              <a:ext uri="{FF2B5EF4-FFF2-40B4-BE49-F238E27FC236}">
                <a16:creationId xmlns:a16="http://schemas.microsoft.com/office/drawing/2014/main" id="{28E1D23B-A1A5-4AED-B1F9-602B54B7CC0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318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55181BE-7F9F-4712-B1ED-2EE3E24A531C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318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40291" name="Rectangle 2">
            <a:extLst>
              <a:ext uri="{FF2B5EF4-FFF2-40B4-BE49-F238E27FC236}">
                <a16:creationId xmlns:a16="http://schemas.microsoft.com/office/drawing/2014/main" id="{3DA345E9-EA2D-4089-84F5-0A94CDDAF823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0292" name="Rectangle 3">
            <a:extLst>
              <a:ext uri="{FF2B5EF4-FFF2-40B4-BE49-F238E27FC236}">
                <a16:creationId xmlns:a16="http://schemas.microsoft.com/office/drawing/2014/main" id="{1987EE8C-C944-48A4-98EC-99A2518986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0AB15FCE-A62B-4E6E-A5EB-CF649125B606}"/>
              </a:ext>
            </a:extLst>
          </p:cNvPr>
          <p:cNvGrpSpPr>
            <a:grpSpLocks/>
          </p:cNvGrpSpPr>
          <p:nvPr/>
        </p:nvGrpSpPr>
        <p:grpSpPr bwMode="auto">
          <a:xfrm>
            <a:off x="1" y="2438401"/>
            <a:ext cx="12012084" cy="1052513"/>
            <a:chOff x="0" y="1536"/>
            <a:chExt cx="5675" cy="663"/>
          </a:xfrm>
        </p:grpSpPr>
        <p:grpSp>
          <p:nvGrpSpPr>
            <p:cNvPr id="5" name="Group 3">
              <a:extLst>
                <a:ext uri="{FF2B5EF4-FFF2-40B4-BE49-F238E27FC236}">
                  <a16:creationId xmlns:a16="http://schemas.microsoft.com/office/drawing/2014/main" id="{B67F9832-500A-4846-90C2-555AE92574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>
                <a:extLst>
                  <a:ext uri="{FF2B5EF4-FFF2-40B4-BE49-F238E27FC236}">
                    <a16:creationId xmlns:a16="http://schemas.microsoft.com/office/drawing/2014/main" id="{910FA34F-9365-4F32-AC91-669677EC9E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/>
              </a:p>
            </p:txBody>
          </p:sp>
          <p:sp>
            <p:nvSpPr>
              <p:cNvPr id="13" name="Rectangle 5">
                <a:extLst>
                  <a:ext uri="{FF2B5EF4-FFF2-40B4-BE49-F238E27FC236}">
                    <a16:creationId xmlns:a16="http://schemas.microsoft.com/office/drawing/2014/main" id="{49EB427E-FFF8-405B-BBFF-FD4D2DFD44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/>
              </a:p>
            </p:txBody>
          </p:sp>
        </p:grp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100B68D2-3398-484D-A322-68444A79A4D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>
                <a:extLst>
                  <a:ext uri="{FF2B5EF4-FFF2-40B4-BE49-F238E27FC236}">
                    <a16:creationId xmlns:a16="http://schemas.microsoft.com/office/drawing/2014/main" id="{03E7A6C4-14A5-4FEA-9080-48FF4A87F4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/>
              </a:p>
            </p:txBody>
          </p:sp>
          <p:sp>
            <p:nvSpPr>
              <p:cNvPr id="11" name="Rectangle 8">
                <a:extLst>
                  <a:ext uri="{FF2B5EF4-FFF2-40B4-BE49-F238E27FC236}">
                    <a16:creationId xmlns:a16="http://schemas.microsoft.com/office/drawing/2014/main" id="{2D2D7051-3F1E-4D97-865B-64984EB32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/>
              </a:p>
            </p:txBody>
          </p:sp>
        </p:grpSp>
        <p:sp>
          <p:nvSpPr>
            <p:cNvPr id="7" name="Rectangle 9">
              <a:extLst>
                <a:ext uri="{FF2B5EF4-FFF2-40B4-BE49-F238E27FC236}">
                  <a16:creationId xmlns:a16="http://schemas.microsoft.com/office/drawing/2014/main" id="{A20811A0-6CF5-4923-ADDE-7B45E13081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z="2400"/>
            </a:p>
          </p:txBody>
        </p:sp>
        <p:sp>
          <p:nvSpPr>
            <p:cNvPr id="8" name="Rectangle 10">
              <a:extLst>
                <a:ext uri="{FF2B5EF4-FFF2-40B4-BE49-F238E27FC236}">
                  <a16:creationId xmlns:a16="http://schemas.microsoft.com/office/drawing/2014/main" id="{C8EDB00F-8326-4C8C-8EE3-403923D7F0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z="2400"/>
            </a:p>
          </p:txBody>
        </p:sp>
        <p:sp>
          <p:nvSpPr>
            <p:cNvPr id="9" name="Rectangle 11">
              <a:extLst>
                <a:ext uri="{FF2B5EF4-FFF2-40B4-BE49-F238E27FC236}">
                  <a16:creationId xmlns:a16="http://schemas.microsoft.com/office/drawing/2014/main" id="{77D29089-E905-400F-9A65-F9217205EA1B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z="2400"/>
            </a:p>
          </p:txBody>
        </p:sp>
      </p:grpSp>
      <p:sp>
        <p:nvSpPr>
          <p:cNvPr id="929804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1320800" y="1828800"/>
            <a:ext cx="10363200" cy="1143000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29805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503344666"/>
      </p:ext>
    </p:extLst>
  </p:cSld>
  <p:clrMapOvr>
    <a:masterClrMapping/>
  </p:clrMapOvr>
  <p:transition>
    <p:zo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04800"/>
            <a:ext cx="12192000" cy="6096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2061">
            <a:extLst>
              <a:ext uri="{FF2B5EF4-FFF2-40B4-BE49-F238E27FC236}">
                <a16:creationId xmlns:a16="http://schemas.microsoft.com/office/drawing/2014/main" id="{F7799E06-7728-43A6-9A2A-F9576D3A311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972800" y="6477000"/>
            <a:ext cx="1219200" cy="381000"/>
          </a:xfrm>
        </p:spPr>
        <p:txBody>
          <a:bodyPr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fld id="{77F352CC-7A4F-4DB3-95FC-207874260621}" type="slidenum">
              <a:rPr lang="en-US" altLang="tr-TR"/>
              <a:pPr/>
              <a:t>‹#›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18070864"/>
      </p:ext>
    </p:extLst>
  </p:cSld>
  <p:clrMapOvr>
    <a:masterClrMapping/>
  </p:clrMapOvr>
  <p:transition>
    <p:zo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061">
            <a:extLst>
              <a:ext uri="{FF2B5EF4-FFF2-40B4-BE49-F238E27FC236}">
                <a16:creationId xmlns:a16="http://schemas.microsoft.com/office/drawing/2014/main" id="{D3DE3B71-9625-43EB-A6A6-818BE737ED7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11058E4-4A67-4E70-86C9-EEED5158F593}" type="slidenum">
              <a:rPr lang="en-US" altLang="tr-TR"/>
              <a:pPr/>
              <a:t>‹#›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988206841"/>
      </p:ext>
    </p:extLst>
  </p:cSld>
  <p:clrMapOvr>
    <a:masterClrMapping/>
  </p:clrMapOvr>
  <p:transition>
    <p:zo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6400" y="1295400"/>
            <a:ext cx="5486400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0" y="1295400"/>
            <a:ext cx="5486400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061">
            <a:extLst>
              <a:ext uri="{FF2B5EF4-FFF2-40B4-BE49-F238E27FC236}">
                <a16:creationId xmlns:a16="http://schemas.microsoft.com/office/drawing/2014/main" id="{A4EE679C-A8B9-4ECB-87E1-C33D8BA9C77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64ACAF1-0257-4ED3-AD49-67117B540200}" type="slidenum">
              <a:rPr lang="en-US" altLang="tr-TR"/>
              <a:pPr/>
              <a:t>‹#›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680105103"/>
      </p:ext>
    </p:extLst>
  </p:cSld>
  <p:clrMapOvr>
    <a:masterClrMapping/>
  </p:clrMapOvr>
  <p:transition>
    <p:zo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061">
            <a:extLst>
              <a:ext uri="{FF2B5EF4-FFF2-40B4-BE49-F238E27FC236}">
                <a16:creationId xmlns:a16="http://schemas.microsoft.com/office/drawing/2014/main" id="{3DF492B0-C71C-4139-8A8E-3D18143224D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7080003-E1AB-4CF1-9A95-958DDA1D81CB}" type="slidenum">
              <a:rPr lang="en-US" altLang="tr-TR"/>
              <a:pPr/>
              <a:t>‹#›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3635854109"/>
      </p:ext>
    </p:extLst>
  </p:cSld>
  <p:clrMapOvr>
    <a:masterClrMapping/>
  </p:clrMapOvr>
  <p:transition>
    <p:zo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061">
            <a:extLst>
              <a:ext uri="{FF2B5EF4-FFF2-40B4-BE49-F238E27FC236}">
                <a16:creationId xmlns:a16="http://schemas.microsoft.com/office/drawing/2014/main" id="{F0C1F504-B72F-41DF-A8BD-76F3595A120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972800" y="6477000"/>
            <a:ext cx="1219200" cy="381000"/>
          </a:xfrm>
        </p:spPr>
        <p:txBody>
          <a:bodyPr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fld id="{5DB56482-C669-44E7-AF9E-70F3C81A3E27}" type="slidenum">
              <a:rPr lang="en-US" altLang="tr-TR"/>
              <a:pPr/>
              <a:t>‹#›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3093440732"/>
      </p:ext>
    </p:extLst>
  </p:cSld>
  <p:clrMapOvr>
    <a:masterClrMapping/>
  </p:clrMapOvr>
  <p:transition>
    <p:zo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061">
            <a:extLst>
              <a:ext uri="{FF2B5EF4-FFF2-40B4-BE49-F238E27FC236}">
                <a16:creationId xmlns:a16="http://schemas.microsoft.com/office/drawing/2014/main" id="{BDA1008C-F4D3-4834-9299-878E769CA3A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C67DC53-AA09-4DCD-95CE-1DB8BFA9388E}" type="slidenum">
              <a:rPr lang="en-US" altLang="tr-TR"/>
              <a:pPr/>
              <a:t>‹#›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848941942"/>
      </p:ext>
    </p:extLst>
  </p:cSld>
  <p:clrMapOvr>
    <a:masterClrMapping/>
  </p:clrMapOvr>
  <p:transition>
    <p:zo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061">
            <a:extLst>
              <a:ext uri="{FF2B5EF4-FFF2-40B4-BE49-F238E27FC236}">
                <a16:creationId xmlns:a16="http://schemas.microsoft.com/office/drawing/2014/main" id="{74A3D8F5-4BA6-4E35-98AB-E4D0C572283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6CD057-45CD-4F3B-9CD0-E3583762E301}" type="slidenum">
              <a:rPr lang="en-US" altLang="tr-TR"/>
              <a:pPr/>
              <a:t>‹#›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1571086881"/>
      </p:ext>
    </p:extLst>
  </p:cSld>
  <p:clrMapOvr>
    <a:masterClrMapping/>
  </p:clrMapOvr>
  <p:transition>
    <p:zo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061">
            <a:extLst>
              <a:ext uri="{FF2B5EF4-FFF2-40B4-BE49-F238E27FC236}">
                <a16:creationId xmlns:a16="http://schemas.microsoft.com/office/drawing/2014/main" id="{4CC0578A-AF41-4C1E-8BDD-362328E82D0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9A6A518-EE55-4FD8-B3E4-64665A5E6FC1}" type="slidenum">
              <a:rPr lang="en-US" altLang="tr-TR"/>
              <a:pPr/>
              <a:t>‹#›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3587711083"/>
      </p:ext>
    </p:extLst>
  </p:cSld>
  <p:clrMapOvr>
    <a:masterClrMapping/>
  </p:clrMapOvr>
  <p:transition>
    <p:zo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061">
            <a:extLst>
              <a:ext uri="{FF2B5EF4-FFF2-40B4-BE49-F238E27FC236}">
                <a16:creationId xmlns:a16="http://schemas.microsoft.com/office/drawing/2014/main" id="{A2FE6DB4-F699-4DBF-B136-D5D23DF2D1E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CFB9CF4-C615-4076-9C6B-D1E9FED4BFCD}" type="slidenum">
              <a:rPr lang="en-US" altLang="tr-TR"/>
              <a:pPr/>
              <a:t>‹#›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438536587"/>
      </p:ext>
    </p:extLst>
  </p:cSld>
  <p:clrMapOvr>
    <a:masterClrMapping/>
  </p:clrMapOvr>
  <p:transition>
    <p:zo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66200" y="304800"/>
            <a:ext cx="2921000" cy="6172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3200" y="304800"/>
            <a:ext cx="8559800" cy="6172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061">
            <a:extLst>
              <a:ext uri="{FF2B5EF4-FFF2-40B4-BE49-F238E27FC236}">
                <a16:creationId xmlns:a16="http://schemas.microsoft.com/office/drawing/2014/main" id="{FA392B1F-0417-488F-B1A4-C6C5FE88EF6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890BFA1-4475-4AD3-BAB2-64B337BF4D54}" type="slidenum">
              <a:rPr lang="en-US" altLang="tr-TR"/>
              <a:pPr/>
              <a:t>‹#›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4068792533"/>
      </p:ext>
    </p:extLst>
  </p:cSld>
  <p:clrMapOvr>
    <a:masterClrMapping/>
  </p:clrMapOvr>
  <p:transition>
    <p:zo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200" y="304800"/>
            <a:ext cx="11684000" cy="609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06400" y="1295400"/>
            <a:ext cx="548640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096000" y="1295400"/>
            <a:ext cx="548640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096000" y="3962400"/>
            <a:ext cx="548640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2061">
            <a:extLst>
              <a:ext uri="{FF2B5EF4-FFF2-40B4-BE49-F238E27FC236}">
                <a16:creationId xmlns:a16="http://schemas.microsoft.com/office/drawing/2014/main" id="{D687F907-B926-4CC3-A750-BF752C0EC10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AE79AA6-6A9C-44B6-88F0-7A46C719B88F}" type="slidenum">
              <a:rPr lang="en-US" altLang="tr-TR"/>
              <a:pPr/>
              <a:t>‹#›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2197641702"/>
      </p:ext>
    </p:extLst>
  </p:cSld>
  <p:clrMapOvr>
    <a:masterClrMapping/>
  </p:clrMapOvr>
  <p:transition>
    <p:zoom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200" y="304800"/>
            <a:ext cx="11684000" cy="609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06400" y="1295400"/>
            <a:ext cx="548640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0" y="1295400"/>
            <a:ext cx="548640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061">
            <a:extLst>
              <a:ext uri="{FF2B5EF4-FFF2-40B4-BE49-F238E27FC236}">
                <a16:creationId xmlns:a16="http://schemas.microsoft.com/office/drawing/2014/main" id="{E0F43B47-3907-4B97-B450-F95BDB010F0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2AFD9A0-7BB2-4BCF-A1FC-AF020A27D98C}" type="slidenum">
              <a:rPr lang="en-US" altLang="tr-TR"/>
              <a:pPr/>
              <a:t>‹#›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342967390"/>
      </p:ext>
    </p:extLst>
  </p:cSld>
  <p:clrMapOvr>
    <a:masterClrMapping/>
  </p:clrMapOvr>
  <p:transition>
    <p:zoom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 preserve="1">
  <p:cSld name="Title,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200" y="304800"/>
            <a:ext cx="11684000" cy="609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06400" y="1295400"/>
            <a:ext cx="548640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3"/>
          <p:cNvSpPr>
            <a:spLocks noGrp="1"/>
          </p:cNvSpPr>
          <p:nvPr>
            <p:ph type="chart" sz="half" idx="2"/>
          </p:nvPr>
        </p:nvSpPr>
        <p:spPr>
          <a:xfrm>
            <a:off x="6096000" y="1295400"/>
            <a:ext cx="5486400" cy="51816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5" name="Rectangle 2061">
            <a:extLst>
              <a:ext uri="{FF2B5EF4-FFF2-40B4-BE49-F238E27FC236}">
                <a16:creationId xmlns:a16="http://schemas.microsoft.com/office/drawing/2014/main" id="{E3F6E0E6-8405-4B07-B87B-14B6E217474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FBD6C99-BBE6-46EA-81F6-B9E4148C877F}" type="slidenum">
              <a:rPr lang="en-US" altLang="tr-TR"/>
              <a:pPr/>
              <a:t>‹#›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4215571067"/>
      </p:ext>
    </p:extLst>
  </p:cSld>
  <p:clrMapOvr>
    <a:masterClrMapping/>
  </p:clrMapOvr>
  <p:transition>
    <p:zoom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203200" y="304800"/>
            <a:ext cx="11684000" cy="609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06400" y="1295400"/>
            <a:ext cx="548640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096000" y="1295400"/>
            <a:ext cx="548640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06400" y="3962400"/>
            <a:ext cx="548640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96000" y="3962400"/>
            <a:ext cx="548640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061">
            <a:extLst>
              <a:ext uri="{FF2B5EF4-FFF2-40B4-BE49-F238E27FC236}">
                <a16:creationId xmlns:a16="http://schemas.microsoft.com/office/drawing/2014/main" id="{7118AE84-7A84-4382-BC9E-CC4141B7CD4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87621D8-FAAD-4D17-801C-7F96B740E270}" type="slidenum">
              <a:rPr lang="en-US" altLang="tr-TR"/>
              <a:pPr/>
              <a:t>‹#›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1108928150"/>
      </p:ext>
    </p:extLst>
  </p:cSld>
  <p:clrMapOvr>
    <a:masterClrMapping/>
  </p:clrMapOvr>
  <p:transition>
    <p:zo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056">
            <a:extLst>
              <a:ext uri="{FF2B5EF4-FFF2-40B4-BE49-F238E27FC236}">
                <a16:creationId xmlns:a16="http://schemas.microsoft.com/office/drawing/2014/main" id="{50268620-8A47-4F94-9E91-D04E00BDF7E2}"/>
              </a:ext>
            </a:extLst>
          </p:cNvPr>
          <p:cNvSpPr>
            <a:spLocks noChangeArrowheads="1"/>
          </p:cNvSpPr>
          <p:nvPr/>
        </p:nvSpPr>
        <p:spPr bwMode="gray">
          <a:xfrm>
            <a:off x="406401" y="1143000"/>
            <a:ext cx="10968567" cy="46038"/>
          </a:xfrm>
          <a:prstGeom prst="rect">
            <a:avLst/>
          </a:prstGeom>
          <a:gradFill rotWithShape="0">
            <a:gsLst>
              <a:gs pos="0">
                <a:srgbClr val="008080">
                  <a:alpha val="95000"/>
                </a:srgbClr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 sz="2400"/>
          </a:p>
        </p:txBody>
      </p:sp>
      <p:sp>
        <p:nvSpPr>
          <p:cNvPr id="2051" name="Rectangle 2057">
            <a:extLst>
              <a:ext uri="{FF2B5EF4-FFF2-40B4-BE49-F238E27FC236}">
                <a16:creationId xmlns:a16="http://schemas.microsoft.com/office/drawing/2014/main" id="{0197A6E0-1198-416C-A9BA-D9B486B885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03200" y="304800"/>
            <a:ext cx="11684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2" name="Rectangle 2058">
            <a:extLst>
              <a:ext uri="{FF2B5EF4-FFF2-40B4-BE49-F238E27FC236}">
                <a16:creationId xmlns:a16="http://schemas.microsoft.com/office/drawing/2014/main" id="{A525C35F-A4D5-4835-B2B7-C56E68A3A6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06400" y="1295400"/>
            <a:ext cx="111760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928781" name="Rectangle 2061">
            <a:extLst>
              <a:ext uri="{FF2B5EF4-FFF2-40B4-BE49-F238E27FC236}">
                <a16:creationId xmlns:a16="http://schemas.microsoft.com/office/drawing/2014/main" id="{EA8A9D21-EC97-4957-9BD5-722C23F8483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652000" y="6477000"/>
            <a:ext cx="2540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0F38F005-069C-40B1-9BE7-86E02B2D4780}" type="slidenum">
              <a:rPr lang="en-US" altLang="tr-TR"/>
              <a:pPr/>
              <a:t>‹#›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3452641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transition>
    <p:zoom/>
  </p:transition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Berlin Sans FB Dem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Berlin Sans FB Dem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Berlin Sans FB Dem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Berlin Sans FB Dem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Berlin Sans FB Dem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Berlin Sans FB Dem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Berlin Sans FB Dem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Berlin Sans FB Dem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Number Placeholder 5">
            <a:extLst>
              <a:ext uri="{FF2B5EF4-FFF2-40B4-BE49-F238E27FC236}">
                <a16:creationId xmlns:a16="http://schemas.microsoft.com/office/drawing/2014/main" id="{43568093-988B-4B8B-AA41-291CC3CD97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fld id="{4D79B7B5-5968-41A5-9157-BD1CED9314CE}" type="slidenum">
              <a:rPr lang="en-US" altLang="en-US" sz="1200">
                <a:solidFill>
                  <a:srgbClr val="000000"/>
                </a:solidFill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t>1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66563" name="Rectangle 2">
            <a:extLst>
              <a:ext uri="{FF2B5EF4-FFF2-40B4-BE49-F238E27FC236}">
                <a16:creationId xmlns:a16="http://schemas.microsoft.com/office/drawing/2014/main" id="{BABDC406-9A53-4312-978D-001B764C8E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76475" y="304800"/>
            <a:ext cx="7626350" cy="609600"/>
          </a:xfrm>
          <a:noFill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>
                <a:solidFill>
                  <a:srgbClr val="170981"/>
                </a:solidFill>
              </a:rPr>
              <a:t> Cosine Similarity</a:t>
            </a:r>
          </a:p>
        </p:txBody>
      </p:sp>
      <p:sp>
        <p:nvSpPr>
          <p:cNvPr id="66564" name="Rectangle 3">
            <a:extLst>
              <a:ext uri="{FF2B5EF4-FFF2-40B4-BE49-F238E27FC236}">
                <a16:creationId xmlns:a16="http://schemas.microsoft.com/office/drawing/2014/main" id="{783A1BA8-8DE8-4640-8DC1-B837E38817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76400" y="1066800"/>
            <a:ext cx="8763000" cy="5257800"/>
          </a:xfrm>
          <a:noFill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90000"/>
              </a:lnSpc>
            </a:pPr>
            <a:endParaRPr lang="en-US" altLang="en-US" sz="20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A </a:t>
            </a:r>
            <a:r>
              <a:rPr lang="en-US" altLang="en-US" sz="2000" b="1"/>
              <a:t>document</a:t>
            </a:r>
            <a:r>
              <a:rPr lang="en-US" altLang="en-US" sz="2000"/>
              <a:t> can be represented by thousands of attributes, each recording the </a:t>
            </a:r>
            <a:r>
              <a:rPr lang="en-US" altLang="en-US" sz="2000" i="1"/>
              <a:t>frequency</a:t>
            </a:r>
            <a:r>
              <a:rPr lang="en-US" altLang="en-US" sz="2000"/>
              <a:t> of a particular word (such as keywords) or phrase in the document.</a:t>
            </a:r>
          </a:p>
          <a:p>
            <a:pPr eaLnBrk="1" hangingPunct="1">
              <a:lnSpc>
                <a:spcPct val="90000"/>
              </a:lnSpc>
            </a:pPr>
            <a:endParaRPr lang="en-US" altLang="en-US" sz="2000"/>
          </a:p>
          <a:p>
            <a:pPr eaLnBrk="1" hangingPunct="1">
              <a:lnSpc>
                <a:spcPct val="90000"/>
              </a:lnSpc>
            </a:pPr>
            <a:endParaRPr lang="en-US" altLang="en-US" sz="2000"/>
          </a:p>
          <a:p>
            <a:pPr eaLnBrk="1" hangingPunct="1">
              <a:lnSpc>
                <a:spcPct val="90000"/>
              </a:lnSpc>
            </a:pPr>
            <a:endParaRPr lang="en-US" altLang="en-US" sz="2000"/>
          </a:p>
          <a:p>
            <a:pPr eaLnBrk="1" hangingPunct="1">
              <a:lnSpc>
                <a:spcPct val="90000"/>
              </a:lnSpc>
            </a:pPr>
            <a:endParaRPr lang="en-US" altLang="en-US" sz="2000"/>
          </a:p>
          <a:p>
            <a:pPr eaLnBrk="1" hangingPunct="1">
              <a:lnSpc>
                <a:spcPct val="90000"/>
              </a:lnSpc>
            </a:pPr>
            <a:endParaRPr lang="en-US" altLang="en-US" sz="20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Other vector objects: gene features in micro-arrays, …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Applications: information retrieval, biologic taxonomy, gene feature mapping, ...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Cosine measure: </a:t>
            </a:r>
            <a:r>
              <a:rPr lang="en-US" altLang="en-US" sz="2000">
                <a:cs typeface="Times New Roman" panose="02020603050405020304" pitchFamily="18" charset="0"/>
              </a:rPr>
              <a:t>If </a:t>
            </a:r>
            <a:r>
              <a:rPr lang="en-US" altLang="en-US" sz="2000" i="1">
                <a:cs typeface="Times New Roman" panose="02020603050405020304" pitchFamily="18" charset="0"/>
              </a:rPr>
              <a:t>d</a:t>
            </a:r>
            <a:r>
              <a:rPr lang="en-US" altLang="en-US" sz="2000" i="1" baseline="-30000">
                <a:cs typeface="Times New Roman" panose="02020603050405020304" pitchFamily="18" charset="0"/>
              </a:rPr>
              <a:t>1</a:t>
            </a:r>
            <a:r>
              <a:rPr lang="en-US" altLang="en-US" sz="2000">
                <a:cs typeface="Times New Roman" panose="02020603050405020304" pitchFamily="18" charset="0"/>
              </a:rPr>
              <a:t> and </a:t>
            </a:r>
            <a:r>
              <a:rPr lang="en-US" altLang="en-US" sz="2000" i="1">
                <a:cs typeface="Times New Roman" panose="02020603050405020304" pitchFamily="18" charset="0"/>
              </a:rPr>
              <a:t>d</a:t>
            </a:r>
            <a:r>
              <a:rPr lang="en-US" altLang="en-US" sz="2000" i="1" baseline="-30000">
                <a:cs typeface="Times New Roman" panose="02020603050405020304" pitchFamily="18" charset="0"/>
              </a:rPr>
              <a:t>2</a:t>
            </a:r>
            <a:r>
              <a:rPr lang="en-US" altLang="en-US" sz="2000">
                <a:cs typeface="Times New Roman" panose="02020603050405020304" pitchFamily="18" charset="0"/>
              </a:rPr>
              <a:t> are two vectors (e.g., term-frequency vectors), then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>
                <a:cs typeface="Times New Roman" panose="02020603050405020304" pitchFamily="18" charset="0"/>
              </a:rPr>
              <a:t>             cos(</a:t>
            </a:r>
            <a:r>
              <a:rPr lang="en-US" altLang="en-US" sz="2000" i="1">
                <a:cs typeface="Times New Roman" panose="02020603050405020304" pitchFamily="18" charset="0"/>
              </a:rPr>
              <a:t>d</a:t>
            </a:r>
            <a:r>
              <a:rPr lang="en-US" altLang="en-US" sz="2000" i="1" baseline="-30000">
                <a:cs typeface="Times New Roman" panose="02020603050405020304" pitchFamily="18" charset="0"/>
              </a:rPr>
              <a:t>1</a:t>
            </a:r>
            <a:r>
              <a:rPr lang="en-US" altLang="en-US" sz="2000" i="1">
                <a:cs typeface="Times New Roman" panose="02020603050405020304" pitchFamily="18" charset="0"/>
              </a:rPr>
              <a:t>, d</a:t>
            </a:r>
            <a:r>
              <a:rPr lang="en-US" altLang="en-US" sz="2000" i="1" baseline="-30000">
                <a:cs typeface="Times New Roman" panose="02020603050405020304" pitchFamily="18" charset="0"/>
              </a:rPr>
              <a:t>2</a:t>
            </a:r>
            <a:r>
              <a:rPr lang="en-US" altLang="en-US" sz="2000">
                <a:cs typeface="Times New Roman" panose="02020603050405020304" pitchFamily="18" charset="0"/>
              </a:rPr>
              <a:t>) =  (</a:t>
            </a:r>
            <a:r>
              <a:rPr lang="en-US" altLang="en-US" sz="2000" i="1">
                <a:cs typeface="Times New Roman" panose="02020603050405020304" pitchFamily="18" charset="0"/>
              </a:rPr>
              <a:t>d</a:t>
            </a:r>
            <a:r>
              <a:rPr lang="en-US" altLang="en-US" sz="2000" i="1" baseline="-30000">
                <a:cs typeface="Times New Roman" panose="02020603050405020304" pitchFamily="18" charset="0"/>
              </a:rPr>
              <a:t>1</a:t>
            </a:r>
            <a:r>
              <a:rPr lang="en-US" altLang="en-US" sz="2000">
                <a:cs typeface="Times New Roman" panose="02020603050405020304" pitchFamily="18" charset="0"/>
              </a:rPr>
              <a:t> </a:t>
            </a:r>
            <a:r>
              <a:rPr lang="en-US" altLang="en-US" sz="2000">
                <a:cs typeface="Times New Roman" panose="02020603050405020304" pitchFamily="18" charset="0"/>
                <a:sym typeface="Symbol" panose="05050102010706020507" pitchFamily="18" charset="2"/>
              </a:rPr>
              <a:t></a:t>
            </a:r>
            <a:r>
              <a:rPr lang="en-US" altLang="en-US" sz="2000">
                <a:cs typeface="Times New Roman" panose="02020603050405020304" pitchFamily="18" charset="0"/>
              </a:rPr>
              <a:t> </a:t>
            </a:r>
            <a:r>
              <a:rPr lang="en-US" altLang="en-US" sz="2000" i="1">
                <a:cs typeface="Times New Roman" panose="02020603050405020304" pitchFamily="18" charset="0"/>
              </a:rPr>
              <a:t>d</a:t>
            </a:r>
            <a:r>
              <a:rPr lang="en-US" altLang="en-US" sz="2000" i="1" baseline="-30000">
                <a:cs typeface="Times New Roman" panose="02020603050405020304" pitchFamily="18" charset="0"/>
              </a:rPr>
              <a:t>2</a:t>
            </a:r>
            <a:r>
              <a:rPr lang="en-US" altLang="en-US" sz="2000">
                <a:cs typeface="Times New Roman" panose="02020603050405020304" pitchFamily="18" charset="0"/>
              </a:rPr>
              <a:t>) /||</a:t>
            </a:r>
            <a:r>
              <a:rPr lang="en-US" altLang="en-US" sz="2000" i="1">
                <a:cs typeface="Times New Roman" panose="02020603050405020304" pitchFamily="18" charset="0"/>
              </a:rPr>
              <a:t>d</a:t>
            </a:r>
            <a:r>
              <a:rPr lang="en-US" altLang="en-US" sz="2000" i="1" baseline="-30000">
                <a:cs typeface="Times New Roman" panose="02020603050405020304" pitchFamily="18" charset="0"/>
              </a:rPr>
              <a:t>1</a:t>
            </a:r>
            <a:r>
              <a:rPr lang="en-US" altLang="en-US" sz="2000">
                <a:cs typeface="Times New Roman" panose="02020603050405020304" pitchFamily="18" charset="0"/>
              </a:rPr>
              <a:t>|| ||</a:t>
            </a:r>
            <a:r>
              <a:rPr lang="en-US" altLang="en-US" sz="2000" i="1">
                <a:cs typeface="Times New Roman" panose="02020603050405020304" pitchFamily="18" charset="0"/>
              </a:rPr>
              <a:t>d</a:t>
            </a:r>
            <a:r>
              <a:rPr lang="en-US" altLang="en-US" sz="2000" i="1" baseline="-30000">
                <a:cs typeface="Times New Roman" panose="02020603050405020304" pitchFamily="18" charset="0"/>
              </a:rPr>
              <a:t>2</a:t>
            </a:r>
            <a:r>
              <a:rPr lang="en-US" altLang="en-US" sz="2000">
                <a:cs typeface="Times New Roman" panose="02020603050405020304" pitchFamily="18" charset="0"/>
              </a:rPr>
              <a:t>|| , </a:t>
            </a:r>
          </a:p>
          <a:p>
            <a:pPr lvl="1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>
                <a:cs typeface="Times New Roman" panose="02020603050405020304" pitchFamily="18" charset="0"/>
              </a:rPr>
              <a:t>   where </a:t>
            </a:r>
            <a:r>
              <a:rPr lang="en-US" altLang="en-US" sz="2000">
                <a:cs typeface="Times New Roman" panose="02020603050405020304" pitchFamily="18" charset="0"/>
                <a:sym typeface="Symbol" panose="05050102010706020507" pitchFamily="18" charset="2"/>
              </a:rPr>
              <a:t></a:t>
            </a:r>
            <a:r>
              <a:rPr lang="en-US" altLang="en-US" sz="2000">
                <a:cs typeface="Times New Roman" panose="02020603050405020304" pitchFamily="18" charset="0"/>
              </a:rPr>
              <a:t> indicates vector dot product, ||</a:t>
            </a:r>
            <a:r>
              <a:rPr lang="en-US" altLang="en-US" sz="2000" i="1">
                <a:cs typeface="Times New Roman" panose="02020603050405020304" pitchFamily="18" charset="0"/>
              </a:rPr>
              <a:t>d</a:t>
            </a:r>
            <a:r>
              <a:rPr lang="en-US" altLang="en-US" sz="2000">
                <a:cs typeface="Times New Roman" panose="02020603050405020304" pitchFamily="18" charset="0"/>
              </a:rPr>
              <a:t>||: the length of vector </a:t>
            </a:r>
            <a:r>
              <a:rPr lang="en-US" altLang="en-US" sz="2000" i="1">
                <a:cs typeface="Times New Roman" panose="02020603050405020304" pitchFamily="18" charset="0"/>
              </a:rPr>
              <a:t>d</a:t>
            </a:r>
          </a:p>
        </p:txBody>
      </p:sp>
      <p:pic>
        <p:nvPicPr>
          <p:cNvPr id="66565" name="Picture 4" descr="eqtable">
            <a:extLst>
              <a:ext uri="{FF2B5EF4-FFF2-40B4-BE49-F238E27FC236}">
                <a16:creationId xmlns:a16="http://schemas.microsoft.com/office/drawing/2014/main" id="{B0367F3D-FC76-4614-A651-078B7173ED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2133600"/>
            <a:ext cx="8229600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Number Placeholder 5">
            <a:extLst>
              <a:ext uri="{FF2B5EF4-FFF2-40B4-BE49-F238E27FC236}">
                <a16:creationId xmlns:a16="http://schemas.microsoft.com/office/drawing/2014/main" id="{619165D5-EEBC-47C3-BCE7-F1F2027D23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fld id="{9C777B6B-FB30-495D-A442-EED8CBF8B5B0}" type="slidenum">
              <a:rPr lang="en-US" altLang="en-US" sz="1200">
                <a:solidFill>
                  <a:srgbClr val="000000"/>
                </a:solidFill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t>2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67587" name="Rectangle 2">
            <a:extLst>
              <a:ext uri="{FF2B5EF4-FFF2-40B4-BE49-F238E27FC236}">
                <a16:creationId xmlns:a16="http://schemas.microsoft.com/office/drawing/2014/main" id="{136FF995-5839-4E15-83B5-02B5E09A5C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76475" y="304800"/>
            <a:ext cx="7626350" cy="609600"/>
          </a:xfrm>
          <a:noFill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>
                <a:solidFill>
                  <a:srgbClr val="170981"/>
                </a:solidFill>
              </a:rPr>
              <a:t> Example: Cosine Similarity</a:t>
            </a:r>
          </a:p>
        </p:txBody>
      </p:sp>
      <p:sp>
        <p:nvSpPr>
          <p:cNvPr id="67588" name="Rectangle 3">
            <a:extLst>
              <a:ext uri="{FF2B5EF4-FFF2-40B4-BE49-F238E27FC236}">
                <a16:creationId xmlns:a16="http://schemas.microsoft.com/office/drawing/2014/main" id="{8CDA42BE-3723-4194-8D80-8C4804C8F3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76400" y="1066800"/>
            <a:ext cx="8763000" cy="5257800"/>
          </a:xfrm>
          <a:noFill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90000"/>
              </a:lnSpc>
            </a:pPr>
            <a:endParaRPr lang="en-US" altLang="en-US" sz="200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000">
                <a:cs typeface="Times New Roman" panose="02020603050405020304" pitchFamily="18" charset="0"/>
              </a:rPr>
              <a:t>cos(</a:t>
            </a:r>
            <a:r>
              <a:rPr lang="en-US" altLang="en-US" sz="2000" i="1">
                <a:cs typeface="Times New Roman" panose="02020603050405020304" pitchFamily="18" charset="0"/>
              </a:rPr>
              <a:t>d</a:t>
            </a:r>
            <a:r>
              <a:rPr lang="en-US" altLang="en-US" sz="2000" i="1" baseline="-30000">
                <a:cs typeface="Times New Roman" panose="02020603050405020304" pitchFamily="18" charset="0"/>
              </a:rPr>
              <a:t>1</a:t>
            </a:r>
            <a:r>
              <a:rPr lang="en-US" altLang="en-US" sz="2000" i="1">
                <a:cs typeface="Times New Roman" panose="02020603050405020304" pitchFamily="18" charset="0"/>
              </a:rPr>
              <a:t>, d</a:t>
            </a:r>
            <a:r>
              <a:rPr lang="en-US" altLang="en-US" sz="2000" i="1" baseline="-30000">
                <a:cs typeface="Times New Roman" panose="02020603050405020304" pitchFamily="18" charset="0"/>
              </a:rPr>
              <a:t>2</a:t>
            </a:r>
            <a:r>
              <a:rPr lang="en-US" altLang="en-US" sz="2000">
                <a:cs typeface="Times New Roman" panose="02020603050405020304" pitchFamily="18" charset="0"/>
              </a:rPr>
              <a:t>) =  (</a:t>
            </a:r>
            <a:r>
              <a:rPr lang="en-US" altLang="en-US" sz="2000" i="1">
                <a:cs typeface="Times New Roman" panose="02020603050405020304" pitchFamily="18" charset="0"/>
              </a:rPr>
              <a:t>d</a:t>
            </a:r>
            <a:r>
              <a:rPr lang="en-US" altLang="en-US" sz="2000" i="1" baseline="-30000">
                <a:cs typeface="Times New Roman" panose="02020603050405020304" pitchFamily="18" charset="0"/>
              </a:rPr>
              <a:t>1</a:t>
            </a:r>
            <a:r>
              <a:rPr lang="en-US" altLang="en-US" sz="2000">
                <a:cs typeface="Times New Roman" panose="02020603050405020304" pitchFamily="18" charset="0"/>
              </a:rPr>
              <a:t> </a:t>
            </a:r>
            <a:r>
              <a:rPr lang="en-US" altLang="en-US" sz="2000">
                <a:cs typeface="Times New Roman" panose="02020603050405020304" pitchFamily="18" charset="0"/>
                <a:sym typeface="Symbol" panose="05050102010706020507" pitchFamily="18" charset="2"/>
              </a:rPr>
              <a:t></a:t>
            </a:r>
            <a:r>
              <a:rPr lang="en-US" altLang="en-US" sz="2000">
                <a:cs typeface="Times New Roman" panose="02020603050405020304" pitchFamily="18" charset="0"/>
              </a:rPr>
              <a:t> </a:t>
            </a:r>
            <a:r>
              <a:rPr lang="en-US" altLang="en-US" sz="2000" i="1">
                <a:cs typeface="Times New Roman" panose="02020603050405020304" pitchFamily="18" charset="0"/>
              </a:rPr>
              <a:t>d</a:t>
            </a:r>
            <a:r>
              <a:rPr lang="en-US" altLang="en-US" sz="2000" i="1" baseline="-30000">
                <a:cs typeface="Times New Roman" panose="02020603050405020304" pitchFamily="18" charset="0"/>
              </a:rPr>
              <a:t>2</a:t>
            </a:r>
            <a:r>
              <a:rPr lang="en-US" altLang="en-US" sz="2000">
                <a:cs typeface="Times New Roman" panose="02020603050405020304" pitchFamily="18" charset="0"/>
              </a:rPr>
              <a:t>) /||</a:t>
            </a:r>
            <a:r>
              <a:rPr lang="en-US" altLang="en-US" sz="2000" i="1">
                <a:cs typeface="Times New Roman" panose="02020603050405020304" pitchFamily="18" charset="0"/>
              </a:rPr>
              <a:t>d</a:t>
            </a:r>
            <a:r>
              <a:rPr lang="en-US" altLang="en-US" sz="2000" i="1" baseline="-30000">
                <a:cs typeface="Times New Roman" panose="02020603050405020304" pitchFamily="18" charset="0"/>
              </a:rPr>
              <a:t>1</a:t>
            </a:r>
            <a:r>
              <a:rPr lang="en-US" altLang="en-US" sz="2000">
                <a:cs typeface="Times New Roman" panose="02020603050405020304" pitchFamily="18" charset="0"/>
              </a:rPr>
              <a:t>|| ||</a:t>
            </a:r>
            <a:r>
              <a:rPr lang="en-US" altLang="en-US" sz="2000" i="1">
                <a:cs typeface="Times New Roman" panose="02020603050405020304" pitchFamily="18" charset="0"/>
              </a:rPr>
              <a:t>d</a:t>
            </a:r>
            <a:r>
              <a:rPr lang="en-US" altLang="en-US" sz="2000" i="1" baseline="-30000">
                <a:cs typeface="Times New Roman" panose="02020603050405020304" pitchFamily="18" charset="0"/>
              </a:rPr>
              <a:t>2</a:t>
            </a:r>
            <a:r>
              <a:rPr lang="en-US" altLang="en-US" sz="2000">
                <a:cs typeface="Times New Roman" panose="02020603050405020304" pitchFamily="18" charset="0"/>
              </a:rPr>
              <a:t>|| , </a:t>
            </a:r>
          </a:p>
          <a:p>
            <a:pPr lvl="1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>
                <a:cs typeface="Times New Roman" panose="02020603050405020304" pitchFamily="18" charset="0"/>
              </a:rPr>
              <a:t>   where </a:t>
            </a:r>
            <a:r>
              <a:rPr lang="en-US" altLang="en-US" sz="2000">
                <a:cs typeface="Times New Roman" panose="02020603050405020304" pitchFamily="18" charset="0"/>
                <a:sym typeface="Symbol" panose="05050102010706020507" pitchFamily="18" charset="2"/>
              </a:rPr>
              <a:t></a:t>
            </a:r>
            <a:r>
              <a:rPr lang="en-US" altLang="en-US" sz="2000">
                <a:cs typeface="Times New Roman" panose="02020603050405020304" pitchFamily="18" charset="0"/>
              </a:rPr>
              <a:t> indicates vector dot product, ||</a:t>
            </a:r>
            <a:r>
              <a:rPr lang="en-US" altLang="en-US" sz="2000" i="1">
                <a:cs typeface="Times New Roman" panose="02020603050405020304" pitchFamily="18" charset="0"/>
              </a:rPr>
              <a:t>d</a:t>
            </a:r>
            <a:r>
              <a:rPr lang="en-US" altLang="en-US" sz="2000">
                <a:cs typeface="Times New Roman" panose="02020603050405020304" pitchFamily="18" charset="0"/>
              </a:rPr>
              <a:t>|: the length of vector </a:t>
            </a:r>
            <a:r>
              <a:rPr lang="en-US" altLang="en-US" sz="2000" i="1">
                <a:cs typeface="Times New Roman" panose="02020603050405020304" pitchFamily="18" charset="0"/>
              </a:rPr>
              <a:t>d</a:t>
            </a:r>
          </a:p>
          <a:p>
            <a:pPr lvl="1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000" i="1"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90000"/>
              </a:lnSpc>
            </a:pPr>
            <a:r>
              <a:rPr lang="en-US" altLang="en-US" sz="2000">
                <a:cs typeface="Times New Roman" panose="02020603050405020304" pitchFamily="18" charset="0"/>
              </a:rPr>
              <a:t>Ex: Find the </a:t>
            </a:r>
            <a:r>
              <a:rPr lang="en-US" altLang="en-US" sz="2000" b="1">
                <a:cs typeface="Times New Roman" panose="02020603050405020304" pitchFamily="18" charset="0"/>
              </a:rPr>
              <a:t>similarity</a:t>
            </a:r>
            <a:r>
              <a:rPr lang="en-US" altLang="en-US" sz="2000">
                <a:cs typeface="Times New Roman" panose="02020603050405020304" pitchFamily="18" charset="0"/>
              </a:rPr>
              <a:t> between documents 1 and 2.</a:t>
            </a:r>
          </a:p>
          <a:p>
            <a:pPr algn="just" eaLnBrk="1" hangingPunct="1">
              <a:lnSpc>
                <a:spcPct val="90000"/>
              </a:lnSpc>
            </a:pPr>
            <a:endParaRPr lang="en-US" altLang="en-US" sz="2000">
              <a:cs typeface="Times New Roman" panose="02020603050405020304" pitchFamily="18" charset="0"/>
            </a:endParaRPr>
          </a:p>
          <a:p>
            <a:pPr lvl="1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i="1">
                <a:cs typeface="Times New Roman" panose="02020603050405020304" pitchFamily="18" charset="0"/>
              </a:rPr>
              <a:t>d</a:t>
            </a:r>
            <a:r>
              <a:rPr lang="en-US" altLang="en-US" sz="2000" i="1" baseline="-30000">
                <a:cs typeface="Times New Roman" panose="02020603050405020304" pitchFamily="18" charset="0"/>
              </a:rPr>
              <a:t>1</a:t>
            </a:r>
            <a:r>
              <a:rPr lang="en-US" altLang="en-US" sz="2000" i="1"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cs typeface="Times New Roman" panose="02020603050405020304" pitchFamily="18" charset="0"/>
              </a:rPr>
              <a:t>=  </a:t>
            </a:r>
            <a:r>
              <a:rPr lang="en-US" altLang="en-US" sz="2000">
                <a:cs typeface="Times New Roman" panose="02020603050405020304" pitchFamily="18" charset="0"/>
              </a:rPr>
              <a:t>(5, 0, 3, 0, 2, 0, 0, 2, 0, 0)</a:t>
            </a:r>
          </a:p>
          <a:p>
            <a:pPr lvl="1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i="1">
                <a:cs typeface="Times New Roman" panose="02020603050405020304" pitchFamily="18" charset="0"/>
              </a:rPr>
              <a:t>d</a:t>
            </a:r>
            <a:r>
              <a:rPr lang="en-US" altLang="en-US" sz="2000" i="1" baseline="-30000">
                <a:cs typeface="Times New Roman" panose="02020603050405020304" pitchFamily="18" charset="0"/>
              </a:rPr>
              <a:t>2</a:t>
            </a:r>
            <a:r>
              <a:rPr lang="en-US" altLang="en-US" sz="2000" b="1">
                <a:cs typeface="Times New Roman" panose="02020603050405020304" pitchFamily="18" charset="0"/>
              </a:rPr>
              <a:t> =  </a:t>
            </a:r>
            <a:r>
              <a:rPr lang="en-US" altLang="en-US" sz="2000">
                <a:cs typeface="Times New Roman" panose="02020603050405020304" pitchFamily="18" charset="0"/>
              </a:rPr>
              <a:t>(3, 0, 2, 0, 1, 1, 0, 1, 0, 1)</a:t>
            </a:r>
          </a:p>
          <a:p>
            <a:pPr lvl="1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000">
              <a:cs typeface="Times New Roman" panose="02020603050405020304" pitchFamily="18" charset="0"/>
            </a:endParaRPr>
          </a:p>
          <a:p>
            <a:pPr lvl="1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i="1">
                <a:cs typeface="Times New Roman" panose="02020603050405020304" pitchFamily="18" charset="0"/>
              </a:rPr>
              <a:t>d</a:t>
            </a:r>
            <a:r>
              <a:rPr lang="en-US" altLang="en-US" sz="2000" i="1" baseline="-30000">
                <a:cs typeface="Times New Roman" panose="02020603050405020304" pitchFamily="18" charset="0"/>
              </a:rPr>
              <a:t>1</a:t>
            </a:r>
            <a:r>
              <a:rPr lang="en-US" altLang="en-US" sz="2000">
                <a:cs typeface="Times New Roman" panose="02020603050405020304" pitchFamily="18" charset="0"/>
                <a:sym typeface="Symbol" panose="05050102010706020507" pitchFamily="18" charset="2"/>
              </a:rPr>
              <a:t></a:t>
            </a:r>
            <a:r>
              <a:rPr lang="en-US" altLang="en-US" sz="2000" i="1">
                <a:cs typeface="Times New Roman" panose="02020603050405020304" pitchFamily="18" charset="0"/>
              </a:rPr>
              <a:t>d</a:t>
            </a:r>
            <a:r>
              <a:rPr lang="en-US" altLang="en-US" sz="2000" i="1" baseline="-30000">
                <a:cs typeface="Times New Roman" panose="02020603050405020304" pitchFamily="18" charset="0"/>
              </a:rPr>
              <a:t>2 </a:t>
            </a:r>
            <a:r>
              <a:rPr lang="en-US" altLang="en-US" sz="2000">
                <a:cs typeface="Times New Roman" panose="02020603050405020304" pitchFamily="18" charset="0"/>
              </a:rPr>
              <a:t>= 5*3+0*0+3*2+0*0+2*1+0*1+0*1+2*1+0*0+0*1 = 25</a:t>
            </a:r>
          </a:p>
          <a:p>
            <a:pPr lvl="1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>
                <a:cs typeface="Times New Roman" panose="02020603050405020304" pitchFamily="18" charset="0"/>
              </a:rPr>
              <a:t>||</a:t>
            </a:r>
            <a:r>
              <a:rPr lang="en-US" altLang="en-US" sz="2000" i="1">
                <a:cs typeface="Times New Roman" panose="02020603050405020304" pitchFamily="18" charset="0"/>
              </a:rPr>
              <a:t>d</a:t>
            </a:r>
            <a:r>
              <a:rPr lang="en-US" altLang="en-US" sz="2000" i="1" baseline="-30000">
                <a:cs typeface="Times New Roman" panose="02020603050405020304" pitchFamily="18" charset="0"/>
              </a:rPr>
              <a:t>1</a:t>
            </a:r>
            <a:r>
              <a:rPr lang="en-US" altLang="en-US" sz="2000">
                <a:cs typeface="Times New Roman" panose="02020603050405020304" pitchFamily="18" charset="0"/>
              </a:rPr>
              <a:t>||= (5*5+0*0+3*3+0*0+2*2+0*0+0*0+2*2+0*0+0*0)</a:t>
            </a:r>
            <a:r>
              <a:rPr lang="en-US" altLang="en-US" sz="2000" b="1" baseline="30000">
                <a:cs typeface="Times New Roman" panose="02020603050405020304" pitchFamily="18" charset="0"/>
              </a:rPr>
              <a:t>0.5</a:t>
            </a:r>
            <a:r>
              <a:rPr lang="en-US" altLang="en-US" sz="2000">
                <a:cs typeface="Times New Roman" panose="02020603050405020304" pitchFamily="18" charset="0"/>
              </a:rPr>
              <a:t>=(42)</a:t>
            </a:r>
            <a:r>
              <a:rPr lang="en-US" altLang="en-US" sz="2000" b="1" baseline="30000">
                <a:cs typeface="Times New Roman" panose="02020603050405020304" pitchFamily="18" charset="0"/>
              </a:rPr>
              <a:t>0.5</a:t>
            </a:r>
            <a:r>
              <a:rPr lang="en-US" altLang="en-US" sz="2000">
                <a:cs typeface="Times New Roman" panose="02020603050405020304" pitchFamily="18" charset="0"/>
              </a:rPr>
              <a:t>  = 6.481</a:t>
            </a:r>
          </a:p>
          <a:p>
            <a:pPr lvl="1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>
                <a:cs typeface="Times New Roman" panose="02020603050405020304" pitchFamily="18" charset="0"/>
              </a:rPr>
              <a:t>||</a:t>
            </a:r>
            <a:r>
              <a:rPr lang="en-US" altLang="en-US" sz="2000" i="1">
                <a:cs typeface="Times New Roman" panose="02020603050405020304" pitchFamily="18" charset="0"/>
              </a:rPr>
              <a:t>d</a:t>
            </a:r>
            <a:r>
              <a:rPr lang="en-US" altLang="en-US" sz="2000" i="1" baseline="-30000">
                <a:cs typeface="Times New Roman" panose="02020603050405020304" pitchFamily="18" charset="0"/>
              </a:rPr>
              <a:t>2</a:t>
            </a:r>
            <a:r>
              <a:rPr lang="en-US" altLang="en-US" sz="2000">
                <a:cs typeface="Times New Roman" panose="02020603050405020304" pitchFamily="18" charset="0"/>
              </a:rPr>
              <a:t>||= (3*3+0*0+2*2+0*0+1*1+1*1+0*0+1*1+0*0+1*1)</a:t>
            </a:r>
            <a:r>
              <a:rPr lang="en-US" altLang="en-US" sz="2000" b="1" baseline="30000">
                <a:cs typeface="Times New Roman" panose="02020603050405020304" pitchFamily="18" charset="0"/>
              </a:rPr>
              <a:t>0.5</a:t>
            </a:r>
            <a:r>
              <a:rPr lang="en-US" altLang="en-US" sz="2000">
                <a:cs typeface="Times New Roman" panose="02020603050405020304" pitchFamily="18" charset="0"/>
              </a:rPr>
              <a:t>=(17)</a:t>
            </a:r>
            <a:r>
              <a:rPr lang="en-US" altLang="en-US" sz="2000" b="1" baseline="30000">
                <a:cs typeface="Times New Roman" panose="02020603050405020304" pitchFamily="18" charset="0"/>
              </a:rPr>
              <a:t>0.5</a:t>
            </a:r>
            <a:r>
              <a:rPr lang="en-US" altLang="en-US" sz="2000">
                <a:cs typeface="Times New Roman" panose="02020603050405020304" pitchFamily="18" charset="0"/>
              </a:rPr>
              <a:t>       = 4.12</a:t>
            </a:r>
          </a:p>
          <a:p>
            <a:pPr lvl="1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>
                <a:cs typeface="Times New Roman" panose="02020603050405020304" pitchFamily="18" charset="0"/>
              </a:rPr>
              <a:t>cos(</a:t>
            </a:r>
            <a:r>
              <a:rPr lang="en-US" altLang="en-US" sz="2000" i="1">
                <a:cs typeface="Times New Roman" panose="02020603050405020304" pitchFamily="18" charset="0"/>
              </a:rPr>
              <a:t>d</a:t>
            </a:r>
            <a:r>
              <a:rPr lang="en-US" altLang="en-US" sz="2000" i="1" baseline="-30000">
                <a:cs typeface="Times New Roman" panose="02020603050405020304" pitchFamily="18" charset="0"/>
              </a:rPr>
              <a:t>1</a:t>
            </a:r>
            <a:r>
              <a:rPr lang="en-US" altLang="en-US" sz="2000" i="1">
                <a:cs typeface="Times New Roman" panose="02020603050405020304" pitchFamily="18" charset="0"/>
              </a:rPr>
              <a:t>, d</a:t>
            </a:r>
            <a:r>
              <a:rPr lang="en-US" altLang="en-US" sz="2000" i="1" baseline="-30000">
                <a:cs typeface="Times New Roman" panose="02020603050405020304" pitchFamily="18" charset="0"/>
              </a:rPr>
              <a:t>2</a:t>
            </a:r>
            <a:r>
              <a:rPr lang="en-US" altLang="en-US" sz="2000">
                <a:cs typeface="Times New Roman" panose="02020603050405020304" pitchFamily="18" charset="0"/>
              </a:rPr>
              <a:t> ) = 0.94</a:t>
            </a:r>
          </a:p>
        </p:txBody>
      </p:sp>
    </p:spTree>
  </p:cSld>
  <p:clrMapOvr>
    <a:masterClrMapping/>
  </p:clrMapOvr>
  <p:transition>
    <p:zo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Number Placeholder 5">
            <a:extLst>
              <a:ext uri="{FF2B5EF4-FFF2-40B4-BE49-F238E27FC236}">
                <a16:creationId xmlns:a16="http://schemas.microsoft.com/office/drawing/2014/main" id="{DCB157A2-9B70-40D3-879A-3F6F88BA0D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fld id="{EFA419FE-53B8-400E-891A-9382A42B3E9B}" type="slidenum">
              <a:rPr lang="en-US" altLang="en-US" sz="1200">
                <a:solidFill>
                  <a:srgbClr val="000000"/>
                </a:solidFill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t>3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66563" name="Rectangle 2">
            <a:extLst>
              <a:ext uri="{FF2B5EF4-FFF2-40B4-BE49-F238E27FC236}">
                <a16:creationId xmlns:a16="http://schemas.microsoft.com/office/drawing/2014/main" id="{406C410A-6973-4E31-B919-3E13E19B42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57400" y="0"/>
            <a:ext cx="7924800" cy="1143000"/>
          </a:xfrm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lang="en-US" dirty="0">
                <a:solidFill>
                  <a:srgbClr val="170981"/>
                </a:solidFill>
              </a:rPr>
              <a:t>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KL Divergence: Comparing Two Probability Distributions </a:t>
            </a:r>
          </a:p>
        </p:txBody>
      </p:sp>
      <p:sp>
        <p:nvSpPr>
          <p:cNvPr id="66564" name="Rectangle 3">
            <a:extLst>
              <a:ext uri="{FF2B5EF4-FFF2-40B4-BE49-F238E27FC236}">
                <a16:creationId xmlns:a16="http://schemas.microsoft.com/office/drawing/2014/main" id="{EA549285-FF59-4110-AACF-D007375059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76400" y="1219200"/>
            <a:ext cx="8686800" cy="5410200"/>
          </a:xfrm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sz="2000" i="1" dirty="0"/>
              <a:t>The </a:t>
            </a:r>
            <a:r>
              <a:rPr lang="en-US" sz="2000" i="1" dirty="0" err="1"/>
              <a:t>Kullback-Leibler</a:t>
            </a:r>
            <a:r>
              <a:rPr lang="en-US" sz="2000" i="1" dirty="0"/>
              <a:t> (KL) divergence: </a:t>
            </a:r>
            <a:r>
              <a:rPr lang="en-US" sz="2000" dirty="0"/>
              <a:t> Measure the difference between two probability distributions over the same variable </a:t>
            </a:r>
            <a:r>
              <a:rPr lang="en-US" sz="2000" i="1" dirty="0"/>
              <a:t>x</a:t>
            </a:r>
            <a:endParaRPr lang="en-US" sz="2000" dirty="0"/>
          </a:p>
          <a:p>
            <a:pPr lvl="1" indent="-342900">
              <a:defRPr/>
            </a:pPr>
            <a:r>
              <a:rPr lang="en-US" sz="2000" dirty="0"/>
              <a:t>From information theory, closely related to </a:t>
            </a:r>
            <a:r>
              <a:rPr lang="en-US" sz="2000" i="1" dirty="0"/>
              <a:t>relative entropy</a:t>
            </a:r>
            <a:r>
              <a:rPr lang="en-US" sz="2000" dirty="0"/>
              <a:t>, </a:t>
            </a:r>
            <a:r>
              <a:rPr lang="en-US" sz="2000" i="1" dirty="0"/>
              <a:t>information divergence</a:t>
            </a:r>
            <a:r>
              <a:rPr lang="en-US" sz="2000" dirty="0"/>
              <a:t>, and </a:t>
            </a:r>
            <a:r>
              <a:rPr lang="en-US" sz="2000" i="1" dirty="0"/>
              <a:t>information for discrimination</a:t>
            </a:r>
          </a:p>
          <a:p>
            <a:pPr>
              <a:defRPr/>
            </a:pPr>
            <a:r>
              <a:rPr lang="en-US" sz="2000" i="1" dirty="0"/>
              <a:t>D</a:t>
            </a:r>
            <a:r>
              <a:rPr lang="en-US" sz="2000" i="1" baseline="-25000" dirty="0"/>
              <a:t>KL</a:t>
            </a:r>
            <a:r>
              <a:rPr lang="en-US" sz="2000" dirty="0"/>
              <a:t>(</a:t>
            </a:r>
            <a:r>
              <a:rPr lang="en-US" sz="2000" i="1" dirty="0"/>
              <a:t>p</a:t>
            </a:r>
            <a:r>
              <a:rPr lang="en-US" sz="2000" dirty="0"/>
              <a:t>(</a:t>
            </a:r>
            <a:r>
              <a:rPr lang="en-US" sz="2000" i="1" dirty="0"/>
              <a:t>x</a:t>
            </a:r>
            <a:r>
              <a:rPr lang="en-US" sz="2000" dirty="0"/>
              <a:t>)</a:t>
            </a:r>
            <a:r>
              <a:rPr lang="en-US" sz="2000" i="1" dirty="0"/>
              <a:t> </a:t>
            </a:r>
            <a:r>
              <a:rPr lang="en-US" sz="2000" dirty="0"/>
              <a:t>||</a:t>
            </a:r>
            <a:r>
              <a:rPr lang="en-US" sz="2000" i="1" dirty="0"/>
              <a:t> q</a:t>
            </a:r>
            <a:r>
              <a:rPr lang="en-US" sz="2000" dirty="0"/>
              <a:t>(</a:t>
            </a:r>
            <a:r>
              <a:rPr lang="en-US" sz="2000" i="1" dirty="0"/>
              <a:t>x</a:t>
            </a:r>
            <a:r>
              <a:rPr lang="en-US" sz="2000" dirty="0"/>
              <a:t>)):  divergence of </a:t>
            </a:r>
            <a:r>
              <a:rPr lang="en-US" sz="2000" i="1" dirty="0"/>
              <a:t>q</a:t>
            </a:r>
            <a:r>
              <a:rPr lang="en-US" sz="2000" dirty="0"/>
              <a:t>(</a:t>
            </a:r>
            <a:r>
              <a:rPr lang="en-US" sz="2000" i="1" dirty="0"/>
              <a:t>x</a:t>
            </a:r>
            <a:r>
              <a:rPr lang="en-US" sz="2000" dirty="0"/>
              <a:t>) from </a:t>
            </a:r>
            <a:r>
              <a:rPr lang="en-US" sz="2000" i="1" dirty="0"/>
              <a:t>p</a:t>
            </a:r>
            <a:r>
              <a:rPr lang="en-US" sz="2000" dirty="0"/>
              <a:t>(</a:t>
            </a:r>
            <a:r>
              <a:rPr lang="en-US" sz="2000" i="1" dirty="0"/>
              <a:t>x</a:t>
            </a:r>
            <a:r>
              <a:rPr lang="en-US" sz="2000" dirty="0"/>
              <a:t>), measuring the information lost when </a:t>
            </a:r>
            <a:r>
              <a:rPr lang="en-US" sz="2000" i="1" dirty="0"/>
              <a:t>q</a:t>
            </a:r>
            <a:r>
              <a:rPr lang="en-US" sz="2000" dirty="0"/>
              <a:t>(</a:t>
            </a:r>
            <a:r>
              <a:rPr lang="en-US" sz="2000" i="1" dirty="0"/>
              <a:t>x</a:t>
            </a:r>
            <a:r>
              <a:rPr lang="en-US" sz="2000" dirty="0"/>
              <a:t>) is used to approximate </a:t>
            </a:r>
            <a:r>
              <a:rPr lang="en-US" sz="2000" i="1" dirty="0"/>
              <a:t>p</a:t>
            </a:r>
            <a:r>
              <a:rPr lang="en-US" sz="2000" dirty="0"/>
              <a:t>(</a:t>
            </a:r>
            <a:r>
              <a:rPr lang="en-US" sz="2000" i="1" dirty="0"/>
              <a:t>x</a:t>
            </a:r>
            <a:r>
              <a:rPr lang="en-US" sz="2000" dirty="0"/>
              <a:t>)</a:t>
            </a:r>
          </a:p>
          <a:p>
            <a:pPr lvl="1">
              <a:defRPr/>
            </a:pPr>
            <a:r>
              <a:rPr lang="en-US" sz="2000" dirty="0"/>
              <a:t>Discrete form:</a:t>
            </a:r>
          </a:p>
          <a:p>
            <a:pPr lvl="1">
              <a:defRPr/>
            </a:pPr>
            <a:endParaRPr lang="en-US" sz="2400" dirty="0"/>
          </a:p>
          <a:p>
            <a:pPr>
              <a:defRPr/>
            </a:pPr>
            <a:r>
              <a:rPr lang="en-US" sz="2000" dirty="0"/>
              <a:t>The KL divergence measures the expected number of extra bits required to code samples from </a:t>
            </a:r>
            <a:r>
              <a:rPr lang="en-US" sz="2000" i="1" dirty="0"/>
              <a:t>p</a:t>
            </a:r>
            <a:r>
              <a:rPr lang="en-US" sz="2000" dirty="0"/>
              <a:t>(</a:t>
            </a:r>
            <a:r>
              <a:rPr lang="en-US" sz="2000" i="1" dirty="0"/>
              <a:t>x</a:t>
            </a:r>
            <a:r>
              <a:rPr lang="en-US" sz="2000" dirty="0"/>
              <a:t>) (“true” distribution) when using a code based on </a:t>
            </a:r>
            <a:r>
              <a:rPr lang="en-US" sz="2000" i="1" dirty="0"/>
              <a:t>q</a:t>
            </a:r>
            <a:r>
              <a:rPr lang="en-US" sz="2000" dirty="0"/>
              <a:t>(</a:t>
            </a:r>
            <a:r>
              <a:rPr lang="en-US" sz="2000" i="1" dirty="0"/>
              <a:t>x</a:t>
            </a:r>
            <a:r>
              <a:rPr lang="en-US" sz="2000" dirty="0"/>
              <a:t>), which represents a theory, model, description, or approximation of </a:t>
            </a:r>
            <a:r>
              <a:rPr lang="en-US" sz="2000" i="1" dirty="0"/>
              <a:t>p</a:t>
            </a:r>
            <a:r>
              <a:rPr lang="en-US" sz="2000" dirty="0"/>
              <a:t>(</a:t>
            </a:r>
            <a:r>
              <a:rPr lang="en-US" sz="2000" i="1" dirty="0"/>
              <a:t>x</a:t>
            </a:r>
            <a:r>
              <a:rPr lang="en-US" sz="2000" dirty="0"/>
              <a:t>)</a:t>
            </a:r>
            <a:endParaRPr lang="en-US" sz="6600" dirty="0"/>
          </a:p>
          <a:p>
            <a:pPr>
              <a:defRPr/>
            </a:pPr>
            <a:r>
              <a:rPr lang="en-US" sz="2000" dirty="0"/>
              <a:t>Its continuous form:</a:t>
            </a:r>
          </a:p>
          <a:p>
            <a:pPr eaLnBrk="1" hangingPunct="1">
              <a:defRPr/>
            </a:pPr>
            <a:endParaRPr lang="en-US" sz="2000" dirty="0"/>
          </a:p>
          <a:p>
            <a:pPr eaLnBrk="1" hangingPunct="1">
              <a:defRPr/>
            </a:pPr>
            <a:r>
              <a:rPr lang="en-US" sz="2000" dirty="0"/>
              <a:t>The KL divergence: not a distance measure, not a metric: asymmetric, not satisfy triangular inequality</a:t>
            </a:r>
          </a:p>
        </p:txBody>
      </p:sp>
      <p:pic>
        <p:nvPicPr>
          <p:cNvPr id="68613" name="Picture 7">
            <a:extLst>
              <a:ext uri="{FF2B5EF4-FFF2-40B4-BE49-F238E27FC236}">
                <a16:creationId xmlns:a16="http://schemas.microsoft.com/office/drawing/2014/main" id="{5140C790-EAD0-4FB0-8492-7827F9B108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262313"/>
            <a:ext cx="3962400" cy="703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8614" name="Picture 8">
            <a:extLst>
              <a:ext uri="{FF2B5EF4-FFF2-40B4-BE49-F238E27FC236}">
                <a16:creationId xmlns:a16="http://schemas.microsoft.com/office/drawing/2014/main" id="{07875FBB-4EB4-4B1C-BE5C-36BA30CC26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1" y="5029201"/>
            <a:ext cx="4938713" cy="71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Number Placeholder 5">
            <a:extLst>
              <a:ext uri="{FF2B5EF4-FFF2-40B4-BE49-F238E27FC236}">
                <a16:creationId xmlns:a16="http://schemas.microsoft.com/office/drawing/2014/main" id="{63DE5EA5-B319-4227-8F4F-4B9FB18992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fld id="{83FD3A0D-EE9E-491D-9D35-9D6E023BEA5B}" type="slidenum">
              <a:rPr lang="en-US" altLang="en-US" sz="1200">
                <a:solidFill>
                  <a:srgbClr val="000000"/>
                </a:solidFill>
              </a:rPr>
              <a:pPr eaLnBrk="1" fontAlgn="base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t>4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66563" name="Rectangle 2">
            <a:extLst>
              <a:ext uri="{FF2B5EF4-FFF2-40B4-BE49-F238E27FC236}">
                <a16:creationId xmlns:a16="http://schemas.microsoft.com/office/drawing/2014/main" id="{AA410935-287D-4A34-9434-46B7CD2229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47800" y="0"/>
            <a:ext cx="4572000" cy="1143000"/>
          </a:xfrm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lang="en-US" dirty="0">
                <a:solidFill>
                  <a:srgbClr val="170981"/>
                </a:solidFill>
              </a:rPr>
              <a:t> How to Compute the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KL Divergence?</a:t>
            </a:r>
          </a:p>
        </p:txBody>
      </p:sp>
      <p:sp>
        <p:nvSpPr>
          <p:cNvPr id="69636" name="Rectangle 3">
            <a:extLst>
              <a:ext uri="{FF2B5EF4-FFF2-40B4-BE49-F238E27FC236}">
                <a16:creationId xmlns:a16="http://schemas.microsoft.com/office/drawing/2014/main" id="{12AF7115-26C9-4279-A37B-91DA423B5F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76400" y="1219200"/>
            <a:ext cx="8686800" cy="5410200"/>
          </a:xfrm>
          <a:noFill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sz="2000" i="1"/>
              <a:t>Base on the formula, D</a:t>
            </a:r>
            <a:r>
              <a:rPr lang="en-US" altLang="en-US" sz="2000" i="1" baseline="-25000"/>
              <a:t>KL</a:t>
            </a:r>
            <a:r>
              <a:rPr lang="en-US" altLang="en-US" sz="2000"/>
              <a:t>(</a:t>
            </a:r>
            <a:r>
              <a:rPr lang="en-US" altLang="en-US" sz="2000" i="1"/>
              <a:t>P,Q</a:t>
            </a:r>
            <a:r>
              <a:rPr lang="en-US" altLang="en-US" sz="2000"/>
              <a:t>) </a:t>
            </a:r>
            <a:r>
              <a:rPr lang="en-US" altLang="en-US" sz="2000" i="1"/>
              <a:t>≥ </a:t>
            </a:r>
            <a:r>
              <a:rPr lang="en-US" altLang="en-US" sz="2000"/>
              <a:t>0 and </a:t>
            </a:r>
            <a:r>
              <a:rPr lang="en-US" altLang="en-US" sz="2000" i="1"/>
              <a:t>D</a:t>
            </a:r>
            <a:r>
              <a:rPr lang="en-US" altLang="en-US" sz="2000" i="1" baseline="-25000"/>
              <a:t>KL</a:t>
            </a:r>
            <a:r>
              <a:rPr lang="en-US" altLang="en-US" sz="2000"/>
              <a:t>(</a:t>
            </a:r>
            <a:r>
              <a:rPr lang="en-US" altLang="en-US" sz="2000" i="1"/>
              <a:t>P </a:t>
            </a:r>
            <a:r>
              <a:rPr lang="en-US" altLang="en-US" sz="2000"/>
              <a:t>||</a:t>
            </a:r>
            <a:r>
              <a:rPr lang="en-US" altLang="en-US" sz="2000" i="1"/>
              <a:t> Q</a:t>
            </a:r>
            <a:r>
              <a:rPr lang="en-US" altLang="en-US" sz="2000"/>
              <a:t>) = 0 if and only if </a:t>
            </a:r>
            <a:r>
              <a:rPr lang="en-US" altLang="en-US" sz="2000" i="1"/>
              <a:t>P </a:t>
            </a:r>
            <a:r>
              <a:rPr lang="en-US" altLang="en-US" sz="2000"/>
              <a:t>= </a:t>
            </a:r>
            <a:r>
              <a:rPr lang="en-US" altLang="en-US" sz="2000" i="1"/>
              <a:t>Q</a:t>
            </a:r>
            <a:r>
              <a:rPr lang="en-US" altLang="en-US" sz="2000"/>
              <a:t>.</a:t>
            </a:r>
          </a:p>
          <a:p>
            <a:r>
              <a:rPr lang="en-US" altLang="en-US" sz="2000"/>
              <a:t>How about when p = 0 or q = 0?</a:t>
            </a:r>
          </a:p>
          <a:p>
            <a:pPr lvl="1"/>
            <a:r>
              <a:rPr lang="en-US" altLang="en-US" sz="2000" i="1"/>
              <a:t>lim</a:t>
            </a:r>
            <a:r>
              <a:rPr lang="en-US" altLang="en-US" sz="2000" i="1" baseline="-25000"/>
              <a:t>p→</a:t>
            </a:r>
            <a:r>
              <a:rPr lang="en-US" altLang="en-US" sz="2000" baseline="-25000"/>
              <a:t>0</a:t>
            </a:r>
            <a:r>
              <a:rPr lang="en-US" altLang="en-US" sz="2000"/>
              <a:t> </a:t>
            </a:r>
            <a:r>
              <a:rPr lang="en-US" altLang="en-US" sz="2000" i="1"/>
              <a:t>p </a:t>
            </a:r>
            <a:r>
              <a:rPr lang="en-US" altLang="en-US" sz="2000"/>
              <a:t>log </a:t>
            </a:r>
            <a:r>
              <a:rPr lang="en-US" altLang="en-US" sz="2000" i="1"/>
              <a:t>p </a:t>
            </a:r>
            <a:r>
              <a:rPr lang="en-US" altLang="en-US" sz="2000"/>
              <a:t>= 0</a:t>
            </a:r>
          </a:p>
          <a:p>
            <a:pPr lvl="1"/>
            <a:r>
              <a:rPr lang="en-US" altLang="en-US" sz="2000"/>
              <a:t>when </a:t>
            </a:r>
            <a:r>
              <a:rPr lang="en-US" altLang="en-US" sz="2000" i="1"/>
              <a:t>p !</a:t>
            </a:r>
            <a:r>
              <a:rPr lang="en-US" altLang="en-US" sz="2000"/>
              <a:t>= 0 but </a:t>
            </a:r>
            <a:r>
              <a:rPr lang="en-US" altLang="en-US" sz="2000" i="1"/>
              <a:t>q = </a:t>
            </a:r>
            <a:r>
              <a:rPr lang="en-US" altLang="en-US" sz="2000"/>
              <a:t>0, </a:t>
            </a:r>
            <a:r>
              <a:rPr lang="en-US" altLang="en-US" sz="2000" i="1"/>
              <a:t>D</a:t>
            </a:r>
            <a:r>
              <a:rPr lang="en-US" altLang="en-US" sz="2000" i="1" baseline="-25000"/>
              <a:t>KL</a:t>
            </a:r>
            <a:r>
              <a:rPr lang="en-US" altLang="en-US" sz="2000"/>
              <a:t>(</a:t>
            </a:r>
            <a:r>
              <a:rPr lang="en-US" altLang="en-US" sz="2000" i="1"/>
              <a:t>p </a:t>
            </a:r>
            <a:r>
              <a:rPr lang="en-US" altLang="en-US" sz="2000"/>
              <a:t>||</a:t>
            </a:r>
            <a:r>
              <a:rPr lang="en-US" altLang="en-US" sz="2000" i="1"/>
              <a:t> q</a:t>
            </a:r>
            <a:r>
              <a:rPr lang="en-US" altLang="en-US" sz="2000"/>
              <a:t>) is defined as </a:t>
            </a:r>
            <a:r>
              <a:rPr lang="en-US" altLang="en-US" sz="2000" i="1"/>
              <a:t>∞</a:t>
            </a:r>
            <a:r>
              <a:rPr lang="en-US" altLang="en-US" sz="2000"/>
              <a:t>, i.e., if one event </a:t>
            </a:r>
            <a:r>
              <a:rPr lang="en-US" altLang="en-US" sz="2000" i="1"/>
              <a:t>e </a:t>
            </a:r>
            <a:r>
              <a:rPr lang="en-US" altLang="en-US" sz="2000"/>
              <a:t>is possible (</a:t>
            </a:r>
            <a:r>
              <a:rPr lang="en-US" altLang="en-US" sz="2000" i="1"/>
              <a:t>i.e.</a:t>
            </a:r>
            <a:r>
              <a:rPr lang="en-US" altLang="en-US" sz="2000"/>
              <a:t>, </a:t>
            </a:r>
            <a:r>
              <a:rPr lang="en-US" altLang="en-US" sz="2000" i="1"/>
              <a:t>p</a:t>
            </a:r>
            <a:r>
              <a:rPr lang="en-US" altLang="en-US" sz="2000"/>
              <a:t>(</a:t>
            </a:r>
            <a:r>
              <a:rPr lang="en-US" altLang="en-US" sz="2000" i="1"/>
              <a:t>e</a:t>
            </a:r>
            <a:r>
              <a:rPr lang="en-US" altLang="en-US" sz="2000"/>
              <a:t>) </a:t>
            </a:r>
            <a:r>
              <a:rPr lang="en-US" altLang="en-US" sz="2000" i="1"/>
              <a:t>&gt; </a:t>
            </a:r>
            <a:r>
              <a:rPr lang="en-US" altLang="en-US" sz="2000"/>
              <a:t>0), and the other predicts it is absolutely impossible (</a:t>
            </a:r>
            <a:r>
              <a:rPr lang="en-US" altLang="en-US" sz="2000" i="1"/>
              <a:t>i.e.</a:t>
            </a:r>
            <a:r>
              <a:rPr lang="en-US" altLang="en-US" sz="2000"/>
              <a:t>, </a:t>
            </a:r>
            <a:r>
              <a:rPr lang="en-US" altLang="en-US" sz="2000" i="1"/>
              <a:t>q</a:t>
            </a:r>
            <a:r>
              <a:rPr lang="en-US" altLang="en-US" sz="2000"/>
              <a:t>(</a:t>
            </a:r>
            <a:r>
              <a:rPr lang="en-US" altLang="en-US" sz="2000" i="1"/>
              <a:t>e</a:t>
            </a:r>
            <a:r>
              <a:rPr lang="en-US" altLang="en-US" sz="2000"/>
              <a:t>) = 0), then the two distributions are absolutely different</a:t>
            </a:r>
          </a:p>
          <a:p>
            <a:r>
              <a:rPr lang="en-US" altLang="en-US" sz="2000"/>
              <a:t>However, in practice, </a:t>
            </a:r>
            <a:r>
              <a:rPr lang="en-US" altLang="en-US" sz="2000" i="1"/>
              <a:t>P </a:t>
            </a:r>
            <a:r>
              <a:rPr lang="en-US" altLang="en-US" sz="2000"/>
              <a:t>and </a:t>
            </a:r>
            <a:r>
              <a:rPr lang="en-US" altLang="en-US" sz="2000" i="1"/>
              <a:t>Q </a:t>
            </a:r>
            <a:r>
              <a:rPr lang="en-US" altLang="en-US" sz="2000"/>
              <a:t>are derived from frequency distributions, not counting the possibility of unseen events. Thus </a:t>
            </a:r>
            <a:r>
              <a:rPr lang="en-US" altLang="en-US" sz="2000" i="1"/>
              <a:t>smoothing </a:t>
            </a:r>
            <a:r>
              <a:rPr lang="en-US" altLang="en-US" sz="2000"/>
              <a:t>is needed</a:t>
            </a:r>
          </a:p>
          <a:p>
            <a:r>
              <a:rPr lang="en-US" altLang="en-US" sz="2000"/>
              <a:t>Example: </a:t>
            </a:r>
            <a:r>
              <a:rPr lang="en-US" altLang="en-US" sz="2000" i="1"/>
              <a:t>P </a:t>
            </a:r>
            <a:r>
              <a:rPr lang="en-US" altLang="en-US" sz="2000"/>
              <a:t>: (</a:t>
            </a:r>
            <a:r>
              <a:rPr lang="en-US" altLang="en-US" sz="2000" i="1"/>
              <a:t>a </a:t>
            </a:r>
            <a:r>
              <a:rPr lang="en-US" altLang="en-US" sz="2000"/>
              <a:t>: 3</a:t>
            </a:r>
            <a:r>
              <a:rPr lang="en-US" altLang="en-US" sz="2000" i="1"/>
              <a:t>/</a:t>
            </a:r>
            <a:r>
              <a:rPr lang="en-US" altLang="en-US" sz="2000"/>
              <a:t>5</a:t>
            </a:r>
            <a:r>
              <a:rPr lang="en-US" altLang="en-US" sz="2000" i="1"/>
              <a:t>, b </a:t>
            </a:r>
            <a:r>
              <a:rPr lang="en-US" altLang="en-US" sz="2000"/>
              <a:t>: 1</a:t>
            </a:r>
            <a:r>
              <a:rPr lang="en-US" altLang="en-US" sz="2000" i="1"/>
              <a:t>/</a:t>
            </a:r>
            <a:r>
              <a:rPr lang="en-US" altLang="en-US" sz="2000"/>
              <a:t>5</a:t>
            </a:r>
            <a:r>
              <a:rPr lang="en-US" altLang="en-US" sz="2000" i="1"/>
              <a:t>, c </a:t>
            </a:r>
            <a:r>
              <a:rPr lang="en-US" altLang="en-US" sz="2000"/>
              <a:t>: 1</a:t>
            </a:r>
            <a:r>
              <a:rPr lang="en-US" altLang="en-US" sz="2000" i="1"/>
              <a:t>/</a:t>
            </a:r>
            <a:r>
              <a:rPr lang="en-US" altLang="en-US" sz="2000"/>
              <a:t>5).  </a:t>
            </a:r>
            <a:r>
              <a:rPr lang="en-US" altLang="en-US" sz="2000" i="1"/>
              <a:t>Q </a:t>
            </a:r>
            <a:r>
              <a:rPr lang="en-US" altLang="en-US" sz="2000"/>
              <a:t>: (</a:t>
            </a:r>
            <a:r>
              <a:rPr lang="en-US" altLang="en-US" sz="2000" i="1"/>
              <a:t>a </a:t>
            </a:r>
            <a:r>
              <a:rPr lang="en-US" altLang="en-US" sz="2000"/>
              <a:t>: 5</a:t>
            </a:r>
            <a:r>
              <a:rPr lang="en-US" altLang="en-US" sz="2000" i="1"/>
              <a:t>/</a:t>
            </a:r>
            <a:r>
              <a:rPr lang="en-US" altLang="en-US" sz="2000"/>
              <a:t>9</a:t>
            </a:r>
            <a:r>
              <a:rPr lang="en-US" altLang="en-US" sz="2000" i="1"/>
              <a:t>, b </a:t>
            </a:r>
            <a:r>
              <a:rPr lang="en-US" altLang="en-US" sz="2000"/>
              <a:t>: 3</a:t>
            </a:r>
            <a:r>
              <a:rPr lang="en-US" altLang="en-US" sz="2000" i="1"/>
              <a:t>/</a:t>
            </a:r>
            <a:r>
              <a:rPr lang="en-US" altLang="en-US" sz="2000"/>
              <a:t>9</a:t>
            </a:r>
            <a:r>
              <a:rPr lang="en-US" altLang="en-US" sz="2000" i="1"/>
              <a:t>, d </a:t>
            </a:r>
            <a:r>
              <a:rPr lang="en-US" altLang="en-US" sz="2000"/>
              <a:t>: 1</a:t>
            </a:r>
            <a:r>
              <a:rPr lang="en-US" altLang="en-US" sz="2000" i="1"/>
              <a:t>/</a:t>
            </a:r>
            <a:r>
              <a:rPr lang="en-US" altLang="en-US" sz="2000"/>
              <a:t>9)</a:t>
            </a:r>
          </a:p>
          <a:p>
            <a:pPr lvl="1"/>
            <a:r>
              <a:rPr lang="en-US" altLang="en-US" sz="2000"/>
              <a:t>need to introduce a small constant </a:t>
            </a:r>
            <a:r>
              <a:rPr lang="en-US" altLang="en-US" sz="2000" i="1"/>
              <a:t>ϵ</a:t>
            </a:r>
            <a:r>
              <a:rPr lang="en-US" altLang="en-US" sz="2000"/>
              <a:t>, e.g., </a:t>
            </a:r>
            <a:r>
              <a:rPr lang="en-US" altLang="en-US" sz="2000" i="1"/>
              <a:t>ϵ </a:t>
            </a:r>
            <a:r>
              <a:rPr lang="en-US" altLang="en-US" sz="2000"/>
              <a:t>= 10</a:t>
            </a:r>
            <a:r>
              <a:rPr lang="en-US" altLang="en-US" sz="2000" i="1" baseline="30000"/>
              <a:t>−</a:t>
            </a:r>
            <a:r>
              <a:rPr lang="en-US" altLang="en-US" sz="2000" baseline="30000"/>
              <a:t>3</a:t>
            </a:r>
          </a:p>
          <a:p>
            <a:pPr lvl="1"/>
            <a:r>
              <a:rPr lang="en-US" altLang="en-US" sz="2000"/>
              <a:t>The sample set observed in </a:t>
            </a:r>
            <a:r>
              <a:rPr lang="en-US" altLang="en-US" sz="2000" i="1"/>
              <a:t>P</a:t>
            </a:r>
            <a:r>
              <a:rPr lang="en-US" altLang="en-US" sz="2000"/>
              <a:t>, </a:t>
            </a:r>
            <a:r>
              <a:rPr lang="en-US" altLang="en-US" sz="2000" i="1"/>
              <a:t>SP </a:t>
            </a:r>
            <a:r>
              <a:rPr lang="en-US" altLang="en-US" sz="2000"/>
              <a:t>= </a:t>
            </a:r>
            <a:r>
              <a:rPr lang="en-US" altLang="en-US" sz="2000" i="1"/>
              <a:t>{a, b, c}</a:t>
            </a:r>
            <a:r>
              <a:rPr lang="en-US" altLang="en-US" sz="2000"/>
              <a:t>,  </a:t>
            </a:r>
            <a:r>
              <a:rPr lang="en-US" altLang="en-US" sz="2000" i="1"/>
              <a:t>SQ </a:t>
            </a:r>
            <a:r>
              <a:rPr lang="en-US" altLang="en-US" sz="2000"/>
              <a:t>= </a:t>
            </a:r>
            <a:r>
              <a:rPr lang="en-US" altLang="en-US" sz="2000" i="1"/>
              <a:t>{a, b, d}</a:t>
            </a:r>
            <a:r>
              <a:rPr lang="en-US" altLang="en-US" sz="2000"/>
              <a:t>,  </a:t>
            </a:r>
            <a:r>
              <a:rPr lang="en-US" altLang="en-US" sz="2000" i="1"/>
              <a:t>SU </a:t>
            </a:r>
            <a:r>
              <a:rPr lang="en-US" altLang="en-US" sz="2000"/>
              <a:t>= </a:t>
            </a:r>
            <a:r>
              <a:rPr lang="en-US" altLang="en-US" sz="2000" i="1"/>
              <a:t>{a, b, c, d}</a:t>
            </a:r>
            <a:endParaRPr lang="en-US" altLang="en-US" sz="4800"/>
          </a:p>
          <a:p>
            <a:pPr lvl="1"/>
            <a:r>
              <a:rPr lang="en-US" altLang="en-US" sz="2000"/>
              <a:t>Smoothing, add missing symbols to each distribution, with probability </a:t>
            </a:r>
            <a:r>
              <a:rPr lang="en-US" altLang="en-US" sz="2000" i="1"/>
              <a:t>ϵ</a:t>
            </a:r>
            <a:r>
              <a:rPr lang="en-US" altLang="en-US" sz="2000"/>
              <a:t> </a:t>
            </a:r>
          </a:p>
          <a:p>
            <a:pPr lvl="1"/>
            <a:r>
              <a:rPr lang="en-US" altLang="en-US" sz="2000" i="1"/>
              <a:t>P′ </a:t>
            </a:r>
            <a:r>
              <a:rPr lang="en-US" altLang="en-US" sz="2000"/>
              <a:t>: (</a:t>
            </a:r>
            <a:r>
              <a:rPr lang="en-US" altLang="en-US" sz="2000" i="1"/>
              <a:t>a </a:t>
            </a:r>
            <a:r>
              <a:rPr lang="en-US" altLang="en-US" sz="2000"/>
              <a:t>: 3</a:t>
            </a:r>
            <a:r>
              <a:rPr lang="en-US" altLang="en-US" sz="2000" i="1"/>
              <a:t>/</a:t>
            </a:r>
            <a:r>
              <a:rPr lang="en-US" altLang="en-US" sz="2000"/>
              <a:t>5 </a:t>
            </a:r>
            <a:r>
              <a:rPr lang="en-US" altLang="en-US" sz="2000" i="1"/>
              <a:t>− </a:t>
            </a:r>
            <a:r>
              <a:rPr lang="el-GR" altLang="en-US" sz="2000" i="1"/>
              <a:t>ϵ/</a:t>
            </a:r>
            <a:r>
              <a:rPr lang="el-GR" altLang="en-US" sz="2000"/>
              <a:t>3</a:t>
            </a:r>
            <a:r>
              <a:rPr lang="el-GR" altLang="en-US" sz="2000" i="1"/>
              <a:t>, </a:t>
            </a:r>
            <a:r>
              <a:rPr lang="en-US" altLang="en-US" sz="2000" i="1"/>
              <a:t>b </a:t>
            </a:r>
            <a:r>
              <a:rPr lang="en-US" altLang="en-US" sz="2000"/>
              <a:t>: 1</a:t>
            </a:r>
            <a:r>
              <a:rPr lang="en-US" altLang="en-US" sz="2000" i="1"/>
              <a:t>/</a:t>
            </a:r>
            <a:r>
              <a:rPr lang="en-US" altLang="en-US" sz="2000"/>
              <a:t>5 </a:t>
            </a:r>
            <a:r>
              <a:rPr lang="en-US" altLang="en-US" sz="2000" i="1"/>
              <a:t>− </a:t>
            </a:r>
            <a:r>
              <a:rPr lang="el-GR" altLang="en-US" sz="2000" i="1"/>
              <a:t>ϵ/</a:t>
            </a:r>
            <a:r>
              <a:rPr lang="el-GR" altLang="en-US" sz="2000"/>
              <a:t>3</a:t>
            </a:r>
            <a:r>
              <a:rPr lang="el-GR" altLang="en-US" sz="2000" i="1"/>
              <a:t>, </a:t>
            </a:r>
            <a:r>
              <a:rPr lang="en-US" altLang="en-US" sz="2000" i="1"/>
              <a:t>c </a:t>
            </a:r>
            <a:r>
              <a:rPr lang="en-US" altLang="en-US" sz="2000"/>
              <a:t>: 1</a:t>
            </a:r>
            <a:r>
              <a:rPr lang="en-US" altLang="en-US" sz="2000" i="1"/>
              <a:t>/</a:t>
            </a:r>
            <a:r>
              <a:rPr lang="en-US" altLang="en-US" sz="2000"/>
              <a:t>5 </a:t>
            </a:r>
            <a:r>
              <a:rPr lang="en-US" altLang="en-US" sz="2000" i="1"/>
              <a:t>− </a:t>
            </a:r>
            <a:r>
              <a:rPr lang="el-GR" altLang="en-US" sz="2000" i="1"/>
              <a:t>ϵ/</a:t>
            </a:r>
            <a:r>
              <a:rPr lang="el-GR" altLang="en-US" sz="2000"/>
              <a:t>3</a:t>
            </a:r>
            <a:r>
              <a:rPr lang="el-GR" altLang="en-US" sz="2000" i="1"/>
              <a:t>, </a:t>
            </a:r>
            <a:r>
              <a:rPr lang="en-US" altLang="en-US" sz="2000" i="1"/>
              <a:t>d </a:t>
            </a:r>
            <a:r>
              <a:rPr lang="en-US" altLang="en-US" sz="2000"/>
              <a:t>: </a:t>
            </a:r>
            <a:r>
              <a:rPr lang="el-GR" altLang="en-US" sz="2000" i="1"/>
              <a:t>ϵ</a:t>
            </a:r>
            <a:r>
              <a:rPr lang="el-GR" altLang="en-US" sz="2000"/>
              <a:t>) </a:t>
            </a:r>
            <a:endParaRPr lang="en-US" altLang="en-US" sz="2000"/>
          </a:p>
          <a:p>
            <a:pPr lvl="1"/>
            <a:r>
              <a:rPr lang="en-US" altLang="en-US" sz="2000" i="1"/>
              <a:t>Q′ </a:t>
            </a:r>
            <a:r>
              <a:rPr lang="en-US" altLang="en-US" sz="2000"/>
              <a:t>: (</a:t>
            </a:r>
            <a:r>
              <a:rPr lang="en-US" altLang="en-US" sz="2000" i="1"/>
              <a:t>a </a:t>
            </a:r>
            <a:r>
              <a:rPr lang="en-US" altLang="en-US" sz="2000"/>
              <a:t>: 5</a:t>
            </a:r>
            <a:r>
              <a:rPr lang="en-US" altLang="en-US" sz="2000" i="1"/>
              <a:t>/</a:t>
            </a:r>
            <a:r>
              <a:rPr lang="en-US" altLang="en-US" sz="2000"/>
              <a:t>9 </a:t>
            </a:r>
            <a:r>
              <a:rPr lang="en-US" altLang="en-US" sz="2000" i="1"/>
              <a:t>− </a:t>
            </a:r>
            <a:r>
              <a:rPr lang="el-GR" altLang="en-US" sz="2000" i="1"/>
              <a:t>ϵ/</a:t>
            </a:r>
            <a:r>
              <a:rPr lang="el-GR" altLang="en-US" sz="2000"/>
              <a:t>3</a:t>
            </a:r>
            <a:r>
              <a:rPr lang="el-GR" altLang="en-US" sz="2000" i="1"/>
              <a:t>, </a:t>
            </a:r>
            <a:r>
              <a:rPr lang="en-US" altLang="en-US" sz="2000" i="1"/>
              <a:t>b </a:t>
            </a:r>
            <a:r>
              <a:rPr lang="en-US" altLang="en-US" sz="2000"/>
              <a:t>: 3</a:t>
            </a:r>
            <a:r>
              <a:rPr lang="en-US" altLang="en-US" sz="2000" i="1"/>
              <a:t>/</a:t>
            </a:r>
            <a:r>
              <a:rPr lang="en-US" altLang="en-US" sz="2000"/>
              <a:t>9 </a:t>
            </a:r>
            <a:r>
              <a:rPr lang="en-US" altLang="en-US" sz="2000" i="1"/>
              <a:t>− ϵ/</a:t>
            </a:r>
            <a:r>
              <a:rPr lang="en-US" altLang="en-US" sz="2000"/>
              <a:t>3</a:t>
            </a:r>
            <a:r>
              <a:rPr lang="en-US" altLang="en-US" sz="2000" i="1"/>
              <a:t>, c </a:t>
            </a:r>
            <a:r>
              <a:rPr lang="en-US" altLang="en-US" sz="2000"/>
              <a:t>: </a:t>
            </a:r>
            <a:r>
              <a:rPr lang="en-US" altLang="en-US" sz="2000" i="1"/>
              <a:t>ϵ, d </a:t>
            </a:r>
            <a:r>
              <a:rPr lang="en-US" altLang="en-US" sz="2000"/>
              <a:t>: 1</a:t>
            </a:r>
            <a:r>
              <a:rPr lang="en-US" altLang="en-US" sz="2000" i="1"/>
              <a:t>/</a:t>
            </a:r>
            <a:r>
              <a:rPr lang="en-US" altLang="en-US" sz="2000"/>
              <a:t>9 </a:t>
            </a:r>
            <a:r>
              <a:rPr lang="en-US" altLang="en-US" sz="2000" i="1"/>
              <a:t>− ϵ/</a:t>
            </a:r>
            <a:r>
              <a:rPr lang="en-US" altLang="en-US" sz="2000"/>
              <a:t>3). </a:t>
            </a:r>
          </a:p>
          <a:p>
            <a:pPr lvl="1"/>
            <a:r>
              <a:rPr lang="en-US" altLang="en-US" sz="2000" i="1"/>
              <a:t>D</a:t>
            </a:r>
            <a:r>
              <a:rPr lang="en-US" altLang="en-US" sz="2000" i="1" baseline="-25000"/>
              <a:t>KL</a:t>
            </a:r>
            <a:r>
              <a:rPr lang="en-US" altLang="en-US" sz="2000"/>
              <a:t>(</a:t>
            </a:r>
            <a:r>
              <a:rPr lang="en-US" altLang="en-US" sz="2000" i="1"/>
              <a:t>P’ </a:t>
            </a:r>
            <a:r>
              <a:rPr lang="en-US" altLang="en-US" sz="2000"/>
              <a:t>||</a:t>
            </a:r>
            <a:r>
              <a:rPr lang="en-US" altLang="en-US" sz="2000" i="1"/>
              <a:t> Q’</a:t>
            </a:r>
            <a:r>
              <a:rPr lang="en-US" altLang="en-US" sz="2000"/>
              <a:t>) can be computed easily</a:t>
            </a:r>
            <a:endParaRPr lang="en-US" altLang="en-US" sz="2000" i="1"/>
          </a:p>
        </p:txBody>
      </p:sp>
      <p:pic>
        <p:nvPicPr>
          <p:cNvPr id="69637" name="Picture 7">
            <a:extLst>
              <a:ext uri="{FF2B5EF4-FFF2-40B4-BE49-F238E27FC236}">
                <a16:creationId xmlns:a16="http://schemas.microsoft.com/office/drawing/2014/main" id="{DE9284A7-6FDB-455E-9910-81BD72F290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228601"/>
            <a:ext cx="4648200" cy="823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</p:sld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Berlin Sans FB Demi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819</Words>
  <Application>Microsoft Office PowerPoint</Application>
  <PresentationFormat>Geniş ekran</PresentationFormat>
  <Paragraphs>72</Paragraphs>
  <Slides>4</Slides>
  <Notes>4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7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4</vt:i4>
      </vt:variant>
    </vt:vector>
  </HeadingPairs>
  <TitlesOfParts>
    <vt:vector size="12" baseType="lpstr">
      <vt:lpstr>Arial</vt:lpstr>
      <vt:lpstr>Berlin Sans FB Demi</vt:lpstr>
      <vt:lpstr>Calibri</vt:lpstr>
      <vt:lpstr>Symbol</vt:lpstr>
      <vt:lpstr>Tahoma</vt:lpstr>
      <vt:lpstr>Times New Roman</vt:lpstr>
      <vt:lpstr>Wingdings</vt:lpstr>
      <vt:lpstr>Blends</vt:lpstr>
      <vt:lpstr> Cosine Similarity</vt:lpstr>
      <vt:lpstr> Example: Cosine Similarity</vt:lpstr>
      <vt:lpstr> KL Divergence: Comparing Two Probability Distributions </vt:lpstr>
      <vt:lpstr> How to Compute the KL Divergence?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Cosine Similarity</dc:title>
  <dc:creator>SAO</dc:creator>
  <cp:lastModifiedBy>SAO</cp:lastModifiedBy>
  <cp:revision>1</cp:revision>
  <dcterms:created xsi:type="dcterms:W3CDTF">2018-10-09T22:12:38Z</dcterms:created>
  <dcterms:modified xsi:type="dcterms:W3CDTF">2018-10-09T22:13:17Z</dcterms:modified>
</cp:coreProperties>
</file>