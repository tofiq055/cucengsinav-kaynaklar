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3"/>
  </p:notesMasterIdLst>
  <p:handoutMasterIdLst>
    <p:handoutMasterId r:id="rId64"/>
  </p:handoutMasterIdLst>
  <p:sldIdLst>
    <p:sldId id="331" r:id="rId2"/>
    <p:sldId id="332" r:id="rId3"/>
    <p:sldId id="333" r:id="rId4"/>
    <p:sldId id="420" r:id="rId5"/>
    <p:sldId id="424" r:id="rId6"/>
    <p:sldId id="338" r:id="rId7"/>
    <p:sldId id="339" r:id="rId8"/>
    <p:sldId id="480" r:id="rId9"/>
    <p:sldId id="446" r:id="rId10"/>
    <p:sldId id="453" r:id="rId11"/>
    <p:sldId id="459" r:id="rId12"/>
    <p:sldId id="460" r:id="rId13"/>
    <p:sldId id="458" r:id="rId14"/>
    <p:sldId id="457" r:id="rId15"/>
    <p:sldId id="407" r:id="rId16"/>
    <p:sldId id="427" r:id="rId17"/>
    <p:sldId id="447" r:id="rId18"/>
    <p:sldId id="429" r:id="rId19"/>
    <p:sldId id="456" r:id="rId20"/>
    <p:sldId id="462" r:id="rId21"/>
    <p:sldId id="463" r:id="rId22"/>
    <p:sldId id="464" r:id="rId23"/>
    <p:sldId id="343" r:id="rId24"/>
    <p:sldId id="433" r:id="rId25"/>
    <p:sldId id="448" r:id="rId26"/>
    <p:sldId id="346" r:id="rId27"/>
    <p:sldId id="449" r:id="rId28"/>
    <p:sldId id="348" r:id="rId29"/>
    <p:sldId id="349" r:id="rId30"/>
    <p:sldId id="434" r:id="rId31"/>
    <p:sldId id="435" r:id="rId32"/>
    <p:sldId id="450" r:id="rId33"/>
    <p:sldId id="432" r:id="rId34"/>
    <p:sldId id="352" r:id="rId35"/>
    <p:sldId id="451" r:id="rId36"/>
    <p:sldId id="472" r:id="rId37"/>
    <p:sldId id="354" r:id="rId38"/>
    <p:sldId id="355" r:id="rId39"/>
    <p:sldId id="452" r:id="rId40"/>
    <p:sldId id="356" r:id="rId41"/>
    <p:sldId id="418" r:id="rId42"/>
    <p:sldId id="369" r:id="rId43"/>
    <p:sldId id="370" r:id="rId44"/>
    <p:sldId id="476" r:id="rId45"/>
    <p:sldId id="371" r:id="rId46"/>
    <p:sldId id="372" r:id="rId47"/>
    <p:sldId id="481" r:id="rId48"/>
    <p:sldId id="377" r:id="rId49"/>
    <p:sldId id="378" r:id="rId50"/>
    <p:sldId id="379" r:id="rId51"/>
    <p:sldId id="380" r:id="rId52"/>
    <p:sldId id="419" r:id="rId53"/>
    <p:sldId id="479" r:id="rId54"/>
    <p:sldId id="381" r:id="rId55"/>
    <p:sldId id="475" r:id="rId56"/>
    <p:sldId id="438" r:id="rId57"/>
    <p:sldId id="437" r:id="rId58"/>
    <p:sldId id="439" r:id="rId59"/>
    <p:sldId id="404" r:id="rId60"/>
    <p:sldId id="482" r:id="rId61"/>
    <p:sldId id="478" r:id="rId62"/>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94646"/>
  </p:normalViewPr>
  <p:slideViewPr>
    <p:cSldViewPr snapToGrid="0">
      <p:cViewPr varScale="1">
        <p:scale>
          <a:sx n="72" d="100"/>
          <a:sy n="72" d="100"/>
        </p:scale>
        <p:origin x="1114"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ADC9AB17-50E1-449A-9A02-181C762C6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75EDE-691C-4E57-8B4F-6469856C297B}"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86018" name="Rectangle 2">
            <a:extLst>
              <a:ext uri="{FF2B5EF4-FFF2-40B4-BE49-F238E27FC236}">
                <a16:creationId xmlns:a16="http://schemas.microsoft.com/office/drawing/2014/main" id="{DA813B07-D589-472C-99F0-F378F999F036}"/>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FF80E7A-A9BF-421F-A65B-7520FF9FE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88219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2398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236768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t>For single-threaded this is ok as the result will always be the same.</a:t>
            </a:r>
          </a:p>
          <a:p>
            <a:r>
              <a:rPr lang="en-US" altLang="en-US" dirty="0"/>
              <a:t>For multithreaded the reordering may produce inconsistent or unexpected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p>
          <a:p>
            <a:r>
              <a:rPr lang="en-US" altLang="en-US" dirty="0"/>
              <a:t>Memory models may be either:</a:t>
            </a:r>
          </a:p>
          <a:p>
            <a:pPr lvl="1"/>
            <a:r>
              <a:rPr lang="en-US" altLang="en-US" b="1" dirty="0"/>
              <a:t>Strongly ordered </a:t>
            </a:r>
            <a:r>
              <a:rPr lang="en-US" altLang="en-US" dirty="0"/>
              <a:t>– where a memory modification of one processor is immediately visible to all other processors.</a:t>
            </a:r>
          </a:p>
          <a:p>
            <a:pPr lvl="1"/>
            <a:r>
              <a:rPr lang="en-US" altLang="en-US" b="1" dirty="0"/>
              <a:t>Weakly ordered  </a:t>
            </a:r>
            <a:r>
              <a:rPr lang="en-US" altLang="en-US" dirty="0"/>
              <a:t>– where a memory modification of one processor may not be immediately visible to all other processors.</a:t>
            </a: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dirty="0"/>
              <a:t>When a memory barrier instruction is performed, the system ensures that all loads and stores are completed before any subsequent load or store operations are performed.</a:t>
            </a:r>
          </a:p>
          <a:p>
            <a:r>
              <a:rPr lang="en-US" altLang="en-US" dirty="0"/>
              <a:t>Therefore, even if instructions were reordered, the memory barrier ensures that the store operations are completed in memory and visible to other processors before future load or store operations are performed.</a:t>
            </a:r>
          </a:p>
          <a:p>
            <a:endParaRPr lang="en-US" altLang="en-US" dirty="0"/>
          </a:p>
        </p:txBody>
      </p:sp>
    </p:spTree>
    <p:extLst>
      <p:ext uri="{BB962C8B-B14F-4D97-AF65-F5344CB8AC3E}">
        <p14:creationId xmlns:p14="http://schemas.microsoft.com/office/powerpoint/2010/main" val="1006609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two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Font typeface="Monotype Sorts" pitchFamily="-84" charset="2"/>
              <a:buNone/>
            </a:pPr>
            <a:r>
              <a:rPr lang="en-US" altLang="en-US" sz="1400" b="1" dirty="0">
                <a:latin typeface="Courier New" panose="02070309020205020404" pitchFamily="49" charset="0"/>
              </a:rPr>
              <a:t>   /* critical section */ </a:t>
            </a: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p>
          <a:p>
            <a:pPr marL="0" indent="0">
              <a:buFont typeface="Monotype Sorts" pitchFamily="-84" charset="2"/>
              <a:buNone/>
            </a:pPr>
            <a:r>
              <a:rPr lang="en-US" altLang="en-US" sz="1400" b="1" dirty="0">
                <a:latin typeface="Courier New" panose="02070309020205020404" pitchFamily="49" charset="0"/>
              </a:rPr>
              <a:t>      j = (j + 1) % n; </a:t>
            </a: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lock = 0; </a:t>
            </a:r>
          </a:p>
          <a:p>
            <a:pPr marL="0" indent="0">
              <a:buFont typeface="Monotype Sorts" pitchFamily="-84" charset="2"/>
              <a:buNone/>
            </a:pPr>
            <a:r>
              <a:rPr lang="en-US" altLang="en-US" sz="1400" b="1" dirty="0">
                <a:latin typeface="Courier New" panose="02070309020205020404" pitchFamily="49" charset="0"/>
              </a:rPr>
              <a:t>   else </a:t>
            </a:r>
          </a:p>
          <a:p>
            <a:pPr marL="0" indent="0">
              <a:buFont typeface="Monotype Sorts" pitchFamily="-84" charset="2"/>
              <a:buNone/>
            </a:pPr>
            <a:r>
              <a:rPr lang="en-US" altLang="en-US" sz="1400" b="1" dirty="0">
                <a:latin typeface="Courier New" panose="02070309020205020404" pitchFamily="49" charset="0"/>
              </a:rPr>
              <a:t>      waiting[j] = false; </a:t>
            </a:r>
          </a:p>
          <a:p>
            <a:pPr marL="0" indent="0">
              <a:buFont typeface="Monotype Sorts" pitchFamily="-84" charset="2"/>
              <a:buNone/>
            </a:pPr>
            <a:r>
              <a:rPr lang="en-US" altLang="en-US" sz="1400" b="1" dirty="0">
                <a:latin typeface="Courier New" panose="02070309020205020404" pitchFamily="49" charset="0"/>
              </a:rPr>
              <a:t>   /* remainder section */ </a:t>
            </a:r>
          </a:p>
          <a:p>
            <a:pPr marL="0" indent="0">
              <a:buFont typeface="Monotype Sorts" pitchFamily="-84" charset="2"/>
              <a:buNone/>
            </a:pPr>
            <a:r>
              <a:rPr lang="en-US" altLang="en-US" sz="1400" b="1" dirty="0">
                <a:latin typeface="Courier New" panose="020703090202050204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r>
              <a:rPr lang="en-US" altLang="en-US" dirty="0"/>
              <a:t>For example:</a:t>
            </a:r>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p>
          <a:p>
            <a:pPr lvl="1"/>
            <a:r>
              <a:rPr lang="en-US" altLang="en-US" dirty="0"/>
              <a:t>The Command:</a:t>
            </a:r>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p>
          <a:p>
            <a:pPr>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pPr>
            <a:r>
              <a:rPr lang="en-US" altLang="en-US" dirty="0"/>
              <a:t>The process with the shortest time is allocated the resource first</a:t>
            </a:r>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dirty="0"/>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0502070F-FED8-4E65-8D27-370BD72918D7}"/>
              </a:ext>
            </a:extLst>
          </p:cNvPr>
          <p:cNvSpPr>
            <a:spLocks noGrp="1" noChangeArrowheads="1"/>
          </p:cNvSpPr>
          <p:nvPr>
            <p:ph type="title"/>
          </p:nvPr>
        </p:nvSpPr>
        <p:spPr>
          <a:xfrm>
            <a:off x="969963" y="138342"/>
            <a:ext cx="7716837" cy="576263"/>
          </a:xfrm>
        </p:spPr>
        <p:txBody>
          <a:bodyPr/>
          <a:lstStyle/>
          <a:p>
            <a:pPr eaLnBrk="1" hangingPunct="1"/>
            <a:r>
              <a:rPr lang="en-US" altLang="en-US" dirty="0"/>
              <a:t>Priority Inheritance Protocol</a:t>
            </a:r>
          </a:p>
        </p:txBody>
      </p:sp>
      <p:sp>
        <p:nvSpPr>
          <p:cNvPr id="84994" name="Rectangle 3">
            <a:extLst>
              <a:ext uri="{FF2B5EF4-FFF2-40B4-BE49-F238E27FC236}">
                <a16:creationId xmlns:a16="http://schemas.microsoft.com/office/drawing/2014/main" id="{3E6ACEED-9DA7-43B4-B11F-05A9205EDDA5}"/>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Consider the scenario with  three processes </a:t>
            </a:r>
            <a:r>
              <a:rPr lang="en-US" altLang="en-US" b="1" dirty="0"/>
              <a:t>P1, P2</a:t>
            </a:r>
            <a:r>
              <a:rPr lang="en-US" altLang="en-US" dirty="0"/>
              <a:t>, and </a:t>
            </a:r>
            <a:r>
              <a:rPr lang="en-US" altLang="en-US" b="1" dirty="0"/>
              <a:t>P3</a:t>
            </a:r>
            <a:r>
              <a:rPr lang="en-US" altLang="en-US" dirty="0"/>
              <a:t>. </a:t>
            </a:r>
            <a:endParaRPr lang="en-US" altLang="en-US" b="1" dirty="0">
              <a:solidFill>
                <a:srgbClr val="006699"/>
              </a:solidFill>
              <a:latin typeface="+mj-lt"/>
            </a:endParaRPr>
          </a:p>
          <a:p>
            <a:pPr lvl="1">
              <a:lnSpc>
                <a:spcPct val="90000"/>
              </a:lnSpc>
              <a:tabLst>
                <a:tab pos="1882775" algn="ctr"/>
                <a:tab pos="4568825" algn="ctr"/>
              </a:tabLst>
            </a:pPr>
            <a:r>
              <a:rPr lang="en-US" altLang="en-US" b="1" dirty="0"/>
              <a:t>P1</a:t>
            </a:r>
            <a:r>
              <a:rPr lang="en-US" altLang="en-US" dirty="0"/>
              <a:t> has the highest priority, </a:t>
            </a:r>
            <a:r>
              <a:rPr lang="en-US" altLang="en-US" b="1" dirty="0"/>
              <a:t>P2</a:t>
            </a:r>
            <a:r>
              <a:rPr lang="en-US" altLang="en-US" dirty="0"/>
              <a:t> the next highest, and </a:t>
            </a:r>
            <a:r>
              <a:rPr lang="en-US" altLang="en-US" b="1" dirty="0"/>
              <a:t>P3</a:t>
            </a:r>
            <a:r>
              <a:rPr lang="en-US" altLang="en-US" dirty="0"/>
              <a:t> the lowest. </a:t>
            </a:r>
          </a:p>
          <a:p>
            <a:pPr>
              <a:lnSpc>
                <a:spcPct val="90000"/>
              </a:lnSpc>
              <a:tabLst>
                <a:tab pos="1882775" algn="ctr"/>
                <a:tab pos="4568825" algn="ctr"/>
              </a:tabLst>
            </a:pPr>
            <a:r>
              <a:rPr lang="en-US" altLang="en-US" dirty="0"/>
              <a:t>Assume that </a:t>
            </a:r>
            <a:r>
              <a:rPr lang="en-US" altLang="en-US" b="1" dirty="0"/>
              <a:t>P3 </a:t>
            </a:r>
            <a:r>
              <a:rPr lang="en-US" altLang="en-US" dirty="0"/>
              <a:t>is</a:t>
            </a:r>
            <a:r>
              <a:rPr lang="en-US" altLang="en-US" b="1" dirty="0"/>
              <a:t> </a:t>
            </a:r>
            <a:r>
              <a:rPr lang="en-US" altLang="en-US" dirty="0"/>
              <a:t>holding</a:t>
            </a:r>
            <a:r>
              <a:rPr lang="en-US" altLang="en-US" b="1" dirty="0"/>
              <a:t> </a:t>
            </a:r>
            <a:r>
              <a:rPr lang="en-US" altLang="en-US" dirty="0"/>
              <a:t>semaphore </a:t>
            </a:r>
            <a:r>
              <a:rPr lang="en-US" altLang="en-US" b="1" dirty="0"/>
              <a:t>S</a:t>
            </a:r>
            <a:r>
              <a:rPr lang="en-US" altLang="en-US" dirty="0"/>
              <a:t> and that </a:t>
            </a: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Assume that </a:t>
            </a:r>
            <a:r>
              <a:rPr lang="en-US" altLang="en-US" b="1" dirty="0"/>
              <a:t>P2</a:t>
            </a:r>
            <a:r>
              <a:rPr lang="en-US" altLang="en-US" dirty="0"/>
              <a:t> is assigned the CPU and preempts </a:t>
            </a:r>
            <a:r>
              <a:rPr lang="en-US" altLang="en-US" b="1" dirty="0"/>
              <a:t>P3</a:t>
            </a:r>
          </a:p>
          <a:p>
            <a:pPr lvl="1">
              <a:lnSpc>
                <a:spcPct val="90000"/>
              </a:lnSpc>
              <a:tabLst>
                <a:tab pos="1882775" algn="ctr"/>
                <a:tab pos="4568825" algn="ctr"/>
              </a:tabLst>
            </a:pPr>
            <a:r>
              <a:rPr lang="en-US" altLang="en-US" b="1" dirty="0"/>
              <a:t>P3 </a:t>
            </a:r>
            <a:r>
              <a:rPr lang="en-US" altLang="en-US" dirty="0"/>
              <a:t>is still holding semaphore </a:t>
            </a:r>
            <a:r>
              <a:rPr lang="en-US" altLang="en-US" b="1" dirty="0"/>
              <a:t>S</a:t>
            </a:r>
          </a:p>
          <a:p>
            <a:pPr lvl="1">
              <a:lnSpc>
                <a:spcPct val="90000"/>
              </a:lnSpc>
              <a:tabLst>
                <a:tab pos="1882775" algn="ctr"/>
                <a:tab pos="4568825" algn="ctr"/>
              </a:tabLst>
            </a:pP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What has happened is that </a:t>
            </a:r>
            <a:r>
              <a:rPr lang="en-US" altLang="en-US" b="1" dirty="0"/>
              <a:t>P2</a:t>
            </a:r>
            <a:r>
              <a:rPr lang="en-US" altLang="en-US" dirty="0"/>
              <a:t> - a process with a lower priority than </a:t>
            </a:r>
            <a:r>
              <a:rPr lang="en-US" altLang="en-US" b="1" dirty="0"/>
              <a:t>P1</a:t>
            </a:r>
            <a:r>
              <a:rPr lang="en-US" altLang="en-US" dirty="0"/>
              <a:t> - has indirectly prevented </a:t>
            </a:r>
            <a:r>
              <a:rPr lang="en-US" altLang="en-US" b="1" dirty="0"/>
              <a:t>P3</a:t>
            </a:r>
            <a:r>
              <a:rPr lang="en-US" altLang="en-US" dirty="0"/>
              <a:t> from gaining access to the resource.</a:t>
            </a:r>
          </a:p>
          <a:p>
            <a:pPr>
              <a:tabLst>
                <a:tab pos="1882775" algn="ctr"/>
                <a:tab pos="4568825" algn="ctr"/>
              </a:tabLst>
            </a:pPr>
            <a:r>
              <a:rPr lang="en-US" altLang="en-US" dirty="0"/>
              <a:t>To prevent this from occurring, a </a:t>
            </a:r>
            <a:r>
              <a:rPr lang="en-US" altLang="en-US" b="1" dirty="0"/>
              <a:t>priority inheritance protocol</a:t>
            </a:r>
            <a:r>
              <a:rPr lang="en-US" altLang="en-US" dirty="0"/>
              <a:t> is used. This simply allows the priority of the highest thread waiting to access a shared resource to be assigned to the thread currently using the resource. Thus, the current owner of the resource is assigned the priority of the highest priority thread wishing to acquire the resource.</a:t>
            </a:r>
          </a:p>
          <a:p>
            <a:pPr lvl="1">
              <a:lnSpc>
                <a:spcPct val="90000"/>
              </a:lnSpc>
              <a:tabLst>
                <a:tab pos="1882775" algn="ctr"/>
                <a:tab pos="4568825" algn="ctr"/>
              </a:tabLst>
            </a:pPr>
            <a:endParaRPr lang="en-US" altLang="en-US" sz="1600" b="1" dirty="0"/>
          </a:p>
        </p:txBody>
      </p:sp>
    </p:spTree>
    <p:extLst>
      <p:ext uri="{BB962C8B-B14F-4D97-AF65-F5344CB8AC3E}">
        <p14:creationId xmlns:p14="http://schemas.microsoft.com/office/powerpoint/2010/main" val="8007932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699755752"/>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16774</TotalTime>
  <Words>4201</Words>
  <Application>Microsoft Office PowerPoint</Application>
  <PresentationFormat>On-screen Show (4:3)</PresentationFormat>
  <Paragraphs>602</Paragraphs>
  <Slides>61</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Courier New</vt:lpstr>
      <vt:lpstr>Helvetica</vt:lpstr>
      <vt:lpstr>Monotype Sorts</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Presentation</vt:lpstr>
      <vt:lpstr>PowerPoint Presentation</vt:lpstr>
      <vt:lpstr>A Monitor to Allocate Single Resource</vt:lpstr>
      <vt:lpstr>Single Resource Monitor (Cont.)</vt:lpstr>
      <vt:lpstr>Liveness</vt:lpstr>
      <vt:lpstr>Liveness</vt:lpstr>
      <vt:lpstr>Liveness</vt:lpstr>
      <vt:lpstr>End of Chapter 6</vt:lpstr>
      <vt:lpstr>Priority Inheritance Protocol</vt:lpstr>
      <vt:lpstr> Usage of Condition Variable  Example</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Silberschatz, Avi</cp:lastModifiedBy>
  <cp:revision>363</cp:revision>
  <cp:lastPrinted>2020-11-04T14:30:39Z</cp:lastPrinted>
  <dcterms:created xsi:type="dcterms:W3CDTF">2011-01-13T23:43:38Z</dcterms:created>
  <dcterms:modified xsi:type="dcterms:W3CDTF">2020-11-04T19:00:04Z</dcterms:modified>
</cp:coreProperties>
</file>