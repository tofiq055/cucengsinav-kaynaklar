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72" r:id="rId5"/>
    <p:sldId id="273" r:id="rId6"/>
    <p:sldId id="259" r:id="rId7"/>
    <p:sldId id="267" r:id="rId8"/>
    <p:sldId id="268" r:id="rId9"/>
    <p:sldId id="269" r:id="rId10"/>
    <p:sldId id="270" r:id="rId11"/>
    <p:sldId id="271" r:id="rId12"/>
    <p:sldId id="274" r:id="rId13"/>
    <p:sldId id="265" r:id="rId14"/>
    <p:sldId id="26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4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5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2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5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5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8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1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3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5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88" r:id="rId4"/>
    <p:sldLayoutId id="2147483689" r:id="rId5"/>
    <p:sldLayoutId id="2147483694" r:id="rId6"/>
    <p:sldLayoutId id="2147483690" r:id="rId7"/>
    <p:sldLayoutId id="2147483691" r:id="rId8"/>
    <p:sldLayoutId id="2147483692" r:id="rId9"/>
    <p:sldLayoutId id="2147483693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.ece.cmu.edu/~ece847c/S15/lib/exe/fetch.php?media=part2_2_sorin12.pdf" TargetMode="External"/><Relationship Id="rId2" Type="http://schemas.openxmlformats.org/officeDocument/2006/relationships/hyperlink" Target="https://www.geeksforgeeks.org/cache-coheren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mage3.slideserve.com/6553848/cache-coherence-problem-example-l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969F2-ED52-4E5C-B3FC-01E01B8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B305F-AFDD-4CFD-8CBC-476A4822D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16" y="746487"/>
            <a:ext cx="6400799" cy="3902149"/>
          </a:xfrm>
        </p:spPr>
        <p:txBody>
          <a:bodyPr anchor="t">
            <a:normAutofit/>
          </a:bodyPr>
          <a:lstStyle/>
          <a:p>
            <a:pPr algn="l"/>
            <a:r>
              <a:rPr lang="tr-TR" dirty="0"/>
              <a:t>Cache CoherencE Example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1EA85-CC14-4829-A8C1-DCBC66F65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202" y="4649287"/>
            <a:ext cx="4890977" cy="999460"/>
          </a:xfrm>
        </p:spPr>
        <p:txBody>
          <a:bodyPr anchor="b">
            <a:normAutofit/>
          </a:bodyPr>
          <a:lstStyle/>
          <a:p>
            <a:pPr algn="l"/>
            <a:r>
              <a:rPr lang="tr-TR" dirty="0"/>
              <a:t>Cahit Barkın Özer </a:t>
            </a:r>
          </a:p>
          <a:p>
            <a:pPr algn="l"/>
            <a:r>
              <a:rPr lang="tr-TR" dirty="0"/>
              <a:t>2018556059</a:t>
            </a:r>
            <a:endParaRPr lang="en-US" dirty="0"/>
          </a:p>
        </p:txBody>
      </p:sp>
      <p:pic>
        <p:nvPicPr>
          <p:cNvPr id="4" name="Picture 3" descr="A close - up of some ice&#10;&#10;Description automatically generated with low confidence">
            <a:extLst>
              <a:ext uri="{FF2B5EF4-FFF2-40B4-BE49-F238E27FC236}">
                <a16:creationId xmlns:a16="http://schemas.microsoft.com/office/drawing/2014/main" id="{C69A3926-3D58-4E9F-841A-7874C1B4F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36" r="22973" b="2"/>
          <a:stretch/>
        </p:blipFill>
        <p:spPr>
          <a:xfrm>
            <a:off x="5879804" y="-6350"/>
            <a:ext cx="6312196" cy="6874330"/>
          </a:xfrm>
          <a:custGeom>
            <a:avLst/>
            <a:gdLst/>
            <a:ahLst/>
            <a:cxnLst/>
            <a:rect l="l" t="t" r="r" b="b"/>
            <a:pathLst>
              <a:path w="6312196" h="6874330">
                <a:moveTo>
                  <a:pt x="2047193" y="0"/>
                </a:moveTo>
                <a:lnTo>
                  <a:pt x="6312196" y="0"/>
                </a:lnTo>
                <a:lnTo>
                  <a:pt x="6312196" y="6874330"/>
                </a:lnTo>
                <a:lnTo>
                  <a:pt x="0" y="6874330"/>
                </a:lnTo>
                <a:close/>
              </a:path>
            </a:pathLst>
          </a:cu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34715" y="0"/>
            <a:ext cx="914401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608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5140-560A-484D-8B9C-044C1633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19" y="217099"/>
            <a:ext cx="2289566" cy="1631751"/>
          </a:xfrm>
        </p:spPr>
        <p:txBody>
          <a:bodyPr anchor="t">
            <a:normAutofit/>
          </a:bodyPr>
          <a:lstStyle/>
          <a:p>
            <a:r>
              <a:rPr lang="tr-TR" sz="2000" dirty="0"/>
              <a:t>WHY does ıt occur?</a:t>
            </a:r>
            <a:endParaRPr lang="en-US" sz="2000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E1B0-8FAC-47EB-B2E7-8238E559B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r>
              <a:rPr lang="en-US" sz="2400" b="0" i="0" dirty="0">
                <a:effectLst/>
                <a:latin typeface="urw-din"/>
              </a:rPr>
              <a:t>In a shared memory multiprocessor with a separate cache memory for each processor, it is possible to have many copies of any one instruction operand: one copy in the main memory and one in each cache memory. When one copy of an operand is changed, the other copies of the operand must be changed also.</a:t>
            </a:r>
            <a:r>
              <a:rPr lang="tr-TR" sz="2400" b="0" i="0" dirty="0">
                <a:effectLst/>
                <a:latin typeface="urw-din"/>
              </a:rPr>
              <a:t> If it is not changed cache coherence inconsistency occurs.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9744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4DD34-DD56-43D0-8EE4-553A2E92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31" y="222162"/>
            <a:ext cx="2913569" cy="1950587"/>
          </a:xfrm>
        </p:spPr>
        <p:txBody>
          <a:bodyPr anchor="t">
            <a:normAutofit/>
          </a:bodyPr>
          <a:lstStyle/>
          <a:p>
            <a:r>
              <a:rPr lang="tr-TR" sz="2000" dirty="0"/>
              <a:t>Levels of cache coherence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518C8-639D-4AF2-817C-8C7C5CD7E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pPr algn="l" fontAlgn="base"/>
            <a:r>
              <a:rPr lang="en-US" sz="2400" b="0" i="0" dirty="0">
                <a:effectLst/>
                <a:latin typeface="var(--font-din)"/>
              </a:rPr>
              <a:t>There are three distinct level</a:t>
            </a:r>
            <a:r>
              <a:rPr lang="tr-TR" sz="2400" b="0" i="0" dirty="0">
                <a:effectLst/>
                <a:latin typeface="var(--font-din)"/>
              </a:rPr>
              <a:t>s</a:t>
            </a:r>
            <a:r>
              <a:rPr lang="en-US" sz="2400" b="0" i="0" dirty="0">
                <a:effectLst/>
                <a:latin typeface="var(--font-din)"/>
              </a:rPr>
              <a:t> of cache coherence :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Every write operation appears to occur instantaneously.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All processors see the same sequence of changes of values for each separate operand.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Different processors may see an operation and assume different sequences of values; this is known as non-coherent behavior.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79017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A9E217-1733-4782-8844-42273920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62" y="207382"/>
            <a:ext cx="2570716" cy="20907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/>
              <a:t>Cache coherence</a:t>
            </a:r>
            <a:br>
              <a:rPr lang="tr-TR" sz="2000" dirty="0"/>
            </a:br>
            <a:r>
              <a:rPr lang="en-US" sz="2000" dirty="0"/>
              <a:t>Example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0F2205-5C98-46EB-B45A-D0DD49B9562A}"/>
              </a:ext>
            </a:extLst>
          </p:cNvPr>
          <p:cNvSpPr txBox="1">
            <a:spLocks/>
          </p:cNvSpPr>
          <p:nvPr/>
        </p:nvSpPr>
        <p:spPr>
          <a:xfrm>
            <a:off x="4039213" y="3065850"/>
            <a:ext cx="7745762" cy="4190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3200" dirty="0"/>
              <a:t>Since there are multiple levels in a memory hierarchy, with some of these levels private to one or more processors(e.g cpu’s caches are private), some levels may contain copies of data objects that are inconsistent with others.</a:t>
            </a:r>
            <a:endParaRPr lang="en-US" sz="3200" b="0" i="0" dirty="0">
              <a:effectLst/>
            </a:endParaRPr>
          </a:p>
          <a:p>
            <a:pPr marL="0"/>
            <a:endParaRPr lang="en-US" sz="3200" dirty="0"/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F8A95098-1158-45DB-BEF4-ACCB81575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126" y="261298"/>
            <a:ext cx="6130172" cy="280455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43D0A0-7F84-4610-B86F-EAC6F6391ACA}"/>
              </a:ext>
            </a:extLst>
          </p:cNvPr>
          <p:cNvSpPr txBox="1">
            <a:spLocks/>
          </p:cNvSpPr>
          <p:nvPr/>
        </p:nvSpPr>
        <p:spPr>
          <a:xfrm>
            <a:off x="3589940" y="1291167"/>
            <a:ext cx="8053520" cy="397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sz="1800" dirty="0"/>
              <a:t>Figure1-Cache Coherence[1]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87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0F2205-5C98-46EB-B45A-D0DD49B9562A}"/>
              </a:ext>
            </a:extLst>
          </p:cNvPr>
          <p:cNvSpPr txBox="1">
            <a:spLocks/>
          </p:cNvSpPr>
          <p:nvPr/>
        </p:nvSpPr>
        <p:spPr>
          <a:xfrm>
            <a:off x="4128909" y="1824634"/>
            <a:ext cx="8063091" cy="5807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tr-TR" sz="3200" dirty="0"/>
              <a:t>This problem is manifested most obviously when individual processors maintain cached copies of a unique shared-memory location, and then modify that copy. The inconsisten view of that object obtained from other processor’s caches.</a:t>
            </a:r>
            <a:endParaRPr lang="en-US" sz="3200" dirty="0"/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F8A95098-1158-45DB-BEF4-ACCB81575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325" y="582724"/>
            <a:ext cx="6002867" cy="274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1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F8A95098-1158-45DB-BEF4-ACCB81575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999" y="587448"/>
            <a:ext cx="6486525" cy="2962275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8A9E217-1733-4782-8844-42273920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32" y="302611"/>
            <a:ext cx="2289566" cy="1631751"/>
          </a:xfrm>
        </p:spPr>
        <p:txBody>
          <a:bodyPr anchor="t">
            <a:normAutofit/>
          </a:bodyPr>
          <a:lstStyle/>
          <a:p>
            <a:r>
              <a:rPr lang="tr-TR" sz="2000" dirty="0"/>
              <a:t>Example 1</a:t>
            </a:r>
            <a:endParaRPr lang="en-US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20F2205-5C98-46EB-B45A-D0DD49B9562A}"/>
              </a:ext>
            </a:extLst>
          </p:cNvPr>
          <p:cNvSpPr txBox="1">
            <a:spLocks/>
          </p:cNvSpPr>
          <p:nvPr/>
        </p:nvSpPr>
        <p:spPr>
          <a:xfrm>
            <a:off x="4007263" y="1766582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latin typeface="var(--font-din)"/>
              </a:rPr>
              <a:t>Let</a:t>
            </a:r>
            <a:r>
              <a:rPr lang="tr-TR" b="1" dirty="0">
                <a:latin typeface="var(--font-din)"/>
              </a:rPr>
              <a:t> </a:t>
            </a:r>
            <a:r>
              <a:rPr lang="tr-TR" dirty="0">
                <a:latin typeface="var(--font-din)"/>
              </a:rPr>
              <a:t>say in our shared memory, there is a variable named X and it is equal to 24.</a:t>
            </a:r>
            <a:endParaRPr lang="en-US" sz="2400" b="0" i="0" dirty="0">
              <a:effectLst/>
              <a:latin typeface="var(--font-din)"/>
            </a:endParaRP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390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696CEC-2E9E-4BFB-9DC0-3250C2107290}"/>
              </a:ext>
            </a:extLst>
          </p:cNvPr>
          <p:cNvSpPr txBox="1">
            <a:spLocks/>
          </p:cNvSpPr>
          <p:nvPr/>
        </p:nvSpPr>
        <p:spPr>
          <a:xfrm>
            <a:off x="4177203" y="2102142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0" dirty="0">
                <a:effectLst/>
                <a:latin typeface="var(--font-din)"/>
              </a:rPr>
              <a:t>Processor 1 read X :</a:t>
            </a:r>
            <a:r>
              <a:rPr lang="en-US" sz="2400" b="0" i="0" dirty="0">
                <a:effectLst/>
                <a:latin typeface="var(--font-din)"/>
              </a:rPr>
              <a:t> obtains 24 from the memory and caches it.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id="{59D6CB9E-607F-425A-8350-6557E55FA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330" y="87751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3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2AA1F8-9D12-41FE-9B63-39EE26EE7E2F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var(--font-din)"/>
              </a:rPr>
              <a:t>Processor 2 read X :</a:t>
            </a:r>
            <a:r>
              <a:rPr lang="en-US" b="0" i="0" dirty="0">
                <a:effectLst/>
                <a:latin typeface="var(--font-din)"/>
              </a:rPr>
              <a:t> obtains 24 from memory and caches it.</a:t>
            </a: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id="{31AE13E2-879E-486B-AC4D-68AE4E3E7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203" y="87751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0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CA08BB-7805-4F94-B1E4-EE622E053BF8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var(--font-din)"/>
              </a:rPr>
              <a:t>Processor </a:t>
            </a:r>
            <a:r>
              <a:rPr lang="tr-TR" b="1" i="0" dirty="0">
                <a:effectLst/>
                <a:latin typeface="var(--font-din)"/>
              </a:rPr>
              <a:t>1</a:t>
            </a:r>
            <a:r>
              <a:rPr lang="en-US" b="1" i="0" dirty="0">
                <a:effectLst/>
                <a:latin typeface="var(--font-din)"/>
              </a:rPr>
              <a:t> </a:t>
            </a:r>
            <a:r>
              <a:rPr lang="tr-TR" b="1" i="0" dirty="0">
                <a:effectLst/>
                <a:latin typeface="var(--font-din)"/>
              </a:rPr>
              <a:t>write</a:t>
            </a:r>
            <a:r>
              <a:rPr lang="en-US" b="1" i="0" dirty="0">
                <a:effectLst/>
                <a:latin typeface="var(--font-din)"/>
              </a:rPr>
              <a:t> X :</a:t>
            </a:r>
            <a:r>
              <a:rPr lang="en-US" b="0" i="0" dirty="0">
                <a:effectLst/>
                <a:latin typeface="var(--font-din)"/>
              </a:rPr>
              <a:t> </a:t>
            </a:r>
            <a:r>
              <a:rPr lang="tr-TR" b="0" i="0" dirty="0">
                <a:effectLst/>
                <a:latin typeface="var(--font-din)"/>
              </a:rPr>
              <a:t>64 instead of 24</a:t>
            </a:r>
            <a:r>
              <a:rPr lang="en-US" b="0" i="0" dirty="0">
                <a:effectLst/>
                <a:latin typeface="var(--font-din)"/>
              </a:rPr>
              <a:t>.</a:t>
            </a:r>
            <a:r>
              <a:rPr lang="tr-TR" b="0" i="0" dirty="0">
                <a:effectLst/>
                <a:latin typeface="var(--font-din)"/>
              </a:rPr>
              <a:t> </a:t>
            </a:r>
            <a:r>
              <a:rPr lang="en-US" b="0" i="0" dirty="0">
                <a:effectLst/>
                <a:latin typeface="urw-din"/>
              </a:rPr>
              <a:t>Its locally cached copy is updated</a:t>
            </a:r>
            <a:r>
              <a:rPr lang="tr-TR" b="0" i="0" dirty="0">
                <a:effectLst/>
                <a:latin typeface="urw-din"/>
              </a:rPr>
              <a:t>.</a:t>
            </a:r>
            <a:endParaRPr lang="en-US" b="0" i="0" dirty="0">
              <a:effectLst/>
              <a:latin typeface="var(--font-din)"/>
            </a:endParaRP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id="{7B7273F4-5854-4BD5-A926-F099B24E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97" y="87751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4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BB9280-D2DA-46CC-B898-3422BB352B56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tr-TR" b="1" dirty="0">
                <a:latin typeface="urw-din"/>
              </a:rPr>
              <a:t>P</a:t>
            </a:r>
            <a:r>
              <a:rPr lang="en-US" b="1" i="0" dirty="0" err="1">
                <a:effectLst/>
                <a:latin typeface="urw-din"/>
              </a:rPr>
              <a:t>rocessor</a:t>
            </a:r>
            <a:r>
              <a:rPr lang="en-US" b="1" i="0" dirty="0">
                <a:effectLst/>
                <a:latin typeface="urw-din"/>
              </a:rPr>
              <a:t> 3 reads X</a:t>
            </a:r>
            <a:r>
              <a:rPr lang="tr-TR" b="1" dirty="0">
                <a:latin typeface="urw-din"/>
              </a:rPr>
              <a:t>. </a:t>
            </a:r>
            <a:r>
              <a:rPr lang="en-US" b="0" i="0" dirty="0">
                <a:effectLst/>
                <a:latin typeface="urw-din"/>
              </a:rPr>
              <a:t> </a:t>
            </a:r>
            <a:r>
              <a:rPr lang="tr-TR" b="0" i="0" dirty="0">
                <a:effectLst/>
                <a:latin typeface="urw-din"/>
              </a:rPr>
              <a:t>W</a:t>
            </a:r>
            <a:r>
              <a:rPr lang="en-US" b="0" i="0" dirty="0">
                <a:effectLst/>
                <a:latin typeface="urw-din"/>
              </a:rPr>
              <a:t>hat value should it get?</a:t>
            </a:r>
            <a:endParaRPr lang="en-US" b="1" i="0" dirty="0">
              <a:effectLst/>
              <a:latin typeface="var(--font-din)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6FB05B2-17C6-418A-A788-805381819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203" y="1301384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4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68E3CB-A8BD-4A1E-8121-4A78B6455C83}"/>
              </a:ext>
            </a:extLst>
          </p:cNvPr>
          <p:cNvSpPr txBox="1">
            <a:spLocks/>
          </p:cNvSpPr>
          <p:nvPr/>
        </p:nvSpPr>
        <p:spPr>
          <a:xfrm>
            <a:off x="4177203" y="1615581"/>
            <a:ext cx="7286018" cy="5791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tr-TR" b="1" i="0" dirty="0">
                <a:effectLst/>
                <a:latin typeface="var(--font-din)"/>
              </a:rPr>
              <a:t>Shared </a:t>
            </a:r>
            <a:r>
              <a:rPr lang="tr-TR" b="1" dirty="0">
                <a:latin typeface="var(--font-din)"/>
              </a:rPr>
              <a:t>m</a:t>
            </a:r>
            <a:r>
              <a:rPr lang="en-US" b="1" i="0" dirty="0" err="1">
                <a:effectLst/>
                <a:latin typeface="var(--font-din)"/>
              </a:rPr>
              <a:t>emory</a:t>
            </a:r>
            <a:r>
              <a:rPr lang="en-US" b="1" i="0" dirty="0">
                <a:effectLst/>
                <a:latin typeface="var(--font-din)"/>
              </a:rPr>
              <a:t> </a:t>
            </a:r>
            <a:r>
              <a:rPr lang="en-US" b="0" i="0" dirty="0">
                <a:effectLst/>
                <a:latin typeface="var(--font-din)"/>
              </a:rPr>
              <a:t>and </a:t>
            </a:r>
            <a:r>
              <a:rPr lang="en-US" b="1" i="0" dirty="0">
                <a:effectLst/>
                <a:latin typeface="var(--font-din)"/>
              </a:rPr>
              <a:t>processor 2 </a:t>
            </a:r>
            <a:r>
              <a:rPr lang="en-US" b="0" i="0" dirty="0">
                <a:effectLst/>
                <a:latin typeface="var(--font-din)"/>
              </a:rPr>
              <a:t>thinks it is </a:t>
            </a:r>
            <a:r>
              <a:rPr lang="en-US" b="0" i="0" u="sng" dirty="0">
                <a:effectLst/>
                <a:latin typeface="var(--font-din)"/>
              </a:rPr>
              <a:t>24</a:t>
            </a:r>
            <a:r>
              <a:rPr lang="en-US" b="0" i="0" dirty="0">
                <a:effectLst/>
                <a:latin typeface="var(--font-din)"/>
              </a:rPr>
              <a:t> and </a:t>
            </a:r>
            <a:r>
              <a:rPr lang="en-US" b="1" i="0" dirty="0">
                <a:effectLst/>
                <a:latin typeface="var(--font-din)"/>
              </a:rPr>
              <a:t>processor 1 </a:t>
            </a:r>
            <a:r>
              <a:rPr lang="en-US" b="0" i="0" dirty="0">
                <a:effectLst/>
                <a:latin typeface="var(--font-din)"/>
              </a:rPr>
              <a:t>thinks it is </a:t>
            </a:r>
            <a:r>
              <a:rPr lang="en-US" b="0" i="0" u="sng" dirty="0">
                <a:effectLst/>
                <a:latin typeface="var(--font-din)"/>
              </a:rPr>
              <a:t>64</a:t>
            </a:r>
            <a:r>
              <a:rPr lang="en-US" b="0" i="0" dirty="0">
                <a:effectLst/>
                <a:latin typeface="var(--font-din)"/>
              </a:rPr>
              <a:t>.</a:t>
            </a:r>
            <a:r>
              <a:rPr lang="tr-TR" b="0" i="0" dirty="0">
                <a:effectLst/>
                <a:latin typeface="var(--font-din)"/>
              </a:rPr>
              <a:t> This is a data inconsistency and the cache coherence problem.</a:t>
            </a:r>
            <a:endParaRPr lang="en-US" b="0" i="0" dirty="0">
              <a:effectLst/>
              <a:latin typeface="var(--font-din)"/>
            </a:endParaRP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0D798213-9307-449A-9F61-816CE4E39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97" y="798045"/>
            <a:ext cx="6487430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5530D9-E5EC-4F53-9718-FD7F2F12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E8EC9D40-708B-4955-84A6-7F0067CDF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5811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A9E217-1733-4782-8844-42273920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24" y="158718"/>
            <a:ext cx="2228972" cy="144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Cache coherence</a:t>
            </a:r>
            <a:br>
              <a:rPr lang="en-US" sz="2000" dirty="0"/>
            </a:br>
            <a:r>
              <a:rPr lang="en-US" sz="2000" dirty="0"/>
              <a:t>Example</a:t>
            </a:r>
            <a:r>
              <a:rPr lang="tr-TR" sz="2000" dirty="0"/>
              <a:t> 2</a:t>
            </a:r>
            <a:endParaRPr lang="en-US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B9E8D0-9447-46F3-9ECE-EE314C367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6953ECB4-4016-4F57-A043-E6712428B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965" y="308770"/>
            <a:ext cx="7366005" cy="5524504"/>
          </a:xfr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067A2F-A420-47DF-99B6-979BF899FFE3}"/>
              </a:ext>
            </a:extLst>
          </p:cNvPr>
          <p:cNvSpPr txBox="1">
            <a:spLocks/>
          </p:cNvSpPr>
          <p:nvPr/>
        </p:nvSpPr>
        <p:spPr>
          <a:xfrm>
            <a:off x="3565871" y="4103786"/>
            <a:ext cx="8053520" cy="397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sz="1800" dirty="0"/>
              <a:t>Figure2-Cache Coherence Problem Example[3]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4808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31C90-85B9-4AF0-976A-8B408B57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60" y="300989"/>
            <a:ext cx="2655342" cy="1947261"/>
          </a:xfrm>
        </p:spPr>
        <p:txBody>
          <a:bodyPr anchor="t">
            <a:normAutofit/>
          </a:bodyPr>
          <a:lstStyle/>
          <a:p>
            <a:r>
              <a:rPr lang="tr-TR" sz="2000" dirty="0"/>
              <a:t>PreventIonS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BE74-4B67-4DD0-9B9C-5869BB0DC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r>
              <a:rPr lang="tr-TR" sz="3200" dirty="0"/>
              <a:t>There are software and hardware preventions of the cache coherence problem. As a software </a:t>
            </a:r>
            <a:r>
              <a:rPr lang="en-US" sz="3200" dirty="0"/>
              <a:t> prevent</a:t>
            </a:r>
            <a:r>
              <a:rPr lang="tr-TR" sz="3200" dirty="0"/>
              <a:t>ion</a:t>
            </a:r>
            <a:r>
              <a:rPr lang="en-US" sz="3200" dirty="0"/>
              <a:t>, the system must implement a cache coherence protocol to regulate the actions of the cores</a:t>
            </a:r>
            <a:r>
              <a:rPr lang="tr-TR" sz="3200" dirty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97681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FD97A-D113-4B6E-A122-9B639619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88" y="217099"/>
            <a:ext cx="2748371" cy="1631751"/>
          </a:xfrm>
        </p:spPr>
        <p:txBody>
          <a:bodyPr anchor="t">
            <a:normAutofit/>
          </a:bodyPr>
          <a:lstStyle/>
          <a:p>
            <a:r>
              <a:rPr lang="tr-TR" sz="2000" dirty="0"/>
              <a:t>Cache Coherence protocols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CAD2-41AD-407F-B166-599F5409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0792" y="533400"/>
            <a:ext cx="7286018" cy="5791199"/>
          </a:xfrm>
        </p:spPr>
        <p:txBody>
          <a:bodyPr anchor="ctr">
            <a:normAutofit/>
          </a:bodyPr>
          <a:lstStyle/>
          <a:p>
            <a:pPr algn="l" fontAlgn="base"/>
            <a:r>
              <a:rPr lang="en-US" sz="2400" b="0" i="0" dirty="0">
                <a:effectLst/>
                <a:latin typeface="var(--font-din)"/>
              </a:rPr>
              <a:t>There are various Cache Coherence Protocols in multiprocessor system: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MSI protocol (Modified, Shared, Invalid)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MOSI protocol (Modified, Owned, Shared, Invalid)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MESI protocol (Modified, Exclusive, Shared, Invalid)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effectLst/>
                <a:latin typeface="var(--font-din)"/>
              </a:rPr>
              <a:t>MOESI protocol (Modified, Owned, Exclusive, Shared, Invalid)</a:t>
            </a:r>
          </a:p>
        </p:txBody>
      </p:sp>
    </p:spTree>
    <p:extLst>
      <p:ext uri="{BB962C8B-B14F-4D97-AF65-F5344CB8AC3E}">
        <p14:creationId xmlns:p14="http://schemas.microsoft.com/office/powerpoint/2010/main" val="3047469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E0373C-BDE9-4FAA-892A-B226DD970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FC2BFFFF-16DA-434F-B48D-28B53969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3448424" cy="693221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9211" h="6857998">
                <a:moveTo>
                  <a:pt x="2702995" y="42638"/>
                </a:moveTo>
                <a:lnTo>
                  <a:pt x="6699211" y="0"/>
                </a:lnTo>
                <a:lnTo>
                  <a:pt x="6699211" y="6857998"/>
                </a:lnTo>
                <a:lnTo>
                  <a:pt x="0" y="6844350"/>
                </a:lnTo>
                <a:lnTo>
                  <a:pt x="2702995" y="426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DB64B-FFD1-49A3-A52E-5DEBE0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57" y="283281"/>
            <a:ext cx="2969310" cy="2310629"/>
          </a:xfrm>
        </p:spPr>
        <p:txBody>
          <a:bodyPr anchor="t">
            <a:normAutofit/>
          </a:bodyPr>
          <a:lstStyle/>
          <a:p>
            <a:r>
              <a:rPr lang="tr-TR" sz="2000" dirty="0"/>
              <a:t>References</a:t>
            </a:r>
            <a:endParaRPr lang="en-US" sz="2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EAD419-2D3B-4CD6-A841-F11CA0944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329451"/>
            <a:ext cx="6096000" cy="152854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190BC-2BC2-42DB-97B1-7EDE2E384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406" y="618841"/>
            <a:ext cx="7286018" cy="6713784"/>
          </a:xfrm>
        </p:spPr>
        <p:txBody>
          <a:bodyPr anchor="ctr">
            <a:normAutofit/>
          </a:bodyPr>
          <a:lstStyle/>
          <a:p>
            <a:r>
              <a:rPr lang="tr-TR" sz="3000" dirty="0"/>
              <a:t>[1]cu16bsc3173(24-08-2020).Cache coherence:</a:t>
            </a:r>
          </a:p>
          <a:p>
            <a:r>
              <a:rPr lang="en-US" sz="3000" dirty="0">
                <a:hlinkClick r:id="rId2"/>
              </a:rPr>
              <a:t>https://www.geeksforgeeks.org/cache-coherence/</a:t>
            </a:r>
            <a:endParaRPr lang="tr-TR" sz="3000" dirty="0"/>
          </a:p>
          <a:p>
            <a:r>
              <a:rPr lang="tr-TR" sz="3000" dirty="0"/>
              <a:t>[2]Wood,Hill,Sorin.(2011).A primer on memory consistency and cache coherence:</a:t>
            </a:r>
          </a:p>
          <a:p>
            <a:r>
              <a:rPr lang="tr-TR" sz="3000" dirty="0">
                <a:hlinkClick r:id="rId3"/>
              </a:rPr>
              <a:t>https://course.ece.cmu.edu/~ece847c/S15/lib/exe/fetch.php?media=part2_2_sorin12.pdf</a:t>
            </a:r>
            <a:endParaRPr lang="tr-TR" sz="3000" dirty="0"/>
          </a:p>
          <a:p>
            <a:r>
              <a:rPr lang="tr-TR" sz="3000" dirty="0"/>
              <a:t>[3]Shaaban(spring 2009)EECC756:</a:t>
            </a:r>
          </a:p>
          <a:p>
            <a:r>
              <a:rPr lang="tr-TR" sz="3000" dirty="0">
                <a:hlinkClick r:id="rId4"/>
              </a:rPr>
              <a:t>https://image3.slideserve.com/6553848/cache-coherence-problem-example-l.jpg</a:t>
            </a:r>
            <a:endParaRPr lang="tr-TR" sz="3000" dirty="0"/>
          </a:p>
          <a:p>
            <a:endParaRPr lang="tr-TR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5453413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531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Univers Condensed Light</vt:lpstr>
      <vt:lpstr>urw-din</vt:lpstr>
      <vt:lpstr>var(--font-din)</vt:lpstr>
      <vt:lpstr>Walbaum Display Light</vt:lpstr>
      <vt:lpstr>AngleLinesVTI</vt:lpstr>
      <vt:lpstr>Cache CoherencE Example</vt:lpstr>
      <vt:lpstr>WHY does ıt occur?</vt:lpstr>
      <vt:lpstr>Levels of cache coherence</vt:lpstr>
      <vt:lpstr>Cache coherence Example</vt:lpstr>
      <vt:lpstr>PowerPoint Presentation</vt:lpstr>
      <vt:lpstr>Example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Cache coherence Example 2</vt:lpstr>
      <vt:lpstr>PreventIonS</vt:lpstr>
      <vt:lpstr>Cache Coherence protocols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CoherencE Example</dc:title>
  <dc:creator>CAHİT BARKIN ÖZER</dc:creator>
  <cp:lastModifiedBy>CAHİT BARKIN ÖZER</cp:lastModifiedBy>
  <cp:revision>4</cp:revision>
  <dcterms:created xsi:type="dcterms:W3CDTF">2020-12-29T11:13:54Z</dcterms:created>
  <dcterms:modified xsi:type="dcterms:W3CDTF">2020-12-29T11:29:37Z</dcterms:modified>
</cp:coreProperties>
</file>