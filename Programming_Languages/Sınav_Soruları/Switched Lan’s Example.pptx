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7" r:id="rId8"/>
    <p:sldId id="264" r:id="rId9"/>
    <p:sldId id="265" r:id="rId10"/>
    <p:sldId id="266" r:id="rId11"/>
    <p:sldId id="272" r:id="rId12"/>
    <p:sldId id="269" r:id="rId13"/>
    <p:sldId id="271" r:id="rId14"/>
    <p:sldId id="273" r:id="rId15"/>
    <p:sldId id="270" r:id="rId16"/>
    <p:sldId id="259" r:id="rId17"/>
    <p:sldId id="260" r:id="rId1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B4C740D6-DEEF-4ED6-B547-F5FA5307ED18}" type="datetimeFigureOut">
              <a:rPr lang="tr-TR" smtClean="0"/>
              <a:t>17.05.2021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348634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B4C740D6-DEEF-4ED6-B547-F5FA5307ED18}" type="datetimeFigureOut">
              <a:rPr lang="tr-TR" smtClean="0"/>
              <a:t>17.05.2021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924632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B4C740D6-DEEF-4ED6-B547-F5FA5307ED18}" type="datetimeFigureOut">
              <a:rPr lang="tr-TR" smtClean="0"/>
              <a:t>17.05.2021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2401861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B4C740D6-DEEF-4ED6-B547-F5FA5307ED18}" type="datetimeFigureOut">
              <a:rPr lang="tr-TR" smtClean="0"/>
              <a:t>17.05.2021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5883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B4C740D6-DEEF-4ED6-B547-F5FA5307ED18}" type="datetimeFigureOut">
              <a:rPr lang="tr-TR" smtClean="0"/>
              <a:t>17.05.2021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3843102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B4C740D6-DEEF-4ED6-B547-F5FA5307ED18}" type="datetimeFigureOut">
              <a:rPr lang="tr-TR" smtClean="0"/>
              <a:t>17.05.2021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2346476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B4C740D6-DEEF-4ED6-B547-F5FA5307ED18}" type="datetimeFigureOut">
              <a:rPr lang="tr-TR" smtClean="0"/>
              <a:t>17.05.2021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48664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B4C740D6-DEEF-4ED6-B547-F5FA5307ED18}" type="datetimeFigureOut">
              <a:rPr lang="tr-TR" smtClean="0"/>
              <a:t>17.05.2021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457442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B4C740D6-DEEF-4ED6-B547-F5FA5307ED18}" type="datetimeFigureOut">
              <a:rPr lang="tr-TR" smtClean="0"/>
              <a:t>17.05.2021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748236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B4C740D6-DEEF-4ED6-B547-F5FA5307ED18}" type="datetimeFigureOut">
              <a:rPr lang="tr-TR" smtClean="0"/>
              <a:t>17.05.2021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4017270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B4C740D6-DEEF-4ED6-B547-F5FA5307ED18}" type="datetimeFigureOut">
              <a:rPr lang="tr-TR" smtClean="0"/>
              <a:t>17.05.2021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E044FD3-7AD0-4275-A323-F141BE09E892}" type="slidenum">
              <a:rPr lang="tr-TR" smtClean="0"/>
              <a:t>‹#›</a:t>
            </a:fld>
            <a:endParaRPr lang="tr-TR"/>
          </a:p>
        </p:txBody>
      </p:sp>
    </p:spTree>
    <p:extLst>
      <p:ext uri="{BB962C8B-B14F-4D97-AF65-F5344CB8AC3E}">
        <p14:creationId xmlns:p14="http://schemas.microsoft.com/office/powerpoint/2010/main" val="1982514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740D6-DEEF-4ED6-B547-F5FA5307ED18}" type="datetimeFigureOut">
              <a:rPr lang="tr-TR" smtClean="0"/>
              <a:t>17.05.2021</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044FD3-7AD0-4275-A323-F141BE09E892}" type="slidenum">
              <a:rPr lang="tr-TR" smtClean="0"/>
              <a:t>‹#›</a:t>
            </a:fld>
            <a:endParaRPr lang="tr-TR"/>
          </a:p>
        </p:txBody>
      </p:sp>
    </p:spTree>
    <p:extLst>
      <p:ext uri="{BB962C8B-B14F-4D97-AF65-F5344CB8AC3E}">
        <p14:creationId xmlns:p14="http://schemas.microsoft.com/office/powerpoint/2010/main" val="846834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err="1" smtClean="0"/>
              <a:t>Switched</a:t>
            </a:r>
            <a:r>
              <a:rPr lang="tr-TR" dirty="0" smtClean="0"/>
              <a:t> </a:t>
            </a:r>
            <a:r>
              <a:rPr lang="tr-TR" dirty="0" err="1" smtClean="0"/>
              <a:t>Lan’s</a:t>
            </a:r>
            <a:r>
              <a:rPr lang="tr-TR" dirty="0" smtClean="0"/>
              <a:t> </a:t>
            </a:r>
            <a:r>
              <a:rPr lang="tr-TR" dirty="0" err="1" smtClean="0"/>
              <a:t>Example</a:t>
            </a:r>
            <a:endParaRPr lang="tr-TR" dirty="0"/>
          </a:p>
        </p:txBody>
      </p:sp>
      <p:sp>
        <p:nvSpPr>
          <p:cNvPr id="3" name="Alt Başlık 2"/>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241571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a:xfrm>
            <a:off x="467544" y="1844824"/>
            <a:ext cx="8229600" cy="4525963"/>
          </a:xfrm>
        </p:spPr>
        <p:txBody>
          <a:bodyPr>
            <a:normAutofit/>
          </a:bodyPr>
          <a:lstStyle/>
          <a:p>
            <a:r>
              <a:rPr lang="tr-TR" sz="2800" dirty="0" err="1" smtClean="0"/>
              <a:t>We</a:t>
            </a:r>
            <a:r>
              <a:rPr lang="en-US" sz="2800" dirty="0" smtClean="0"/>
              <a:t> will set up switched LANs using two different switching devices: hubs and switches. </a:t>
            </a:r>
            <a:endParaRPr lang="tr-TR" sz="2800" dirty="0" smtClean="0"/>
          </a:p>
          <a:p>
            <a:r>
              <a:rPr lang="en-US" sz="2800" dirty="0" smtClean="0"/>
              <a:t>A hub forwards the packet that arrives on any of its inputs on all the outputs regardless of the destination of the packet.</a:t>
            </a:r>
            <a:endParaRPr lang="tr-TR" sz="2800" dirty="0" smtClean="0"/>
          </a:p>
        </p:txBody>
      </p:sp>
    </p:spTree>
    <p:extLst>
      <p:ext uri="{BB962C8B-B14F-4D97-AF65-F5344CB8AC3E}">
        <p14:creationId xmlns:p14="http://schemas.microsoft.com/office/powerpoint/2010/main" val="3475511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r>
              <a:rPr lang="en-US" dirty="0" smtClean="0"/>
              <a:t> </a:t>
            </a:r>
            <a:r>
              <a:rPr lang="en-US" sz="2800" dirty="0" smtClean="0"/>
              <a:t>On the other hand, a switch forwards incoming packets to one or more outputs depending on the destination(s) of the packets.</a:t>
            </a:r>
            <a:endParaRPr lang="tr-TR" sz="2800" dirty="0" smtClean="0"/>
          </a:p>
          <a:p>
            <a:r>
              <a:rPr lang="tr-TR" sz="2800" dirty="0" err="1" smtClean="0"/>
              <a:t>We</a:t>
            </a:r>
            <a:r>
              <a:rPr lang="tr-TR" sz="2800" dirty="0" smtClean="0"/>
              <a:t> </a:t>
            </a:r>
            <a:r>
              <a:rPr lang="tr-TR" sz="2800" dirty="0" err="1" smtClean="0"/>
              <a:t>will</a:t>
            </a:r>
            <a:r>
              <a:rPr lang="tr-TR" sz="2800" dirty="0" smtClean="0"/>
              <a:t> </a:t>
            </a:r>
            <a:r>
              <a:rPr lang="tr-TR" sz="2800" dirty="0" err="1" smtClean="0"/>
              <a:t>see</a:t>
            </a:r>
            <a:r>
              <a:rPr lang="tr-TR" sz="2800" dirty="0" smtClean="0"/>
              <a:t> </a:t>
            </a:r>
            <a:r>
              <a:rPr lang="en-US" sz="2800" dirty="0" smtClean="0"/>
              <a:t>how the throughput and collision of packets in a switched network are affected by the configuration of the network and the types of switching devices that are used.</a:t>
            </a:r>
            <a:endParaRPr lang="tr-TR" sz="2800" dirty="0" smtClean="0"/>
          </a:p>
          <a:p>
            <a:endParaRPr lang="tr-TR" dirty="0"/>
          </a:p>
        </p:txBody>
      </p:sp>
    </p:spTree>
    <p:extLst>
      <p:ext uri="{BB962C8B-B14F-4D97-AF65-F5344CB8AC3E}">
        <p14:creationId xmlns:p14="http://schemas.microsoft.com/office/powerpoint/2010/main" val="2417730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Node</a:t>
            </a:r>
            <a:r>
              <a:rPr lang="tr-TR" dirty="0" smtClean="0"/>
              <a:t> Model </a:t>
            </a:r>
            <a:r>
              <a:rPr lang="tr-TR" dirty="0" err="1" smtClean="0"/>
              <a:t>Configuration</a:t>
            </a:r>
            <a:endParaRPr lang="tr-TR" dirty="0"/>
          </a:p>
        </p:txBody>
      </p:sp>
      <p:sp>
        <p:nvSpPr>
          <p:cNvPr id="3" name="İçerik Yer Tutucusu 2"/>
          <p:cNvSpPr>
            <a:spLocks noGrp="1"/>
          </p:cNvSpPr>
          <p:nvPr>
            <p:ph idx="1"/>
          </p:nvPr>
        </p:nvSpPr>
        <p:spPr>
          <a:xfrm>
            <a:off x="251520" y="1628800"/>
            <a:ext cx="3744416" cy="4781127"/>
          </a:xfrm>
        </p:spPr>
        <p:txBody>
          <a:bodyPr>
            <a:normAutofit fontScale="70000" lnSpcReduction="20000"/>
          </a:bodyPr>
          <a:lstStyle/>
          <a:p>
            <a:pPr>
              <a:lnSpc>
                <a:spcPct val="120000"/>
              </a:lnSpc>
            </a:pPr>
            <a:r>
              <a:rPr lang="tr-TR" dirty="0" err="1" smtClean="0"/>
              <a:t>We</a:t>
            </a:r>
            <a:r>
              <a:rPr lang="tr-TR" dirty="0" smtClean="0"/>
              <a:t> </a:t>
            </a:r>
            <a:r>
              <a:rPr lang="tr-TR" dirty="0" err="1" smtClean="0"/>
              <a:t>created</a:t>
            </a:r>
            <a:r>
              <a:rPr lang="tr-TR" dirty="0" smtClean="0"/>
              <a:t> a x=50, y=50, r=42 </a:t>
            </a:r>
            <a:r>
              <a:rPr lang="tr-TR" dirty="0" err="1" smtClean="0"/>
              <a:t>circular</a:t>
            </a:r>
            <a:r>
              <a:rPr lang="tr-TR" dirty="0"/>
              <a:t> </a:t>
            </a:r>
            <a:r>
              <a:rPr lang="tr-TR" dirty="0" smtClean="0"/>
              <a:t>network </a:t>
            </a:r>
            <a:r>
              <a:rPr lang="tr-TR" dirty="0" err="1" smtClean="0"/>
              <a:t>with</a:t>
            </a:r>
            <a:r>
              <a:rPr lang="tr-TR" dirty="0" smtClean="0"/>
              <a:t> 16 </a:t>
            </a:r>
            <a:r>
              <a:rPr lang="tr-TR" dirty="0" err="1" smtClean="0"/>
              <a:t>nodes</a:t>
            </a:r>
            <a:r>
              <a:rPr lang="tr-TR" dirty="0" smtClean="0"/>
              <a:t> </a:t>
            </a:r>
            <a:r>
              <a:rPr lang="tr-TR" dirty="0" err="1" smtClean="0"/>
              <a:t>operating</a:t>
            </a:r>
            <a:r>
              <a:rPr lang="tr-TR" dirty="0" smtClean="0"/>
              <a:t> at 10 </a:t>
            </a:r>
            <a:r>
              <a:rPr lang="tr-TR" dirty="0" err="1" smtClean="0"/>
              <a:t>Mbps</a:t>
            </a:r>
            <a:r>
              <a:rPr lang="tr-TR" dirty="0" smtClean="0"/>
              <a:t>.</a:t>
            </a:r>
          </a:p>
          <a:p>
            <a:pPr>
              <a:lnSpc>
                <a:spcPct val="120000"/>
              </a:lnSpc>
            </a:pPr>
            <a:r>
              <a:rPr lang="tr-TR" dirty="0" smtClean="0"/>
              <a:t> </a:t>
            </a:r>
            <a:r>
              <a:rPr lang="en-US" dirty="0" smtClean="0"/>
              <a:t>The prefix </a:t>
            </a:r>
            <a:r>
              <a:rPr lang="tr-TR" dirty="0" smtClean="0"/>
              <a:t>‘’</a:t>
            </a:r>
            <a:r>
              <a:rPr lang="en-US" dirty="0" smtClean="0"/>
              <a:t>ethernet16</a:t>
            </a:r>
            <a:r>
              <a:rPr lang="tr-TR" dirty="0" smtClean="0"/>
              <a:t>’’ </a:t>
            </a:r>
            <a:r>
              <a:rPr lang="en-US" dirty="0" smtClean="0"/>
              <a:t>indicates that the device supports up to 16 Ethernet connections.</a:t>
            </a:r>
            <a:endParaRPr lang="tr-TR" dirty="0" smtClean="0"/>
          </a:p>
          <a:p>
            <a:pPr>
              <a:lnSpc>
                <a:spcPct val="120000"/>
              </a:lnSpc>
            </a:pPr>
            <a:r>
              <a:rPr lang="en-US" dirty="0" smtClean="0"/>
              <a:t>The </a:t>
            </a:r>
            <a:r>
              <a:rPr lang="tr-TR" dirty="0" smtClean="0"/>
              <a:t>‘’</a:t>
            </a:r>
            <a:r>
              <a:rPr lang="en-US" dirty="0" smtClean="0"/>
              <a:t>10BaseT</a:t>
            </a:r>
            <a:r>
              <a:rPr lang="tr-TR" dirty="0" smtClean="0"/>
              <a:t>’’</a:t>
            </a:r>
            <a:r>
              <a:rPr lang="en-US" dirty="0" smtClean="0"/>
              <a:t> link represents an Ethernet connection operating at 10 Mbps.</a:t>
            </a:r>
            <a:endParaRPr lang="tr-TR" dirty="0"/>
          </a:p>
        </p:txBody>
      </p:sp>
      <p:pic>
        <p:nvPicPr>
          <p:cNvPr id="1026" name="Picture 2" descr="C:\Users\barkin\Desktop\Ekran Görüntüsü (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7999" y="1628800"/>
            <a:ext cx="5011377" cy="3312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644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Network Model</a:t>
            </a:r>
            <a:endParaRPr lang="tr-TR" dirty="0"/>
          </a:p>
        </p:txBody>
      </p:sp>
      <p:sp>
        <p:nvSpPr>
          <p:cNvPr id="3" name="İçerik Yer Tutucusu 2"/>
          <p:cNvSpPr>
            <a:spLocks noGrp="1"/>
          </p:cNvSpPr>
          <p:nvPr>
            <p:ph idx="1"/>
          </p:nvPr>
        </p:nvSpPr>
        <p:spPr>
          <a:xfrm>
            <a:off x="457200" y="1600200"/>
            <a:ext cx="3970784" cy="4565104"/>
          </a:xfrm>
        </p:spPr>
        <p:txBody>
          <a:bodyPr/>
          <a:lstStyle/>
          <a:p>
            <a:r>
              <a:rPr lang="tr-TR" dirty="0" err="1" smtClean="0"/>
              <a:t>This</a:t>
            </a:r>
            <a:r>
              <a:rPr lang="tr-TR" dirty="0" smtClean="0"/>
              <a:t> is </a:t>
            </a:r>
            <a:r>
              <a:rPr lang="tr-TR" dirty="0" err="1" smtClean="0"/>
              <a:t>our</a:t>
            </a:r>
            <a:r>
              <a:rPr lang="tr-TR" dirty="0" smtClean="0"/>
              <a:t> </a:t>
            </a:r>
            <a:r>
              <a:rPr lang="tr-TR" dirty="0" err="1" smtClean="0"/>
              <a:t>simulation</a:t>
            </a:r>
            <a:r>
              <a:rPr lang="tr-TR" dirty="0" smtClean="0"/>
              <a:t> network model as </a:t>
            </a:r>
            <a:r>
              <a:rPr lang="tr-TR" dirty="0" err="1" smtClean="0"/>
              <a:t>result</a:t>
            </a:r>
            <a:r>
              <a:rPr lang="tr-TR" dirty="0" smtClean="0"/>
              <a:t> of </a:t>
            </a:r>
            <a:r>
              <a:rPr lang="tr-TR" dirty="0" err="1" smtClean="0"/>
              <a:t>our</a:t>
            </a:r>
            <a:r>
              <a:rPr lang="tr-TR" dirty="0" smtClean="0"/>
              <a:t> </a:t>
            </a:r>
            <a:r>
              <a:rPr lang="tr-TR" dirty="0" err="1" smtClean="0"/>
              <a:t>previous</a:t>
            </a:r>
            <a:r>
              <a:rPr lang="tr-TR" dirty="0" smtClean="0"/>
              <a:t> </a:t>
            </a:r>
            <a:r>
              <a:rPr lang="tr-TR" dirty="0" err="1" smtClean="0"/>
              <a:t>configurations</a:t>
            </a:r>
            <a:r>
              <a:rPr lang="tr-TR" dirty="0" smtClean="0"/>
              <a:t>.</a:t>
            </a:r>
            <a:endParaRPr lang="tr-TR" dirty="0"/>
          </a:p>
        </p:txBody>
      </p:sp>
      <p:pic>
        <p:nvPicPr>
          <p:cNvPr id="2050" name="Picture 2" descr="C:\Users\barkin\Desktop\Ekran Görüntüsü (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28800"/>
            <a:ext cx="4447661"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613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Node</a:t>
            </a:r>
            <a:r>
              <a:rPr lang="tr-TR" dirty="0" smtClean="0"/>
              <a:t> </a:t>
            </a:r>
            <a:r>
              <a:rPr lang="tr-TR" dirty="0" err="1" smtClean="0"/>
              <a:t>Attributes</a:t>
            </a:r>
            <a:endParaRPr lang="tr-TR" dirty="0"/>
          </a:p>
        </p:txBody>
      </p:sp>
      <p:sp>
        <p:nvSpPr>
          <p:cNvPr id="3" name="İçerik Yer Tutucusu 2"/>
          <p:cNvSpPr>
            <a:spLocks noGrp="1"/>
          </p:cNvSpPr>
          <p:nvPr>
            <p:ph idx="1"/>
          </p:nvPr>
        </p:nvSpPr>
        <p:spPr>
          <a:xfrm>
            <a:off x="179512" y="1628800"/>
            <a:ext cx="4752528" cy="4565104"/>
          </a:xfrm>
        </p:spPr>
        <p:txBody>
          <a:bodyPr>
            <a:normAutofit/>
          </a:bodyPr>
          <a:lstStyle/>
          <a:p>
            <a:r>
              <a:rPr lang="en-US" sz="2800" dirty="0"/>
              <a:t>We select all our nodes and edit their </a:t>
            </a:r>
            <a:r>
              <a:rPr lang="tr-TR" sz="2800" dirty="0" err="1" smtClean="0"/>
              <a:t>shown</a:t>
            </a:r>
            <a:r>
              <a:rPr lang="tr-TR" sz="2800" dirty="0" smtClean="0"/>
              <a:t> </a:t>
            </a:r>
            <a:r>
              <a:rPr lang="en-US" sz="2800" dirty="0" smtClean="0"/>
              <a:t>attributes.</a:t>
            </a:r>
            <a:endParaRPr lang="tr-TR" sz="2800" dirty="0" smtClean="0"/>
          </a:p>
          <a:p>
            <a:r>
              <a:rPr lang="tr-TR" sz="2800" dirty="0" smtClean="0"/>
              <a:t>On </a:t>
            </a:r>
            <a:r>
              <a:rPr lang="tr-TR" sz="2800" dirty="0" err="1" smtClean="0"/>
              <a:t>State</a:t>
            </a:r>
            <a:r>
              <a:rPr lang="tr-TR" sz="2800" dirty="0" smtClean="0"/>
              <a:t> </a:t>
            </a:r>
            <a:r>
              <a:rPr lang="tr-TR" sz="2800" dirty="0" smtClean="0"/>
              <a:t>time= </a:t>
            </a:r>
            <a:r>
              <a:rPr lang="tr-TR" sz="2800" dirty="0" err="1" smtClean="0"/>
              <a:t>exp</a:t>
            </a:r>
            <a:r>
              <a:rPr lang="tr-TR" sz="2800" dirty="0" smtClean="0"/>
              <a:t> 100 </a:t>
            </a:r>
            <a:r>
              <a:rPr lang="tr-TR" sz="2800" dirty="0" err="1" smtClean="0"/>
              <a:t>sec</a:t>
            </a:r>
            <a:endParaRPr lang="tr-TR" sz="2800" dirty="0" smtClean="0"/>
          </a:p>
          <a:p>
            <a:r>
              <a:rPr lang="tr-TR" sz="2800" dirty="0" err="1" smtClean="0"/>
              <a:t>Off</a:t>
            </a:r>
            <a:r>
              <a:rPr lang="tr-TR" sz="2800" dirty="0" smtClean="0"/>
              <a:t> </a:t>
            </a:r>
            <a:r>
              <a:rPr lang="tr-TR" sz="2800" dirty="0" err="1" smtClean="0"/>
              <a:t>state</a:t>
            </a:r>
            <a:r>
              <a:rPr lang="tr-TR" sz="2800" dirty="0" smtClean="0"/>
              <a:t> time= 0.00001 </a:t>
            </a:r>
            <a:r>
              <a:rPr lang="tr-TR" sz="2800" dirty="0" err="1" smtClean="0"/>
              <a:t>sec</a:t>
            </a:r>
            <a:endParaRPr lang="tr-TR" sz="2800" dirty="0" smtClean="0"/>
          </a:p>
          <a:p>
            <a:r>
              <a:rPr lang="tr-TR" sz="2800" dirty="0" err="1" smtClean="0"/>
              <a:t>Interarrival</a:t>
            </a:r>
            <a:r>
              <a:rPr lang="tr-TR" sz="2800" dirty="0" smtClean="0"/>
              <a:t> time </a:t>
            </a:r>
            <a:r>
              <a:rPr lang="tr-TR" sz="2800" dirty="0"/>
              <a:t>=</a:t>
            </a:r>
            <a:r>
              <a:rPr lang="tr-TR" sz="2800" dirty="0" smtClean="0"/>
              <a:t> </a:t>
            </a:r>
            <a:r>
              <a:rPr lang="tr-TR" sz="2800" dirty="0" err="1" smtClean="0"/>
              <a:t>exp</a:t>
            </a:r>
            <a:r>
              <a:rPr lang="tr-TR" sz="2800" dirty="0" smtClean="0"/>
              <a:t> 0.02 </a:t>
            </a:r>
            <a:r>
              <a:rPr lang="tr-TR" sz="2800" dirty="0" err="1" smtClean="0"/>
              <a:t>sec</a:t>
            </a:r>
            <a:endParaRPr lang="tr-TR" sz="2800" dirty="0" smtClean="0"/>
          </a:p>
          <a:p>
            <a:r>
              <a:rPr lang="tr-TR" sz="2800" dirty="0" err="1" smtClean="0"/>
              <a:t>Packet</a:t>
            </a:r>
            <a:r>
              <a:rPr lang="tr-TR" sz="2800" dirty="0" smtClean="0"/>
              <a:t> </a:t>
            </a:r>
            <a:r>
              <a:rPr lang="tr-TR" sz="2800" dirty="0" smtClean="0"/>
              <a:t>Size = </a:t>
            </a:r>
            <a:r>
              <a:rPr lang="tr-TR" sz="2800" dirty="0" err="1" smtClean="0"/>
              <a:t>constant</a:t>
            </a:r>
            <a:r>
              <a:rPr lang="tr-TR" sz="2800" dirty="0" smtClean="0"/>
              <a:t> 1500 </a:t>
            </a:r>
            <a:r>
              <a:rPr lang="tr-TR" sz="2800" dirty="0" err="1" smtClean="0"/>
              <a:t>bytes</a:t>
            </a:r>
            <a:endParaRPr lang="tr-TR" sz="2800" dirty="0"/>
          </a:p>
        </p:txBody>
      </p:sp>
      <p:pic>
        <p:nvPicPr>
          <p:cNvPr id="3074" name="Picture 2" descr="C:\Users\barkin\Desktop\Ekran Görüntüsü (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3573" y="1556792"/>
            <a:ext cx="4139819" cy="4621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18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Statistics</a:t>
            </a:r>
            <a:endParaRPr lang="tr-TR" dirty="0"/>
          </a:p>
        </p:txBody>
      </p:sp>
      <p:sp>
        <p:nvSpPr>
          <p:cNvPr id="3" name="İçerik Yer Tutucusu 2"/>
          <p:cNvSpPr>
            <a:spLocks noGrp="1"/>
          </p:cNvSpPr>
          <p:nvPr>
            <p:ph idx="1"/>
          </p:nvPr>
        </p:nvSpPr>
        <p:spPr>
          <a:xfrm>
            <a:off x="179512" y="1613872"/>
            <a:ext cx="3456384" cy="4636542"/>
          </a:xfrm>
        </p:spPr>
        <p:txBody>
          <a:bodyPr/>
          <a:lstStyle/>
          <a:p>
            <a:r>
              <a:rPr lang="en-US" dirty="0"/>
              <a:t>We select the statistics we want to be collected during the simulation.</a:t>
            </a:r>
            <a:endParaRPr lang="tr-TR" dirty="0"/>
          </a:p>
        </p:txBody>
      </p:sp>
      <p:pic>
        <p:nvPicPr>
          <p:cNvPr id="7170" name="Picture 2" descr="C:\Users\barkin\Desktop\Ekran Görüntüsü (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036" y="1570464"/>
            <a:ext cx="5270500" cy="4679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34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Object Palette </a:t>
            </a:r>
            <a:r>
              <a:rPr lang="tr-TR" dirty="0" err="1" smtClean="0"/>
              <a:t>Tree</a:t>
            </a:r>
            <a:endParaRPr lang="tr-TR" dirty="0"/>
          </a:p>
        </p:txBody>
      </p:sp>
      <p:sp>
        <p:nvSpPr>
          <p:cNvPr id="3" name="İçerik Yer Tutucusu 2"/>
          <p:cNvSpPr>
            <a:spLocks noGrp="1"/>
          </p:cNvSpPr>
          <p:nvPr>
            <p:ph idx="1"/>
          </p:nvPr>
        </p:nvSpPr>
        <p:spPr>
          <a:xfrm>
            <a:off x="179512" y="1628800"/>
            <a:ext cx="3744416" cy="4425330"/>
          </a:xfrm>
        </p:spPr>
        <p:txBody>
          <a:bodyPr>
            <a:normAutofit fontScale="70000" lnSpcReduction="20000"/>
          </a:bodyPr>
          <a:lstStyle/>
          <a:p>
            <a:r>
              <a:rPr lang="en-US" dirty="0" smtClean="0"/>
              <a:t>The network we just created utilizes only one hub to connect the 16 stations. </a:t>
            </a:r>
            <a:endParaRPr lang="tr-TR" dirty="0" smtClean="0"/>
          </a:p>
          <a:p>
            <a:r>
              <a:rPr lang="en-US" dirty="0" smtClean="0"/>
              <a:t>We need to create another network that utilizes a switch and see how this will affect the performance of the network. </a:t>
            </a:r>
            <a:endParaRPr lang="tr-TR" dirty="0" smtClean="0"/>
          </a:p>
          <a:p>
            <a:r>
              <a:rPr lang="en-US" dirty="0" smtClean="0"/>
              <a:t>To do that</a:t>
            </a:r>
            <a:r>
              <a:rPr lang="tr-TR" dirty="0" smtClean="0"/>
              <a:t>,</a:t>
            </a:r>
            <a:r>
              <a:rPr lang="en-US" dirty="0" smtClean="0"/>
              <a:t> we will create a duplicate of the current network</a:t>
            </a:r>
            <a:r>
              <a:rPr lang="tr-TR" dirty="0" smtClean="0"/>
              <a:t> </a:t>
            </a:r>
            <a:r>
              <a:rPr lang="tr-TR" dirty="0" smtClean="0"/>
              <a:t>model.</a:t>
            </a:r>
          </a:p>
          <a:p>
            <a:r>
              <a:rPr lang="tr-TR" dirty="0" err="1" smtClean="0"/>
              <a:t>We</a:t>
            </a:r>
            <a:r>
              <a:rPr lang="tr-TR" dirty="0" smtClean="0"/>
              <a:t> </a:t>
            </a:r>
            <a:r>
              <a:rPr lang="tr-TR" dirty="0" err="1" smtClean="0"/>
              <a:t>add</a:t>
            </a:r>
            <a:r>
              <a:rPr lang="tr-TR" dirty="0" smtClean="0"/>
              <a:t> </a:t>
            </a:r>
            <a:r>
              <a:rPr lang="tr-TR" dirty="0" err="1" smtClean="0"/>
              <a:t>one</a:t>
            </a:r>
            <a:r>
              <a:rPr lang="tr-TR" dirty="0" smtClean="0"/>
              <a:t> </a:t>
            </a:r>
            <a:r>
              <a:rPr lang="tr-TR" dirty="0" err="1" smtClean="0"/>
              <a:t>more</a:t>
            </a:r>
            <a:r>
              <a:rPr lang="tr-TR" dirty="0" smtClean="0"/>
              <a:t> </a:t>
            </a:r>
            <a:r>
              <a:rPr lang="tr-TR" dirty="0" err="1" smtClean="0"/>
              <a:t>hub</a:t>
            </a:r>
            <a:r>
              <a:rPr lang="tr-TR" dirty="0" smtClean="0"/>
              <a:t> </a:t>
            </a:r>
            <a:r>
              <a:rPr lang="tr-TR" dirty="0" err="1" smtClean="0"/>
              <a:t>and</a:t>
            </a:r>
            <a:r>
              <a:rPr lang="tr-TR" dirty="0" smtClean="0"/>
              <a:t> a </a:t>
            </a:r>
            <a:r>
              <a:rPr lang="tr-TR" dirty="0" err="1" smtClean="0"/>
              <a:t>switch</a:t>
            </a:r>
            <a:r>
              <a:rPr lang="tr-TR" dirty="0" smtClean="0"/>
              <a:t> </a:t>
            </a:r>
            <a:r>
              <a:rPr lang="tr-TR" dirty="0" err="1" smtClean="0"/>
              <a:t>to</a:t>
            </a:r>
            <a:r>
              <a:rPr lang="tr-TR" dirty="0" smtClean="0"/>
              <a:t> </a:t>
            </a:r>
            <a:r>
              <a:rPr lang="tr-TR" dirty="0" err="1" smtClean="0"/>
              <a:t>our</a:t>
            </a:r>
            <a:r>
              <a:rPr lang="tr-TR" dirty="0" smtClean="0"/>
              <a:t> </a:t>
            </a:r>
            <a:r>
              <a:rPr lang="tr-TR" dirty="0" err="1" smtClean="0"/>
              <a:t>new</a:t>
            </a:r>
            <a:r>
              <a:rPr lang="tr-TR" dirty="0" smtClean="0"/>
              <a:t> </a:t>
            </a:r>
            <a:r>
              <a:rPr lang="tr-TR" dirty="0" err="1" smtClean="0"/>
              <a:t>scenerio</a:t>
            </a:r>
            <a:r>
              <a:rPr lang="tr-TR" dirty="0" smtClean="0"/>
              <a:t>.</a:t>
            </a:r>
            <a:endParaRPr lang="tr-TR" dirty="0"/>
          </a:p>
        </p:txBody>
      </p:sp>
      <p:pic>
        <p:nvPicPr>
          <p:cNvPr id="4098" name="Picture 2" descr="C:\Users\barkin\Desktop\Ekran Görüntüsü (1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335" y="1700808"/>
            <a:ext cx="5155505" cy="4324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229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a:xfrm>
            <a:off x="457200" y="1600200"/>
            <a:ext cx="3682752" cy="5141168"/>
          </a:xfrm>
        </p:spPr>
        <p:txBody>
          <a:bodyPr>
            <a:normAutofit fontScale="85000" lnSpcReduction="10000"/>
          </a:bodyPr>
          <a:lstStyle/>
          <a:p>
            <a:r>
              <a:rPr lang="tr-TR" dirty="0" err="1" smtClean="0"/>
              <a:t>We</a:t>
            </a:r>
            <a:r>
              <a:rPr lang="tr-TR" dirty="0" smtClean="0"/>
              <a:t> </a:t>
            </a:r>
            <a:r>
              <a:rPr lang="tr-TR" dirty="0" err="1" smtClean="0"/>
              <a:t>will</a:t>
            </a:r>
            <a:r>
              <a:rPr lang="tr-TR" dirty="0" smtClean="0"/>
              <a:t> r</a:t>
            </a:r>
            <a:r>
              <a:rPr lang="en-US" dirty="0" err="1" smtClean="0"/>
              <a:t>emove</a:t>
            </a:r>
            <a:r>
              <a:rPr lang="en-US" dirty="0" smtClean="0"/>
              <a:t> </a:t>
            </a:r>
            <a:r>
              <a:rPr lang="tr-TR" u="sng" dirty="0" smtClean="0"/>
              <a:t>a</a:t>
            </a:r>
            <a:r>
              <a:rPr lang="en-US" u="sng" dirty="0" err="1" smtClean="0"/>
              <a:t>ll</a:t>
            </a:r>
            <a:r>
              <a:rPr lang="en-US" u="sng" dirty="0" smtClean="0"/>
              <a:t> </a:t>
            </a:r>
            <a:r>
              <a:rPr lang="en-US" dirty="0" smtClean="0"/>
              <a:t>links by selecting them and hitting the Delete key</a:t>
            </a:r>
            <a:r>
              <a:rPr lang="tr-TR" dirty="0" smtClean="0"/>
              <a:t>.</a:t>
            </a:r>
          </a:p>
          <a:p>
            <a:r>
              <a:rPr lang="tr-TR" dirty="0" err="1" smtClean="0"/>
              <a:t>Then</a:t>
            </a:r>
            <a:r>
              <a:rPr lang="tr-TR" dirty="0" smtClean="0"/>
              <a:t> </a:t>
            </a:r>
            <a:r>
              <a:rPr lang="tr-TR" dirty="0" err="1" smtClean="0"/>
              <a:t>we</a:t>
            </a:r>
            <a:r>
              <a:rPr lang="tr-TR" dirty="0" smtClean="0"/>
              <a:t> </a:t>
            </a:r>
            <a:r>
              <a:rPr lang="tr-TR" dirty="0" err="1" smtClean="0"/>
              <a:t>will</a:t>
            </a:r>
            <a:r>
              <a:rPr lang="tr-TR" dirty="0" smtClean="0"/>
              <a:t> </a:t>
            </a:r>
            <a:r>
              <a:rPr lang="tr-TR" dirty="0" err="1" smtClean="0"/>
              <a:t>add</a:t>
            </a:r>
            <a:r>
              <a:rPr lang="en-US" dirty="0" smtClean="0"/>
              <a:t> new links, using the 10BaseT link available in the Object Palette</a:t>
            </a:r>
            <a:r>
              <a:rPr lang="tr-TR" dirty="0" smtClean="0"/>
              <a:t>.</a:t>
            </a:r>
          </a:p>
          <a:p>
            <a:r>
              <a:rPr lang="tr-TR" dirty="0" err="1"/>
              <a:t>After</a:t>
            </a:r>
            <a:r>
              <a:rPr lang="tr-TR" dirty="0"/>
              <a:t> r</a:t>
            </a:r>
            <a:r>
              <a:rPr lang="en-US" dirty="0" err="1"/>
              <a:t>econfigur</a:t>
            </a:r>
            <a:r>
              <a:rPr lang="tr-TR" dirty="0" err="1"/>
              <a:t>ing</a:t>
            </a:r>
            <a:r>
              <a:rPr lang="en-US" dirty="0"/>
              <a:t> the network of the </a:t>
            </a:r>
            <a:r>
              <a:rPr lang="en-US" dirty="0" err="1"/>
              <a:t>HubAndSwitch</a:t>
            </a:r>
            <a:r>
              <a:rPr lang="tr-TR" dirty="0"/>
              <a:t> </a:t>
            </a:r>
            <a:r>
              <a:rPr lang="en-US" dirty="0"/>
              <a:t>scenario</a:t>
            </a:r>
            <a:r>
              <a:rPr lang="tr-TR" dirty="0"/>
              <a:t>, </a:t>
            </a:r>
            <a:r>
              <a:rPr lang="en-US" dirty="0"/>
              <a:t>it </a:t>
            </a:r>
            <a:r>
              <a:rPr lang="tr-TR" dirty="0" err="1"/>
              <a:t>will</a:t>
            </a:r>
            <a:r>
              <a:rPr lang="tr-TR" dirty="0"/>
              <a:t> </a:t>
            </a:r>
            <a:r>
              <a:rPr lang="tr-TR" dirty="0" err="1"/>
              <a:t>look</a:t>
            </a:r>
            <a:r>
              <a:rPr lang="en-US" dirty="0"/>
              <a:t> like </a:t>
            </a:r>
            <a:r>
              <a:rPr lang="en-US" dirty="0" err="1"/>
              <a:t>th</a:t>
            </a:r>
            <a:r>
              <a:rPr lang="tr-TR" dirty="0"/>
              <a:t>is.</a:t>
            </a:r>
          </a:p>
          <a:p>
            <a:endParaRPr lang="tr-TR" dirty="0" smtClean="0"/>
          </a:p>
          <a:p>
            <a:endParaRPr lang="tr-TR" dirty="0"/>
          </a:p>
        </p:txBody>
      </p:sp>
      <p:pic>
        <p:nvPicPr>
          <p:cNvPr id="4099" name="Picture 3" descr="C:\Users\barkin\Desktop\Ekran Görüntüsü (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8975" y="1772816"/>
            <a:ext cx="4804335" cy="486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34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Viewing</a:t>
            </a:r>
            <a:r>
              <a:rPr lang="tr-TR" dirty="0" smtClean="0"/>
              <a:t> </a:t>
            </a:r>
            <a:r>
              <a:rPr lang="tr-TR" dirty="0" err="1" smtClean="0"/>
              <a:t>Result</a:t>
            </a:r>
            <a:endParaRPr lang="tr-TR" dirty="0"/>
          </a:p>
        </p:txBody>
      </p:sp>
      <p:sp>
        <p:nvSpPr>
          <p:cNvPr id="3" name="İçerik Yer Tutucusu 2"/>
          <p:cNvSpPr>
            <a:spLocks noGrp="1"/>
          </p:cNvSpPr>
          <p:nvPr>
            <p:ph idx="1"/>
          </p:nvPr>
        </p:nvSpPr>
        <p:spPr>
          <a:xfrm>
            <a:off x="179512" y="1593296"/>
            <a:ext cx="3392988" cy="4496479"/>
          </a:xfrm>
        </p:spPr>
        <p:txBody>
          <a:bodyPr>
            <a:normAutofit fontScale="77500" lnSpcReduction="20000"/>
          </a:bodyPr>
          <a:lstStyle/>
          <a:p>
            <a:r>
              <a:rPr lang="tr-TR" dirty="0" err="1" smtClean="0"/>
              <a:t>We</a:t>
            </a:r>
            <a:r>
              <a:rPr lang="en-US" dirty="0" smtClean="0"/>
              <a:t> configure the duration of the simulation</a:t>
            </a:r>
            <a:r>
              <a:rPr lang="tr-TR" dirty="0" smtClean="0"/>
              <a:t> </a:t>
            </a:r>
            <a:r>
              <a:rPr lang="tr-TR" dirty="0" err="1" smtClean="0"/>
              <a:t>to</a:t>
            </a:r>
            <a:r>
              <a:rPr lang="tr-TR" dirty="0" smtClean="0"/>
              <a:t> 2 </a:t>
            </a:r>
            <a:r>
              <a:rPr lang="tr-TR" dirty="0" err="1" smtClean="0"/>
              <a:t>minutes</a:t>
            </a:r>
            <a:r>
              <a:rPr lang="tr-TR" dirty="0" smtClean="0"/>
              <a:t> </a:t>
            </a:r>
            <a:r>
              <a:rPr lang="tr-TR" dirty="0" err="1" smtClean="0"/>
              <a:t>and</a:t>
            </a:r>
            <a:r>
              <a:rPr lang="tr-TR" dirty="0" smtClean="0"/>
              <a:t> </a:t>
            </a:r>
            <a:r>
              <a:rPr lang="tr-TR" dirty="0" err="1" smtClean="0"/>
              <a:t>press</a:t>
            </a:r>
            <a:r>
              <a:rPr lang="tr-TR" dirty="0" smtClean="0"/>
              <a:t> </a:t>
            </a:r>
            <a:r>
              <a:rPr lang="tr-TR" dirty="0" err="1" smtClean="0"/>
              <a:t>run</a:t>
            </a:r>
            <a:r>
              <a:rPr lang="tr-TR" dirty="0" smtClean="0"/>
              <a:t>.</a:t>
            </a:r>
          </a:p>
          <a:p>
            <a:r>
              <a:rPr lang="tr-TR" dirty="0" err="1" smtClean="0"/>
              <a:t>Then</a:t>
            </a:r>
            <a:r>
              <a:rPr lang="tr-TR" dirty="0" smtClean="0"/>
              <a:t> </a:t>
            </a:r>
            <a:r>
              <a:rPr lang="tr-TR" dirty="0" err="1" smtClean="0"/>
              <a:t>we</a:t>
            </a:r>
            <a:r>
              <a:rPr lang="tr-TR" dirty="0" smtClean="0"/>
              <a:t> s</a:t>
            </a:r>
            <a:r>
              <a:rPr lang="en-US" dirty="0" smtClean="0"/>
              <a:t>elect Traffic Sent</a:t>
            </a:r>
            <a:r>
              <a:rPr lang="tr-TR" dirty="0" smtClean="0"/>
              <a:t>, </a:t>
            </a:r>
            <a:r>
              <a:rPr lang="tr-TR" dirty="0" err="1" smtClean="0"/>
              <a:t>Traffic</a:t>
            </a:r>
            <a:r>
              <a:rPr lang="tr-TR" dirty="0" smtClean="0"/>
              <a:t> </a:t>
            </a:r>
            <a:r>
              <a:rPr lang="tr-TR" dirty="0" err="1" smtClean="0"/>
              <a:t>received</a:t>
            </a:r>
            <a:r>
              <a:rPr lang="tr-TR" dirty="0" smtClean="0"/>
              <a:t>, Object </a:t>
            </a:r>
            <a:r>
              <a:rPr lang="tr-TR" dirty="0" err="1" smtClean="0"/>
              <a:t>Statics</a:t>
            </a:r>
            <a:r>
              <a:rPr lang="tr-TR" dirty="0" smtClean="0"/>
              <a:t> </a:t>
            </a:r>
            <a:r>
              <a:rPr lang="tr-TR" dirty="0" err="1" smtClean="0"/>
              <a:t>and</a:t>
            </a:r>
            <a:r>
              <a:rPr lang="tr-TR" dirty="0" smtClean="0"/>
              <a:t> </a:t>
            </a:r>
            <a:r>
              <a:rPr lang="tr-TR" dirty="0" err="1" smtClean="0"/>
              <a:t>Collision</a:t>
            </a:r>
            <a:r>
              <a:rPr lang="tr-TR" dirty="0" smtClean="0"/>
              <a:t> </a:t>
            </a:r>
            <a:r>
              <a:rPr lang="tr-TR" dirty="0" err="1" smtClean="0"/>
              <a:t>Count</a:t>
            </a:r>
            <a:r>
              <a:rPr lang="tr-TR" dirty="0" smtClean="0"/>
              <a:t> </a:t>
            </a:r>
            <a:r>
              <a:rPr lang="en-US" dirty="0" smtClean="0"/>
              <a:t>statistic</a:t>
            </a:r>
            <a:r>
              <a:rPr lang="tr-TR" dirty="0" smtClean="0"/>
              <a:t>. </a:t>
            </a:r>
            <a:r>
              <a:rPr lang="tr-TR" dirty="0" err="1" smtClean="0"/>
              <a:t>Afterwards</a:t>
            </a:r>
            <a:r>
              <a:rPr lang="tr-TR" dirty="0" smtClean="0"/>
              <a:t>, </a:t>
            </a:r>
            <a:r>
              <a:rPr lang="tr-TR" dirty="0" err="1" smtClean="0"/>
              <a:t>we</a:t>
            </a:r>
            <a:r>
              <a:rPr lang="tr-TR" dirty="0" smtClean="0"/>
              <a:t> </a:t>
            </a:r>
            <a:r>
              <a:rPr lang="tr-TR" dirty="0" err="1" smtClean="0"/>
              <a:t>change</a:t>
            </a:r>
            <a:r>
              <a:rPr lang="tr-TR" dirty="0" smtClean="0"/>
              <a:t> </a:t>
            </a:r>
            <a:r>
              <a:rPr lang="tr-TR" dirty="0" smtClean="0"/>
              <a:t>Presentation </a:t>
            </a:r>
            <a:r>
              <a:rPr lang="tr-TR" dirty="0" err="1" smtClean="0"/>
              <a:t>setting</a:t>
            </a:r>
            <a:r>
              <a:rPr lang="tr-TR" dirty="0" smtClean="0"/>
              <a:t> </a:t>
            </a:r>
            <a:r>
              <a:rPr lang="tr-TR" dirty="0" err="1" smtClean="0"/>
              <a:t>to</a:t>
            </a:r>
            <a:r>
              <a:rPr lang="tr-TR" dirty="0" smtClean="0"/>
              <a:t> ‘’</a:t>
            </a:r>
            <a:r>
              <a:rPr lang="tr-TR" dirty="0" err="1" smtClean="0"/>
              <a:t>time_average</a:t>
            </a:r>
            <a:r>
              <a:rPr lang="tr-TR" dirty="0" smtClean="0"/>
              <a:t>’’.</a:t>
            </a:r>
          </a:p>
          <a:p>
            <a:endParaRPr lang="tr-TR" dirty="0"/>
          </a:p>
        </p:txBody>
      </p:sp>
      <p:pic>
        <p:nvPicPr>
          <p:cNvPr id="6146" name="Picture 2" descr="C:\Users\barkin\Desktop\Ekran Görüntüsü (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2500" y="1549888"/>
            <a:ext cx="5544616" cy="453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659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Result</a:t>
            </a:r>
            <a:r>
              <a:rPr lang="tr-TR" dirty="0" smtClean="0"/>
              <a:t> Browser</a:t>
            </a:r>
            <a:endParaRPr lang="tr-TR" dirty="0"/>
          </a:p>
        </p:txBody>
      </p:sp>
      <p:sp>
        <p:nvSpPr>
          <p:cNvPr id="3" name="İçerik Yer Tutucusu 2"/>
          <p:cNvSpPr>
            <a:spLocks noGrp="1"/>
          </p:cNvSpPr>
          <p:nvPr>
            <p:ph idx="1"/>
          </p:nvPr>
        </p:nvSpPr>
        <p:spPr>
          <a:xfrm>
            <a:off x="457200" y="1600201"/>
            <a:ext cx="3466728" cy="4277072"/>
          </a:xfrm>
        </p:spPr>
        <p:txBody>
          <a:bodyPr>
            <a:normAutofit fontScale="77500" lnSpcReduction="20000"/>
          </a:bodyPr>
          <a:lstStyle/>
          <a:p>
            <a:r>
              <a:rPr lang="tr-TR" dirty="0" err="1" smtClean="0"/>
              <a:t>We</a:t>
            </a:r>
            <a:r>
              <a:rPr lang="tr-TR" dirty="0" smtClean="0"/>
              <a:t> s</a:t>
            </a:r>
            <a:r>
              <a:rPr lang="en-US" dirty="0" smtClean="0"/>
              <a:t>elect the Collision Count statistic for Hub1 and click Show.</a:t>
            </a:r>
            <a:endParaRPr lang="tr-TR" dirty="0" smtClean="0"/>
          </a:p>
          <a:p>
            <a:r>
              <a:rPr lang="en-US" dirty="0" err="1" smtClean="0"/>
              <a:t>time_average</a:t>
            </a:r>
            <a:r>
              <a:rPr lang="en-US" dirty="0" smtClean="0"/>
              <a:t> is</a:t>
            </a:r>
            <a:r>
              <a:rPr lang="tr-TR" dirty="0" smtClean="0"/>
              <a:t> </a:t>
            </a:r>
            <a:r>
              <a:rPr lang="en-US" dirty="0" smtClean="0"/>
              <a:t>the average value over time of the values generated during the collection window. This average is performed assuming a “sample-and-hold” behavior of the data set</a:t>
            </a:r>
            <a:endParaRPr lang="tr-TR" dirty="0"/>
          </a:p>
        </p:txBody>
      </p:sp>
      <p:pic>
        <p:nvPicPr>
          <p:cNvPr id="12290" name="Picture 2" descr="C:\Users\barkin\Desktop\Ekran Görüntüsü (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1617368"/>
            <a:ext cx="5117237"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970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smtClean="0"/>
              <a:t>Traffic</a:t>
            </a:r>
            <a:r>
              <a:rPr lang="tr-TR" dirty="0" smtClean="0"/>
              <a:t> Source Sent</a:t>
            </a:r>
            <a:endParaRPr lang="tr-TR" dirty="0"/>
          </a:p>
        </p:txBody>
      </p:sp>
      <p:sp>
        <p:nvSpPr>
          <p:cNvPr id="3" name="İçerik Yer Tutucusu 2"/>
          <p:cNvSpPr>
            <a:spLocks noGrp="1"/>
          </p:cNvSpPr>
          <p:nvPr>
            <p:ph idx="1"/>
          </p:nvPr>
        </p:nvSpPr>
        <p:spPr>
          <a:xfrm>
            <a:off x="457200" y="1600200"/>
            <a:ext cx="3250704" cy="4572536"/>
          </a:xfrm>
        </p:spPr>
        <p:txBody>
          <a:bodyPr>
            <a:normAutofit lnSpcReduction="10000"/>
          </a:bodyPr>
          <a:lstStyle/>
          <a:p>
            <a:r>
              <a:rPr lang="en-US" dirty="0"/>
              <a:t>The resulting </a:t>
            </a:r>
            <a:r>
              <a:rPr lang="en-US" dirty="0" smtClean="0"/>
              <a:t>graph </a:t>
            </a:r>
            <a:r>
              <a:rPr lang="en-US" dirty="0"/>
              <a:t>should look like the one here</a:t>
            </a:r>
            <a:r>
              <a:rPr lang="en-US" dirty="0" smtClean="0"/>
              <a:t>.</a:t>
            </a:r>
            <a:endParaRPr lang="tr-TR" dirty="0" smtClean="0"/>
          </a:p>
          <a:p>
            <a:r>
              <a:rPr lang="en-US" dirty="0" smtClean="0"/>
              <a:t>As you can see, the traffic sent in both scenarios </a:t>
            </a:r>
            <a:r>
              <a:rPr lang="tr-TR" dirty="0" err="1" smtClean="0"/>
              <a:t>are</a:t>
            </a:r>
            <a:r>
              <a:rPr lang="en-US" dirty="0" smtClean="0"/>
              <a:t> almost identical</a:t>
            </a:r>
            <a:r>
              <a:rPr lang="tr-TR" dirty="0" smtClean="0"/>
              <a:t>.</a:t>
            </a:r>
            <a:endParaRPr lang="tr-TR" dirty="0"/>
          </a:p>
        </p:txBody>
      </p:sp>
      <p:pic>
        <p:nvPicPr>
          <p:cNvPr id="1026" name="Picture 2" descr="C:\Users\barkin\Desktop\Ekran Görüntüsü (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556792"/>
            <a:ext cx="5038725"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161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err="1" smtClean="0"/>
              <a:t>Traffic</a:t>
            </a:r>
            <a:r>
              <a:rPr lang="tr-TR" dirty="0" smtClean="0"/>
              <a:t> </a:t>
            </a:r>
            <a:r>
              <a:rPr lang="tr-TR" dirty="0" err="1" smtClean="0"/>
              <a:t>Sink</a:t>
            </a:r>
            <a:r>
              <a:rPr lang="tr-TR" dirty="0" smtClean="0"/>
              <a:t> </a:t>
            </a:r>
            <a:r>
              <a:rPr lang="tr-TR" dirty="0" err="1" smtClean="0"/>
              <a:t>Received</a:t>
            </a:r>
            <a:endParaRPr lang="tr-TR" dirty="0"/>
          </a:p>
        </p:txBody>
      </p:sp>
      <p:sp>
        <p:nvSpPr>
          <p:cNvPr id="3" name="İçerik Yer Tutucusu 2"/>
          <p:cNvSpPr>
            <a:spLocks noGrp="1"/>
          </p:cNvSpPr>
          <p:nvPr>
            <p:ph idx="1"/>
          </p:nvPr>
        </p:nvSpPr>
        <p:spPr>
          <a:xfrm>
            <a:off x="179512" y="1556792"/>
            <a:ext cx="3034680" cy="4944573"/>
          </a:xfrm>
        </p:spPr>
        <p:txBody>
          <a:bodyPr>
            <a:normAutofit fontScale="92500" lnSpcReduction="20000"/>
          </a:bodyPr>
          <a:lstStyle/>
          <a:p>
            <a:r>
              <a:rPr lang="tr-TR" dirty="0" err="1" smtClean="0"/>
              <a:t>We</a:t>
            </a:r>
            <a:r>
              <a:rPr lang="tr-TR" dirty="0" smtClean="0"/>
              <a:t> s</a:t>
            </a:r>
            <a:r>
              <a:rPr lang="en-US" dirty="0" smtClean="0"/>
              <a:t>elect the Traffic Received statistic and click Show. </a:t>
            </a:r>
            <a:endParaRPr lang="tr-TR" dirty="0" smtClean="0"/>
          </a:p>
          <a:p>
            <a:r>
              <a:rPr lang="en-US" dirty="0" smtClean="0"/>
              <a:t>As </a:t>
            </a:r>
            <a:r>
              <a:rPr lang="en-US" dirty="0"/>
              <a:t>you can see, the traffic received in the </a:t>
            </a:r>
            <a:r>
              <a:rPr lang="en-US" dirty="0" err="1"/>
              <a:t>HubAndSwitch</a:t>
            </a:r>
            <a:r>
              <a:rPr lang="en-US" dirty="0"/>
              <a:t> </a:t>
            </a:r>
            <a:r>
              <a:rPr lang="tr-TR" dirty="0" err="1" smtClean="0"/>
              <a:t>scenerio</a:t>
            </a:r>
            <a:r>
              <a:rPr lang="en-US" dirty="0" smtClean="0"/>
              <a:t> </a:t>
            </a:r>
            <a:r>
              <a:rPr lang="en-US" dirty="0"/>
              <a:t>is slightly higher than </a:t>
            </a:r>
            <a:r>
              <a:rPr lang="en-US" dirty="0" smtClean="0"/>
              <a:t>the </a:t>
            </a:r>
            <a:r>
              <a:rPr lang="en-US" dirty="0" err="1"/>
              <a:t>OnlyHub</a:t>
            </a:r>
            <a:r>
              <a:rPr lang="en-US" dirty="0"/>
              <a:t> scenario.</a:t>
            </a:r>
            <a:endParaRPr lang="tr-TR" dirty="0"/>
          </a:p>
        </p:txBody>
      </p:sp>
      <p:pic>
        <p:nvPicPr>
          <p:cNvPr id="2050" name="Picture 2" descr="C:\Users\barkin\Desktop\Ekran Görüntüsü (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699648"/>
            <a:ext cx="5551382"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036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Ethernet </a:t>
            </a:r>
            <a:r>
              <a:rPr lang="tr-TR" dirty="0" err="1" smtClean="0"/>
              <a:t>Delay</a:t>
            </a:r>
            <a:endParaRPr lang="tr-TR" dirty="0"/>
          </a:p>
        </p:txBody>
      </p:sp>
      <p:sp>
        <p:nvSpPr>
          <p:cNvPr id="3" name="İçerik Yer Tutucusu 2"/>
          <p:cNvSpPr>
            <a:spLocks noGrp="1"/>
          </p:cNvSpPr>
          <p:nvPr>
            <p:ph idx="1"/>
          </p:nvPr>
        </p:nvSpPr>
        <p:spPr>
          <a:xfrm>
            <a:off x="457200" y="1600200"/>
            <a:ext cx="3466728" cy="4997152"/>
          </a:xfrm>
        </p:spPr>
        <p:txBody>
          <a:bodyPr>
            <a:normAutofit fontScale="92500" lnSpcReduction="20000"/>
          </a:bodyPr>
          <a:lstStyle/>
          <a:p>
            <a:r>
              <a:rPr lang="tr-TR" dirty="0" err="1" smtClean="0"/>
              <a:t>We</a:t>
            </a:r>
            <a:r>
              <a:rPr lang="tr-TR" dirty="0" smtClean="0"/>
              <a:t> s</a:t>
            </a:r>
            <a:r>
              <a:rPr lang="en-US" dirty="0" smtClean="0"/>
              <a:t>elect the Delay statistic and click Show.</a:t>
            </a:r>
            <a:r>
              <a:rPr lang="tr-TR" dirty="0" smtClean="0"/>
              <a:t> </a:t>
            </a:r>
            <a:r>
              <a:rPr lang="en-US" dirty="0" smtClean="0"/>
              <a:t>(Result may vary slightly due to different node placement</a:t>
            </a:r>
            <a:r>
              <a:rPr lang="tr-TR" dirty="0" smtClean="0"/>
              <a:t> in </a:t>
            </a:r>
            <a:r>
              <a:rPr lang="tr-TR" dirty="0" err="1" smtClean="0"/>
              <a:t>different</a:t>
            </a:r>
            <a:r>
              <a:rPr lang="tr-TR" dirty="0" smtClean="0"/>
              <a:t> </a:t>
            </a:r>
            <a:r>
              <a:rPr lang="tr-TR" dirty="0" err="1" smtClean="0"/>
              <a:t>runs</a:t>
            </a:r>
            <a:r>
              <a:rPr lang="en-US" dirty="0" smtClean="0"/>
              <a:t>.)</a:t>
            </a:r>
            <a:endParaRPr lang="tr-TR" dirty="0" smtClean="0"/>
          </a:p>
          <a:p>
            <a:r>
              <a:rPr lang="tr-TR" dirty="0" err="1" smtClean="0"/>
              <a:t>OnlyHub</a:t>
            </a:r>
            <a:r>
              <a:rPr lang="tr-TR" dirty="0" smtClean="0"/>
              <a:t> </a:t>
            </a:r>
            <a:r>
              <a:rPr lang="tr-TR" dirty="0" err="1" smtClean="0"/>
              <a:t>scenerio</a:t>
            </a:r>
            <a:r>
              <a:rPr lang="tr-TR" dirty="0" smtClean="0"/>
              <a:t> has </a:t>
            </a:r>
            <a:r>
              <a:rPr lang="tr-TR" dirty="0" err="1" smtClean="0"/>
              <a:t>lower</a:t>
            </a:r>
            <a:r>
              <a:rPr lang="tr-TR" dirty="0" smtClean="0"/>
              <a:t> Ethernet </a:t>
            </a:r>
            <a:r>
              <a:rPr lang="tr-TR" dirty="0" err="1" smtClean="0"/>
              <a:t>delay</a:t>
            </a:r>
            <a:r>
              <a:rPr lang="tr-TR" dirty="0" smtClean="0"/>
              <a:t> </a:t>
            </a:r>
            <a:r>
              <a:rPr lang="tr-TR" dirty="0" err="1" smtClean="0"/>
              <a:t>per</a:t>
            </a:r>
            <a:r>
              <a:rPr lang="tr-TR" dirty="0" smtClean="0"/>
              <a:t> time </a:t>
            </a:r>
            <a:r>
              <a:rPr lang="tr-TR" dirty="0" err="1" smtClean="0"/>
              <a:t>to</a:t>
            </a:r>
            <a:r>
              <a:rPr lang="tr-TR" dirty="0" smtClean="0"/>
              <a:t> </a:t>
            </a:r>
            <a:r>
              <a:rPr lang="tr-TR" dirty="0" err="1" smtClean="0"/>
              <a:t>HubAndSwitch</a:t>
            </a:r>
            <a:r>
              <a:rPr lang="tr-TR" dirty="0" smtClean="0"/>
              <a:t> network.</a:t>
            </a:r>
            <a:endParaRPr lang="tr-TR" dirty="0"/>
          </a:p>
        </p:txBody>
      </p:sp>
      <p:pic>
        <p:nvPicPr>
          <p:cNvPr id="13314" name="Picture 2" descr="C:\Users\barkin\Desktop\Ekran Görüntüsü (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628800"/>
            <a:ext cx="5040560" cy="494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19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23528" y="260648"/>
            <a:ext cx="8637745" cy="1143000"/>
          </a:xfrm>
        </p:spPr>
        <p:txBody>
          <a:bodyPr>
            <a:normAutofit/>
          </a:bodyPr>
          <a:lstStyle/>
          <a:p>
            <a:r>
              <a:rPr lang="tr-TR" dirty="0" smtClean="0"/>
              <a:t>Ethernet </a:t>
            </a:r>
            <a:r>
              <a:rPr lang="tr-TR" dirty="0" err="1" smtClean="0"/>
              <a:t>Collision</a:t>
            </a:r>
            <a:r>
              <a:rPr lang="tr-TR" dirty="0" smtClean="0"/>
              <a:t> </a:t>
            </a:r>
            <a:r>
              <a:rPr lang="tr-TR" dirty="0" err="1" smtClean="0"/>
              <a:t>Count</a:t>
            </a:r>
            <a:endParaRPr lang="tr-TR" dirty="0"/>
          </a:p>
        </p:txBody>
      </p:sp>
      <p:sp>
        <p:nvSpPr>
          <p:cNvPr id="3" name="İçerik Yer Tutucusu 2"/>
          <p:cNvSpPr>
            <a:spLocks noGrp="1"/>
          </p:cNvSpPr>
          <p:nvPr>
            <p:ph idx="1"/>
          </p:nvPr>
        </p:nvSpPr>
        <p:spPr>
          <a:xfrm>
            <a:off x="179512" y="1544225"/>
            <a:ext cx="2962672" cy="4853136"/>
          </a:xfrm>
        </p:spPr>
        <p:txBody>
          <a:bodyPr>
            <a:normAutofit/>
          </a:bodyPr>
          <a:lstStyle/>
          <a:p>
            <a:r>
              <a:rPr lang="tr-TR" dirty="0" err="1" smtClean="0"/>
              <a:t>We</a:t>
            </a:r>
            <a:r>
              <a:rPr lang="tr-TR" dirty="0" smtClean="0"/>
              <a:t> can </a:t>
            </a:r>
            <a:r>
              <a:rPr lang="tr-TR" dirty="0" err="1" smtClean="0"/>
              <a:t>see</a:t>
            </a:r>
            <a:r>
              <a:rPr lang="tr-TR" dirty="0" smtClean="0"/>
              <a:t> </a:t>
            </a:r>
            <a:r>
              <a:rPr lang="tr-TR" dirty="0" err="1" smtClean="0"/>
              <a:t>the</a:t>
            </a:r>
            <a:r>
              <a:rPr lang="tr-TR" dirty="0" smtClean="0"/>
              <a:t> </a:t>
            </a:r>
            <a:r>
              <a:rPr lang="tr-TR" dirty="0" err="1" smtClean="0"/>
              <a:t>average</a:t>
            </a:r>
            <a:r>
              <a:rPr lang="tr-TR" dirty="0" smtClean="0"/>
              <a:t> time in Ethernet </a:t>
            </a:r>
            <a:r>
              <a:rPr lang="tr-TR" dirty="0" err="1" smtClean="0"/>
              <a:t>collision</a:t>
            </a:r>
            <a:r>
              <a:rPr lang="tr-TR" dirty="0" smtClean="0"/>
              <a:t> time.</a:t>
            </a:r>
          </a:p>
          <a:p>
            <a:r>
              <a:rPr lang="tr-TR" dirty="0" err="1" smtClean="0"/>
              <a:t>HubAndSwitch</a:t>
            </a:r>
            <a:r>
              <a:rPr lang="tr-TR" dirty="0"/>
              <a:t> </a:t>
            </a:r>
            <a:r>
              <a:rPr lang="tr-TR" dirty="0" smtClean="0"/>
              <a:t>network has </a:t>
            </a:r>
            <a:r>
              <a:rPr lang="tr-TR" dirty="0" err="1" smtClean="0"/>
              <a:t>lower</a:t>
            </a:r>
            <a:r>
              <a:rPr lang="tr-TR" dirty="0" smtClean="0"/>
              <a:t> </a:t>
            </a:r>
            <a:r>
              <a:rPr lang="tr-TR" dirty="0" err="1" smtClean="0"/>
              <a:t>collision</a:t>
            </a:r>
            <a:r>
              <a:rPr lang="tr-TR" dirty="0" smtClean="0"/>
              <a:t> </a:t>
            </a:r>
            <a:r>
              <a:rPr lang="tr-TR" dirty="0" err="1" smtClean="0"/>
              <a:t>per</a:t>
            </a:r>
            <a:r>
              <a:rPr lang="tr-TR" dirty="0" smtClean="0"/>
              <a:t> time.</a:t>
            </a:r>
            <a:endParaRPr lang="tr-TR" dirty="0"/>
          </a:p>
        </p:txBody>
      </p:sp>
      <p:pic>
        <p:nvPicPr>
          <p:cNvPr id="3074" name="Picture 2" descr="C:\Users\barkin\Desktop\Ekran Görüntüsü (2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537353"/>
            <a:ext cx="5442198" cy="4780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148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67544" y="-17112"/>
            <a:ext cx="8229600" cy="936104"/>
          </a:xfrm>
        </p:spPr>
        <p:txBody>
          <a:bodyPr/>
          <a:lstStyle/>
          <a:p>
            <a:r>
              <a:rPr lang="tr-TR" dirty="0" err="1" smtClean="0"/>
              <a:t>Questions</a:t>
            </a:r>
            <a:endParaRPr lang="tr-TR" dirty="0"/>
          </a:p>
        </p:txBody>
      </p:sp>
      <p:sp>
        <p:nvSpPr>
          <p:cNvPr id="3" name="İçerik Yer Tutucusu 2"/>
          <p:cNvSpPr>
            <a:spLocks noGrp="1"/>
          </p:cNvSpPr>
          <p:nvPr>
            <p:ph idx="1"/>
          </p:nvPr>
        </p:nvSpPr>
        <p:spPr>
          <a:xfrm>
            <a:off x="539552" y="764704"/>
            <a:ext cx="8229600" cy="5949280"/>
          </a:xfrm>
        </p:spPr>
        <p:txBody>
          <a:bodyPr>
            <a:noAutofit/>
          </a:bodyPr>
          <a:lstStyle/>
          <a:p>
            <a:pPr>
              <a:lnSpc>
                <a:spcPct val="120000"/>
              </a:lnSpc>
            </a:pPr>
            <a:r>
              <a:rPr lang="tr-TR" sz="2000" dirty="0"/>
              <a:t>W</a:t>
            </a:r>
            <a:r>
              <a:rPr lang="en-US" sz="2000" dirty="0" err="1" smtClean="0"/>
              <a:t>hy</a:t>
            </a:r>
            <a:r>
              <a:rPr lang="en-US" sz="2000" dirty="0" smtClean="0"/>
              <a:t> adding a switch makes the network perform better in terms of throughput and delay</a:t>
            </a:r>
            <a:r>
              <a:rPr lang="tr-TR" sz="2000" dirty="0" smtClean="0"/>
              <a:t>?</a:t>
            </a:r>
            <a:r>
              <a:rPr lang="en-US" sz="2000" dirty="0"/>
              <a:t> </a:t>
            </a:r>
            <a:endParaRPr lang="tr-TR" sz="2000" dirty="0" smtClean="0"/>
          </a:p>
          <a:p>
            <a:pPr marL="0" indent="0">
              <a:lnSpc>
                <a:spcPct val="120000"/>
              </a:lnSpc>
              <a:buNone/>
            </a:pPr>
            <a:r>
              <a:rPr lang="en-US" sz="2000" dirty="0"/>
              <a:t>When a switch is added to our second scenario, all traffic generated at any node is directed to its destination node. As a result, </a:t>
            </a:r>
            <a:r>
              <a:rPr lang="en-US" sz="2000" u="sng" dirty="0"/>
              <a:t>no traffic is propagated</a:t>
            </a:r>
            <a:r>
              <a:rPr lang="en-US" sz="2000" dirty="0"/>
              <a:t>. </a:t>
            </a:r>
            <a:r>
              <a:rPr lang="en-US" sz="2000" dirty="0"/>
              <a:t>Switches improve throughput and latency in </a:t>
            </a:r>
            <a:r>
              <a:rPr lang="en-US" sz="2000" dirty="0" smtClean="0"/>
              <a:t>networks</a:t>
            </a:r>
            <a:r>
              <a:rPr lang="tr-TR" sz="2000" dirty="0" smtClean="0"/>
              <a:t>.</a:t>
            </a:r>
            <a:endParaRPr lang="tr-TR" sz="2000" dirty="0" smtClean="0"/>
          </a:p>
          <a:p>
            <a:pPr>
              <a:lnSpc>
                <a:spcPct val="120000"/>
              </a:lnSpc>
            </a:pPr>
            <a:r>
              <a:rPr lang="en-US" sz="2000" dirty="0" smtClean="0"/>
              <a:t>We </a:t>
            </a:r>
            <a:r>
              <a:rPr lang="en-US" sz="2000" dirty="0"/>
              <a:t>analyzed the collision counts of the hubs. Can you analyze the collision count of </a:t>
            </a:r>
            <a:r>
              <a:rPr lang="tr-TR" sz="2000" dirty="0" smtClean="0"/>
              <a:t>  </a:t>
            </a:r>
            <a:r>
              <a:rPr lang="en-US" sz="2000" dirty="0" smtClean="0"/>
              <a:t>the </a:t>
            </a:r>
            <a:r>
              <a:rPr lang="en-US" sz="2000" dirty="0"/>
              <a:t>“Switch</a:t>
            </a:r>
            <a:r>
              <a:rPr lang="en-US" sz="2000" dirty="0" smtClean="0"/>
              <a:t>”?</a:t>
            </a:r>
            <a:endParaRPr lang="tr-TR" sz="2000" dirty="0" smtClean="0"/>
          </a:p>
          <a:p>
            <a:pPr marL="0" indent="0">
              <a:buNone/>
            </a:pPr>
            <a:r>
              <a:rPr lang="en-US" sz="2000" dirty="0" smtClean="0"/>
              <a:t>Switches </a:t>
            </a:r>
            <a:r>
              <a:rPr lang="en-US" sz="2000" dirty="0"/>
              <a:t>are not “shared </a:t>
            </a:r>
            <a:r>
              <a:rPr lang="en-US" sz="2000" dirty="0" smtClean="0"/>
              <a:t>media</a:t>
            </a:r>
            <a:r>
              <a:rPr lang="en-US" sz="2000" dirty="0" smtClean="0"/>
              <a:t>”</a:t>
            </a:r>
            <a:r>
              <a:rPr lang="tr-TR" sz="2000" dirty="0"/>
              <a:t> </a:t>
            </a:r>
            <a:r>
              <a:rPr lang="tr-TR" sz="2000" dirty="0" err="1" smtClean="0"/>
              <a:t>devices</a:t>
            </a:r>
            <a:r>
              <a:rPr lang="tr-TR" sz="2000" dirty="0" smtClean="0"/>
              <a:t> </a:t>
            </a:r>
            <a:r>
              <a:rPr lang="tr-TR" sz="2000" dirty="0" smtClean="0"/>
              <a:t>but</a:t>
            </a:r>
            <a:r>
              <a:rPr lang="en-US" sz="2000" dirty="0" smtClean="0"/>
              <a:t> </a:t>
            </a:r>
            <a:r>
              <a:rPr lang="en-US" sz="2000" dirty="0"/>
              <a:t>hubs are. </a:t>
            </a:r>
            <a:r>
              <a:rPr lang="en-US" sz="2000" u="sng" dirty="0"/>
              <a:t>We are unable to examine the Switch's collision count</a:t>
            </a:r>
            <a:r>
              <a:rPr lang="en-US" sz="2000" dirty="0"/>
              <a:t>. The switch splits the network into several segments and maintains simultaneous connections of several pairs of computers that do not compete for network bandwidth with other pairs of computers. When the switch receives the packet, it uses the destination address information in the header to forward it to its intended destination. As a result, each port in Switch has its own bandwidth allocation. Using a switch, several </a:t>
            </a:r>
            <a:r>
              <a:rPr lang="tr-TR" sz="2000" dirty="0" err="1" smtClean="0"/>
              <a:t>connections</a:t>
            </a:r>
            <a:r>
              <a:rPr lang="en-US" sz="2000" dirty="0" smtClean="0"/>
              <a:t> </a:t>
            </a:r>
            <a:r>
              <a:rPr lang="en-US" sz="2000" dirty="0"/>
              <a:t>may be handled separately. Since the switch does not share the transmission media, there are no collisions in the network.</a:t>
            </a:r>
          </a:p>
          <a:p>
            <a:pPr>
              <a:lnSpc>
                <a:spcPct val="120000"/>
              </a:lnSpc>
            </a:pPr>
            <a:endParaRPr lang="tr-TR" sz="1800" dirty="0"/>
          </a:p>
          <a:p>
            <a:pPr marL="0" indent="0">
              <a:lnSpc>
                <a:spcPct val="120000"/>
              </a:lnSpc>
              <a:buNone/>
            </a:pPr>
            <a:endParaRPr lang="tr-TR" sz="1800" dirty="0" smtClean="0"/>
          </a:p>
        </p:txBody>
      </p:sp>
    </p:spTree>
    <p:extLst>
      <p:ext uri="{BB962C8B-B14F-4D97-AF65-F5344CB8AC3E}">
        <p14:creationId xmlns:p14="http://schemas.microsoft.com/office/powerpoint/2010/main" val="2587730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Reference</a:t>
            </a:r>
            <a:endParaRPr lang="tr-TR" dirty="0"/>
          </a:p>
        </p:txBody>
      </p:sp>
      <p:sp>
        <p:nvSpPr>
          <p:cNvPr id="3" name="İçerik Yer Tutucusu 2"/>
          <p:cNvSpPr>
            <a:spLocks noGrp="1"/>
          </p:cNvSpPr>
          <p:nvPr>
            <p:ph idx="1"/>
          </p:nvPr>
        </p:nvSpPr>
        <p:spPr/>
        <p:txBody>
          <a:bodyPr/>
          <a:lstStyle/>
          <a:p>
            <a:r>
              <a:rPr lang="tr-TR" dirty="0" err="1" smtClean="0"/>
              <a:t>Emad</a:t>
            </a:r>
            <a:r>
              <a:rPr lang="tr-TR" dirty="0" smtClean="0"/>
              <a:t> </a:t>
            </a:r>
            <a:r>
              <a:rPr lang="tr-TR" dirty="0" err="1" smtClean="0"/>
              <a:t>Abolela</a:t>
            </a:r>
            <a:r>
              <a:rPr lang="tr-TR" dirty="0" smtClean="0"/>
              <a:t>.(2003).Network </a:t>
            </a:r>
            <a:r>
              <a:rPr lang="tr-TR" dirty="0" err="1"/>
              <a:t>Simulation</a:t>
            </a:r>
            <a:r>
              <a:rPr lang="tr-TR" dirty="0"/>
              <a:t> </a:t>
            </a:r>
            <a:r>
              <a:rPr lang="tr-TR" dirty="0" err="1"/>
              <a:t>Experiments</a:t>
            </a:r>
            <a:r>
              <a:rPr lang="tr-TR" dirty="0"/>
              <a:t> </a:t>
            </a:r>
            <a:r>
              <a:rPr lang="tr-TR" dirty="0" smtClean="0"/>
              <a:t>Manual.</a:t>
            </a:r>
          </a:p>
          <a:p>
            <a:r>
              <a:rPr lang="tr-TR" dirty="0" smtClean="0"/>
              <a:t>Youtube-</a:t>
            </a:r>
            <a:r>
              <a:rPr lang="tr-TR" dirty="0" err="1" smtClean="0"/>
              <a:t>King</a:t>
            </a:r>
            <a:r>
              <a:rPr lang="tr-TR" dirty="0" smtClean="0"/>
              <a:t> </a:t>
            </a:r>
            <a:r>
              <a:rPr lang="tr-TR" dirty="0" err="1" smtClean="0"/>
              <a:t>Tutorials</a:t>
            </a:r>
            <a:r>
              <a:rPr lang="tr-TR" dirty="0" smtClean="0"/>
              <a:t>.(2016).</a:t>
            </a:r>
            <a:r>
              <a:rPr lang="en-US" dirty="0" smtClean="0"/>
              <a:t>Riverbed </a:t>
            </a:r>
            <a:r>
              <a:rPr lang="en-US" dirty="0" err="1"/>
              <a:t>Opnet</a:t>
            </a:r>
            <a:r>
              <a:rPr lang="en-US" dirty="0"/>
              <a:t> 17.5 Tutorial - Switched </a:t>
            </a:r>
            <a:r>
              <a:rPr lang="en-US" dirty="0" err="1" smtClean="0"/>
              <a:t>Lan</a:t>
            </a:r>
            <a:r>
              <a:rPr lang="tr-TR" dirty="0" smtClean="0"/>
              <a:t>.</a:t>
            </a:r>
            <a:endParaRPr lang="en-US" dirty="0"/>
          </a:p>
          <a:p>
            <a:endParaRPr lang="tr-TR" dirty="0"/>
          </a:p>
        </p:txBody>
      </p:sp>
    </p:spTree>
    <p:extLst>
      <p:ext uri="{BB962C8B-B14F-4D97-AF65-F5344CB8AC3E}">
        <p14:creationId xmlns:p14="http://schemas.microsoft.com/office/powerpoint/2010/main" val="145039657"/>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771</Words>
  <Application>Microsoft Office PowerPoint</Application>
  <PresentationFormat>Ekran Gösterisi (4:3)</PresentationFormat>
  <Paragraphs>53</Paragraphs>
  <Slides>17</Slides>
  <Notes>0</Notes>
  <HiddenSlides>0</HiddenSlides>
  <MMClips>0</MMClips>
  <ScaleCrop>false</ScaleCrop>
  <HeadingPairs>
    <vt:vector size="4" baseType="variant">
      <vt:variant>
        <vt:lpstr>Tema</vt:lpstr>
      </vt:variant>
      <vt:variant>
        <vt:i4>1</vt:i4>
      </vt:variant>
      <vt:variant>
        <vt:lpstr>Slayt Başlıkları</vt:lpstr>
      </vt:variant>
      <vt:variant>
        <vt:i4>17</vt:i4>
      </vt:variant>
    </vt:vector>
  </HeadingPairs>
  <TitlesOfParts>
    <vt:vector size="18" baseType="lpstr">
      <vt:lpstr>Ofis Teması</vt:lpstr>
      <vt:lpstr>Switched Lan’s Example</vt:lpstr>
      <vt:lpstr>PowerPoint Sunusu</vt:lpstr>
      <vt:lpstr>PowerPoint Sunusu</vt:lpstr>
      <vt:lpstr>Node Model Configuration</vt:lpstr>
      <vt:lpstr>Network Model</vt:lpstr>
      <vt:lpstr>Node Attributes</vt:lpstr>
      <vt:lpstr>Statistics</vt:lpstr>
      <vt:lpstr>Object Palette Tree</vt:lpstr>
      <vt:lpstr>PowerPoint Sunusu</vt:lpstr>
      <vt:lpstr>Viewing Result</vt:lpstr>
      <vt:lpstr>Result Browser</vt:lpstr>
      <vt:lpstr>Traffic Source Sent</vt:lpstr>
      <vt:lpstr>Traffic Sink Received</vt:lpstr>
      <vt:lpstr>Ethernet Delay</vt:lpstr>
      <vt:lpstr>Ethernet Collision Count</vt:lpstr>
      <vt:lpstr>Questions</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Switched Lan’s Example</dc:title>
  <dc:creator>barkin</dc:creator>
  <cp:lastModifiedBy>barkin</cp:lastModifiedBy>
  <cp:revision>81</cp:revision>
  <dcterms:created xsi:type="dcterms:W3CDTF">2021-04-26T11:09:08Z</dcterms:created>
  <dcterms:modified xsi:type="dcterms:W3CDTF">2021-05-17T10:29:36Z</dcterms:modified>
</cp:coreProperties>
</file>