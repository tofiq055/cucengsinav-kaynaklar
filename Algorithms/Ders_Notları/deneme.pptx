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68" r:id="rId5"/>
    <p:sldId id="258" r:id="rId6"/>
    <p:sldId id="259" r:id="rId7"/>
    <p:sldId id="260" r:id="rId8"/>
    <p:sldId id="269" r:id="rId9"/>
    <p:sldId id="261" r:id="rId10"/>
    <p:sldId id="270" r:id="rId11"/>
    <p:sldId id="271" r:id="rId12"/>
    <p:sldId id="262" r:id="rId1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CFF7BE40-C192-4798-93AD-E398E02CF0D8}" type="datetimeFigureOut">
              <a:rPr lang="tr-TR" smtClean="0"/>
              <a:t>20.11.2020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2996265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CFF7BE40-C192-4798-93AD-E398E02CF0D8}" type="datetimeFigureOut">
              <a:rPr lang="tr-TR" smtClean="0"/>
              <a:t>20.11.2020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1468742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CFF7BE40-C192-4798-93AD-E398E02CF0D8}" type="datetimeFigureOut">
              <a:rPr lang="tr-TR" smtClean="0"/>
              <a:t>20.11.2020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869979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CFF7BE40-C192-4798-93AD-E398E02CF0D8}" type="datetimeFigureOut">
              <a:rPr lang="tr-TR" smtClean="0"/>
              <a:t>20.11.2020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1847115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CFF7BE40-C192-4798-93AD-E398E02CF0D8}" type="datetimeFigureOut">
              <a:rPr lang="tr-TR" smtClean="0"/>
              <a:t>20.11.2020</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4034801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CFF7BE40-C192-4798-93AD-E398E02CF0D8}" type="datetimeFigureOut">
              <a:rPr lang="tr-TR" smtClean="0"/>
              <a:t>20.11.2020</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1085736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CFF7BE40-C192-4798-93AD-E398E02CF0D8}" type="datetimeFigureOut">
              <a:rPr lang="tr-TR" smtClean="0"/>
              <a:t>20.11.2020</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703442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CFF7BE40-C192-4798-93AD-E398E02CF0D8}" type="datetimeFigureOut">
              <a:rPr lang="tr-TR" smtClean="0"/>
              <a:t>20.11.2020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2330339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CFF7BE40-C192-4798-93AD-E398E02CF0D8}" type="datetimeFigureOut">
              <a:rPr lang="tr-TR" smtClean="0"/>
              <a:t>20.11.2020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322745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CFF7BE40-C192-4798-93AD-E398E02CF0D8}" type="datetimeFigureOut">
              <a:rPr lang="tr-TR" smtClean="0"/>
              <a:t>20.11.2020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644100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CFF7BE40-C192-4798-93AD-E398E02CF0D8}" type="datetimeFigureOut">
              <a:rPr lang="tr-TR" smtClean="0"/>
              <a:t>20.11.2020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911312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F7BE40-C192-4798-93AD-E398E02CF0D8}" type="datetimeFigureOut">
              <a:rPr lang="tr-TR" smtClean="0"/>
              <a:t>20.11.2020</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7E269A-39DB-4326-A80F-1DC50C8A13BB}" type="slidenum">
              <a:rPr lang="tr-TR" smtClean="0"/>
              <a:t>‹#›</a:t>
            </a:fld>
            <a:endParaRPr lang="tr-TR"/>
          </a:p>
        </p:txBody>
      </p:sp>
    </p:spTree>
    <p:extLst>
      <p:ext uri="{BB962C8B-B14F-4D97-AF65-F5344CB8AC3E}">
        <p14:creationId xmlns:p14="http://schemas.microsoft.com/office/powerpoint/2010/main" val="1471514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bilgisayarkavramlari.com/2008/03/24/belirsiz-cokterimli-tam-np-complete-nondeterministic-polynomial-complet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NP-complete" TargetMode="External"/><Relationship Id="rId2" Type="http://schemas.openxmlformats.org/officeDocument/2006/relationships/hyperlink" Target="https://en.wikipedia.org/wiki/Decision_problem" TargetMode="External"/><Relationship Id="rId1" Type="http://schemas.openxmlformats.org/officeDocument/2006/relationships/slideLayout" Target="../slideLayouts/slideLayout2.xml"/><Relationship Id="rId6" Type="http://schemas.openxmlformats.org/officeDocument/2006/relationships/hyperlink" Target="https://en.wikipedia.org/wiki/Polynomial-time_approximation_scheme" TargetMode="External"/><Relationship Id="rId5" Type="http://schemas.openxmlformats.org/officeDocument/2006/relationships/hyperlink" Target="https://en.wikipedia.org/wiki/Dynamic_programming" TargetMode="External"/><Relationship Id="rId4" Type="http://schemas.openxmlformats.org/officeDocument/2006/relationships/hyperlink" Target="https://en.wikipedia.org/wiki/Pseudo-polynomial_tim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Boolean_satisfiability_problem" TargetMode="External"/><Relationship Id="rId2" Type="http://schemas.openxmlformats.org/officeDocument/2006/relationships/hyperlink" Target="https://www.mobilhanem.com/knapsack-sirt-cantasi-algoritmasi/" TargetMode="External"/><Relationship Id="rId1" Type="http://schemas.openxmlformats.org/officeDocument/2006/relationships/slideLayout" Target="../slideLayouts/slideLayout2.xml"/><Relationship Id="rId4" Type="http://schemas.openxmlformats.org/officeDocument/2006/relationships/hyperlink" Target="https://tr.wikipedia.org/wiki/S%C4%B1rt_%C3%A7antas%C4%B1_problem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395536" y="116632"/>
            <a:ext cx="7772400" cy="1470025"/>
          </a:xfrm>
        </p:spPr>
        <p:txBody>
          <a:bodyPr/>
          <a:lstStyle/>
          <a:p>
            <a:r>
              <a:rPr lang="tr-TR" dirty="0" smtClean="0"/>
              <a:t>3SAT&lt;= KNAPSACK</a:t>
            </a:r>
            <a:endParaRPr lang="tr-TR" dirty="0"/>
          </a:p>
        </p:txBody>
      </p:sp>
      <p:sp>
        <p:nvSpPr>
          <p:cNvPr id="3" name="Alt Başlık 2"/>
          <p:cNvSpPr>
            <a:spLocks noGrp="1"/>
          </p:cNvSpPr>
          <p:nvPr>
            <p:ph type="subTitle" idx="1"/>
          </p:nvPr>
        </p:nvSpPr>
        <p:spPr>
          <a:xfrm>
            <a:off x="1115616" y="1700808"/>
            <a:ext cx="6400800" cy="1752600"/>
          </a:xfrm>
        </p:spPr>
        <p:txBody>
          <a:bodyPr>
            <a:normAutofit fontScale="77500" lnSpcReduction="20000"/>
          </a:bodyPr>
          <a:lstStyle/>
          <a:p>
            <a:r>
              <a:rPr lang="tr-TR" dirty="0" smtClean="0">
                <a:solidFill>
                  <a:schemeClr val="tx1"/>
                </a:solidFill>
              </a:rPr>
              <a:t>T</a:t>
            </a:r>
            <a:r>
              <a:rPr lang="en-US" dirty="0" smtClean="0">
                <a:solidFill>
                  <a:schemeClr val="tx1"/>
                </a:solidFill>
              </a:rPr>
              <a:t>he knapsack </a:t>
            </a:r>
            <a:r>
              <a:rPr lang="tr-TR" dirty="0" smtClean="0">
                <a:solidFill>
                  <a:schemeClr val="tx1"/>
                </a:solidFill>
              </a:rPr>
              <a:t>problem</a:t>
            </a:r>
            <a:r>
              <a:rPr lang="en-US" dirty="0" smtClean="0">
                <a:solidFill>
                  <a:schemeClr val="tx1"/>
                </a:solidFill>
              </a:rPr>
              <a:t> </a:t>
            </a:r>
            <a:r>
              <a:rPr lang="tr-TR" dirty="0" smtClean="0">
                <a:solidFill>
                  <a:schemeClr val="tx1"/>
                </a:solidFill>
              </a:rPr>
              <a:t>in </a:t>
            </a:r>
            <a:r>
              <a:rPr lang="en-US" dirty="0" smtClean="0">
                <a:solidFill>
                  <a:schemeClr val="tx1"/>
                </a:solidFill>
              </a:rPr>
              <a:t>detail</a:t>
            </a:r>
          </a:p>
          <a:p>
            <a:r>
              <a:rPr lang="en-US" dirty="0" smtClean="0">
                <a:solidFill>
                  <a:schemeClr val="tx1"/>
                </a:solidFill>
              </a:rPr>
              <a:t>Introduce the concrete examples to satisfy the knapsack problem</a:t>
            </a:r>
          </a:p>
          <a:p>
            <a:r>
              <a:rPr lang="tr-TR" dirty="0" smtClean="0">
                <a:solidFill>
                  <a:schemeClr val="tx1"/>
                </a:solidFill>
              </a:rPr>
              <a:t>I</a:t>
            </a:r>
            <a:r>
              <a:rPr lang="en-US" dirty="0" err="1" smtClean="0">
                <a:solidFill>
                  <a:schemeClr val="tx1"/>
                </a:solidFill>
              </a:rPr>
              <a:t>ntroduce</a:t>
            </a:r>
            <a:r>
              <a:rPr lang="en-US" dirty="0" smtClean="0">
                <a:solidFill>
                  <a:schemeClr val="tx1"/>
                </a:solidFill>
              </a:rPr>
              <a:t> the reducibility of 3sat to knapsack</a:t>
            </a:r>
            <a:endParaRPr lang="tr-TR" dirty="0">
              <a:solidFill>
                <a:schemeClr val="tx1"/>
              </a:solidFill>
            </a:endParaRPr>
          </a:p>
        </p:txBody>
      </p:sp>
      <p:pic>
        <p:nvPicPr>
          <p:cNvPr id="2050" name="Picture 2" descr="D:\Users\CAHİT BARKIN ÖZER\Downloads\adult-1850181_6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931288"/>
            <a:ext cx="3384376" cy="225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856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History</a:t>
            </a:r>
            <a:r>
              <a:rPr lang="tr-TR" dirty="0" smtClean="0"/>
              <a:t> of </a:t>
            </a:r>
            <a:r>
              <a:rPr lang="tr-TR" dirty="0" err="1" smtClean="0"/>
              <a:t>Knapsack</a:t>
            </a:r>
            <a:r>
              <a:rPr lang="tr-TR" dirty="0" smtClean="0"/>
              <a:t> Problem</a:t>
            </a:r>
            <a:endParaRPr lang="tr-TR" dirty="0"/>
          </a:p>
        </p:txBody>
      </p:sp>
      <p:sp>
        <p:nvSpPr>
          <p:cNvPr id="3" name="İçerik Yer Tutucusu 2"/>
          <p:cNvSpPr>
            <a:spLocks noGrp="1"/>
          </p:cNvSpPr>
          <p:nvPr>
            <p:ph idx="1"/>
          </p:nvPr>
        </p:nvSpPr>
        <p:spPr/>
        <p:txBody>
          <a:bodyPr/>
          <a:lstStyle/>
          <a:p>
            <a:r>
              <a:rPr lang="en-US" dirty="0" smtClean="0"/>
              <a:t>It is one of the most dealing problems in integer programming. As a result of the increase of this product problem since 1950, it is a problem that is sought for solutions with computer technology and the solution processes are tried to be developed.</a:t>
            </a:r>
            <a:endParaRPr lang="tr-TR" dirty="0"/>
          </a:p>
        </p:txBody>
      </p:sp>
    </p:spTree>
    <p:extLst>
      <p:ext uri="{BB962C8B-B14F-4D97-AF65-F5344CB8AC3E}">
        <p14:creationId xmlns:p14="http://schemas.microsoft.com/office/powerpoint/2010/main" val="310500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Knapsack</a:t>
            </a:r>
            <a:r>
              <a:rPr lang="tr-TR" dirty="0" smtClean="0"/>
              <a:t> in </a:t>
            </a:r>
            <a:r>
              <a:rPr lang="tr-TR" dirty="0" err="1" smtClean="0"/>
              <a:t>detail</a:t>
            </a:r>
            <a:endParaRPr lang="tr-TR" dirty="0"/>
          </a:p>
        </p:txBody>
      </p:sp>
      <p:sp>
        <p:nvSpPr>
          <p:cNvPr id="3" name="İçerik Yer Tutucusu 2"/>
          <p:cNvSpPr>
            <a:spLocks noGrp="1"/>
          </p:cNvSpPr>
          <p:nvPr>
            <p:ph idx="1"/>
          </p:nvPr>
        </p:nvSpPr>
        <p:spPr/>
        <p:txBody>
          <a:bodyPr>
            <a:normAutofit/>
          </a:bodyPr>
          <a:lstStyle/>
          <a:p>
            <a:r>
              <a:rPr lang="en-US" dirty="0" smtClean="0"/>
              <a:t>Knapsack algorithm is an algorithm based on getting the most optimum efficiency from the available data. </a:t>
            </a:r>
            <a:endParaRPr lang="tr-TR" dirty="0" smtClean="0"/>
          </a:p>
          <a:p>
            <a:r>
              <a:rPr lang="en-US" dirty="0" smtClean="0"/>
              <a:t>To give a simple example, think of a thief who can put a certain weight on his </a:t>
            </a:r>
            <a:r>
              <a:rPr lang="tr-TR" dirty="0" err="1" smtClean="0"/>
              <a:t>knapsack</a:t>
            </a:r>
            <a:r>
              <a:rPr lang="en-US" dirty="0" smtClean="0"/>
              <a:t> (a bag with shoulder straps, carried on the back, and typically made of</a:t>
            </a:r>
            <a:r>
              <a:rPr lang="tr-TR" dirty="0" smtClean="0"/>
              <a:t> </a:t>
            </a:r>
            <a:r>
              <a:rPr lang="en-US" dirty="0" smtClean="0"/>
              <a:t>weatherproof material.)</a:t>
            </a:r>
            <a:endParaRPr lang="tr-TR" dirty="0"/>
          </a:p>
        </p:txBody>
      </p:sp>
    </p:spTree>
    <p:extLst>
      <p:ext uri="{BB962C8B-B14F-4D97-AF65-F5344CB8AC3E}">
        <p14:creationId xmlns:p14="http://schemas.microsoft.com/office/powerpoint/2010/main" val="790908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467544" y="836712"/>
            <a:ext cx="8229600" cy="4525963"/>
          </a:xfrm>
        </p:spPr>
        <p:txBody>
          <a:bodyPr>
            <a:normAutofit lnSpcReduction="10000"/>
          </a:bodyPr>
          <a:lstStyle/>
          <a:p>
            <a:r>
              <a:rPr lang="en-US" dirty="0" smtClean="0"/>
              <a:t>At home, </a:t>
            </a:r>
            <a:r>
              <a:rPr lang="tr-TR" dirty="0" err="1" smtClean="0"/>
              <a:t>items</a:t>
            </a:r>
            <a:r>
              <a:rPr lang="en-US" dirty="0" smtClean="0"/>
              <a:t> have weight and value, the thief should leave the house with </a:t>
            </a:r>
            <a:r>
              <a:rPr lang="tr-TR" dirty="0" err="1" smtClean="0"/>
              <a:t>maximum</a:t>
            </a:r>
            <a:r>
              <a:rPr lang="tr-TR" dirty="0" smtClean="0"/>
              <a:t> </a:t>
            </a:r>
            <a:r>
              <a:rPr lang="tr-TR" dirty="0" err="1" smtClean="0"/>
              <a:t>profit</a:t>
            </a:r>
            <a:r>
              <a:rPr lang="en-US" dirty="0" smtClean="0"/>
              <a:t> in the most optimal way and fill his bag accordingly.</a:t>
            </a:r>
            <a:endParaRPr lang="tr-TR" dirty="0" smtClean="0"/>
          </a:p>
          <a:p>
            <a:r>
              <a:rPr lang="tr-TR" dirty="0" err="1" smtClean="0"/>
              <a:t>We</a:t>
            </a:r>
            <a:r>
              <a:rPr lang="tr-TR" dirty="0" smtClean="0"/>
              <a:t> </a:t>
            </a:r>
            <a:r>
              <a:rPr lang="tr-TR" dirty="0" err="1" smtClean="0"/>
              <a:t>need</a:t>
            </a:r>
            <a:r>
              <a:rPr lang="tr-TR" dirty="0" smtClean="0"/>
              <a:t> 3 </a:t>
            </a:r>
            <a:r>
              <a:rPr lang="tr-TR" dirty="0" err="1" smtClean="0"/>
              <a:t>things</a:t>
            </a:r>
            <a:r>
              <a:rPr lang="tr-TR" dirty="0" smtClean="0"/>
              <a:t>. Value of </a:t>
            </a:r>
            <a:r>
              <a:rPr lang="tr-TR" dirty="0" err="1" smtClean="0"/>
              <a:t>items,weight</a:t>
            </a:r>
            <a:r>
              <a:rPr lang="tr-TR" dirty="0" smtClean="0"/>
              <a:t> of </a:t>
            </a:r>
            <a:r>
              <a:rPr lang="tr-TR" dirty="0" err="1" smtClean="0"/>
              <a:t>items</a:t>
            </a:r>
            <a:r>
              <a:rPr lang="tr-TR" dirty="0" smtClean="0"/>
              <a:t>, </a:t>
            </a:r>
            <a:r>
              <a:rPr lang="tr-TR" dirty="0" err="1" smtClean="0"/>
              <a:t>max</a:t>
            </a:r>
            <a:r>
              <a:rPr lang="tr-TR" dirty="0" smtClean="0"/>
              <a:t> </a:t>
            </a:r>
            <a:r>
              <a:rPr lang="tr-TR" dirty="0" err="1" smtClean="0"/>
              <a:t>weight</a:t>
            </a:r>
            <a:r>
              <a:rPr lang="tr-TR" dirty="0" smtClean="0"/>
              <a:t> </a:t>
            </a:r>
            <a:r>
              <a:rPr lang="tr-TR" dirty="0" err="1" smtClean="0"/>
              <a:t>that</a:t>
            </a:r>
            <a:r>
              <a:rPr lang="tr-TR" dirty="0" smtClean="0"/>
              <a:t> </a:t>
            </a:r>
            <a:r>
              <a:rPr lang="tr-TR" dirty="0" err="1" smtClean="0"/>
              <a:t>we</a:t>
            </a:r>
            <a:r>
              <a:rPr lang="tr-TR" dirty="0" smtClean="0"/>
              <a:t> can </a:t>
            </a:r>
            <a:r>
              <a:rPr lang="tr-TR" dirty="0" err="1" smtClean="0"/>
              <a:t>carry</a:t>
            </a:r>
            <a:r>
              <a:rPr lang="tr-TR" dirty="0" smtClean="0"/>
              <a:t>.</a:t>
            </a:r>
          </a:p>
          <a:p>
            <a:r>
              <a:rPr lang="tr-TR" dirty="0" err="1" smtClean="0"/>
              <a:t>Our</a:t>
            </a:r>
            <a:r>
              <a:rPr lang="tr-TR" dirty="0" smtClean="0"/>
              <a:t> </a:t>
            </a:r>
            <a:r>
              <a:rPr lang="tr-TR" dirty="0" err="1" smtClean="0"/>
              <a:t>items</a:t>
            </a:r>
            <a:r>
              <a:rPr lang="tr-TR" dirty="0" smtClean="0"/>
              <a:t> </a:t>
            </a:r>
            <a:r>
              <a:rPr lang="tr-TR" dirty="0" err="1" smtClean="0"/>
              <a:t>are</a:t>
            </a:r>
            <a:r>
              <a:rPr lang="tr-TR" dirty="0" smtClean="0"/>
              <a:t> </a:t>
            </a:r>
            <a:r>
              <a:rPr lang="tr-TR" dirty="0" err="1" smtClean="0"/>
              <a:t>integer</a:t>
            </a:r>
            <a:r>
              <a:rPr lang="tr-TR" dirty="0" smtClean="0"/>
              <a:t>. </a:t>
            </a:r>
            <a:r>
              <a:rPr lang="tr-TR" dirty="0" err="1" smtClean="0"/>
              <a:t>So</a:t>
            </a:r>
            <a:r>
              <a:rPr lang="tr-TR" dirty="0" smtClean="0"/>
              <a:t> </a:t>
            </a:r>
            <a:r>
              <a:rPr lang="tr-TR" dirty="0" err="1" smtClean="0"/>
              <a:t>we</a:t>
            </a:r>
            <a:r>
              <a:rPr lang="tr-TR" dirty="0" smtClean="0"/>
              <a:t> </a:t>
            </a:r>
            <a:r>
              <a:rPr lang="tr-TR" dirty="0" err="1" smtClean="0"/>
              <a:t>cant</a:t>
            </a:r>
            <a:r>
              <a:rPr lang="tr-TR" dirty="0" smtClean="0"/>
              <a:t> </a:t>
            </a:r>
            <a:r>
              <a:rPr lang="tr-TR" dirty="0" err="1" smtClean="0"/>
              <a:t>have</a:t>
            </a:r>
            <a:r>
              <a:rPr lang="tr-TR" dirty="0" smtClean="0"/>
              <a:t> </a:t>
            </a:r>
            <a:r>
              <a:rPr lang="tr-TR" dirty="0" err="1" smtClean="0"/>
              <a:t>some</a:t>
            </a:r>
            <a:r>
              <a:rPr lang="tr-TR" dirty="0" smtClean="0"/>
              <a:t> </a:t>
            </a:r>
            <a:r>
              <a:rPr lang="tr-TR" dirty="0" err="1" smtClean="0"/>
              <a:t>portion</a:t>
            </a:r>
            <a:r>
              <a:rPr lang="tr-TR" dirty="0" smtClean="0"/>
              <a:t> of </a:t>
            </a:r>
            <a:r>
              <a:rPr lang="tr-TR" dirty="0" err="1" smtClean="0"/>
              <a:t>the</a:t>
            </a:r>
            <a:r>
              <a:rPr lang="tr-TR" dirty="0" smtClean="0"/>
              <a:t> </a:t>
            </a:r>
            <a:r>
              <a:rPr lang="tr-TR" dirty="0" err="1" smtClean="0"/>
              <a:t>items</a:t>
            </a:r>
            <a:r>
              <a:rPr lang="tr-TR" dirty="0" smtClean="0"/>
              <a:t>. </a:t>
            </a:r>
            <a:r>
              <a:rPr lang="tr-TR" dirty="0" err="1" smtClean="0"/>
              <a:t>We</a:t>
            </a:r>
            <a:r>
              <a:rPr lang="tr-TR" dirty="0" smtClean="0"/>
              <a:t> </a:t>
            </a:r>
            <a:r>
              <a:rPr lang="tr-TR" dirty="0" err="1" smtClean="0"/>
              <a:t>will</a:t>
            </a:r>
            <a:r>
              <a:rPr lang="tr-TR" dirty="0" smtClean="0"/>
              <a:t> </a:t>
            </a:r>
            <a:r>
              <a:rPr lang="tr-TR" dirty="0" err="1" smtClean="0"/>
              <a:t>take</a:t>
            </a:r>
            <a:r>
              <a:rPr lang="tr-TR" dirty="0" smtClean="0"/>
              <a:t> </a:t>
            </a:r>
            <a:r>
              <a:rPr lang="tr-TR" dirty="0" err="1" smtClean="0"/>
              <a:t>the</a:t>
            </a:r>
            <a:r>
              <a:rPr lang="tr-TR" dirty="0" smtClean="0"/>
              <a:t> </a:t>
            </a:r>
            <a:r>
              <a:rPr lang="tr-TR" dirty="0" err="1" smtClean="0"/>
              <a:t>item</a:t>
            </a:r>
            <a:r>
              <a:rPr lang="tr-TR" dirty="0" smtClean="0"/>
              <a:t> </a:t>
            </a:r>
            <a:r>
              <a:rPr lang="tr-TR" dirty="0" err="1" smtClean="0"/>
              <a:t>or</a:t>
            </a:r>
            <a:r>
              <a:rPr lang="tr-TR" dirty="0" smtClean="0"/>
              <a:t> </a:t>
            </a:r>
            <a:r>
              <a:rPr lang="tr-TR" dirty="0" err="1" smtClean="0"/>
              <a:t>leave</a:t>
            </a:r>
            <a:r>
              <a:rPr lang="tr-TR" dirty="0" smtClean="0"/>
              <a:t> it.</a:t>
            </a:r>
          </a:p>
          <a:p>
            <a:endParaRPr lang="tr-TR" dirty="0"/>
          </a:p>
        </p:txBody>
      </p:sp>
    </p:spTree>
    <p:extLst>
      <p:ext uri="{BB962C8B-B14F-4D97-AF65-F5344CB8AC3E}">
        <p14:creationId xmlns:p14="http://schemas.microsoft.com/office/powerpoint/2010/main" val="156859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3617038067"/>
              </p:ext>
            </p:extLst>
          </p:nvPr>
        </p:nvGraphicFramePr>
        <p:xfrm>
          <a:off x="457200" y="1600200"/>
          <a:ext cx="8229600" cy="194818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tr-TR" sz="1800" b="1" i="0" kern="1200" dirty="0" err="1" smtClean="0">
                          <a:solidFill>
                            <a:schemeClr val="lt1"/>
                          </a:solidFill>
                          <a:effectLst/>
                          <a:latin typeface="+mn-lt"/>
                          <a:ea typeface="+mn-ea"/>
                          <a:cs typeface="+mn-cs"/>
                        </a:rPr>
                        <a:t>Item</a:t>
                      </a:r>
                      <a:endParaRPr lang="tr-TR" dirty="0"/>
                    </a:p>
                  </a:txBody>
                  <a:tcPr/>
                </a:tc>
                <a:tc>
                  <a:txBody>
                    <a:bodyPr/>
                    <a:lstStyle/>
                    <a:p>
                      <a:r>
                        <a:rPr lang="tr-TR" sz="1800" b="1" i="0" kern="1200" dirty="0" err="1" smtClean="0">
                          <a:solidFill>
                            <a:schemeClr val="lt1"/>
                          </a:solidFill>
                          <a:effectLst/>
                          <a:latin typeface="+mn-lt"/>
                          <a:ea typeface="+mn-ea"/>
                          <a:cs typeface="+mn-cs"/>
                        </a:rPr>
                        <a:t>Weight</a:t>
                      </a:r>
                      <a:endParaRPr lang="tr-TR" dirty="0"/>
                    </a:p>
                  </a:txBody>
                  <a:tcPr/>
                </a:tc>
                <a:tc>
                  <a:txBody>
                    <a:bodyPr/>
                    <a:lstStyle/>
                    <a:p>
                      <a:r>
                        <a:rPr lang="tr-TR" b="1" dirty="0" smtClean="0">
                          <a:effectLst/>
                        </a:rPr>
                        <a:t>Value</a:t>
                      </a:r>
                      <a:endParaRPr lang="tr-TR" dirty="0">
                        <a:effectLst/>
                      </a:endParaRPr>
                    </a:p>
                  </a:txBody>
                  <a:tcPr marL="142875" marR="142875" marT="95250" marB="95250" anchor="ctr"/>
                </a:tc>
              </a:tr>
              <a:tr h="370840">
                <a:tc>
                  <a:txBody>
                    <a:bodyPr/>
                    <a:lstStyle/>
                    <a:p>
                      <a:r>
                        <a:rPr lang="tr-TR" dirty="0" smtClean="0"/>
                        <a:t>1</a:t>
                      </a:r>
                      <a:endParaRPr lang="tr-TR" dirty="0"/>
                    </a:p>
                  </a:txBody>
                  <a:tcPr/>
                </a:tc>
                <a:tc>
                  <a:txBody>
                    <a:bodyPr/>
                    <a:lstStyle/>
                    <a:p>
                      <a:r>
                        <a:rPr lang="tr-TR" dirty="0" smtClean="0"/>
                        <a:t>4 kg</a:t>
                      </a:r>
                      <a:endParaRPr lang="tr-TR" dirty="0"/>
                    </a:p>
                  </a:txBody>
                  <a:tcPr/>
                </a:tc>
                <a:tc>
                  <a:txBody>
                    <a:bodyPr/>
                    <a:lstStyle/>
                    <a:p>
                      <a:r>
                        <a:rPr lang="tr-TR" dirty="0" smtClean="0"/>
                        <a:t>2 </a:t>
                      </a:r>
                      <a:r>
                        <a:rPr lang="tr-TR" dirty="0" err="1" smtClean="0"/>
                        <a:t>tl</a:t>
                      </a:r>
                      <a:endParaRPr lang="tr-TR" dirty="0"/>
                    </a:p>
                  </a:txBody>
                  <a:tcPr/>
                </a:tc>
              </a:tr>
              <a:tr h="370840">
                <a:tc>
                  <a:txBody>
                    <a:bodyPr/>
                    <a:lstStyle/>
                    <a:p>
                      <a:r>
                        <a:rPr lang="tr-TR" dirty="0" smtClean="0"/>
                        <a:t>2</a:t>
                      </a:r>
                      <a:endParaRPr lang="tr-TR" dirty="0"/>
                    </a:p>
                  </a:txBody>
                  <a:tcPr/>
                </a:tc>
                <a:tc>
                  <a:txBody>
                    <a:bodyPr/>
                    <a:lstStyle/>
                    <a:p>
                      <a:r>
                        <a:rPr lang="tr-TR" dirty="0" smtClean="0"/>
                        <a:t>2 kg</a:t>
                      </a:r>
                      <a:endParaRPr lang="tr-TR" dirty="0"/>
                    </a:p>
                  </a:txBody>
                  <a:tcPr/>
                </a:tc>
                <a:tc>
                  <a:txBody>
                    <a:bodyPr/>
                    <a:lstStyle/>
                    <a:p>
                      <a:r>
                        <a:rPr lang="tr-TR" dirty="0" smtClean="0"/>
                        <a:t>3 </a:t>
                      </a:r>
                      <a:r>
                        <a:rPr lang="tr-TR" dirty="0" err="1" smtClean="0"/>
                        <a:t>tl</a:t>
                      </a:r>
                      <a:endParaRPr lang="tr-TR" dirty="0"/>
                    </a:p>
                  </a:txBody>
                  <a:tcPr/>
                </a:tc>
              </a:tr>
              <a:tr h="370840">
                <a:tc>
                  <a:txBody>
                    <a:bodyPr/>
                    <a:lstStyle/>
                    <a:p>
                      <a:r>
                        <a:rPr lang="tr-TR" dirty="0" smtClean="0"/>
                        <a:t>3</a:t>
                      </a:r>
                      <a:endParaRPr lang="tr-TR" dirty="0"/>
                    </a:p>
                  </a:txBody>
                  <a:tcPr/>
                </a:tc>
                <a:tc>
                  <a:txBody>
                    <a:bodyPr/>
                    <a:lstStyle/>
                    <a:p>
                      <a:r>
                        <a:rPr lang="tr-TR" dirty="0" smtClean="0"/>
                        <a:t>3 kg</a:t>
                      </a:r>
                      <a:endParaRPr lang="tr-TR" dirty="0"/>
                    </a:p>
                  </a:txBody>
                  <a:tcPr/>
                </a:tc>
                <a:tc>
                  <a:txBody>
                    <a:bodyPr/>
                    <a:lstStyle/>
                    <a:p>
                      <a:r>
                        <a:rPr lang="tr-TR" dirty="0" smtClean="0"/>
                        <a:t>6 </a:t>
                      </a:r>
                      <a:r>
                        <a:rPr lang="tr-TR" dirty="0" err="1" smtClean="0"/>
                        <a:t>tl</a:t>
                      </a:r>
                      <a:endParaRPr lang="tr-TR" dirty="0"/>
                    </a:p>
                  </a:txBody>
                  <a:tcPr/>
                </a:tc>
              </a:tr>
              <a:tr h="370840">
                <a:tc>
                  <a:txBody>
                    <a:bodyPr/>
                    <a:lstStyle/>
                    <a:p>
                      <a:r>
                        <a:rPr lang="tr-TR" dirty="0" smtClean="0"/>
                        <a:t>4</a:t>
                      </a:r>
                      <a:endParaRPr lang="tr-TR" dirty="0"/>
                    </a:p>
                  </a:txBody>
                  <a:tcPr/>
                </a:tc>
                <a:tc>
                  <a:txBody>
                    <a:bodyPr/>
                    <a:lstStyle/>
                    <a:p>
                      <a:r>
                        <a:rPr lang="tr-TR" dirty="0" smtClean="0"/>
                        <a:t>2 kg</a:t>
                      </a:r>
                      <a:endParaRPr lang="tr-TR" dirty="0"/>
                    </a:p>
                  </a:txBody>
                  <a:tcPr/>
                </a:tc>
                <a:tc>
                  <a:txBody>
                    <a:bodyPr/>
                    <a:lstStyle/>
                    <a:p>
                      <a:r>
                        <a:rPr lang="tr-TR" dirty="0" smtClean="0"/>
                        <a:t>2 </a:t>
                      </a:r>
                      <a:r>
                        <a:rPr lang="tr-TR" dirty="0" err="1" smtClean="0"/>
                        <a:t>tl</a:t>
                      </a:r>
                      <a:endParaRPr lang="tr-TR" dirty="0"/>
                    </a:p>
                  </a:txBody>
                  <a:tcPr/>
                </a:tc>
              </a:tr>
            </a:tbl>
          </a:graphicData>
        </a:graphic>
      </p:graphicFrame>
      <p:sp>
        <p:nvSpPr>
          <p:cNvPr id="6" name="Başlık 5"/>
          <p:cNvSpPr>
            <a:spLocks noGrp="1"/>
          </p:cNvSpPr>
          <p:nvPr>
            <p:ph type="title"/>
          </p:nvPr>
        </p:nvSpPr>
        <p:spPr/>
        <p:txBody>
          <a:bodyPr>
            <a:normAutofit fontScale="90000"/>
          </a:bodyPr>
          <a:lstStyle/>
          <a:p>
            <a:r>
              <a:rPr lang="tr-TR" dirty="0" err="1" smtClean="0"/>
              <a:t>Concrete</a:t>
            </a:r>
            <a:r>
              <a:rPr lang="tr-TR" dirty="0" smtClean="0"/>
              <a:t> </a:t>
            </a:r>
            <a:r>
              <a:rPr lang="tr-TR" dirty="0" err="1" smtClean="0"/>
              <a:t>examples</a:t>
            </a:r>
            <a:r>
              <a:rPr lang="tr-TR" dirty="0" smtClean="0"/>
              <a:t> </a:t>
            </a:r>
            <a:r>
              <a:rPr lang="tr-TR" dirty="0" err="1" smtClean="0"/>
              <a:t>to</a:t>
            </a:r>
            <a:r>
              <a:rPr lang="tr-TR" dirty="0" smtClean="0"/>
              <a:t> </a:t>
            </a:r>
            <a:r>
              <a:rPr lang="tr-TR" dirty="0" err="1" smtClean="0"/>
              <a:t>satisfy</a:t>
            </a:r>
            <a:r>
              <a:rPr lang="tr-TR" dirty="0" smtClean="0"/>
              <a:t> </a:t>
            </a:r>
            <a:r>
              <a:rPr lang="tr-TR" dirty="0" err="1" smtClean="0"/>
              <a:t>knapsack</a:t>
            </a:r>
            <a:endParaRPr lang="tr-TR" dirty="0"/>
          </a:p>
        </p:txBody>
      </p:sp>
      <p:sp>
        <p:nvSpPr>
          <p:cNvPr id="7" name="Alt Başlık 2"/>
          <p:cNvSpPr txBox="1">
            <a:spLocks/>
          </p:cNvSpPr>
          <p:nvPr/>
        </p:nvSpPr>
        <p:spPr>
          <a:xfrm>
            <a:off x="539552" y="3881887"/>
            <a:ext cx="8136904" cy="2567136"/>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The table above includes the weights of the items in the house and their values. Let's say the Thief's backpack has a capacity of at most 6 Kg. </a:t>
            </a:r>
            <a:endParaRPr lang="tr-TR" dirty="0" smtClean="0"/>
          </a:p>
          <a:p>
            <a:r>
              <a:rPr lang="en-US" dirty="0" smtClean="0"/>
              <a:t>First we need to calculate the unit price of each item because we will put the items in the bag from the larger unit price to the smaller unit, so that the process is completed in the most efficient way. </a:t>
            </a:r>
            <a:endParaRPr lang="tr-TR" dirty="0" smtClean="0"/>
          </a:p>
          <a:p>
            <a:r>
              <a:rPr lang="en-US" dirty="0" smtClean="0"/>
              <a:t>We will find the unit prices by dividing the prices by the</a:t>
            </a:r>
            <a:r>
              <a:rPr lang="tr-TR" dirty="0" smtClean="0"/>
              <a:t>ir</a:t>
            </a:r>
            <a:r>
              <a:rPr lang="en-US" dirty="0" smtClean="0"/>
              <a:t> weights. Unit prices are as follows.</a:t>
            </a:r>
            <a:endParaRPr lang="tr-TR" dirty="0"/>
          </a:p>
        </p:txBody>
      </p:sp>
    </p:spTree>
    <p:extLst>
      <p:ext uri="{BB962C8B-B14F-4D97-AF65-F5344CB8AC3E}">
        <p14:creationId xmlns:p14="http://schemas.microsoft.com/office/powerpoint/2010/main" val="409340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3602822426"/>
              </p:ext>
            </p:extLst>
          </p:nvPr>
        </p:nvGraphicFramePr>
        <p:xfrm>
          <a:off x="390364" y="620688"/>
          <a:ext cx="8435280" cy="1854200"/>
        </p:xfrm>
        <a:graphic>
          <a:graphicData uri="http://schemas.openxmlformats.org/drawingml/2006/table">
            <a:tbl>
              <a:tblPr firstRow="1" bandRow="1">
                <a:tableStyleId>{5C22544A-7EE6-4342-B048-85BDC9FD1C3A}</a:tableStyleId>
              </a:tblPr>
              <a:tblGrid>
                <a:gridCol w="2057400"/>
                <a:gridCol w="2057400"/>
                <a:gridCol w="2057400"/>
                <a:gridCol w="2263080"/>
              </a:tblGrid>
              <a:tr h="370840">
                <a:tc>
                  <a:txBody>
                    <a:bodyPr/>
                    <a:lstStyle/>
                    <a:p>
                      <a:r>
                        <a:rPr lang="tr-TR" dirty="0" err="1" smtClean="0"/>
                        <a:t>Item</a:t>
                      </a:r>
                      <a:endParaRPr lang="tr-TR" dirty="0"/>
                    </a:p>
                  </a:txBody>
                  <a:tcPr/>
                </a:tc>
                <a:tc>
                  <a:txBody>
                    <a:bodyPr/>
                    <a:lstStyle/>
                    <a:p>
                      <a:r>
                        <a:rPr lang="tr-TR" dirty="0" err="1" smtClean="0"/>
                        <a:t>Weight</a:t>
                      </a:r>
                      <a:endParaRPr lang="tr-TR" dirty="0"/>
                    </a:p>
                  </a:txBody>
                  <a:tcPr/>
                </a:tc>
                <a:tc>
                  <a:txBody>
                    <a:bodyPr/>
                    <a:lstStyle/>
                    <a:p>
                      <a:r>
                        <a:rPr lang="tr-TR" dirty="0" smtClean="0"/>
                        <a:t>Value</a:t>
                      </a:r>
                      <a:endParaRPr lang="tr-TR" dirty="0"/>
                    </a:p>
                  </a:txBody>
                  <a:tcPr/>
                </a:tc>
                <a:tc>
                  <a:txBody>
                    <a:bodyPr/>
                    <a:lstStyle/>
                    <a:p>
                      <a:r>
                        <a:rPr lang="tr-TR" dirty="0" smtClean="0"/>
                        <a:t>Value </a:t>
                      </a:r>
                      <a:r>
                        <a:rPr lang="tr-TR" dirty="0" err="1" smtClean="0"/>
                        <a:t>per</a:t>
                      </a:r>
                      <a:r>
                        <a:rPr lang="tr-TR" dirty="0" smtClean="0"/>
                        <a:t> </a:t>
                      </a:r>
                      <a:r>
                        <a:rPr lang="tr-TR" dirty="0" err="1" smtClean="0"/>
                        <a:t>unit</a:t>
                      </a:r>
                      <a:r>
                        <a:rPr lang="tr-TR" baseline="0" dirty="0" smtClean="0"/>
                        <a:t> </a:t>
                      </a:r>
                      <a:r>
                        <a:rPr lang="tr-TR" baseline="0" dirty="0" err="1" smtClean="0"/>
                        <a:t>weight</a:t>
                      </a:r>
                      <a:endParaRPr lang="tr-TR" dirty="0"/>
                    </a:p>
                  </a:txBody>
                  <a:tcPr/>
                </a:tc>
              </a:tr>
              <a:tr h="370840">
                <a:tc>
                  <a:txBody>
                    <a:bodyPr/>
                    <a:lstStyle/>
                    <a:p>
                      <a:r>
                        <a:rPr lang="tr-TR" dirty="0" smtClean="0"/>
                        <a:t>1</a:t>
                      </a:r>
                      <a:endParaRPr lang="tr-TR" dirty="0"/>
                    </a:p>
                  </a:txBody>
                  <a:tcPr/>
                </a:tc>
                <a:tc>
                  <a:txBody>
                    <a:bodyPr/>
                    <a:lstStyle/>
                    <a:p>
                      <a:r>
                        <a:rPr lang="tr-TR" dirty="0" smtClean="0"/>
                        <a:t>4 kg</a:t>
                      </a:r>
                      <a:endParaRPr lang="tr-TR" dirty="0"/>
                    </a:p>
                  </a:txBody>
                  <a:tcPr/>
                </a:tc>
                <a:tc>
                  <a:txBody>
                    <a:bodyPr/>
                    <a:lstStyle/>
                    <a:p>
                      <a:r>
                        <a:rPr lang="tr-TR" dirty="0" smtClean="0"/>
                        <a:t>2 </a:t>
                      </a:r>
                      <a:r>
                        <a:rPr lang="tr-TR" dirty="0" err="1" smtClean="0"/>
                        <a:t>tl</a:t>
                      </a:r>
                      <a:endParaRPr lang="tr-TR" dirty="0"/>
                    </a:p>
                  </a:txBody>
                  <a:tcPr/>
                </a:tc>
                <a:tc>
                  <a:txBody>
                    <a:bodyPr/>
                    <a:lstStyle/>
                    <a:p>
                      <a:r>
                        <a:rPr lang="tr-TR" dirty="0" smtClean="0"/>
                        <a:t>0,5 </a:t>
                      </a:r>
                      <a:r>
                        <a:rPr lang="tr-TR" dirty="0" err="1" smtClean="0"/>
                        <a:t>tl</a:t>
                      </a:r>
                      <a:endParaRPr lang="tr-TR" dirty="0"/>
                    </a:p>
                  </a:txBody>
                  <a:tcPr/>
                </a:tc>
              </a:tr>
              <a:tr h="370840">
                <a:tc>
                  <a:txBody>
                    <a:bodyPr/>
                    <a:lstStyle/>
                    <a:p>
                      <a:r>
                        <a:rPr lang="tr-TR" dirty="0" smtClean="0"/>
                        <a:t>2</a:t>
                      </a:r>
                      <a:endParaRPr lang="tr-TR" dirty="0"/>
                    </a:p>
                  </a:txBody>
                  <a:tcPr/>
                </a:tc>
                <a:tc>
                  <a:txBody>
                    <a:bodyPr/>
                    <a:lstStyle/>
                    <a:p>
                      <a:r>
                        <a:rPr lang="tr-TR" dirty="0" smtClean="0"/>
                        <a:t>2 kg</a:t>
                      </a:r>
                      <a:endParaRPr lang="tr-TR" dirty="0"/>
                    </a:p>
                  </a:txBody>
                  <a:tcPr/>
                </a:tc>
                <a:tc>
                  <a:txBody>
                    <a:bodyPr/>
                    <a:lstStyle/>
                    <a:p>
                      <a:r>
                        <a:rPr lang="tr-TR" dirty="0" smtClean="0"/>
                        <a:t>3 </a:t>
                      </a:r>
                      <a:r>
                        <a:rPr lang="tr-TR" dirty="0" err="1" smtClean="0"/>
                        <a:t>tl</a:t>
                      </a:r>
                      <a:endParaRPr lang="tr-TR" dirty="0"/>
                    </a:p>
                  </a:txBody>
                  <a:tcPr/>
                </a:tc>
                <a:tc>
                  <a:txBody>
                    <a:bodyPr/>
                    <a:lstStyle/>
                    <a:p>
                      <a:r>
                        <a:rPr lang="tr-TR" dirty="0" smtClean="0"/>
                        <a:t>1,5 </a:t>
                      </a:r>
                      <a:r>
                        <a:rPr lang="tr-TR" dirty="0" err="1" smtClean="0"/>
                        <a:t>tl</a:t>
                      </a:r>
                      <a:endParaRPr lang="tr-TR" dirty="0"/>
                    </a:p>
                  </a:txBody>
                  <a:tcPr/>
                </a:tc>
              </a:tr>
              <a:tr h="370840">
                <a:tc>
                  <a:txBody>
                    <a:bodyPr/>
                    <a:lstStyle/>
                    <a:p>
                      <a:r>
                        <a:rPr lang="tr-TR" dirty="0" smtClean="0"/>
                        <a:t>3</a:t>
                      </a:r>
                      <a:endParaRPr lang="tr-TR" dirty="0"/>
                    </a:p>
                  </a:txBody>
                  <a:tcPr/>
                </a:tc>
                <a:tc>
                  <a:txBody>
                    <a:bodyPr/>
                    <a:lstStyle/>
                    <a:p>
                      <a:r>
                        <a:rPr lang="tr-TR" dirty="0" smtClean="0"/>
                        <a:t>3 kg</a:t>
                      </a:r>
                      <a:endParaRPr lang="tr-TR" dirty="0"/>
                    </a:p>
                  </a:txBody>
                  <a:tcPr/>
                </a:tc>
                <a:tc>
                  <a:txBody>
                    <a:bodyPr/>
                    <a:lstStyle/>
                    <a:p>
                      <a:r>
                        <a:rPr lang="tr-TR" dirty="0" smtClean="0"/>
                        <a:t>6 </a:t>
                      </a:r>
                      <a:r>
                        <a:rPr lang="tr-TR" dirty="0" err="1" smtClean="0"/>
                        <a:t>tl</a:t>
                      </a:r>
                      <a:endParaRPr lang="tr-TR" dirty="0"/>
                    </a:p>
                  </a:txBody>
                  <a:tcPr/>
                </a:tc>
                <a:tc>
                  <a:txBody>
                    <a:bodyPr/>
                    <a:lstStyle/>
                    <a:p>
                      <a:r>
                        <a:rPr lang="tr-TR" dirty="0" smtClean="0"/>
                        <a:t>2 </a:t>
                      </a:r>
                      <a:r>
                        <a:rPr lang="tr-TR" dirty="0" err="1" smtClean="0"/>
                        <a:t>tl</a:t>
                      </a:r>
                      <a:endParaRPr lang="tr-TR" dirty="0"/>
                    </a:p>
                  </a:txBody>
                  <a:tcPr/>
                </a:tc>
              </a:tr>
              <a:tr h="370840">
                <a:tc>
                  <a:txBody>
                    <a:bodyPr/>
                    <a:lstStyle/>
                    <a:p>
                      <a:r>
                        <a:rPr lang="tr-TR" dirty="0" smtClean="0"/>
                        <a:t>4</a:t>
                      </a:r>
                      <a:endParaRPr lang="tr-TR" dirty="0"/>
                    </a:p>
                  </a:txBody>
                  <a:tcPr/>
                </a:tc>
                <a:tc>
                  <a:txBody>
                    <a:bodyPr/>
                    <a:lstStyle/>
                    <a:p>
                      <a:r>
                        <a:rPr lang="tr-TR" dirty="0" smtClean="0"/>
                        <a:t>2 kg</a:t>
                      </a:r>
                      <a:endParaRPr lang="tr-TR" dirty="0"/>
                    </a:p>
                  </a:txBody>
                  <a:tcPr/>
                </a:tc>
                <a:tc>
                  <a:txBody>
                    <a:bodyPr/>
                    <a:lstStyle/>
                    <a:p>
                      <a:r>
                        <a:rPr lang="tr-TR" dirty="0" smtClean="0"/>
                        <a:t>2 </a:t>
                      </a:r>
                      <a:r>
                        <a:rPr lang="tr-TR" dirty="0" err="1" smtClean="0"/>
                        <a:t>tl</a:t>
                      </a:r>
                      <a:endParaRPr lang="tr-TR" dirty="0"/>
                    </a:p>
                  </a:txBody>
                  <a:tcPr/>
                </a:tc>
                <a:tc>
                  <a:txBody>
                    <a:bodyPr/>
                    <a:lstStyle/>
                    <a:p>
                      <a:r>
                        <a:rPr lang="tr-TR" dirty="0" smtClean="0"/>
                        <a:t>1 </a:t>
                      </a:r>
                      <a:r>
                        <a:rPr lang="tr-TR" dirty="0" err="1" smtClean="0"/>
                        <a:t>tl</a:t>
                      </a:r>
                      <a:endParaRPr lang="tr-TR" dirty="0"/>
                    </a:p>
                  </a:txBody>
                  <a:tcPr/>
                </a:tc>
              </a:tr>
            </a:tbl>
          </a:graphicData>
        </a:graphic>
      </p:graphicFrame>
      <p:sp>
        <p:nvSpPr>
          <p:cNvPr id="5" name="Alt Başlık 2"/>
          <p:cNvSpPr txBox="1">
            <a:spLocks/>
          </p:cNvSpPr>
          <p:nvPr/>
        </p:nvSpPr>
        <p:spPr>
          <a:xfrm>
            <a:off x="395536" y="3140968"/>
            <a:ext cx="8136904" cy="2567136"/>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tr-TR" dirty="0" err="1" smtClean="0"/>
              <a:t>So</a:t>
            </a:r>
            <a:r>
              <a:rPr lang="tr-TR" dirty="0" smtClean="0"/>
              <a:t> </a:t>
            </a:r>
            <a:r>
              <a:rPr lang="tr-TR" dirty="0" err="1" smtClean="0"/>
              <a:t>we</a:t>
            </a:r>
            <a:r>
              <a:rPr lang="tr-TR" dirty="0" smtClean="0"/>
              <a:t> </a:t>
            </a:r>
            <a:r>
              <a:rPr lang="tr-TR" dirty="0" err="1" smtClean="0"/>
              <a:t>choose</a:t>
            </a:r>
            <a:r>
              <a:rPr lang="tr-TR" dirty="0" smtClean="0"/>
              <a:t> </a:t>
            </a:r>
            <a:r>
              <a:rPr lang="tr-TR" dirty="0" err="1" smtClean="0"/>
              <a:t>the</a:t>
            </a:r>
            <a:r>
              <a:rPr lang="tr-TR" dirty="0" smtClean="0"/>
              <a:t> </a:t>
            </a:r>
            <a:r>
              <a:rPr lang="tr-TR" dirty="0" err="1" smtClean="0"/>
              <a:t>one</a:t>
            </a:r>
            <a:r>
              <a:rPr lang="tr-TR" dirty="0" smtClean="0"/>
              <a:t> </a:t>
            </a:r>
            <a:r>
              <a:rPr lang="tr-TR" dirty="0" err="1" smtClean="0"/>
              <a:t>that</a:t>
            </a:r>
            <a:r>
              <a:rPr lang="tr-TR" dirty="0" smtClean="0"/>
              <a:t> has </a:t>
            </a:r>
            <a:r>
              <a:rPr lang="tr-TR" dirty="0" err="1" smtClean="0"/>
              <a:t>the</a:t>
            </a:r>
            <a:r>
              <a:rPr lang="tr-TR" dirty="0" smtClean="0"/>
              <a:t> </a:t>
            </a:r>
            <a:r>
              <a:rPr lang="tr-TR" dirty="0" err="1" smtClean="0"/>
              <a:t>highest</a:t>
            </a:r>
            <a:r>
              <a:rPr lang="tr-TR" dirty="0" smtClean="0"/>
              <a:t> </a:t>
            </a:r>
            <a:r>
              <a:rPr lang="tr-TR" dirty="0" err="1" smtClean="0"/>
              <a:t>value</a:t>
            </a:r>
            <a:r>
              <a:rPr lang="tr-TR" dirty="0" smtClean="0"/>
              <a:t> </a:t>
            </a:r>
            <a:r>
              <a:rPr lang="tr-TR" dirty="0" err="1" smtClean="0"/>
              <a:t>per</a:t>
            </a:r>
            <a:r>
              <a:rPr lang="tr-TR" dirty="0" smtClean="0"/>
              <a:t> kg</a:t>
            </a:r>
          </a:p>
          <a:p>
            <a:r>
              <a:rPr lang="tr-TR" dirty="0" err="1" smtClean="0"/>
              <a:t>Priority</a:t>
            </a:r>
            <a:r>
              <a:rPr lang="tr-TR" dirty="0" smtClean="0"/>
              <a:t> </a:t>
            </a:r>
            <a:r>
              <a:rPr lang="tr-TR" dirty="0" err="1" smtClean="0"/>
              <a:t>by</a:t>
            </a:r>
            <a:r>
              <a:rPr lang="tr-TR" dirty="0" smtClean="0"/>
              <a:t> </a:t>
            </a:r>
            <a:r>
              <a:rPr lang="tr-TR" dirty="0" err="1" smtClean="0"/>
              <a:t>value</a:t>
            </a:r>
            <a:r>
              <a:rPr lang="tr-TR" dirty="0" smtClean="0"/>
              <a:t> </a:t>
            </a:r>
            <a:r>
              <a:rPr lang="tr-TR" dirty="0" err="1" smtClean="0"/>
              <a:t>per</a:t>
            </a:r>
            <a:r>
              <a:rPr lang="tr-TR" dirty="0" smtClean="0"/>
              <a:t> kg : 3.item&gt;2.item&gt;4.item&gt;1.item</a:t>
            </a:r>
          </a:p>
          <a:p>
            <a:r>
              <a:rPr lang="tr-TR" dirty="0" err="1" smtClean="0"/>
              <a:t>After</a:t>
            </a:r>
            <a:r>
              <a:rPr lang="tr-TR" dirty="0" smtClean="0"/>
              <a:t> </a:t>
            </a:r>
            <a:r>
              <a:rPr lang="tr-TR" dirty="0" err="1" smtClean="0"/>
              <a:t>taking</a:t>
            </a:r>
            <a:r>
              <a:rPr lang="tr-TR" dirty="0" smtClean="0"/>
              <a:t> 3. </a:t>
            </a:r>
            <a:r>
              <a:rPr lang="tr-TR" dirty="0" err="1" smtClean="0"/>
              <a:t>and</a:t>
            </a:r>
            <a:r>
              <a:rPr lang="tr-TR" dirty="0" smtClean="0"/>
              <a:t> 2. </a:t>
            </a:r>
            <a:r>
              <a:rPr lang="tr-TR" dirty="0" err="1" smtClean="0"/>
              <a:t>items</a:t>
            </a:r>
            <a:r>
              <a:rPr lang="tr-TR" dirty="0" smtClean="0"/>
              <a:t>, in </a:t>
            </a:r>
            <a:r>
              <a:rPr lang="tr-TR" dirty="0" err="1" smtClean="0"/>
              <a:t>our</a:t>
            </a:r>
            <a:r>
              <a:rPr lang="tr-TR" dirty="0" smtClean="0"/>
              <a:t> </a:t>
            </a:r>
            <a:r>
              <a:rPr lang="tr-TR" dirty="0" err="1" smtClean="0"/>
              <a:t>knapsack</a:t>
            </a:r>
            <a:r>
              <a:rPr lang="tr-TR" dirty="0" smtClean="0"/>
              <a:t> </a:t>
            </a:r>
            <a:r>
              <a:rPr lang="tr-TR" dirty="0" err="1" smtClean="0"/>
              <a:t>only</a:t>
            </a:r>
            <a:r>
              <a:rPr lang="tr-TR" dirty="0" smtClean="0"/>
              <a:t> </a:t>
            </a:r>
            <a:r>
              <a:rPr lang="tr-TR" dirty="0" err="1" smtClean="0"/>
              <a:t>remained</a:t>
            </a:r>
            <a:r>
              <a:rPr lang="tr-TR" dirty="0" smtClean="0"/>
              <a:t> 1 kg </a:t>
            </a:r>
            <a:r>
              <a:rPr lang="tr-TR" dirty="0" err="1" smtClean="0"/>
              <a:t>empty</a:t>
            </a:r>
            <a:r>
              <a:rPr lang="tr-TR" dirty="0" smtClean="0"/>
              <a:t> </a:t>
            </a:r>
            <a:r>
              <a:rPr lang="tr-TR" dirty="0" err="1" smtClean="0"/>
              <a:t>space</a:t>
            </a:r>
            <a:r>
              <a:rPr lang="tr-TR" dirty="0" smtClean="0"/>
              <a:t> but </a:t>
            </a:r>
            <a:r>
              <a:rPr lang="tr-TR" dirty="0" err="1" smtClean="0"/>
              <a:t>there</a:t>
            </a:r>
            <a:r>
              <a:rPr lang="tr-TR" dirty="0" smtClean="0"/>
              <a:t> is </a:t>
            </a:r>
            <a:r>
              <a:rPr lang="tr-TR" dirty="0" err="1" smtClean="0"/>
              <a:t>no</a:t>
            </a:r>
            <a:r>
              <a:rPr lang="tr-TR" dirty="0" smtClean="0"/>
              <a:t> </a:t>
            </a:r>
            <a:r>
              <a:rPr lang="tr-TR" dirty="0" err="1" smtClean="0"/>
              <a:t>item</a:t>
            </a:r>
            <a:r>
              <a:rPr lang="tr-TR" dirty="0" smtClean="0"/>
              <a:t> </a:t>
            </a:r>
            <a:r>
              <a:rPr lang="tr-TR" dirty="0" err="1" smtClean="0"/>
              <a:t>with</a:t>
            </a:r>
            <a:r>
              <a:rPr lang="tr-TR" dirty="0" smtClean="0"/>
              <a:t> 1 kg. </a:t>
            </a:r>
            <a:r>
              <a:rPr lang="tr-TR" dirty="0" err="1" smtClean="0"/>
              <a:t>So</a:t>
            </a:r>
            <a:r>
              <a:rPr lang="tr-TR" dirty="0" smtClean="0"/>
              <a:t> </a:t>
            </a:r>
            <a:r>
              <a:rPr lang="tr-TR" dirty="0" err="1" smtClean="0"/>
              <a:t>we</a:t>
            </a:r>
            <a:r>
              <a:rPr lang="tr-TR" dirty="0" smtClean="0"/>
              <a:t> </a:t>
            </a:r>
            <a:r>
              <a:rPr lang="tr-TR" dirty="0" err="1" smtClean="0"/>
              <a:t>end</a:t>
            </a:r>
            <a:r>
              <a:rPr lang="tr-TR" dirty="0" smtClean="0"/>
              <a:t> </a:t>
            </a:r>
            <a:r>
              <a:rPr lang="tr-TR" dirty="0" err="1" smtClean="0"/>
              <a:t>the</a:t>
            </a:r>
            <a:r>
              <a:rPr lang="tr-TR" dirty="0" smtClean="0"/>
              <a:t> </a:t>
            </a:r>
            <a:r>
              <a:rPr lang="tr-TR" dirty="0" err="1" smtClean="0"/>
              <a:t>process</a:t>
            </a:r>
            <a:r>
              <a:rPr lang="tr-TR" dirty="0" smtClean="0"/>
              <a:t>.</a:t>
            </a:r>
            <a:endParaRPr lang="tr-TR" dirty="0"/>
          </a:p>
        </p:txBody>
      </p:sp>
    </p:spTree>
    <p:extLst>
      <p:ext uri="{BB962C8B-B14F-4D97-AF65-F5344CB8AC3E}">
        <p14:creationId xmlns:p14="http://schemas.microsoft.com/office/powerpoint/2010/main" val="3827388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579296" cy="1143000"/>
          </a:xfrm>
        </p:spPr>
        <p:txBody>
          <a:bodyPr>
            <a:normAutofit/>
          </a:bodyPr>
          <a:lstStyle/>
          <a:p>
            <a:r>
              <a:rPr lang="tr-TR" dirty="0" smtClean="0"/>
              <a:t>Silinecek</a:t>
            </a:r>
            <a:endParaRPr lang="tr-TR" dirty="0"/>
          </a:p>
        </p:txBody>
      </p:sp>
      <p:sp>
        <p:nvSpPr>
          <p:cNvPr id="3" name="İçerik Yer Tutucusu 2"/>
          <p:cNvSpPr>
            <a:spLocks noGrp="1"/>
          </p:cNvSpPr>
          <p:nvPr>
            <p:ph idx="1"/>
          </p:nvPr>
        </p:nvSpPr>
        <p:spPr/>
        <p:txBody>
          <a:bodyPr>
            <a:normAutofit/>
          </a:bodyPr>
          <a:lstStyle/>
          <a:p>
            <a:r>
              <a:rPr lang="tr-TR" dirty="0" smtClean="0"/>
              <a:t>Sat: </a:t>
            </a:r>
            <a:r>
              <a:rPr lang="tr-TR" dirty="0" err="1"/>
              <a:t>Litartürde</a:t>
            </a:r>
            <a:r>
              <a:rPr lang="tr-TR" dirty="0"/>
              <a:t>, </a:t>
            </a:r>
            <a:r>
              <a:rPr lang="tr-TR" dirty="0" err="1"/>
              <a:t>Boolean</a:t>
            </a:r>
            <a:r>
              <a:rPr lang="tr-TR" dirty="0"/>
              <a:t> </a:t>
            </a:r>
            <a:r>
              <a:rPr lang="tr-TR" dirty="0" err="1"/>
              <a:t>Satisfiability</a:t>
            </a:r>
            <a:r>
              <a:rPr lang="tr-TR" dirty="0"/>
              <a:t> Problem olarak geçen ve </a:t>
            </a:r>
            <a:r>
              <a:rPr lang="tr-TR" dirty="0" err="1"/>
              <a:t>boole</a:t>
            </a:r>
            <a:r>
              <a:rPr lang="tr-TR" dirty="0"/>
              <a:t> </a:t>
            </a:r>
            <a:r>
              <a:rPr lang="tr-TR" dirty="0" err="1"/>
              <a:t>cebirindeki</a:t>
            </a:r>
            <a:r>
              <a:rPr lang="tr-TR" dirty="0"/>
              <a:t> denklemlerin doğruluğunun sağlanması olarak özetlenebilecek olan problemdir. Ayrıca çeşitli kaynaklarda bu probleme, problemin İngilizce tanımında geçen </a:t>
            </a:r>
            <a:r>
              <a:rPr lang="tr-TR" dirty="0" err="1"/>
              <a:t>Satisfiability</a:t>
            </a:r>
            <a:r>
              <a:rPr lang="tr-TR" dirty="0"/>
              <a:t> kelimesinin kısaltması olan SAT kelimesi olarak da rastlanabilir.</a:t>
            </a:r>
          </a:p>
        </p:txBody>
      </p:sp>
    </p:spTree>
    <p:extLst>
      <p:ext uri="{BB962C8B-B14F-4D97-AF65-F5344CB8AC3E}">
        <p14:creationId xmlns:p14="http://schemas.microsoft.com/office/powerpoint/2010/main" val="2600398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539552" y="1772816"/>
            <a:ext cx="8229600" cy="4525963"/>
          </a:xfrm>
        </p:spPr>
        <p:txBody>
          <a:bodyPr>
            <a:normAutofit fontScale="70000" lnSpcReduction="20000"/>
          </a:bodyPr>
          <a:lstStyle/>
          <a:p>
            <a:pPr fontAlgn="base"/>
            <a:r>
              <a:rPr lang="en-US" dirty="0" smtClean="0"/>
              <a:t>For </a:t>
            </a:r>
            <a:r>
              <a:rPr lang="en-US" dirty="0"/>
              <a:t>example,</a:t>
            </a:r>
          </a:p>
          <a:p>
            <a:pPr fontAlgn="base"/>
            <a:r>
              <a:rPr lang="en-US" dirty="0" smtClean="0"/>
              <a:t>X1</a:t>
            </a:r>
            <a:r>
              <a:rPr lang="tr-TR" dirty="0" smtClean="0"/>
              <a:t> </a:t>
            </a:r>
            <a:r>
              <a:rPr lang="en-US" dirty="0" smtClean="0"/>
              <a:t>∧</a:t>
            </a:r>
            <a:r>
              <a:rPr lang="tr-TR" dirty="0" smtClean="0"/>
              <a:t> </a:t>
            </a:r>
            <a:r>
              <a:rPr lang="en-US" dirty="0" smtClean="0"/>
              <a:t>x2</a:t>
            </a:r>
            <a:r>
              <a:rPr lang="tr-TR" dirty="0" smtClean="0"/>
              <a:t> </a:t>
            </a:r>
            <a:r>
              <a:rPr lang="en-US" dirty="0" smtClean="0"/>
              <a:t>∨</a:t>
            </a:r>
            <a:r>
              <a:rPr lang="tr-TR" dirty="0" smtClean="0"/>
              <a:t> </a:t>
            </a:r>
            <a:r>
              <a:rPr lang="en-US" dirty="0" smtClean="0"/>
              <a:t>x3</a:t>
            </a:r>
            <a:endParaRPr lang="en-US" dirty="0"/>
          </a:p>
          <a:p>
            <a:pPr fontAlgn="base"/>
            <a:r>
              <a:rPr lang="en-US" dirty="0"/>
              <a:t>SAT problem for this Boolean expression: is there such values of </a:t>
            </a:r>
            <a:r>
              <a:rPr lang="en-US" dirty="0" smtClean="0"/>
              <a:t>x1,x2,x3</a:t>
            </a:r>
            <a:r>
              <a:rPr lang="tr-TR" dirty="0" smtClean="0"/>
              <a:t>,</a:t>
            </a:r>
            <a:r>
              <a:rPr lang="en-US" dirty="0" smtClean="0"/>
              <a:t> </a:t>
            </a:r>
            <a:r>
              <a:rPr lang="en-US" dirty="0"/>
              <a:t>that given Boolean expression is TRUE. The answer to SAT problem is only YES or NO. We don't care what's the values of </a:t>
            </a:r>
            <a:r>
              <a:rPr lang="en-US" dirty="0" smtClean="0"/>
              <a:t>x1,x2,x3</a:t>
            </a:r>
            <a:r>
              <a:rPr lang="tr-TR" dirty="0" smtClean="0"/>
              <a:t>,</a:t>
            </a:r>
            <a:r>
              <a:rPr lang="en-US" dirty="0" smtClean="0"/>
              <a:t> </a:t>
            </a:r>
            <a:r>
              <a:rPr lang="en-US" dirty="0"/>
              <a:t>just existence of such values</a:t>
            </a:r>
            <a:r>
              <a:rPr lang="en-US" dirty="0" smtClean="0"/>
              <a:t>.</a:t>
            </a:r>
            <a:endParaRPr lang="en-US" dirty="0"/>
          </a:p>
          <a:p>
            <a:pPr fontAlgn="base"/>
            <a:r>
              <a:rPr lang="en-US" dirty="0"/>
              <a:t>SAT3 problem is a special case of SAT problem, where Boolean expression should have very strict form. It should be divided to clauses</a:t>
            </a:r>
            <a:r>
              <a:rPr lang="en-US" dirty="0" smtClean="0"/>
              <a:t>,</a:t>
            </a:r>
            <a:r>
              <a:rPr lang="tr-TR" dirty="0" smtClean="0"/>
              <a:t> </a:t>
            </a:r>
            <a:r>
              <a:rPr lang="en-US" dirty="0" smtClean="0"/>
              <a:t>such </a:t>
            </a:r>
            <a:r>
              <a:rPr lang="en-US" dirty="0"/>
              <a:t>that every clause contains of three literals.</a:t>
            </a:r>
          </a:p>
          <a:p>
            <a:pPr fontAlgn="base"/>
            <a:r>
              <a:rPr lang="en-US" dirty="0"/>
              <a:t>For example,</a:t>
            </a:r>
          </a:p>
          <a:p>
            <a:pPr fontAlgn="base"/>
            <a:r>
              <a:rPr lang="en-US" dirty="0"/>
              <a:t>(x1∨x2∨x3)∧(x4∨x5∨x6</a:t>
            </a:r>
            <a:r>
              <a:rPr lang="en-US" dirty="0" smtClean="0"/>
              <a:t>)</a:t>
            </a:r>
            <a:endParaRPr lang="tr-TR" dirty="0" smtClean="0"/>
          </a:p>
          <a:p>
            <a:pPr fontAlgn="base"/>
            <a:r>
              <a:rPr lang="en-US" dirty="0" smtClean="0"/>
              <a:t> This </a:t>
            </a:r>
            <a:r>
              <a:rPr lang="en-US" dirty="0"/>
              <a:t>Boolean expression in 3SAT form, 2 clauses, each clause contains of 3 literals. The question is the same, is there such values of x1...</a:t>
            </a:r>
            <a:r>
              <a:rPr lang="en-US" dirty="0" smtClean="0"/>
              <a:t>x6, </a:t>
            </a:r>
            <a:r>
              <a:rPr lang="en-US" dirty="0"/>
              <a:t>that given Boolean expression is TRUE</a:t>
            </a:r>
            <a:r>
              <a:rPr lang="en-US" dirty="0" smtClean="0"/>
              <a:t>.</a:t>
            </a:r>
            <a:endParaRPr lang="en-US" dirty="0"/>
          </a:p>
          <a:p>
            <a:endParaRPr lang="tr-TR" dirty="0"/>
          </a:p>
        </p:txBody>
      </p:sp>
      <p:sp>
        <p:nvSpPr>
          <p:cNvPr id="4" name="Başlık 1"/>
          <p:cNvSpPr>
            <a:spLocks noGrp="1"/>
          </p:cNvSpPr>
          <p:nvPr>
            <p:ph type="title"/>
          </p:nvPr>
        </p:nvSpPr>
        <p:spPr>
          <a:xfrm>
            <a:off x="457200" y="274638"/>
            <a:ext cx="8229600" cy="1143000"/>
          </a:xfrm>
        </p:spPr>
        <p:txBody>
          <a:bodyPr/>
          <a:lstStyle/>
          <a:p>
            <a:r>
              <a:rPr lang="tr-TR" dirty="0" smtClean="0"/>
              <a:t>Silinecek</a:t>
            </a:r>
            <a:endParaRPr lang="tr-TR" dirty="0"/>
          </a:p>
        </p:txBody>
      </p:sp>
    </p:spTree>
    <p:extLst>
      <p:ext uri="{BB962C8B-B14F-4D97-AF65-F5344CB8AC3E}">
        <p14:creationId xmlns:p14="http://schemas.microsoft.com/office/powerpoint/2010/main" val="2766284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539552" y="1916832"/>
            <a:ext cx="8229600" cy="4525963"/>
          </a:xfrm>
        </p:spPr>
        <p:txBody>
          <a:bodyPr>
            <a:normAutofit fontScale="92500"/>
          </a:bodyPr>
          <a:lstStyle/>
          <a:p>
            <a:r>
              <a:rPr lang="tr-TR" dirty="0"/>
              <a:t>Bu problemi, bilgisayar bilimleri açısından ilginç kılan yanı ise, problemin yapısal olarak bir </a:t>
            </a:r>
            <a:r>
              <a:rPr lang="tr-TR" dirty="0">
                <a:hlinkClick r:id="rId2"/>
              </a:rPr>
              <a:t>NP-Tam (NP-Complete) </a:t>
            </a:r>
            <a:r>
              <a:rPr lang="tr-TR" dirty="0"/>
              <a:t>sınıfı problem olmasıdır</a:t>
            </a:r>
            <a:r>
              <a:rPr lang="tr-TR" dirty="0" smtClean="0"/>
              <a:t>.</a:t>
            </a:r>
          </a:p>
          <a:p>
            <a:r>
              <a:rPr lang="tr-TR" dirty="0"/>
              <a:t>Bu tanımın üzerine örneğin sadece 3 adet lafzi gösterim (</a:t>
            </a:r>
            <a:r>
              <a:rPr lang="tr-TR" dirty="0" err="1"/>
              <a:t>literal</a:t>
            </a:r>
            <a:r>
              <a:rPr lang="tr-TR" dirty="0"/>
              <a:t>)’in ve (</a:t>
            </a:r>
            <a:r>
              <a:rPr lang="tr-TR" dirty="0" err="1"/>
              <a:t>and</a:t>
            </a:r>
            <a:r>
              <a:rPr lang="tr-TR" dirty="0"/>
              <a:t>) bağlacı normal şeklinde (</a:t>
            </a:r>
            <a:r>
              <a:rPr lang="tr-TR" dirty="0" err="1"/>
              <a:t>conjunction</a:t>
            </a:r>
            <a:r>
              <a:rPr lang="tr-TR" dirty="0"/>
              <a:t> normal form) olması durumuna 3SAT veya 3CNFSAT isimleri verilir. Bu problem NP-TAM (NP-Complete) bir problemdir.</a:t>
            </a:r>
          </a:p>
        </p:txBody>
      </p:sp>
      <p:sp>
        <p:nvSpPr>
          <p:cNvPr id="4" name="Başlık 1"/>
          <p:cNvSpPr>
            <a:spLocks noGrp="1"/>
          </p:cNvSpPr>
          <p:nvPr>
            <p:ph type="title"/>
          </p:nvPr>
        </p:nvSpPr>
        <p:spPr>
          <a:xfrm>
            <a:off x="457200" y="274638"/>
            <a:ext cx="8229600" cy="1143000"/>
          </a:xfrm>
        </p:spPr>
        <p:txBody>
          <a:bodyPr/>
          <a:lstStyle/>
          <a:p>
            <a:r>
              <a:rPr lang="tr-TR" dirty="0" smtClean="0"/>
              <a:t>Silinecek</a:t>
            </a:r>
            <a:endParaRPr lang="tr-TR" dirty="0"/>
          </a:p>
        </p:txBody>
      </p:sp>
    </p:spTree>
    <p:extLst>
      <p:ext uri="{BB962C8B-B14F-4D97-AF65-F5344CB8AC3E}">
        <p14:creationId xmlns:p14="http://schemas.microsoft.com/office/powerpoint/2010/main" val="88082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Farklı çözüm yaklaşımları</a:t>
            </a:r>
            <a:endParaRPr lang="tr-TR" dirty="0">
              <a:solidFill>
                <a:schemeClr val="tx1"/>
              </a:solidFill>
            </a:endParaRPr>
          </a:p>
        </p:txBody>
      </p:sp>
      <p:sp>
        <p:nvSpPr>
          <p:cNvPr id="3" name="İçerik Yer Tutucusu 2"/>
          <p:cNvSpPr>
            <a:spLocks noGrp="1"/>
          </p:cNvSpPr>
          <p:nvPr>
            <p:ph idx="1"/>
          </p:nvPr>
        </p:nvSpPr>
        <p:spPr/>
        <p:txBody>
          <a:bodyPr>
            <a:normAutofit fontScale="62500" lnSpcReduction="20000"/>
          </a:bodyPr>
          <a:lstStyle/>
          <a:p>
            <a:r>
              <a:rPr lang="en-US" dirty="0"/>
              <a:t>The </a:t>
            </a:r>
            <a:r>
              <a:rPr lang="en-US" dirty="0">
                <a:hlinkClick r:id="rId2" tooltip="Decision problem"/>
              </a:rPr>
              <a:t>decision problem</a:t>
            </a:r>
            <a:r>
              <a:rPr lang="en-US" dirty="0"/>
              <a:t> form of the knapsack problem (</a:t>
            </a:r>
            <a:r>
              <a:rPr lang="en-US" i="1" dirty="0"/>
              <a:t>Can a value of at least </a:t>
            </a:r>
            <a:r>
              <a:rPr lang="en-US" dirty="0"/>
              <a:t>V</a:t>
            </a:r>
            <a:r>
              <a:rPr lang="en-US" i="1" dirty="0"/>
              <a:t> be achieved without exceeding the weight </a:t>
            </a:r>
            <a:r>
              <a:rPr lang="en-US" dirty="0"/>
              <a:t>W</a:t>
            </a:r>
            <a:r>
              <a:rPr lang="en-US" i="1" dirty="0"/>
              <a:t>?</a:t>
            </a:r>
            <a:r>
              <a:rPr lang="en-US" dirty="0"/>
              <a:t>) is </a:t>
            </a:r>
            <a:r>
              <a:rPr lang="en-US" dirty="0">
                <a:hlinkClick r:id="rId3" tooltip="NP-complete"/>
              </a:rPr>
              <a:t>NP-complete</a:t>
            </a:r>
            <a:r>
              <a:rPr lang="en-US" dirty="0"/>
              <a:t>, thus there is no known algorithm both correct and fast (polynomial-time) in all cases.</a:t>
            </a:r>
          </a:p>
          <a:p>
            <a:r>
              <a:rPr lang="en-US" dirty="0"/>
              <a:t>While the decision problem is NP-complete, the optimization problem is not, its resolution is at least as difficult as the decision problem, and there is no known polynomial algorithm which can tell, given a solution, whether it is optimal (which would mean that there is no solution with a larger </a:t>
            </a:r>
            <a:r>
              <a:rPr lang="en-US" i="1" dirty="0"/>
              <a:t>V</a:t>
            </a:r>
            <a:r>
              <a:rPr lang="en-US" dirty="0"/>
              <a:t>, thus solving the NP-complete decision problem).</a:t>
            </a:r>
          </a:p>
          <a:p>
            <a:r>
              <a:rPr lang="en-US" dirty="0"/>
              <a:t>There is a </a:t>
            </a:r>
            <a:r>
              <a:rPr lang="en-US" dirty="0">
                <a:hlinkClick r:id="rId4" tooltip="Pseudo-polynomial time"/>
              </a:rPr>
              <a:t>pseudo-polynomial time</a:t>
            </a:r>
            <a:r>
              <a:rPr lang="en-US" dirty="0"/>
              <a:t> algorithm using </a:t>
            </a:r>
            <a:r>
              <a:rPr lang="en-US" dirty="0">
                <a:hlinkClick r:id="rId5" tooltip="Dynamic programming"/>
              </a:rPr>
              <a:t>dynamic programming</a:t>
            </a:r>
            <a:r>
              <a:rPr lang="en-US" dirty="0"/>
              <a:t>.</a:t>
            </a:r>
          </a:p>
          <a:p>
            <a:r>
              <a:rPr lang="en-US" dirty="0"/>
              <a:t>There is a </a:t>
            </a:r>
            <a:r>
              <a:rPr lang="en-US" dirty="0">
                <a:hlinkClick r:id="rId6" tooltip="Polynomial-time approximation scheme"/>
              </a:rPr>
              <a:t>fully polynomial-time approximation scheme</a:t>
            </a:r>
            <a:r>
              <a:rPr lang="en-US" dirty="0"/>
              <a:t>, which uses the pseudo-polynomial time algorithm as a subroutine, described below.</a:t>
            </a:r>
          </a:p>
          <a:p>
            <a:r>
              <a:rPr lang="en-US" dirty="0"/>
              <a:t>Many cases that arise in practice, and "random instances" from some distributions, can nonetheless be solved exactly</a:t>
            </a:r>
            <a:r>
              <a:rPr lang="en-US" dirty="0" smtClean="0"/>
              <a:t>.</a:t>
            </a:r>
            <a:endParaRPr lang="en-US" dirty="0"/>
          </a:p>
        </p:txBody>
      </p:sp>
    </p:spTree>
    <p:extLst>
      <p:ext uri="{BB962C8B-B14F-4D97-AF65-F5344CB8AC3E}">
        <p14:creationId xmlns:p14="http://schemas.microsoft.com/office/powerpoint/2010/main" val="381614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smtClean="0">
                <a:solidFill>
                  <a:schemeClr val="tx1"/>
                </a:solidFill>
              </a:rPr>
              <a:t>I</a:t>
            </a:r>
            <a:r>
              <a:rPr lang="en-US" dirty="0" err="1" smtClean="0">
                <a:solidFill>
                  <a:schemeClr val="tx1"/>
                </a:solidFill>
              </a:rPr>
              <a:t>ntroduce</a:t>
            </a:r>
            <a:r>
              <a:rPr lang="en-US" dirty="0" smtClean="0">
                <a:solidFill>
                  <a:schemeClr val="tx1"/>
                </a:solidFill>
              </a:rPr>
              <a:t> the reducibility of 3sat to knapsack</a:t>
            </a:r>
            <a:endParaRPr lang="tr-TR" dirty="0"/>
          </a:p>
        </p:txBody>
      </p:sp>
      <p:sp>
        <p:nvSpPr>
          <p:cNvPr id="3" name="İçerik Yer Tutucusu 2"/>
          <p:cNvSpPr>
            <a:spLocks noGrp="1"/>
          </p:cNvSpPr>
          <p:nvPr>
            <p:ph idx="1"/>
          </p:nvPr>
        </p:nvSpPr>
        <p:spPr/>
        <p:txBody>
          <a:bodyPr/>
          <a:lstStyle/>
          <a:p>
            <a:endParaRPr lang="tr-TR"/>
          </a:p>
        </p:txBody>
      </p:sp>
    </p:spTree>
    <p:extLst>
      <p:ext uri="{BB962C8B-B14F-4D97-AF65-F5344CB8AC3E}">
        <p14:creationId xmlns:p14="http://schemas.microsoft.com/office/powerpoint/2010/main" val="3262133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Kaynakça</a:t>
            </a:r>
            <a:endParaRPr lang="tr-TR" dirty="0"/>
          </a:p>
        </p:txBody>
      </p:sp>
      <p:sp>
        <p:nvSpPr>
          <p:cNvPr id="3" name="İçerik Yer Tutucusu 2"/>
          <p:cNvSpPr>
            <a:spLocks noGrp="1"/>
          </p:cNvSpPr>
          <p:nvPr>
            <p:ph idx="1"/>
          </p:nvPr>
        </p:nvSpPr>
        <p:spPr/>
        <p:txBody>
          <a:bodyPr>
            <a:normAutofit fontScale="92500" lnSpcReduction="10000"/>
          </a:bodyPr>
          <a:lstStyle/>
          <a:p>
            <a:r>
              <a:rPr lang="tr-TR" dirty="0" err="1" smtClean="0"/>
              <a:t>Mobilhanem-Knapsack</a:t>
            </a:r>
            <a:r>
              <a:rPr lang="tr-TR" dirty="0" smtClean="0"/>
              <a:t> algoritması:</a:t>
            </a:r>
            <a:endParaRPr lang="tr-TR" dirty="0" smtClean="0">
              <a:hlinkClick r:id="rId2"/>
            </a:endParaRPr>
          </a:p>
          <a:p>
            <a:r>
              <a:rPr lang="tr-TR" dirty="0" smtClean="0">
                <a:hlinkClick r:id="rId2"/>
              </a:rPr>
              <a:t>https://www.mobilhanem.com/knapsack-sirt-cantasi-algoritmasi/</a:t>
            </a:r>
            <a:endParaRPr lang="tr-TR" dirty="0" smtClean="0"/>
          </a:p>
          <a:p>
            <a:r>
              <a:rPr lang="tr-TR" dirty="0" err="1" smtClean="0"/>
              <a:t>Wikipedia</a:t>
            </a:r>
            <a:r>
              <a:rPr lang="tr-TR" dirty="0" err="1"/>
              <a:t>-</a:t>
            </a:r>
            <a:r>
              <a:rPr lang="tr-TR" dirty="0" err="1" smtClean="0"/>
              <a:t>Boolean</a:t>
            </a:r>
            <a:r>
              <a:rPr lang="tr-TR" dirty="0" smtClean="0"/>
              <a:t> </a:t>
            </a:r>
            <a:r>
              <a:rPr lang="tr-TR" dirty="0" err="1" smtClean="0"/>
              <a:t>satisfiability</a:t>
            </a:r>
            <a:r>
              <a:rPr lang="tr-TR" dirty="0" smtClean="0"/>
              <a:t> problem: </a:t>
            </a:r>
            <a:r>
              <a:rPr lang="tr-TR" dirty="0" smtClean="0">
                <a:hlinkClick r:id="rId3"/>
              </a:rPr>
              <a:t>https://en.wikipedia.org/wiki/Boolean_satisfiability_problem</a:t>
            </a:r>
            <a:endParaRPr lang="tr-TR" dirty="0" smtClean="0"/>
          </a:p>
          <a:p>
            <a:r>
              <a:rPr lang="tr-TR" dirty="0" err="1" smtClean="0"/>
              <a:t>Wikipedia</a:t>
            </a:r>
            <a:r>
              <a:rPr lang="tr-TR" dirty="0" smtClean="0"/>
              <a:t>-Sırt </a:t>
            </a:r>
            <a:r>
              <a:rPr lang="tr-TR" dirty="0"/>
              <a:t>çantası </a:t>
            </a:r>
            <a:r>
              <a:rPr lang="tr-TR" dirty="0" smtClean="0"/>
              <a:t>problemi :</a:t>
            </a:r>
          </a:p>
          <a:p>
            <a:r>
              <a:rPr lang="tr-TR" dirty="0" smtClean="0">
                <a:hlinkClick r:id="rId4"/>
              </a:rPr>
              <a:t>https://tr.wikipedia.org/wiki/S%C4%B1rt_%C3%A7antas%C4%B1_problemi</a:t>
            </a:r>
            <a:endParaRPr lang="tr-TR" dirty="0" smtClean="0"/>
          </a:p>
          <a:p>
            <a:endParaRPr lang="tr-TR" dirty="0"/>
          </a:p>
        </p:txBody>
      </p:sp>
    </p:spTree>
    <p:extLst>
      <p:ext uri="{BB962C8B-B14F-4D97-AF65-F5344CB8AC3E}">
        <p14:creationId xmlns:p14="http://schemas.microsoft.com/office/powerpoint/2010/main" val="3374786543"/>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493</Words>
  <Application>Microsoft Office PowerPoint</Application>
  <PresentationFormat>Ekran Gösterisi (4:3)</PresentationFormat>
  <Paragraphs>80</Paragraphs>
  <Slides>12</Slides>
  <Notes>0</Notes>
  <HiddenSlides>0</HiddenSlides>
  <MMClips>0</MMClips>
  <ScaleCrop>false</ScaleCrop>
  <HeadingPairs>
    <vt:vector size="4" baseType="variant">
      <vt:variant>
        <vt:lpstr>Tema</vt:lpstr>
      </vt:variant>
      <vt:variant>
        <vt:i4>1</vt:i4>
      </vt:variant>
      <vt:variant>
        <vt:lpstr>Slayt Başlıkları</vt:lpstr>
      </vt:variant>
      <vt:variant>
        <vt:i4>12</vt:i4>
      </vt:variant>
    </vt:vector>
  </HeadingPairs>
  <TitlesOfParts>
    <vt:vector size="13" baseType="lpstr">
      <vt:lpstr>Ofis Teması</vt:lpstr>
      <vt:lpstr>3SAT&lt;= KNAPSACK</vt:lpstr>
      <vt:lpstr>History of Knapsack Problem</vt:lpstr>
      <vt:lpstr>Knapsack in detail</vt:lpstr>
      <vt:lpstr>PowerPoint Sunusu</vt:lpstr>
      <vt:lpstr>Concrete examples to satisfy knapsack</vt:lpstr>
      <vt:lpstr>PowerPoint Sunusu</vt:lpstr>
      <vt:lpstr>Silinecek</vt:lpstr>
      <vt:lpstr>Silinecek</vt:lpstr>
      <vt:lpstr>Silinecek</vt:lpstr>
      <vt:lpstr>Farklı çözüm yaklaşımları</vt:lpstr>
      <vt:lpstr>Introduce the reducibility of 3sat to knapsack</vt:lpstr>
      <vt:lpstr>Kaynakça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deneme</dc:title>
  <dc:creator>CAHİT BARKIN ÖZER</dc:creator>
  <cp:lastModifiedBy>CAHİT BARKIN ÖZER</cp:lastModifiedBy>
  <cp:revision>49</cp:revision>
  <dcterms:created xsi:type="dcterms:W3CDTF">2020-11-08T12:04:20Z</dcterms:created>
  <dcterms:modified xsi:type="dcterms:W3CDTF">2020-11-20T16:47:31Z</dcterms:modified>
</cp:coreProperties>
</file>