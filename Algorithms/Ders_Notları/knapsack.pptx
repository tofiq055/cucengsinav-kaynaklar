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7" r:id="rId3"/>
    <p:sldId id="257" r:id="rId4"/>
    <p:sldId id="268" r:id="rId5"/>
    <p:sldId id="258" r:id="rId6"/>
    <p:sldId id="259" r:id="rId7"/>
    <p:sldId id="269" r:id="rId8"/>
    <p:sldId id="261" r:id="rId9"/>
    <p:sldId id="274" r:id="rId10"/>
    <p:sldId id="273" r:id="rId11"/>
    <p:sldId id="275" r:id="rId12"/>
    <p:sldId id="270" r:id="rId13"/>
    <p:sldId id="276" r:id="rId14"/>
    <p:sldId id="271" r:id="rId15"/>
    <p:sldId id="278" r:id="rId16"/>
    <p:sldId id="286" r:id="rId17"/>
    <p:sldId id="280" r:id="rId18"/>
    <p:sldId id="281" r:id="rId19"/>
    <p:sldId id="282" r:id="rId20"/>
    <p:sldId id="284" r:id="rId21"/>
    <p:sldId id="285" r:id="rId22"/>
    <p:sldId id="262" r:id="rId23"/>
  </p:sldIdLst>
  <p:sldSz cx="9144000" cy="6858000" type="screen4x3"/>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7933C"/>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10" d="100"/>
          <a:sy n="110" d="100"/>
        </p:scale>
        <p:origin x="-1644"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p:cNvSpPr>
            <a:spLocks noGrp="1"/>
          </p:cNvSpPr>
          <p:nvPr>
            <p:ph type="ctrTitle"/>
          </p:nvPr>
        </p:nvSpPr>
        <p:spPr>
          <a:xfrm>
            <a:off x="685800" y="2130425"/>
            <a:ext cx="7772400" cy="1470025"/>
          </a:xfrm>
        </p:spPr>
        <p:txBody>
          <a:bodyPr/>
          <a:lstStyle/>
          <a:p>
            <a:r>
              <a:rPr lang="tr-TR"/>
              <a:t>Asıl başlık stili için tıklatın</a:t>
            </a:r>
          </a:p>
        </p:txBody>
      </p:sp>
      <p:sp>
        <p:nvSpPr>
          <p:cNvPr id="3" name="Alt Başlık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a:t>Asıl alt başlık stilini düzenlemek için tıklatın</a:t>
            </a:r>
          </a:p>
        </p:txBody>
      </p:sp>
      <p:sp>
        <p:nvSpPr>
          <p:cNvPr id="4" name="Veri Yer Tutucusu 3"/>
          <p:cNvSpPr>
            <a:spLocks noGrp="1"/>
          </p:cNvSpPr>
          <p:nvPr>
            <p:ph type="dt" sz="half" idx="10"/>
          </p:nvPr>
        </p:nvSpPr>
        <p:spPr/>
        <p:txBody>
          <a:bodyPr/>
          <a:lstStyle/>
          <a:p>
            <a:fld id="{CFF7BE40-C192-4798-93AD-E398E02CF0D8}" type="datetimeFigureOut">
              <a:rPr lang="tr-TR" smtClean="0"/>
              <a:t>30.11.2020</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C27E269A-39DB-4326-A80F-1DC50C8A13BB}" type="slidenum">
              <a:rPr lang="tr-TR" smtClean="0"/>
              <a:t>‹#›</a:t>
            </a:fld>
            <a:endParaRPr lang="tr-TR"/>
          </a:p>
        </p:txBody>
      </p:sp>
    </p:spTree>
    <p:extLst>
      <p:ext uri="{BB962C8B-B14F-4D97-AF65-F5344CB8AC3E}">
        <p14:creationId xmlns:p14="http://schemas.microsoft.com/office/powerpoint/2010/main" val="29962657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a:t>Asıl başlık stili için tıklatın</a:t>
            </a:r>
          </a:p>
        </p:txBody>
      </p:sp>
      <p:sp>
        <p:nvSpPr>
          <p:cNvPr id="3" name="İçerik Yer Tutucusu 2"/>
          <p:cNvSpPr>
            <a:spLocks noGrp="1"/>
          </p:cNvSpPr>
          <p:nvPr>
            <p:ph idx="1"/>
          </p:nvPr>
        </p:nvSpPr>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10"/>
          </p:nvPr>
        </p:nvSpPr>
        <p:spPr/>
        <p:txBody>
          <a:bodyPr/>
          <a:lstStyle/>
          <a:p>
            <a:fld id="{CFF7BE40-C192-4798-93AD-E398E02CF0D8}" type="datetimeFigureOut">
              <a:rPr lang="tr-TR" smtClean="0"/>
              <a:t>30.11.2020</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C27E269A-39DB-4326-A80F-1DC50C8A13BB}" type="slidenum">
              <a:rPr lang="tr-TR" smtClean="0"/>
              <a:t>‹#›</a:t>
            </a:fld>
            <a:endParaRPr lang="tr-TR"/>
          </a:p>
        </p:txBody>
      </p:sp>
    </p:spTree>
    <p:extLst>
      <p:ext uri="{BB962C8B-B14F-4D97-AF65-F5344CB8AC3E}">
        <p14:creationId xmlns:p14="http://schemas.microsoft.com/office/powerpoint/2010/main" val="1468742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Başlık 1"/>
          <p:cNvSpPr>
            <a:spLocks noGrp="1"/>
          </p:cNvSpPr>
          <p:nvPr>
            <p:ph type="title"/>
          </p:nvPr>
        </p:nvSpPr>
        <p:spPr>
          <a:xfrm>
            <a:off x="722313" y="4406900"/>
            <a:ext cx="7772400" cy="1362075"/>
          </a:xfrm>
        </p:spPr>
        <p:txBody>
          <a:bodyPr anchor="t"/>
          <a:lstStyle>
            <a:lvl1pPr algn="l">
              <a:defRPr sz="4000" b="1" cap="all"/>
            </a:lvl1pPr>
          </a:lstStyle>
          <a:p>
            <a:r>
              <a:rPr lang="tr-TR"/>
              <a:t>Asıl başlık stili için tıklatın</a:t>
            </a:r>
          </a:p>
        </p:txBody>
      </p:sp>
      <p:sp>
        <p:nvSpPr>
          <p:cNvPr id="3" name="Metin Yer Tutucusu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tıklatın</a:t>
            </a:r>
          </a:p>
        </p:txBody>
      </p:sp>
      <p:sp>
        <p:nvSpPr>
          <p:cNvPr id="4" name="Veri Yer Tutucusu 3"/>
          <p:cNvSpPr>
            <a:spLocks noGrp="1"/>
          </p:cNvSpPr>
          <p:nvPr>
            <p:ph type="dt" sz="half" idx="10"/>
          </p:nvPr>
        </p:nvSpPr>
        <p:spPr/>
        <p:txBody>
          <a:bodyPr/>
          <a:lstStyle/>
          <a:p>
            <a:fld id="{CFF7BE40-C192-4798-93AD-E398E02CF0D8}" type="datetimeFigureOut">
              <a:rPr lang="tr-TR" smtClean="0"/>
              <a:t>30.11.2020</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C27E269A-39DB-4326-A80F-1DC50C8A13BB}" type="slidenum">
              <a:rPr lang="tr-TR" smtClean="0"/>
              <a:t>‹#›</a:t>
            </a:fld>
            <a:endParaRPr lang="tr-TR"/>
          </a:p>
        </p:txBody>
      </p:sp>
    </p:spTree>
    <p:extLst>
      <p:ext uri="{BB962C8B-B14F-4D97-AF65-F5344CB8AC3E}">
        <p14:creationId xmlns:p14="http://schemas.microsoft.com/office/powerpoint/2010/main" val="38699794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a:t>Asıl başlık stili için tıklatın</a:t>
            </a:r>
          </a:p>
        </p:txBody>
      </p:sp>
      <p:sp>
        <p:nvSpPr>
          <p:cNvPr id="3" name="İçerik Yer Tutucus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İçerik Yer Tutucus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5" name="Veri Yer Tutucusu 4"/>
          <p:cNvSpPr>
            <a:spLocks noGrp="1"/>
          </p:cNvSpPr>
          <p:nvPr>
            <p:ph type="dt" sz="half" idx="10"/>
          </p:nvPr>
        </p:nvSpPr>
        <p:spPr/>
        <p:txBody>
          <a:bodyPr/>
          <a:lstStyle/>
          <a:p>
            <a:fld id="{CFF7BE40-C192-4798-93AD-E398E02CF0D8}" type="datetimeFigureOut">
              <a:rPr lang="tr-TR" smtClean="0"/>
              <a:t>30.11.2020</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C27E269A-39DB-4326-A80F-1DC50C8A13BB}" type="slidenum">
              <a:rPr lang="tr-TR" smtClean="0"/>
              <a:t>‹#›</a:t>
            </a:fld>
            <a:endParaRPr lang="tr-TR"/>
          </a:p>
        </p:txBody>
      </p:sp>
    </p:spTree>
    <p:extLst>
      <p:ext uri="{BB962C8B-B14F-4D97-AF65-F5344CB8AC3E}">
        <p14:creationId xmlns:p14="http://schemas.microsoft.com/office/powerpoint/2010/main" val="1847115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lvl1pPr>
              <a:defRPr/>
            </a:lvl1pPr>
          </a:lstStyle>
          <a:p>
            <a:r>
              <a:rPr lang="tr-TR"/>
              <a:t>Asıl başlık stili için tıklatın</a:t>
            </a:r>
          </a:p>
        </p:txBody>
      </p:sp>
      <p:sp>
        <p:nvSpPr>
          <p:cNvPr id="3" name="Metin Yer Tutucusu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tıklatın</a:t>
            </a:r>
          </a:p>
        </p:txBody>
      </p:sp>
      <p:sp>
        <p:nvSpPr>
          <p:cNvPr id="4" name="İçerik Yer Tutucus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5" name="Metin Yer Tutucusu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tıklatın</a:t>
            </a:r>
          </a:p>
        </p:txBody>
      </p:sp>
      <p:sp>
        <p:nvSpPr>
          <p:cNvPr id="6" name="İçerik Yer Tutucus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7" name="Veri Yer Tutucusu 6"/>
          <p:cNvSpPr>
            <a:spLocks noGrp="1"/>
          </p:cNvSpPr>
          <p:nvPr>
            <p:ph type="dt" sz="half" idx="10"/>
          </p:nvPr>
        </p:nvSpPr>
        <p:spPr/>
        <p:txBody>
          <a:bodyPr/>
          <a:lstStyle/>
          <a:p>
            <a:fld id="{CFF7BE40-C192-4798-93AD-E398E02CF0D8}" type="datetimeFigureOut">
              <a:rPr lang="tr-TR" smtClean="0"/>
              <a:t>30.11.2020</a:t>
            </a:fld>
            <a:endParaRPr lang="tr-TR"/>
          </a:p>
        </p:txBody>
      </p:sp>
      <p:sp>
        <p:nvSpPr>
          <p:cNvPr id="8" name="Altbilgi Yer Tutucusu 7"/>
          <p:cNvSpPr>
            <a:spLocks noGrp="1"/>
          </p:cNvSpPr>
          <p:nvPr>
            <p:ph type="ftr" sz="quarter" idx="11"/>
          </p:nvPr>
        </p:nvSpPr>
        <p:spPr/>
        <p:txBody>
          <a:bodyPr/>
          <a:lstStyle/>
          <a:p>
            <a:endParaRPr lang="tr-TR"/>
          </a:p>
        </p:txBody>
      </p:sp>
      <p:sp>
        <p:nvSpPr>
          <p:cNvPr id="9" name="Slayt Numarası Yer Tutucusu 8"/>
          <p:cNvSpPr>
            <a:spLocks noGrp="1"/>
          </p:cNvSpPr>
          <p:nvPr>
            <p:ph type="sldNum" sz="quarter" idx="12"/>
          </p:nvPr>
        </p:nvSpPr>
        <p:spPr/>
        <p:txBody>
          <a:bodyPr/>
          <a:lstStyle/>
          <a:p>
            <a:fld id="{C27E269A-39DB-4326-A80F-1DC50C8A13BB}" type="slidenum">
              <a:rPr lang="tr-TR" smtClean="0"/>
              <a:t>‹#›</a:t>
            </a:fld>
            <a:endParaRPr lang="tr-TR"/>
          </a:p>
        </p:txBody>
      </p:sp>
    </p:spTree>
    <p:extLst>
      <p:ext uri="{BB962C8B-B14F-4D97-AF65-F5344CB8AC3E}">
        <p14:creationId xmlns:p14="http://schemas.microsoft.com/office/powerpoint/2010/main" val="40348019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a:t>Asıl başlık stili için tıklatın</a:t>
            </a:r>
          </a:p>
        </p:txBody>
      </p:sp>
      <p:sp>
        <p:nvSpPr>
          <p:cNvPr id="3" name="Veri Yer Tutucusu 2"/>
          <p:cNvSpPr>
            <a:spLocks noGrp="1"/>
          </p:cNvSpPr>
          <p:nvPr>
            <p:ph type="dt" sz="half" idx="10"/>
          </p:nvPr>
        </p:nvSpPr>
        <p:spPr/>
        <p:txBody>
          <a:bodyPr/>
          <a:lstStyle/>
          <a:p>
            <a:fld id="{CFF7BE40-C192-4798-93AD-E398E02CF0D8}" type="datetimeFigureOut">
              <a:rPr lang="tr-TR" smtClean="0"/>
              <a:t>30.11.2020</a:t>
            </a:fld>
            <a:endParaRPr lang="tr-TR"/>
          </a:p>
        </p:txBody>
      </p:sp>
      <p:sp>
        <p:nvSpPr>
          <p:cNvPr id="4" name="Altbilgi Yer Tutucusu 3"/>
          <p:cNvSpPr>
            <a:spLocks noGrp="1"/>
          </p:cNvSpPr>
          <p:nvPr>
            <p:ph type="ftr" sz="quarter" idx="11"/>
          </p:nvPr>
        </p:nvSpPr>
        <p:spPr/>
        <p:txBody>
          <a:bodyPr/>
          <a:lstStyle/>
          <a:p>
            <a:endParaRPr lang="tr-TR"/>
          </a:p>
        </p:txBody>
      </p:sp>
      <p:sp>
        <p:nvSpPr>
          <p:cNvPr id="5" name="Slayt Numarası Yer Tutucusu 4"/>
          <p:cNvSpPr>
            <a:spLocks noGrp="1"/>
          </p:cNvSpPr>
          <p:nvPr>
            <p:ph type="sldNum" sz="quarter" idx="12"/>
          </p:nvPr>
        </p:nvSpPr>
        <p:spPr/>
        <p:txBody>
          <a:bodyPr/>
          <a:lstStyle/>
          <a:p>
            <a:fld id="{C27E269A-39DB-4326-A80F-1DC50C8A13BB}" type="slidenum">
              <a:rPr lang="tr-TR" smtClean="0"/>
              <a:t>‹#›</a:t>
            </a:fld>
            <a:endParaRPr lang="tr-TR"/>
          </a:p>
        </p:txBody>
      </p:sp>
    </p:spTree>
    <p:extLst>
      <p:ext uri="{BB962C8B-B14F-4D97-AF65-F5344CB8AC3E}">
        <p14:creationId xmlns:p14="http://schemas.microsoft.com/office/powerpoint/2010/main" val="10857368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p:cNvSpPr>
            <a:spLocks noGrp="1"/>
          </p:cNvSpPr>
          <p:nvPr>
            <p:ph type="dt" sz="half" idx="10"/>
          </p:nvPr>
        </p:nvSpPr>
        <p:spPr/>
        <p:txBody>
          <a:bodyPr/>
          <a:lstStyle/>
          <a:p>
            <a:fld id="{CFF7BE40-C192-4798-93AD-E398E02CF0D8}" type="datetimeFigureOut">
              <a:rPr lang="tr-TR" smtClean="0"/>
              <a:t>30.11.2020</a:t>
            </a:fld>
            <a:endParaRPr lang="tr-TR"/>
          </a:p>
        </p:txBody>
      </p:sp>
      <p:sp>
        <p:nvSpPr>
          <p:cNvPr id="3" name="Altbilgi Yer Tutucusu 2"/>
          <p:cNvSpPr>
            <a:spLocks noGrp="1"/>
          </p:cNvSpPr>
          <p:nvPr>
            <p:ph type="ftr" sz="quarter" idx="11"/>
          </p:nvPr>
        </p:nvSpPr>
        <p:spPr/>
        <p:txBody>
          <a:bodyPr/>
          <a:lstStyle/>
          <a:p>
            <a:endParaRPr lang="tr-TR"/>
          </a:p>
        </p:txBody>
      </p:sp>
      <p:sp>
        <p:nvSpPr>
          <p:cNvPr id="4" name="Slayt Numarası Yer Tutucusu 3"/>
          <p:cNvSpPr>
            <a:spLocks noGrp="1"/>
          </p:cNvSpPr>
          <p:nvPr>
            <p:ph type="sldNum" sz="quarter" idx="12"/>
          </p:nvPr>
        </p:nvSpPr>
        <p:spPr/>
        <p:txBody>
          <a:bodyPr/>
          <a:lstStyle/>
          <a:p>
            <a:fld id="{C27E269A-39DB-4326-A80F-1DC50C8A13BB}" type="slidenum">
              <a:rPr lang="tr-TR" smtClean="0"/>
              <a:t>‹#›</a:t>
            </a:fld>
            <a:endParaRPr lang="tr-TR"/>
          </a:p>
        </p:txBody>
      </p:sp>
    </p:spTree>
    <p:extLst>
      <p:ext uri="{BB962C8B-B14F-4D97-AF65-F5344CB8AC3E}">
        <p14:creationId xmlns:p14="http://schemas.microsoft.com/office/powerpoint/2010/main" val="37034420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p:cNvSpPr>
            <a:spLocks noGrp="1"/>
          </p:cNvSpPr>
          <p:nvPr>
            <p:ph type="title"/>
          </p:nvPr>
        </p:nvSpPr>
        <p:spPr>
          <a:xfrm>
            <a:off x="457200" y="273050"/>
            <a:ext cx="3008313" cy="1162050"/>
          </a:xfrm>
        </p:spPr>
        <p:txBody>
          <a:bodyPr anchor="b"/>
          <a:lstStyle>
            <a:lvl1pPr algn="l">
              <a:defRPr sz="2000" b="1"/>
            </a:lvl1pPr>
          </a:lstStyle>
          <a:p>
            <a:r>
              <a:rPr lang="tr-TR"/>
              <a:t>Asıl başlık stili için tıklatın</a:t>
            </a:r>
          </a:p>
        </p:txBody>
      </p:sp>
      <p:sp>
        <p:nvSpPr>
          <p:cNvPr id="3" name="İçerik Yer Tutucus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Metin Yer Tutucusu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tıklatın</a:t>
            </a:r>
          </a:p>
        </p:txBody>
      </p:sp>
      <p:sp>
        <p:nvSpPr>
          <p:cNvPr id="5" name="Veri Yer Tutucusu 4"/>
          <p:cNvSpPr>
            <a:spLocks noGrp="1"/>
          </p:cNvSpPr>
          <p:nvPr>
            <p:ph type="dt" sz="half" idx="10"/>
          </p:nvPr>
        </p:nvSpPr>
        <p:spPr/>
        <p:txBody>
          <a:bodyPr/>
          <a:lstStyle/>
          <a:p>
            <a:fld id="{CFF7BE40-C192-4798-93AD-E398E02CF0D8}" type="datetimeFigureOut">
              <a:rPr lang="tr-TR" smtClean="0"/>
              <a:t>30.11.2020</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C27E269A-39DB-4326-A80F-1DC50C8A13BB}" type="slidenum">
              <a:rPr lang="tr-TR" smtClean="0"/>
              <a:t>‹#›</a:t>
            </a:fld>
            <a:endParaRPr lang="tr-TR"/>
          </a:p>
        </p:txBody>
      </p:sp>
    </p:spTree>
    <p:extLst>
      <p:ext uri="{BB962C8B-B14F-4D97-AF65-F5344CB8AC3E}">
        <p14:creationId xmlns:p14="http://schemas.microsoft.com/office/powerpoint/2010/main" val="23303394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p:cNvSpPr>
            <a:spLocks noGrp="1"/>
          </p:cNvSpPr>
          <p:nvPr>
            <p:ph type="title"/>
          </p:nvPr>
        </p:nvSpPr>
        <p:spPr>
          <a:xfrm>
            <a:off x="1792288" y="4800600"/>
            <a:ext cx="5486400" cy="566738"/>
          </a:xfrm>
        </p:spPr>
        <p:txBody>
          <a:bodyPr anchor="b"/>
          <a:lstStyle>
            <a:lvl1pPr algn="l">
              <a:defRPr sz="2000" b="1"/>
            </a:lvl1pPr>
          </a:lstStyle>
          <a:p>
            <a:r>
              <a:rPr lang="tr-TR"/>
              <a:t>Asıl başlık stili için tıklatın</a:t>
            </a:r>
          </a:p>
        </p:txBody>
      </p:sp>
      <p:sp>
        <p:nvSpPr>
          <p:cNvPr id="3" name="Resim Yer Tutucusu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tıklatın</a:t>
            </a:r>
          </a:p>
        </p:txBody>
      </p:sp>
      <p:sp>
        <p:nvSpPr>
          <p:cNvPr id="5" name="Veri Yer Tutucusu 4"/>
          <p:cNvSpPr>
            <a:spLocks noGrp="1"/>
          </p:cNvSpPr>
          <p:nvPr>
            <p:ph type="dt" sz="half" idx="10"/>
          </p:nvPr>
        </p:nvSpPr>
        <p:spPr/>
        <p:txBody>
          <a:bodyPr/>
          <a:lstStyle/>
          <a:p>
            <a:fld id="{CFF7BE40-C192-4798-93AD-E398E02CF0D8}" type="datetimeFigureOut">
              <a:rPr lang="tr-TR" smtClean="0"/>
              <a:t>30.11.2020</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C27E269A-39DB-4326-A80F-1DC50C8A13BB}" type="slidenum">
              <a:rPr lang="tr-TR" smtClean="0"/>
              <a:t>‹#›</a:t>
            </a:fld>
            <a:endParaRPr lang="tr-TR"/>
          </a:p>
        </p:txBody>
      </p:sp>
    </p:spTree>
    <p:extLst>
      <p:ext uri="{BB962C8B-B14F-4D97-AF65-F5344CB8AC3E}">
        <p14:creationId xmlns:p14="http://schemas.microsoft.com/office/powerpoint/2010/main" val="33227455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a:t>Asıl başlık stili için tıklatın</a:t>
            </a:r>
          </a:p>
        </p:txBody>
      </p:sp>
      <p:sp>
        <p:nvSpPr>
          <p:cNvPr id="3" name="Dikey Metin Yer Tutucusu 2"/>
          <p:cNvSpPr>
            <a:spLocks noGrp="1"/>
          </p:cNvSpPr>
          <p:nvPr>
            <p:ph type="body" orient="vert" idx="1"/>
          </p:nvPr>
        </p:nvSpPr>
        <p:spPr/>
        <p:txBody>
          <a:bodyPr vert="eaVert"/>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10"/>
          </p:nvPr>
        </p:nvSpPr>
        <p:spPr/>
        <p:txBody>
          <a:bodyPr/>
          <a:lstStyle/>
          <a:p>
            <a:fld id="{CFF7BE40-C192-4798-93AD-E398E02CF0D8}" type="datetimeFigureOut">
              <a:rPr lang="tr-TR" smtClean="0"/>
              <a:t>30.11.2020</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C27E269A-39DB-4326-A80F-1DC50C8A13BB}" type="slidenum">
              <a:rPr lang="tr-TR" smtClean="0"/>
              <a:t>‹#›</a:t>
            </a:fld>
            <a:endParaRPr lang="tr-TR"/>
          </a:p>
        </p:txBody>
      </p:sp>
    </p:spTree>
    <p:extLst>
      <p:ext uri="{BB962C8B-B14F-4D97-AF65-F5344CB8AC3E}">
        <p14:creationId xmlns:p14="http://schemas.microsoft.com/office/powerpoint/2010/main" val="6441008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p:cNvSpPr>
            <a:spLocks noGrp="1"/>
          </p:cNvSpPr>
          <p:nvPr>
            <p:ph type="title" orient="vert"/>
          </p:nvPr>
        </p:nvSpPr>
        <p:spPr>
          <a:xfrm>
            <a:off x="6629400" y="274638"/>
            <a:ext cx="2057400" cy="5851525"/>
          </a:xfrm>
        </p:spPr>
        <p:txBody>
          <a:bodyPr vert="eaVert"/>
          <a:lstStyle/>
          <a:p>
            <a:r>
              <a:rPr lang="tr-TR"/>
              <a:t>Asıl başlık stili için tıklatın</a:t>
            </a:r>
          </a:p>
        </p:txBody>
      </p:sp>
      <p:sp>
        <p:nvSpPr>
          <p:cNvPr id="3" name="Dikey Metin Yer Tutucusu 2"/>
          <p:cNvSpPr>
            <a:spLocks noGrp="1"/>
          </p:cNvSpPr>
          <p:nvPr>
            <p:ph type="body" orient="vert" idx="1"/>
          </p:nvPr>
        </p:nvSpPr>
        <p:spPr>
          <a:xfrm>
            <a:off x="457200" y="274638"/>
            <a:ext cx="6019800" cy="5851525"/>
          </a:xfrm>
        </p:spPr>
        <p:txBody>
          <a:bodyPr vert="eaVert"/>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10"/>
          </p:nvPr>
        </p:nvSpPr>
        <p:spPr/>
        <p:txBody>
          <a:bodyPr/>
          <a:lstStyle/>
          <a:p>
            <a:fld id="{CFF7BE40-C192-4798-93AD-E398E02CF0D8}" type="datetimeFigureOut">
              <a:rPr lang="tr-TR" smtClean="0"/>
              <a:t>30.11.2020</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C27E269A-39DB-4326-A80F-1DC50C8A13BB}" type="slidenum">
              <a:rPr lang="tr-TR" smtClean="0"/>
              <a:t>‹#›</a:t>
            </a:fld>
            <a:endParaRPr lang="tr-TR"/>
          </a:p>
        </p:txBody>
      </p:sp>
    </p:spTree>
    <p:extLst>
      <p:ext uri="{BB962C8B-B14F-4D97-AF65-F5344CB8AC3E}">
        <p14:creationId xmlns:p14="http://schemas.microsoft.com/office/powerpoint/2010/main" val="39113120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tr-TR"/>
              <a:t>Asıl başlık stili için tıklatın</a:t>
            </a:r>
          </a:p>
        </p:txBody>
      </p:sp>
      <p:sp>
        <p:nvSpPr>
          <p:cNvPr id="3" name="Metin Yer Tutucusu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FF7BE40-C192-4798-93AD-E398E02CF0D8}" type="datetimeFigureOut">
              <a:rPr lang="tr-TR" smtClean="0"/>
              <a:t>30.11.2020</a:t>
            </a:fld>
            <a:endParaRPr lang="tr-TR"/>
          </a:p>
        </p:txBody>
      </p:sp>
      <p:sp>
        <p:nvSpPr>
          <p:cNvPr id="5" name="Altbilgi Yer Tutucusu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r-TR"/>
          </a:p>
        </p:txBody>
      </p:sp>
      <p:sp>
        <p:nvSpPr>
          <p:cNvPr id="6" name="Slayt Numarası Yer Tutucusu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7E269A-39DB-4326-A80F-1DC50C8A13BB}" type="slidenum">
              <a:rPr lang="tr-TR" smtClean="0"/>
              <a:t>‹#›</a:t>
            </a:fld>
            <a:endParaRPr lang="tr-TR"/>
          </a:p>
        </p:txBody>
      </p:sp>
    </p:spTree>
    <p:extLst>
      <p:ext uri="{BB962C8B-B14F-4D97-AF65-F5344CB8AC3E}">
        <p14:creationId xmlns:p14="http://schemas.microsoft.com/office/powerpoint/2010/main" val="14715145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tr.wikipedia.org/wiki/S%C4%B1rt_%C3%A7antas%C4%B1_problemi" TargetMode="External"/><Relationship Id="rId2" Type="http://schemas.openxmlformats.org/officeDocument/2006/relationships/hyperlink" Target="https://www.mobilhanem.com/knapsack-sirt-cantasi-algoritmasi/" TargetMode="External"/><Relationship Id="rId1" Type="http://schemas.openxmlformats.org/officeDocument/2006/relationships/slideLayout" Target="../slideLayouts/slideLayout2.xml"/><Relationship Id="rId5" Type="http://schemas.openxmlformats.org/officeDocument/2006/relationships/hyperlink" Target="https://en.wikipedia.org/wiki/Boolean_satisfiability_problem" TargetMode="External"/><Relationship Id="rId4" Type="http://schemas.openxmlformats.org/officeDocument/2006/relationships/hyperlink" Target="https://www.geeksforgeeks.org/0-1-knapsack-problem-dp-1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ctrTitle"/>
          </p:nvPr>
        </p:nvSpPr>
        <p:spPr>
          <a:xfrm>
            <a:off x="395536" y="116632"/>
            <a:ext cx="7772400" cy="1470025"/>
          </a:xfrm>
        </p:spPr>
        <p:txBody>
          <a:bodyPr/>
          <a:lstStyle/>
          <a:p>
            <a:r>
              <a:rPr lang="tr-TR" dirty="0"/>
              <a:t>3SAT&lt;= KNAPSACK</a:t>
            </a:r>
          </a:p>
        </p:txBody>
      </p:sp>
      <p:sp>
        <p:nvSpPr>
          <p:cNvPr id="3" name="Alt Başlık 2"/>
          <p:cNvSpPr>
            <a:spLocks noGrp="1"/>
          </p:cNvSpPr>
          <p:nvPr>
            <p:ph type="subTitle" idx="1"/>
          </p:nvPr>
        </p:nvSpPr>
        <p:spPr>
          <a:xfrm>
            <a:off x="1115616" y="1700808"/>
            <a:ext cx="6400800" cy="1752600"/>
          </a:xfrm>
        </p:spPr>
        <p:txBody>
          <a:bodyPr>
            <a:normAutofit fontScale="92500" lnSpcReduction="20000"/>
          </a:bodyPr>
          <a:lstStyle/>
          <a:p>
            <a:pPr marL="457200" indent="-457200" algn="l">
              <a:buFont typeface="Arial" panose="020B0604020202020204" pitchFamily="34" charset="0"/>
              <a:buChar char="•"/>
            </a:pPr>
            <a:r>
              <a:rPr lang="tr-TR" dirty="0">
                <a:solidFill>
                  <a:schemeClr val="tx1"/>
                </a:solidFill>
              </a:rPr>
              <a:t>T</a:t>
            </a:r>
            <a:r>
              <a:rPr lang="en-US" dirty="0">
                <a:solidFill>
                  <a:schemeClr val="tx1"/>
                </a:solidFill>
              </a:rPr>
              <a:t>he knapsack </a:t>
            </a:r>
            <a:r>
              <a:rPr lang="tr-TR" dirty="0">
                <a:solidFill>
                  <a:schemeClr val="tx1"/>
                </a:solidFill>
              </a:rPr>
              <a:t>problem</a:t>
            </a:r>
            <a:endParaRPr lang="en-US" dirty="0">
              <a:solidFill>
                <a:schemeClr val="tx1"/>
              </a:solidFill>
            </a:endParaRPr>
          </a:p>
          <a:p>
            <a:pPr marL="457200" indent="-457200" algn="l">
              <a:buFont typeface="Arial" panose="020B0604020202020204" pitchFamily="34" charset="0"/>
              <a:buChar char="•"/>
            </a:pPr>
            <a:r>
              <a:rPr lang="tr-TR" dirty="0">
                <a:solidFill>
                  <a:schemeClr val="tx1"/>
                </a:solidFill>
              </a:rPr>
              <a:t>Different approaches</a:t>
            </a:r>
            <a:r>
              <a:rPr lang="en-US" dirty="0">
                <a:solidFill>
                  <a:schemeClr val="tx1"/>
                </a:solidFill>
              </a:rPr>
              <a:t> to satisfy the knapsack problem</a:t>
            </a:r>
          </a:p>
          <a:p>
            <a:pPr marL="457200" indent="-457200" algn="l">
              <a:buFont typeface="Arial" panose="020B0604020202020204" pitchFamily="34" charset="0"/>
              <a:buChar char="•"/>
            </a:pPr>
            <a:r>
              <a:rPr lang="tr-TR" dirty="0">
                <a:solidFill>
                  <a:schemeClr val="tx1"/>
                </a:solidFill>
              </a:rPr>
              <a:t>T</a:t>
            </a:r>
            <a:r>
              <a:rPr lang="en-US" dirty="0">
                <a:solidFill>
                  <a:schemeClr val="tx1"/>
                </a:solidFill>
              </a:rPr>
              <a:t>he reducibility of 3sat to knapsack</a:t>
            </a:r>
            <a:endParaRPr lang="tr-TR" dirty="0">
              <a:solidFill>
                <a:schemeClr val="tx1"/>
              </a:solidFill>
            </a:endParaRPr>
          </a:p>
        </p:txBody>
      </p:sp>
      <p:pic>
        <p:nvPicPr>
          <p:cNvPr id="2050" name="Picture 2" descr="D:\Users\CAHİT BARKIN ÖZER\Downloads\adult-1850181_64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89548" y="3933056"/>
            <a:ext cx="3384376" cy="22580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68566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err="1"/>
              <a:t>History</a:t>
            </a:r>
            <a:r>
              <a:rPr lang="tr-TR" dirty="0"/>
              <a:t> of </a:t>
            </a:r>
            <a:r>
              <a:rPr lang="tr-TR" dirty="0" err="1"/>
              <a:t>Knapsack</a:t>
            </a:r>
            <a:r>
              <a:rPr lang="tr-TR" dirty="0"/>
              <a:t> Problem</a:t>
            </a:r>
          </a:p>
        </p:txBody>
      </p:sp>
      <p:sp>
        <p:nvSpPr>
          <p:cNvPr id="3" name="İçerik Yer Tutucusu 2"/>
          <p:cNvSpPr>
            <a:spLocks noGrp="1"/>
          </p:cNvSpPr>
          <p:nvPr>
            <p:ph idx="1"/>
          </p:nvPr>
        </p:nvSpPr>
        <p:spPr>
          <a:xfrm>
            <a:off x="457200" y="1628800"/>
            <a:ext cx="8229600" cy="4525963"/>
          </a:xfrm>
        </p:spPr>
        <p:txBody>
          <a:bodyPr/>
          <a:lstStyle/>
          <a:p>
            <a:r>
              <a:rPr lang="en-US" dirty="0"/>
              <a:t>It is one of the most dealing problems in integer programming. As a result of the increase of this product problem since 1950, it is a problem that is s</a:t>
            </a:r>
            <a:r>
              <a:rPr lang="tr-TR" dirty="0"/>
              <a:t>earched</a:t>
            </a:r>
            <a:r>
              <a:rPr lang="en-US" dirty="0"/>
              <a:t> for solutions with computer technology and the solution processes are tried to be developed.</a:t>
            </a:r>
            <a:endParaRPr lang="tr-TR" dirty="0"/>
          </a:p>
        </p:txBody>
      </p:sp>
    </p:spTree>
    <p:extLst>
      <p:ext uri="{BB962C8B-B14F-4D97-AF65-F5344CB8AC3E}">
        <p14:creationId xmlns:p14="http://schemas.microsoft.com/office/powerpoint/2010/main" val="31050038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err="1"/>
              <a:t>Knapsack</a:t>
            </a:r>
            <a:r>
              <a:rPr lang="tr-TR" dirty="0"/>
              <a:t> in </a:t>
            </a:r>
            <a:r>
              <a:rPr lang="tr-TR" dirty="0" err="1"/>
              <a:t>detail</a:t>
            </a:r>
            <a:endParaRPr lang="tr-TR" dirty="0"/>
          </a:p>
        </p:txBody>
      </p:sp>
      <p:sp>
        <p:nvSpPr>
          <p:cNvPr id="3" name="İçerik Yer Tutucusu 2"/>
          <p:cNvSpPr>
            <a:spLocks noGrp="1"/>
          </p:cNvSpPr>
          <p:nvPr>
            <p:ph idx="1"/>
          </p:nvPr>
        </p:nvSpPr>
        <p:spPr/>
        <p:txBody>
          <a:bodyPr>
            <a:normAutofit fontScale="85000" lnSpcReduction="20000"/>
          </a:bodyPr>
          <a:lstStyle/>
          <a:p>
            <a:r>
              <a:rPr lang="en-US" dirty="0"/>
              <a:t>Knapsack algorithm is an algorithm based on getting the most optimum efficiency from the available data.</a:t>
            </a:r>
            <a:r>
              <a:rPr lang="tr-TR" dirty="0"/>
              <a:t> </a:t>
            </a:r>
          </a:p>
          <a:p>
            <a:endParaRPr lang="tr-TR" dirty="0"/>
          </a:p>
          <a:p>
            <a:r>
              <a:rPr lang="tr-TR" sz="3200" dirty="0">
                <a:solidFill>
                  <a:schemeClr val="accent3">
                    <a:lumMod val="75000"/>
                  </a:schemeClr>
                </a:solidFill>
                <a:latin typeface="Share Tech" panose="020B0604020202020204" charset="0"/>
              </a:rPr>
              <a:t>1-)</a:t>
            </a:r>
            <a:r>
              <a:rPr lang="tr-TR" sz="3200" dirty="0">
                <a:latin typeface="Share Tech" panose="020B0604020202020204" charset="0"/>
              </a:rPr>
              <a:t> 0-1 Knapsack Problem</a:t>
            </a:r>
          </a:p>
          <a:p>
            <a:r>
              <a:rPr lang="tr-TR" sz="3200" dirty="0">
                <a:solidFill>
                  <a:schemeClr val="accent3">
                    <a:lumMod val="75000"/>
                  </a:schemeClr>
                </a:solidFill>
                <a:latin typeface="Share Tech" panose="020B0604020202020204" charset="0"/>
              </a:rPr>
              <a:t>2-)</a:t>
            </a:r>
            <a:r>
              <a:rPr lang="tr-TR" sz="3200" dirty="0">
                <a:latin typeface="Share Tech" panose="020B0604020202020204" charset="0"/>
              </a:rPr>
              <a:t> Fractional Knapsack Problem</a:t>
            </a:r>
          </a:p>
          <a:p>
            <a:r>
              <a:rPr lang="tr-TR" sz="3200" dirty="0">
                <a:solidFill>
                  <a:schemeClr val="accent3">
                    <a:lumMod val="75000"/>
                  </a:schemeClr>
                </a:solidFill>
                <a:latin typeface="Share Tech" panose="020B0604020202020204" charset="0"/>
              </a:rPr>
              <a:t>   a) </a:t>
            </a:r>
            <a:r>
              <a:rPr lang="tr-TR" sz="3200" dirty="0">
                <a:latin typeface="Share Tech" panose="020B0604020202020204" charset="0"/>
              </a:rPr>
              <a:t>Bounded Fractional Knapsack Problem</a:t>
            </a:r>
          </a:p>
          <a:p>
            <a:r>
              <a:rPr lang="tr-TR" sz="3200" dirty="0">
                <a:solidFill>
                  <a:schemeClr val="accent3">
                    <a:lumMod val="75000"/>
                  </a:schemeClr>
                </a:solidFill>
                <a:latin typeface="Share Tech" panose="020B0604020202020204" charset="0"/>
              </a:rPr>
              <a:t>   b) </a:t>
            </a:r>
            <a:r>
              <a:rPr lang="tr-TR" sz="3200" dirty="0">
                <a:latin typeface="Share Tech" panose="020B0604020202020204" charset="0"/>
              </a:rPr>
              <a:t>Unbounded Fractional Knapsack Problem</a:t>
            </a:r>
          </a:p>
          <a:p>
            <a:endParaRPr lang="tr-TR" sz="3200" dirty="0">
              <a:latin typeface="Share Tech" panose="020B0604020202020204" charset="0"/>
            </a:endParaRPr>
          </a:p>
          <a:p>
            <a:r>
              <a:rPr lang="tr-TR" dirty="0"/>
              <a:t>Knapsack problem might be fractional , but we will focus on integer version (0-1 Knapsack Problem) of the problem in this silde.</a:t>
            </a:r>
          </a:p>
        </p:txBody>
      </p:sp>
    </p:spTree>
    <p:extLst>
      <p:ext uri="{BB962C8B-B14F-4D97-AF65-F5344CB8AC3E}">
        <p14:creationId xmlns:p14="http://schemas.microsoft.com/office/powerpoint/2010/main" val="7909081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631776" y="1341744"/>
            <a:ext cx="7869560" cy="5107706"/>
          </a:xfrm>
        </p:spPr>
        <p:txBody>
          <a:bodyPr>
            <a:normAutofit fontScale="92500" lnSpcReduction="10000"/>
          </a:bodyPr>
          <a:lstStyle/>
          <a:p>
            <a:r>
              <a:rPr lang="en-US" dirty="0"/>
              <a:t>To give a simple example, think of a thief who can put a certain weight on his </a:t>
            </a:r>
            <a:r>
              <a:rPr lang="tr-TR" dirty="0"/>
              <a:t>knapsack</a:t>
            </a:r>
            <a:r>
              <a:rPr lang="en-US" dirty="0"/>
              <a:t> (</a:t>
            </a:r>
            <a:r>
              <a:rPr lang="tr-TR" dirty="0"/>
              <a:t>bag</a:t>
            </a:r>
            <a:r>
              <a:rPr lang="en-US" dirty="0"/>
              <a:t>)</a:t>
            </a:r>
            <a:r>
              <a:rPr lang="tr-TR" dirty="0"/>
              <a:t>.</a:t>
            </a:r>
          </a:p>
          <a:p>
            <a:r>
              <a:rPr lang="en-US" dirty="0"/>
              <a:t>At home, </a:t>
            </a:r>
            <a:r>
              <a:rPr lang="tr-TR" dirty="0" err="1"/>
              <a:t>items</a:t>
            </a:r>
            <a:r>
              <a:rPr lang="en-US" dirty="0"/>
              <a:t> have weight and value, the thief should leave the house with </a:t>
            </a:r>
            <a:r>
              <a:rPr lang="tr-TR" dirty="0" err="1"/>
              <a:t>maximum</a:t>
            </a:r>
            <a:r>
              <a:rPr lang="tr-TR" dirty="0"/>
              <a:t> </a:t>
            </a:r>
            <a:r>
              <a:rPr lang="tr-TR" dirty="0" err="1"/>
              <a:t>profit</a:t>
            </a:r>
            <a:r>
              <a:rPr lang="en-US" dirty="0"/>
              <a:t> in the most optimal way and fill his bag accordingly.</a:t>
            </a:r>
            <a:endParaRPr lang="tr-TR" dirty="0"/>
          </a:p>
          <a:p>
            <a:r>
              <a:rPr lang="tr-TR" dirty="0" err="1"/>
              <a:t>We</a:t>
            </a:r>
            <a:r>
              <a:rPr lang="tr-TR" dirty="0"/>
              <a:t> </a:t>
            </a:r>
            <a:r>
              <a:rPr lang="tr-TR" dirty="0" err="1"/>
              <a:t>need</a:t>
            </a:r>
            <a:r>
              <a:rPr lang="tr-TR" dirty="0"/>
              <a:t> 3 </a:t>
            </a:r>
            <a:r>
              <a:rPr lang="tr-TR" dirty="0" err="1"/>
              <a:t>things</a:t>
            </a:r>
            <a:r>
              <a:rPr lang="tr-TR" dirty="0"/>
              <a:t>. Value of </a:t>
            </a:r>
            <a:r>
              <a:rPr lang="tr-TR" dirty="0" err="1"/>
              <a:t>items,weight</a:t>
            </a:r>
            <a:r>
              <a:rPr lang="tr-TR" dirty="0"/>
              <a:t> of </a:t>
            </a:r>
            <a:r>
              <a:rPr lang="tr-TR" dirty="0" err="1"/>
              <a:t>items</a:t>
            </a:r>
            <a:r>
              <a:rPr lang="tr-TR" dirty="0"/>
              <a:t>, </a:t>
            </a:r>
            <a:r>
              <a:rPr lang="tr-TR" dirty="0" err="1"/>
              <a:t>max</a:t>
            </a:r>
            <a:r>
              <a:rPr lang="tr-TR" dirty="0"/>
              <a:t> </a:t>
            </a:r>
            <a:r>
              <a:rPr lang="tr-TR" dirty="0" err="1"/>
              <a:t>weight</a:t>
            </a:r>
            <a:r>
              <a:rPr lang="tr-TR" dirty="0"/>
              <a:t> </a:t>
            </a:r>
            <a:r>
              <a:rPr lang="tr-TR" dirty="0" err="1"/>
              <a:t>that</a:t>
            </a:r>
            <a:r>
              <a:rPr lang="tr-TR" dirty="0"/>
              <a:t> </a:t>
            </a:r>
            <a:r>
              <a:rPr lang="tr-TR" dirty="0" err="1"/>
              <a:t>we</a:t>
            </a:r>
            <a:r>
              <a:rPr lang="tr-TR" dirty="0"/>
              <a:t> can </a:t>
            </a:r>
            <a:r>
              <a:rPr lang="tr-TR" dirty="0" err="1"/>
              <a:t>carry</a:t>
            </a:r>
            <a:r>
              <a:rPr lang="tr-TR" dirty="0"/>
              <a:t>.</a:t>
            </a:r>
          </a:p>
          <a:p>
            <a:r>
              <a:rPr lang="tr-TR" dirty="0" err="1"/>
              <a:t>Our</a:t>
            </a:r>
            <a:r>
              <a:rPr lang="tr-TR" dirty="0"/>
              <a:t> </a:t>
            </a:r>
            <a:r>
              <a:rPr lang="tr-TR" dirty="0" err="1"/>
              <a:t>items</a:t>
            </a:r>
            <a:r>
              <a:rPr lang="tr-TR" dirty="0"/>
              <a:t> </a:t>
            </a:r>
            <a:r>
              <a:rPr lang="tr-TR" dirty="0" err="1"/>
              <a:t>are</a:t>
            </a:r>
            <a:r>
              <a:rPr lang="tr-TR" dirty="0"/>
              <a:t> </a:t>
            </a:r>
            <a:r>
              <a:rPr lang="tr-TR" dirty="0" err="1"/>
              <a:t>integer</a:t>
            </a:r>
            <a:r>
              <a:rPr lang="tr-TR" dirty="0"/>
              <a:t>. </a:t>
            </a:r>
            <a:r>
              <a:rPr lang="tr-TR" dirty="0" err="1"/>
              <a:t>So</a:t>
            </a:r>
            <a:r>
              <a:rPr lang="tr-TR" dirty="0"/>
              <a:t> </a:t>
            </a:r>
            <a:r>
              <a:rPr lang="tr-TR" dirty="0" err="1"/>
              <a:t>we</a:t>
            </a:r>
            <a:r>
              <a:rPr lang="tr-TR" dirty="0"/>
              <a:t> </a:t>
            </a:r>
            <a:r>
              <a:rPr lang="tr-TR" dirty="0" err="1"/>
              <a:t>cant</a:t>
            </a:r>
            <a:r>
              <a:rPr lang="tr-TR" dirty="0"/>
              <a:t> </a:t>
            </a:r>
            <a:r>
              <a:rPr lang="tr-TR" dirty="0" err="1"/>
              <a:t>have</a:t>
            </a:r>
            <a:r>
              <a:rPr lang="tr-TR" dirty="0"/>
              <a:t> </a:t>
            </a:r>
            <a:r>
              <a:rPr lang="tr-TR" dirty="0" err="1"/>
              <a:t>some</a:t>
            </a:r>
            <a:r>
              <a:rPr lang="tr-TR" dirty="0"/>
              <a:t> </a:t>
            </a:r>
            <a:r>
              <a:rPr lang="tr-TR" dirty="0" err="1"/>
              <a:t>portion</a:t>
            </a:r>
            <a:r>
              <a:rPr lang="tr-TR" dirty="0"/>
              <a:t> of </a:t>
            </a:r>
            <a:r>
              <a:rPr lang="tr-TR" dirty="0" err="1"/>
              <a:t>the</a:t>
            </a:r>
            <a:r>
              <a:rPr lang="tr-TR" dirty="0"/>
              <a:t> </a:t>
            </a:r>
            <a:r>
              <a:rPr lang="tr-TR" dirty="0" err="1"/>
              <a:t>items</a:t>
            </a:r>
            <a:r>
              <a:rPr lang="tr-TR" dirty="0"/>
              <a:t>. We will take  or leave the item.</a:t>
            </a:r>
          </a:p>
          <a:p>
            <a:endParaRPr lang="tr-TR" dirty="0"/>
          </a:p>
        </p:txBody>
      </p:sp>
      <p:sp>
        <p:nvSpPr>
          <p:cNvPr id="4" name="Başlık 1">
            <a:extLst>
              <a:ext uri="{FF2B5EF4-FFF2-40B4-BE49-F238E27FC236}">
                <a16:creationId xmlns:a16="http://schemas.microsoft.com/office/drawing/2014/main" xmlns="" id="{B203D378-EFDA-4CE9-9F3C-78B05BFFDE79}"/>
              </a:ext>
            </a:extLst>
          </p:cNvPr>
          <p:cNvSpPr>
            <a:spLocks noGrp="1"/>
          </p:cNvSpPr>
          <p:nvPr>
            <p:ph type="title"/>
          </p:nvPr>
        </p:nvSpPr>
        <p:spPr>
          <a:xfrm>
            <a:off x="451756" y="188640"/>
            <a:ext cx="8229600" cy="1143000"/>
          </a:xfrm>
        </p:spPr>
        <p:txBody>
          <a:bodyPr/>
          <a:lstStyle/>
          <a:p>
            <a:r>
              <a:rPr lang="tr-TR" sz="4400" dirty="0"/>
              <a:t>0-1 Knapsack Problem</a:t>
            </a:r>
            <a:endParaRPr lang="tr-TR" dirty="0"/>
          </a:p>
        </p:txBody>
      </p:sp>
    </p:spTree>
    <p:extLst>
      <p:ext uri="{BB962C8B-B14F-4D97-AF65-F5344CB8AC3E}">
        <p14:creationId xmlns:p14="http://schemas.microsoft.com/office/powerpoint/2010/main" val="15685922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İçerik Yer Tutucusu 3"/>
          <p:cNvGraphicFramePr>
            <a:graphicFrameLocks noGrp="1"/>
          </p:cNvGraphicFramePr>
          <p:nvPr>
            <p:ph idx="1"/>
            <p:extLst>
              <p:ext uri="{D42A27DB-BD31-4B8C-83A1-F6EECF244321}">
                <p14:modId xmlns:p14="http://schemas.microsoft.com/office/powerpoint/2010/main" val="1823782866"/>
              </p:ext>
            </p:extLst>
          </p:nvPr>
        </p:nvGraphicFramePr>
        <p:xfrm>
          <a:off x="446856" y="1700808"/>
          <a:ext cx="8229600" cy="194818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xmlns="" val="20000"/>
                    </a:ext>
                  </a:extLst>
                </a:gridCol>
                <a:gridCol w="2743200">
                  <a:extLst>
                    <a:ext uri="{9D8B030D-6E8A-4147-A177-3AD203B41FA5}">
                      <a16:colId xmlns:a16="http://schemas.microsoft.com/office/drawing/2014/main" xmlns="" val="20001"/>
                    </a:ext>
                  </a:extLst>
                </a:gridCol>
                <a:gridCol w="2743200">
                  <a:extLst>
                    <a:ext uri="{9D8B030D-6E8A-4147-A177-3AD203B41FA5}">
                      <a16:colId xmlns:a16="http://schemas.microsoft.com/office/drawing/2014/main" xmlns="" val="20002"/>
                    </a:ext>
                  </a:extLst>
                </a:gridCol>
              </a:tblGrid>
              <a:tr h="370840">
                <a:tc>
                  <a:txBody>
                    <a:bodyPr/>
                    <a:lstStyle/>
                    <a:p>
                      <a:r>
                        <a:rPr lang="tr-TR" sz="1800" b="1" i="0" kern="1200" dirty="0" err="1">
                          <a:solidFill>
                            <a:schemeClr val="lt1"/>
                          </a:solidFill>
                          <a:effectLst/>
                          <a:latin typeface="+mn-lt"/>
                          <a:ea typeface="+mn-ea"/>
                          <a:cs typeface="+mn-cs"/>
                        </a:rPr>
                        <a:t>Item</a:t>
                      </a:r>
                      <a:endParaRPr lang="tr-TR" dirty="0"/>
                    </a:p>
                  </a:txBody>
                  <a:tcPr/>
                </a:tc>
                <a:tc>
                  <a:txBody>
                    <a:bodyPr/>
                    <a:lstStyle/>
                    <a:p>
                      <a:r>
                        <a:rPr lang="tr-TR" sz="1800" b="1" i="0" kern="1200" dirty="0" err="1">
                          <a:solidFill>
                            <a:schemeClr val="lt1"/>
                          </a:solidFill>
                          <a:effectLst/>
                          <a:latin typeface="+mn-lt"/>
                          <a:ea typeface="+mn-ea"/>
                          <a:cs typeface="+mn-cs"/>
                        </a:rPr>
                        <a:t>Weight</a:t>
                      </a:r>
                      <a:endParaRPr lang="tr-TR" dirty="0"/>
                    </a:p>
                  </a:txBody>
                  <a:tcPr/>
                </a:tc>
                <a:tc>
                  <a:txBody>
                    <a:bodyPr/>
                    <a:lstStyle/>
                    <a:p>
                      <a:r>
                        <a:rPr lang="tr-TR" b="1" dirty="0">
                          <a:effectLst/>
                        </a:rPr>
                        <a:t>Value</a:t>
                      </a:r>
                      <a:endParaRPr lang="tr-TR" dirty="0">
                        <a:effectLst/>
                      </a:endParaRPr>
                    </a:p>
                  </a:txBody>
                  <a:tcPr marL="142875" marR="142875" marT="95250" marB="95250" anchor="ctr"/>
                </a:tc>
                <a:extLst>
                  <a:ext uri="{0D108BD9-81ED-4DB2-BD59-A6C34878D82A}">
                    <a16:rowId xmlns:a16="http://schemas.microsoft.com/office/drawing/2014/main" xmlns="" val="10000"/>
                  </a:ext>
                </a:extLst>
              </a:tr>
              <a:tr h="370840">
                <a:tc>
                  <a:txBody>
                    <a:bodyPr/>
                    <a:lstStyle/>
                    <a:p>
                      <a:r>
                        <a:rPr lang="tr-TR" dirty="0"/>
                        <a:t>1</a:t>
                      </a:r>
                    </a:p>
                  </a:txBody>
                  <a:tcPr/>
                </a:tc>
                <a:tc>
                  <a:txBody>
                    <a:bodyPr/>
                    <a:lstStyle/>
                    <a:p>
                      <a:r>
                        <a:rPr lang="tr-TR" dirty="0"/>
                        <a:t>4 kg</a:t>
                      </a:r>
                    </a:p>
                  </a:txBody>
                  <a:tcPr/>
                </a:tc>
                <a:tc>
                  <a:txBody>
                    <a:bodyPr/>
                    <a:lstStyle/>
                    <a:p>
                      <a:r>
                        <a:rPr lang="tr-TR" dirty="0"/>
                        <a:t>2 </a:t>
                      </a:r>
                      <a:r>
                        <a:rPr lang="tr-TR" dirty="0" err="1"/>
                        <a:t>tl</a:t>
                      </a:r>
                      <a:endParaRPr lang="tr-TR" dirty="0"/>
                    </a:p>
                  </a:txBody>
                  <a:tcPr/>
                </a:tc>
                <a:extLst>
                  <a:ext uri="{0D108BD9-81ED-4DB2-BD59-A6C34878D82A}">
                    <a16:rowId xmlns:a16="http://schemas.microsoft.com/office/drawing/2014/main" xmlns="" val="10001"/>
                  </a:ext>
                </a:extLst>
              </a:tr>
              <a:tr h="370840">
                <a:tc>
                  <a:txBody>
                    <a:bodyPr/>
                    <a:lstStyle/>
                    <a:p>
                      <a:r>
                        <a:rPr lang="tr-TR" dirty="0"/>
                        <a:t>2</a:t>
                      </a:r>
                    </a:p>
                  </a:txBody>
                  <a:tcPr/>
                </a:tc>
                <a:tc>
                  <a:txBody>
                    <a:bodyPr/>
                    <a:lstStyle/>
                    <a:p>
                      <a:r>
                        <a:rPr lang="tr-TR" dirty="0"/>
                        <a:t>2 kg</a:t>
                      </a:r>
                    </a:p>
                  </a:txBody>
                  <a:tcPr/>
                </a:tc>
                <a:tc>
                  <a:txBody>
                    <a:bodyPr/>
                    <a:lstStyle/>
                    <a:p>
                      <a:r>
                        <a:rPr lang="tr-TR" dirty="0"/>
                        <a:t>3 </a:t>
                      </a:r>
                      <a:r>
                        <a:rPr lang="tr-TR" dirty="0" err="1"/>
                        <a:t>tl</a:t>
                      </a:r>
                      <a:endParaRPr lang="tr-TR" dirty="0"/>
                    </a:p>
                  </a:txBody>
                  <a:tcPr/>
                </a:tc>
                <a:extLst>
                  <a:ext uri="{0D108BD9-81ED-4DB2-BD59-A6C34878D82A}">
                    <a16:rowId xmlns:a16="http://schemas.microsoft.com/office/drawing/2014/main" xmlns="" val="10002"/>
                  </a:ext>
                </a:extLst>
              </a:tr>
              <a:tr h="370840">
                <a:tc>
                  <a:txBody>
                    <a:bodyPr/>
                    <a:lstStyle/>
                    <a:p>
                      <a:r>
                        <a:rPr lang="tr-TR" dirty="0"/>
                        <a:t>3</a:t>
                      </a:r>
                    </a:p>
                  </a:txBody>
                  <a:tcPr/>
                </a:tc>
                <a:tc>
                  <a:txBody>
                    <a:bodyPr/>
                    <a:lstStyle/>
                    <a:p>
                      <a:r>
                        <a:rPr lang="tr-TR" dirty="0"/>
                        <a:t>3 kg</a:t>
                      </a:r>
                    </a:p>
                  </a:txBody>
                  <a:tcPr/>
                </a:tc>
                <a:tc>
                  <a:txBody>
                    <a:bodyPr/>
                    <a:lstStyle/>
                    <a:p>
                      <a:r>
                        <a:rPr lang="tr-TR" dirty="0"/>
                        <a:t>6 </a:t>
                      </a:r>
                      <a:r>
                        <a:rPr lang="tr-TR" dirty="0" err="1"/>
                        <a:t>tl</a:t>
                      </a:r>
                      <a:endParaRPr lang="tr-TR" dirty="0"/>
                    </a:p>
                  </a:txBody>
                  <a:tcPr/>
                </a:tc>
                <a:extLst>
                  <a:ext uri="{0D108BD9-81ED-4DB2-BD59-A6C34878D82A}">
                    <a16:rowId xmlns:a16="http://schemas.microsoft.com/office/drawing/2014/main" xmlns="" val="10003"/>
                  </a:ext>
                </a:extLst>
              </a:tr>
              <a:tr h="370840">
                <a:tc>
                  <a:txBody>
                    <a:bodyPr/>
                    <a:lstStyle/>
                    <a:p>
                      <a:r>
                        <a:rPr lang="tr-TR" dirty="0"/>
                        <a:t>4</a:t>
                      </a:r>
                    </a:p>
                  </a:txBody>
                  <a:tcPr/>
                </a:tc>
                <a:tc>
                  <a:txBody>
                    <a:bodyPr/>
                    <a:lstStyle/>
                    <a:p>
                      <a:r>
                        <a:rPr lang="tr-TR" dirty="0"/>
                        <a:t>2 kg</a:t>
                      </a:r>
                    </a:p>
                  </a:txBody>
                  <a:tcPr/>
                </a:tc>
                <a:tc>
                  <a:txBody>
                    <a:bodyPr/>
                    <a:lstStyle/>
                    <a:p>
                      <a:r>
                        <a:rPr lang="tr-TR" dirty="0"/>
                        <a:t>2 </a:t>
                      </a:r>
                      <a:r>
                        <a:rPr lang="tr-TR" dirty="0" err="1"/>
                        <a:t>tl</a:t>
                      </a:r>
                      <a:endParaRPr lang="tr-TR" dirty="0"/>
                    </a:p>
                  </a:txBody>
                  <a:tcPr/>
                </a:tc>
                <a:extLst>
                  <a:ext uri="{0D108BD9-81ED-4DB2-BD59-A6C34878D82A}">
                    <a16:rowId xmlns:a16="http://schemas.microsoft.com/office/drawing/2014/main" xmlns="" val="10004"/>
                  </a:ext>
                </a:extLst>
              </a:tr>
            </a:tbl>
          </a:graphicData>
        </a:graphic>
      </p:graphicFrame>
      <p:sp>
        <p:nvSpPr>
          <p:cNvPr id="7" name="Alt Başlık 2"/>
          <p:cNvSpPr txBox="1">
            <a:spLocks/>
          </p:cNvSpPr>
          <p:nvPr/>
        </p:nvSpPr>
        <p:spPr>
          <a:xfrm>
            <a:off x="539552" y="3881887"/>
            <a:ext cx="8136904" cy="2567136"/>
          </a:xfrm>
          <a:prstGeom prst="rect">
            <a:avLst/>
          </a:prstGeom>
        </p:spPr>
        <p:txBody>
          <a:bodyPr vert="horz" lIns="91440" tIns="45720" rIns="91440" bIns="45720" rtlCol="0">
            <a:normAutofit fontScale="625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The table above includes the weights of the items in the house and their values. Let's say the Thief's backpack has a capacity of at most 6 Kg. </a:t>
            </a:r>
            <a:endParaRPr lang="tr-TR" dirty="0"/>
          </a:p>
          <a:p>
            <a:r>
              <a:rPr lang="en-US" dirty="0"/>
              <a:t>First we need to calculate the unit price of each item because we will put the items in the bag from the larger unit price to the smaller unit, so that the process is completed in the most efficient way. </a:t>
            </a:r>
            <a:endParaRPr lang="tr-TR" dirty="0"/>
          </a:p>
          <a:p>
            <a:r>
              <a:rPr lang="en-US" dirty="0"/>
              <a:t>We will find the unit prices by dividing the prices by the</a:t>
            </a:r>
            <a:r>
              <a:rPr lang="tr-TR" dirty="0"/>
              <a:t>ir</a:t>
            </a:r>
            <a:r>
              <a:rPr lang="en-US" dirty="0"/>
              <a:t> weights. Unit prices are as follows.</a:t>
            </a:r>
            <a:endParaRPr lang="tr-TR" dirty="0"/>
          </a:p>
        </p:txBody>
      </p:sp>
      <p:sp>
        <p:nvSpPr>
          <p:cNvPr id="5" name="Başlık 1">
            <a:extLst>
              <a:ext uri="{FF2B5EF4-FFF2-40B4-BE49-F238E27FC236}">
                <a16:creationId xmlns:a16="http://schemas.microsoft.com/office/drawing/2014/main" xmlns="" id="{B203D378-EFDA-4CE9-9F3C-78B05BFFDE79}"/>
              </a:ext>
            </a:extLst>
          </p:cNvPr>
          <p:cNvSpPr>
            <a:spLocks noGrp="1"/>
          </p:cNvSpPr>
          <p:nvPr>
            <p:ph type="title"/>
          </p:nvPr>
        </p:nvSpPr>
        <p:spPr>
          <a:xfrm>
            <a:off x="451756" y="188640"/>
            <a:ext cx="8229600" cy="1143000"/>
          </a:xfrm>
        </p:spPr>
        <p:txBody>
          <a:bodyPr/>
          <a:lstStyle/>
          <a:p>
            <a:r>
              <a:rPr lang="tr-TR" sz="4400" dirty="0"/>
              <a:t>0-1 </a:t>
            </a:r>
            <a:r>
              <a:rPr lang="tr-TR" sz="4400" dirty="0" err="1"/>
              <a:t>Knapsack</a:t>
            </a:r>
            <a:r>
              <a:rPr lang="tr-TR" sz="4400" dirty="0"/>
              <a:t> </a:t>
            </a:r>
            <a:r>
              <a:rPr lang="tr-TR" sz="4400" dirty="0" smtClean="0"/>
              <a:t>Problem(2)</a:t>
            </a:r>
            <a:endParaRPr lang="tr-TR" dirty="0"/>
          </a:p>
        </p:txBody>
      </p:sp>
    </p:spTree>
    <p:extLst>
      <p:ext uri="{BB962C8B-B14F-4D97-AF65-F5344CB8AC3E}">
        <p14:creationId xmlns:p14="http://schemas.microsoft.com/office/powerpoint/2010/main" val="40934020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İçerik Yer Tutucusu 3"/>
          <p:cNvGraphicFramePr>
            <a:graphicFrameLocks noGrp="1"/>
          </p:cNvGraphicFramePr>
          <p:nvPr>
            <p:ph idx="1"/>
            <p:extLst>
              <p:ext uri="{D42A27DB-BD31-4B8C-83A1-F6EECF244321}">
                <p14:modId xmlns:p14="http://schemas.microsoft.com/office/powerpoint/2010/main" val="574042860"/>
              </p:ext>
            </p:extLst>
          </p:nvPr>
        </p:nvGraphicFramePr>
        <p:xfrm>
          <a:off x="395536" y="1628800"/>
          <a:ext cx="8435280" cy="1854200"/>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xmlns="" val="20000"/>
                    </a:ext>
                  </a:extLst>
                </a:gridCol>
                <a:gridCol w="2057400">
                  <a:extLst>
                    <a:ext uri="{9D8B030D-6E8A-4147-A177-3AD203B41FA5}">
                      <a16:colId xmlns:a16="http://schemas.microsoft.com/office/drawing/2014/main" xmlns="" val="20001"/>
                    </a:ext>
                  </a:extLst>
                </a:gridCol>
                <a:gridCol w="2057400">
                  <a:extLst>
                    <a:ext uri="{9D8B030D-6E8A-4147-A177-3AD203B41FA5}">
                      <a16:colId xmlns:a16="http://schemas.microsoft.com/office/drawing/2014/main" xmlns="" val="20002"/>
                    </a:ext>
                  </a:extLst>
                </a:gridCol>
                <a:gridCol w="2263080">
                  <a:extLst>
                    <a:ext uri="{9D8B030D-6E8A-4147-A177-3AD203B41FA5}">
                      <a16:colId xmlns:a16="http://schemas.microsoft.com/office/drawing/2014/main" xmlns="" val="20003"/>
                    </a:ext>
                  </a:extLst>
                </a:gridCol>
              </a:tblGrid>
              <a:tr h="370840">
                <a:tc>
                  <a:txBody>
                    <a:bodyPr/>
                    <a:lstStyle/>
                    <a:p>
                      <a:r>
                        <a:rPr lang="tr-TR" dirty="0" err="1"/>
                        <a:t>Item</a:t>
                      </a:r>
                      <a:endParaRPr lang="tr-TR" dirty="0"/>
                    </a:p>
                  </a:txBody>
                  <a:tcPr/>
                </a:tc>
                <a:tc>
                  <a:txBody>
                    <a:bodyPr/>
                    <a:lstStyle/>
                    <a:p>
                      <a:r>
                        <a:rPr lang="tr-TR" dirty="0" err="1"/>
                        <a:t>Weight</a:t>
                      </a:r>
                      <a:endParaRPr lang="tr-TR" dirty="0"/>
                    </a:p>
                  </a:txBody>
                  <a:tcPr/>
                </a:tc>
                <a:tc>
                  <a:txBody>
                    <a:bodyPr/>
                    <a:lstStyle/>
                    <a:p>
                      <a:r>
                        <a:rPr lang="tr-TR" dirty="0"/>
                        <a:t>Value</a:t>
                      </a:r>
                    </a:p>
                  </a:txBody>
                  <a:tcPr/>
                </a:tc>
                <a:tc>
                  <a:txBody>
                    <a:bodyPr/>
                    <a:lstStyle/>
                    <a:p>
                      <a:r>
                        <a:rPr lang="tr-TR" dirty="0"/>
                        <a:t>Value </a:t>
                      </a:r>
                      <a:r>
                        <a:rPr lang="tr-TR" dirty="0" err="1"/>
                        <a:t>per</a:t>
                      </a:r>
                      <a:r>
                        <a:rPr lang="tr-TR" dirty="0"/>
                        <a:t> </a:t>
                      </a:r>
                      <a:r>
                        <a:rPr lang="tr-TR" dirty="0" err="1"/>
                        <a:t>unit</a:t>
                      </a:r>
                      <a:r>
                        <a:rPr lang="tr-TR" baseline="0" dirty="0"/>
                        <a:t> </a:t>
                      </a:r>
                      <a:r>
                        <a:rPr lang="tr-TR" baseline="0" dirty="0" err="1"/>
                        <a:t>weight</a:t>
                      </a:r>
                      <a:endParaRPr lang="tr-TR" dirty="0"/>
                    </a:p>
                  </a:txBody>
                  <a:tcPr/>
                </a:tc>
                <a:extLst>
                  <a:ext uri="{0D108BD9-81ED-4DB2-BD59-A6C34878D82A}">
                    <a16:rowId xmlns:a16="http://schemas.microsoft.com/office/drawing/2014/main" xmlns="" val="10000"/>
                  </a:ext>
                </a:extLst>
              </a:tr>
              <a:tr h="370840">
                <a:tc>
                  <a:txBody>
                    <a:bodyPr/>
                    <a:lstStyle/>
                    <a:p>
                      <a:r>
                        <a:rPr lang="tr-TR" dirty="0"/>
                        <a:t>1</a:t>
                      </a:r>
                    </a:p>
                  </a:txBody>
                  <a:tcPr/>
                </a:tc>
                <a:tc>
                  <a:txBody>
                    <a:bodyPr/>
                    <a:lstStyle/>
                    <a:p>
                      <a:r>
                        <a:rPr lang="tr-TR" dirty="0"/>
                        <a:t>4 kg</a:t>
                      </a:r>
                    </a:p>
                  </a:txBody>
                  <a:tcPr/>
                </a:tc>
                <a:tc>
                  <a:txBody>
                    <a:bodyPr/>
                    <a:lstStyle/>
                    <a:p>
                      <a:r>
                        <a:rPr lang="tr-TR" dirty="0"/>
                        <a:t>2 </a:t>
                      </a:r>
                      <a:r>
                        <a:rPr lang="tr-TR" dirty="0" err="1"/>
                        <a:t>tl</a:t>
                      </a:r>
                      <a:endParaRPr lang="tr-TR" dirty="0"/>
                    </a:p>
                  </a:txBody>
                  <a:tcPr/>
                </a:tc>
                <a:tc>
                  <a:txBody>
                    <a:bodyPr/>
                    <a:lstStyle/>
                    <a:p>
                      <a:r>
                        <a:rPr lang="tr-TR" dirty="0"/>
                        <a:t>0,5 </a:t>
                      </a:r>
                      <a:r>
                        <a:rPr lang="tr-TR" dirty="0" err="1"/>
                        <a:t>tl</a:t>
                      </a:r>
                      <a:endParaRPr lang="tr-TR" dirty="0"/>
                    </a:p>
                  </a:txBody>
                  <a:tcPr/>
                </a:tc>
                <a:extLst>
                  <a:ext uri="{0D108BD9-81ED-4DB2-BD59-A6C34878D82A}">
                    <a16:rowId xmlns:a16="http://schemas.microsoft.com/office/drawing/2014/main" xmlns="" val="10001"/>
                  </a:ext>
                </a:extLst>
              </a:tr>
              <a:tr h="370840">
                <a:tc>
                  <a:txBody>
                    <a:bodyPr/>
                    <a:lstStyle/>
                    <a:p>
                      <a:r>
                        <a:rPr lang="tr-TR" dirty="0"/>
                        <a:t>2</a:t>
                      </a:r>
                    </a:p>
                  </a:txBody>
                  <a:tcPr/>
                </a:tc>
                <a:tc>
                  <a:txBody>
                    <a:bodyPr/>
                    <a:lstStyle/>
                    <a:p>
                      <a:r>
                        <a:rPr lang="tr-TR" dirty="0"/>
                        <a:t>2 kg</a:t>
                      </a:r>
                    </a:p>
                  </a:txBody>
                  <a:tcPr/>
                </a:tc>
                <a:tc>
                  <a:txBody>
                    <a:bodyPr/>
                    <a:lstStyle/>
                    <a:p>
                      <a:r>
                        <a:rPr lang="tr-TR" dirty="0"/>
                        <a:t>3 </a:t>
                      </a:r>
                      <a:r>
                        <a:rPr lang="tr-TR" dirty="0" err="1"/>
                        <a:t>tl</a:t>
                      </a:r>
                      <a:endParaRPr lang="tr-TR" dirty="0"/>
                    </a:p>
                  </a:txBody>
                  <a:tcPr/>
                </a:tc>
                <a:tc>
                  <a:txBody>
                    <a:bodyPr/>
                    <a:lstStyle/>
                    <a:p>
                      <a:r>
                        <a:rPr lang="tr-TR" dirty="0"/>
                        <a:t>1,5 </a:t>
                      </a:r>
                      <a:r>
                        <a:rPr lang="tr-TR" dirty="0" err="1"/>
                        <a:t>tl</a:t>
                      </a:r>
                      <a:endParaRPr lang="tr-TR" dirty="0"/>
                    </a:p>
                  </a:txBody>
                  <a:tcPr/>
                </a:tc>
                <a:extLst>
                  <a:ext uri="{0D108BD9-81ED-4DB2-BD59-A6C34878D82A}">
                    <a16:rowId xmlns:a16="http://schemas.microsoft.com/office/drawing/2014/main" xmlns="" val="10002"/>
                  </a:ext>
                </a:extLst>
              </a:tr>
              <a:tr h="370840">
                <a:tc>
                  <a:txBody>
                    <a:bodyPr/>
                    <a:lstStyle/>
                    <a:p>
                      <a:r>
                        <a:rPr lang="tr-TR" dirty="0"/>
                        <a:t>3</a:t>
                      </a:r>
                    </a:p>
                  </a:txBody>
                  <a:tcPr/>
                </a:tc>
                <a:tc>
                  <a:txBody>
                    <a:bodyPr/>
                    <a:lstStyle/>
                    <a:p>
                      <a:r>
                        <a:rPr lang="tr-TR" dirty="0"/>
                        <a:t>3 kg</a:t>
                      </a:r>
                    </a:p>
                  </a:txBody>
                  <a:tcPr/>
                </a:tc>
                <a:tc>
                  <a:txBody>
                    <a:bodyPr/>
                    <a:lstStyle/>
                    <a:p>
                      <a:r>
                        <a:rPr lang="tr-TR" dirty="0"/>
                        <a:t>6 </a:t>
                      </a:r>
                      <a:r>
                        <a:rPr lang="tr-TR" dirty="0" err="1"/>
                        <a:t>tl</a:t>
                      </a:r>
                      <a:endParaRPr lang="tr-TR" dirty="0"/>
                    </a:p>
                  </a:txBody>
                  <a:tcPr/>
                </a:tc>
                <a:tc>
                  <a:txBody>
                    <a:bodyPr/>
                    <a:lstStyle/>
                    <a:p>
                      <a:r>
                        <a:rPr lang="tr-TR" dirty="0"/>
                        <a:t>2 </a:t>
                      </a:r>
                      <a:r>
                        <a:rPr lang="tr-TR" dirty="0" err="1"/>
                        <a:t>tl</a:t>
                      </a:r>
                      <a:endParaRPr lang="tr-TR" dirty="0"/>
                    </a:p>
                  </a:txBody>
                  <a:tcPr/>
                </a:tc>
                <a:extLst>
                  <a:ext uri="{0D108BD9-81ED-4DB2-BD59-A6C34878D82A}">
                    <a16:rowId xmlns:a16="http://schemas.microsoft.com/office/drawing/2014/main" xmlns="" val="10003"/>
                  </a:ext>
                </a:extLst>
              </a:tr>
              <a:tr h="370840">
                <a:tc>
                  <a:txBody>
                    <a:bodyPr/>
                    <a:lstStyle/>
                    <a:p>
                      <a:r>
                        <a:rPr lang="tr-TR" dirty="0"/>
                        <a:t>4</a:t>
                      </a:r>
                    </a:p>
                  </a:txBody>
                  <a:tcPr/>
                </a:tc>
                <a:tc>
                  <a:txBody>
                    <a:bodyPr/>
                    <a:lstStyle/>
                    <a:p>
                      <a:r>
                        <a:rPr lang="tr-TR" dirty="0"/>
                        <a:t>2 kg</a:t>
                      </a:r>
                    </a:p>
                  </a:txBody>
                  <a:tcPr/>
                </a:tc>
                <a:tc>
                  <a:txBody>
                    <a:bodyPr/>
                    <a:lstStyle/>
                    <a:p>
                      <a:r>
                        <a:rPr lang="tr-TR" dirty="0"/>
                        <a:t>2 </a:t>
                      </a:r>
                      <a:r>
                        <a:rPr lang="tr-TR" dirty="0" err="1"/>
                        <a:t>tl</a:t>
                      </a:r>
                      <a:endParaRPr lang="tr-TR" dirty="0"/>
                    </a:p>
                  </a:txBody>
                  <a:tcPr/>
                </a:tc>
                <a:tc>
                  <a:txBody>
                    <a:bodyPr/>
                    <a:lstStyle/>
                    <a:p>
                      <a:r>
                        <a:rPr lang="tr-TR" dirty="0"/>
                        <a:t>1 </a:t>
                      </a:r>
                      <a:r>
                        <a:rPr lang="tr-TR" dirty="0" err="1"/>
                        <a:t>tl</a:t>
                      </a:r>
                      <a:endParaRPr lang="tr-TR" dirty="0"/>
                    </a:p>
                  </a:txBody>
                  <a:tcPr/>
                </a:tc>
                <a:extLst>
                  <a:ext uri="{0D108BD9-81ED-4DB2-BD59-A6C34878D82A}">
                    <a16:rowId xmlns:a16="http://schemas.microsoft.com/office/drawing/2014/main" xmlns="" val="10004"/>
                  </a:ext>
                </a:extLst>
              </a:tr>
            </a:tbl>
          </a:graphicData>
        </a:graphic>
      </p:graphicFrame>
      <p:sp>
        <p:nvSpPr>
          <p:cNvPr id="5" name="Alt Başlık 2"/>
          <p:cNvSpPr txBox="1">
            <a:spLocks/>
          </p:cNvSpPr>
          <p:nvPr/>
        </p:nvSpPr>
        <p:spPr>
          <a:xfrm>
            <a:off x="395536" y="3861048"/>
            <a:ext cx="8136904" cy="2567136"/>
          </a:xfrm>
          <a:prstGeom prst="rect">
            <a:avLst/>
          </a:prstGeom>
        </p:spPr>
        <p:txBody>
          <a:bodyPr vert="horz" lIns="91440" tIns="45720" rIns="91440" bIns="45720" rtlCol="0">
            <a:normAutofit fontScale="85000" lnSpcReduction="1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tr-TR" dirty="0" err="1"/>
              <a:t>So</a:t>
            </a:r>
            <a:r>
              <a:rPr lang="tr-TR" dirty="0"/>
              <a:t> </a:t>
            </a:r>
            <a:r>
              <a:rPr lang="tr-TR" dirty="0" err="1"/>
              <a:t>we</a:t>
            </a:r>
            <a:r>
              <a:rPr lang="tr-TR" dirty="0"/>
              <a:t> </a:t>
            </a:r>
            <a:r>
              <a:rPr lang="tr-TR" dirty="0" err="1"/>
              <a:t>choose</a:t>
            </a:r>
            <a:r>
              <a:rPr lang="tr-TR" dirty="0"/>
              <a:t> </a:t>
            </a:r>
            <a:r>
              <a:rPr lang="tr-TR" dirty="0" err="1"/>
              <a:t>the</a:t>
            </a:r>
            <a:r>
              <a:rPr lang="tr-TR" dirty="0"/>
              <a:t> </a:t>
            </a:r>
            <a:r>
              <a:rPr lang="tr-TR" dirty="0" err="1"/>
              <a:t>one</a:t>
            </a:r>
            <a:r>
              <a:rPr lang="tr-TR" dirty="0"/>
              <a:t> </a:t>
            </a:r>
            <a:r>
              <a:rPr lang="tr-TR" dirty="0" err="1"/>
              <a:t>that</a:t>
            </a:r>
            <a:r>
              <a:rPr lang="tr-TR" dirty="0"/>
              <a:t> has </a:t>
            </a:r>
            <a:r>
              <a:rPr lang="tr-TR" dirty="0" err="1"/>
              <a:t>the</a:t>
            </a:r>
            <a:r>
              <a:rPr lang="tr-TR" dirty="0"/>
              <a:t> </a:t>
            </a:r>
            <a:r>
              <a:rPr lang="tr-TR" dirty="0" err="1"/>
              <a:t>highest</a:t>
            </a:r>
            <a:r>
              <a:rPr lang="tr-TR" dirty="0"/>
              <a:t> </a:t>
            </a:r>
            <a:r>
              <a:rPr lang="tr-TR" dirty="0" err="1"/>
              <a:t>value</a:t>
            </a:r>
            <a:r>
              <a:rPr lang="tr-TR" dirty="0"/>
              <a:t> </a:t>
            </a:r>
            <a:r>
              <a:rPr lang="tr-TR" dirty="0" err="1"/>
              <a:t>per</a:t>
            </a:r>
            <a:r>
              <a:rPr lang="tr-TR" dirty="0"/>
              <a:t> kg</a:t>
            </a:r>
          </a:p>
          <a:p>
            <a:r>
              <a:rPr lang="tr-TR" dirty="0" err="1"/>
              <a:t>Priority</a:t>
            </a:r>
            <a:r>
              <a:rPr lang="tr-TR" dirty="0"/>
              <a:t> </a:t>
            </a:r>
            <a:r>
              <a:rPr lang="tr-TR" dirty="0" err="1"/>
              <a:t>by</a:t>
            </a:r>
            <a:r>
              <a:rPr lang="tr-TR" dirty="0"/>
              <a:t> </a:t>
            </a:r>
            <a:r>
              <a:rPr lang="tr-TR" dirty="0" err="1"/>
              <a:t>value</a:t>
            </a:r>
            <a:r>
              <a:rPr lang="tr-TR" dirty="0"/>
              <a:t> </a:t>
            </a:r>
            <a:r>
              <a:rPr lang="tr-TR" dirty="0" err="1"/>
              <a:t>per</a:t>
            </a:r>
            <a:r>
              <a:rPr lang="tr-TR" dirty="0"/>
              <a:t> kg : 3.item&gt;2.item&gt;4.item&gt;1.item</a:t>
            </a:r>
          </a:p>
          <a:p>
            <a:r>
              <a:rPr lang="tr-TR" dirty="0" err="1"/>
              <a:t>After</a:t>
            </a:r>
            <a:r>
              <a:rPr lang="tr-TR" dirty="0"/>
              <a:t> </a:t>
            </a:r>
            <a:r>
              <a:rPr lang="tr-TR" dirty="0" err="1"/>
              <a:t>taking</a:t>
            </a:r>
            <a:r>
              <a:rPr lang="tr-TR" dirty="0"/>
              <a:t> 3. </a:t>
            </a:r>
            <a:r>
              <a:rPr lang="tr-TR" dirty="0" err="1"/>
              <a:t>and</a:t>
            </a:r>
            <a:r>
              <a:rPr lang="tr-TR" dirty="0"/>
              <a:t> 2. </a:t>
            </a:r>
            <a:r>
              <a:rPr lang="tr-TR" dirty="0" err="1"/>
              <a:t>items</a:t>
            </a:r>
            <a:r>
              <a:rPr lang="tr-TR" dirty="0"/>
              <a:t>, in </a:t>
            </a:r>
            <a:r>
              <a:rPr lang="tr-TR" dirty="0" err="1"/>
              <a:t>our</a:t>
            </a:r>
            <a:r>
              <a:rPr lang="tr-TR" dirty="0"/>
              <a:t> </a:t>
            </a:r>
            <a:r>
              <a:rPr lang="tr-TR" dirty="0" err="1"/>
              <a:t>knapsack</a:t>
            </a:r>
            <a:r>
              <a:rPr lang="tr-TR" dirty="0"/>
              <a:t> </a:t>
            </a:r>
            <a:r>
              <a:rPr lang="tr-TR" dirty="0" err="1"/>
              <a:t>only</a:t>
            </a:r>
            <a:r>
              <a:rPr lang="tr-TR" dirty="0"/>
              <a:t> </a:t>
            </a:r>
            <a:r>
              <a:rPr lang="tr-TR" dirty="0" err="1"/>
              <a:t>remained</a:t>
            </a:r>
            <a:r>
              <a:rPr lang="tr-TR" dirty="0"/>
              <a:t> 1 kg </a:t>
            </a:r>
            <a:r>
              <a:rPr lang="tr-TR" dirty="0" err="1"/>
              <a:t>empty</a:t>
            </a:r>
            <a:r>
              <a:rPr lang="tr-TR" dirty="0"/>
              <a:t> </a:t>
            </a:r>
            <a:r>
              <a:rPr lang="tr-TR" dirty="0" err="1"/>
              <a:t>space</a:t>
            </a:r>
            <a:r>
              <a:rPr lang="tr-TR" dirty="0"/>
              <a:t> but </a:t>
            </a:r>
            <a:r>
              <a:rPr lang="tr-TR" dirty="0" err="1"/>
              <a:t>there</a:t>
            </a:r>
            <a:r>
              <a:rPr lang="tr-TR" dirty="0"/>
              <a:t> is </a:t>
            </a:r>
            <a:r>
              <a:rPr lang="tr-TR" dirty="0" err="1"/>
              <a:t>no</a:t>
            </a:r>
            <a:r>
              <a:rPr lang="tr-TR" dirty="0"/>
              <a:t> </a:t>
            </a:r>
            <a:r>
              <a:rPr lang="tr-TR" dirty="0" err="1"/>
              <a:t>item</a:t>
            </a:r>
            <a:r>
              <a:rPr lang="tr-TR" dirty="0"/>
              <a:t> </a:t>
            </a:r>
            <a:r>
              <a:rPr lang="tr-TR" dirty="0" err="1"/>
              <a:t>with</a:t>
            </a:r>
            <a:r>
              <a:rPr lang="tr-TR" dirty="0"/>
              <a:t> 1 kg. </a:t>
            </a:r>
            <a:r>
              <a:rPr lang="tr-TR" dirty="0" err="1"/>
              <a:t>So</a:t>
            </a:r>
            <a:r>
              <a:rPr lang="tr-TR" dirty="0"/>
              <a:t> </a:t>
            </a:r>
            <a:r>
              <a:rPr lang="tr-TR" dirty="0" err="1"/>
              <a:t>we</a:t>
            </a:r>
            <a:r>
              <a:rPr lang="tr-TR" dirty="0"/>
              <a:t> </a:t>
            </a:r>
            <a:r>
              <a:rPr lang="tr-TR" dirty="0" err="1"/>
              <a:t>end</a:t>
            </a:r>
            <a:r>
              <a:rPr lang="tr-TR" dirty="0"/>
              <a:t> </a:t>
            </a:r>
            <a:r>
              <a:rPr lang="tr-TR" dirty="0" err="1"/>
              <a:t>the</a:t>
            </a:r>
            <a:r>
              <a:rPr lang="tr-TR" dirty="0"/>
              <a:t> </a:t>
            </a:r>
            <a:r>
              <a:rPr lang="tr-TR" dirty="0" err="1"/>
              <a:t>process</a:t>
            </a:r>
            <a:r>
              <a:rPr lang="tr-TR" dirty="0"/>
              <a:t>.</a:t>
            </a:r>
          </a:p>
        </p:txBody>
      </p:sp>
      <p:sp>
        <p:nvSpPr>
          <p:cNvPr id="6" name="Başlık 1">
            <a:extLst>
              <a:ext uri="{FF2B5EF4-FFF2-40B4-BE49-F238E27FC236}">
                <a16:creationId xmlns:a16="http://schemas.microsoft.com/office/drawing/2014/main" xmlns="" id="{B203D378-EFDA-4CE9-9F3C-78B05BFFDE79}"/>
              </a:ext>
            </a:extLst>
          </p:cNvPr>
          <p:cNvSpPr>
            <a:spLocks noGrp="1"/>
          </p:cNvSpPr>
          <p:nvPr>
            <p:ph type="title"/>
          </p:nvPr>
        </p:nvSpPr>
        <p:spPr>
          <a:xfrm>
            <a:off x="451756" y="188640"/>
            <a:ext cx="8229600" cy="1143000"/>
          </a:xfrm>
        </p:spPr>
        <p:txBody>
          <a:bodyPr/>
          <a:lstStyle/>
          <a:p>
            <a:r>
              <a:rPr lang="tr-TR" sz="4400" dirty="0"/>
              <a:t>0-1 </a:t>
            </a:r>
            <a:r>
              <a:rPr lang="tr-TR" sz="4400" dirty="0" err="1"/>
              <a:t>Knapsack</a:t>
            </a:r>
            <a:r>
              <a:rPr lang="tr-TR" sz="4400" dirty="0"/>
              <a:t> </a:t>
            </a:r>
            <a:r>
              <a:rPr lang="tr-TR" sz="4400" dirty="0" smtClean="0"/>
              <a:t>Problem(3)</a:t>
            </a:r>
            <a:endParaRPr lang="tr-TR" dirty="0"/>
          </a:p>
        </p:txBody>
      </p:sp>
    </p:spTree>
    <p:extLst>
      <p:ext uri="{BB962C8B-B14F-4D97-AF65-F5344CB8AC3E}">
        <p14:creationId xmlns:p14="http://schemas.microsoft.com/office/powerpoint/2010/main" val="38273887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539552" y="1772816"/>
            <a:ext cx="8229600" cy="4896544"/>
          </a:xfrm>
        </p:spPr>
        <p:txBody>
          <a:bodyPr>
            <a:normAutofit/>
          </a:bodyPr>
          <a:lstStyle/>
          <a:p>
            <a:r>
              <a:rPr lang="tr-TR" sz="3200" dirty="0">
                <a:latin typeface="Share Tech" panose="020B0604020202020204" charset="0"/>
              </a:rPr>
              <a:t>0-1 Knapsack </a:t>
            </a:r>
            <a:r>
              <a:rPr lang="tr-TR" dirty="0">
                <a:latin typeface="Share Tech" panose="020B0604020202020204" charset="0"/>
              </a:rPr>
              <a:t>Methods</a:t>
            </a:r>
            <a:endParaRPr lang="tr-TR" sz="3200" dirty="0">
              <a:latin typeface="Share Tech" panose="020B0604020202020204" charset="0"/>
            </a:endParaRPr>
          </a:p>
          <a:p>
            <a:r>
              <a:rPr lang="tr-TR" dirty="0"/>
              <a:t> a)</a:t>
            </a:r>
            <a:r>
              <a:rPr lang="en-US" b="0" i="0" dirty="0">
                <a:effectLst/>
                <a:latin typeface="urw-din"/>
              </a:rPr>
              <a:t> Recursion</a:t>
            </a:r>
            <a:r>
              <a:rPr lang="tr-TR" b="0" i="0" dirty="0">
                <a:effectLst/>
                <a:latin typeface="urw-din"/>
              </a:rPr>
              <a:t> Method</a:t>
            </a:r>
            <a:endParaRPr lang="tr-TR" dirty="0"/>
          </a:p>
          <a:p>
            <a:r>
              <a:rPr lang="tr-TR" dirty="0"/>
              <a:t> b)</a:t>
            </a:r>
            <a:r>
              <a:rPr lang="en-US" b="0" i="0" dirty="0">
                <a:effectLst/>
                <a:latin typeface="urw-din"/>
              </a:rPr>
              <a:t> Dynamic </a:t>
            </a:r>
            <a:r>
              <a:rPr lang="tr-TR" b="0" i="0" dirty="0">
                <a:effectLst/>
                <a:latin typeface="urw-din"/>
              </a:rPr>
              <a:t> Method</a:t>
            </a:r>
            <a:endParaRPr lang="tr-TR" dirty="0"/>
          </a:p>
          <a:p>
            <a:r>
              <a:rPr lang="tr-TR" dirty="0"/>
              <a:t> c)</a:t>
            </a:r>
            <a:r>
              <a:rPr lang="en-US" b="0" i="0" dirty="0">
                <a:effectLst/>
                <a:latin typeface="urw-din"/>
              </a:rPr>
              <a:t> Memorization </a:t>
            </a:r>
            <a:r>
              <a:rPr lang="tr-TR" b="0" i="0" dirty="0">
                <a:effectLst/>
                <a:latin typeface="urw-din"/>
              </a:rPr>
              <a:t>Method</a:t>
            </a:r>
            <a:r>
              <a:rPr lang="tr-TR" dirty="0">
                <a:latin typeface="urw-din"/>
              </a:rPr>
              <a:t>(extension of the recursive method)</a:t>
            </a:r>
            <a:endParaRPr lang="tr-TR" dirty="0"/>
          </a:p>
        </p:txBody>
      </p:sp>
      <p:sp>
        <p:nvSpPr>
          <p:cNvPr id="4" name="Başlık 1"/>
          <p:cNvSpPr>
            <a:spLocks noGrp="1"/>
          </p:cNvSpPr>
          <p:nvPr>
            <p:ph type="title"/>
          </p:nvPr>
        </p:nvSpPr>
        <p:spPr>
          <a:xfrm>
            <a:off x="457200" y="274638"/>
            <a:ext cx="8229600" cy="1143000"/>
          </a:xfrm>
        </p:spPr>
        <p:txBody>
          <a:bodyPr>
            <a:normAutofit fontScale="90000"/>
          </a:bodyPr>
          <a:lstStyle/>
          <a:p>
            <a:r>
              <a:rPr lang="tr-TR" sz="4400" dirty="0"/>
              <a:t>Different approaches to 0-1 Knapsack Problem</a:t>
            </a:r>
            <a:endParaRPr lang="tr-TR" dirty="0"/>
          </a:p>
        </p:txBody>
      </p:sp>
    </p:spTree>
    <p:extLst>
      <p:ext uri="{BB962C8B-B14F-4D97-AF65-F5344CB8AC3E}">
        <p14:creationId xmlns:p14="http://schemas.microsoft.com/office/powerpoint/2010/main" val="27662847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1"/>
          <p:cNvSpPr>
            <a:spLocks noGrp="1"/>
          </p:cNvSpPr>
          <p:nvPr>
            <p:ph type="title"/>
          </p:nvPr>
        </p:nvSpPr>
        <p:spPr>
          <a:xfrm>
            <a:off x="323528" y="160337"/>
            <a:ext cx="8229600" cy="1143000"/>
          </a:xfrm>
        </p:spPr>
        <p:txBody>
          <a:bodyPr>
            <a:normAutofit fontScale="90000"/>
          </a:bodyPr>
          <a:lstStyle/>
          <a:p>
            <a:r>
              <a:rPr lang="tr-TR" sz="4400" dirty="0">
                <a:latin typeface="Share Tech" panose="020B0604020202020204" charset="0"/>
              </a:rPr>
              <a:t>Recursion Method</a:t>
            </a:r>
            <a:r>
              <a:rPr lang="en-US" sz="4400" dirty="0">
                <a:latin typeface="Share Tech" panose="020B0604020202020204" charset="0"/>
              </a:rPr>
              <a:t/>
            </a:r>
            <a:br>
              <a:rPr lang="en-US" sz="4400" dirty="0">
                <a:latin typeface="Share Tech" panose="020B0604020202020204" charset="0"/>
              </a:rPr>
            </a:br>
            <a:endParaRPr lang="tr-TR" dirty="0"/>
          </a:p>
        </p:txBody>
      </p:sp>
      <p:sp>
        <p:nvSpPr>
          <p:cNvPr id="6" name="Content Placeholder 5">
            <a:extLst>
              <a:ext uri="{FF2B5EF4-FFF2-40B4-BE49-F238E27FC236}">
                <a16:creationId xmlns:a16="http://schemas.microsoft.com/office/drawing/2014/main" xmlns="" id="{AC556072-7E79-4511-B698-87AC59C89F43}"/>
              </a:ext>
            </a:extLst>
          </p:cNvPr>
          <p:cNvSpPr>
            <a:spLocks noGrp="1"/>
          </p:cNvSpPr>
          <p:nvPr>
            <p:ph idx="1"/>
          </p:nvPr>
        </p:nvSpPr>
        <p:spPr>
          <a:xfrm>
            <a:off x="457200" y="908720"/>
            <a:ext cx="8229600" cy="5688632"/>
          </a:xfrm>
        </p:spPr>
        <p:txBody>
          <a:bodyPr>
            <a:normAutofit fontScale="92500" lnSpcReduction="20000"/>
          </a:bodyPr>
          <a:lstStyle/>
          <a:p>
            <a:pPr algn="l" fontAlgn="base"/>
            <a:r>
              <a:rPr lang="en-US" b="0" i="0" dirty="0">
                <a:effectLst/>
                <a:latin typeface="var(--font-din)"/>
              </a:rPr>
              <a:t>A simple solution is to consider all subsets of items and calculate the total weight and value of all subsets. Consider the only subsets whose total weight is smaller than W. From all such subsets, pick the maximum value subset.</a:t>
            </a:r>
            <a:br>
              <a:rPr lang="en-US" b="0" i="0" dirty="0">
                <a:effectLst/>
                <a:latin typeface="var(--font-din)"/>
              </a:rPr>
            </a:br>
            <a:r>
              <a:rPr lang="en-US" b="1" i="1" dirty="0">
                <a:effectLst/>
                <a:latin typeface="var(--font-din)"/>
              </a:rPr>
              <a:t>Optimal Sub-structure</a:t>
            </a:r>
            <a:r>
              <a:rPr lang="en-US" b="1" i="0" dirty="0">
                <a:effectLst/>
                <a:latin typeface="var(--font-din)"/>
              </a:rPr>
              <a:t>:</a:t>
            </a:r>
            <a:r>
              <a:rPr lang="en-US" b="0" i="0" dirty="0">
                <a:effectLst/>
                <a:latin typeface="var(--font-din)"/>
              </a:rPr>
              <a:t> To consider all subsets of items, there can be two cases for every item. </a:t>
            </a:r>
          </a:p>
          <a:p>
            <a:pPr algn="l" fontAlgn="base">
              <a:buFont typeface="+mj-lt"/>
              <a:buAutoNum type="arabicPeriod"/>
            </a:pPr>
            <a:r>
              <a:rPr lang="en-US" b="1" i="0" dirty="0">
                <a:effectLst/>
                <a:latin typeface="var(--font-din)"/>
              </a:rPr>
              <a:t>Case 1:</a:t>
            </a:r>
            <a:r>
              <a:rPr lang="en-US" b="0" i="0" dirty="0">
                <a:effectLst/>
                <a:latin typeface="var(--font-din)"/>
              </a:rPr>
              <a:t> The item is included in the optimal subset.</a:t>
            </a:r>
          </a:p>
          <a:p>
            <a:pPr algn="l" fontAlgn="base">
              <a:buFont typeface="+mj-lt"/>
              <a:buAutoNum type="arabicPeriod"/>
            </a:pPr>
            <a:r>
              <a:rPr lang="en-US" b="1" i="0" dirty="0">
                <a:effectLst/>
                <a:latin typeface="var(--font-din)"/>
              </a:rPr>
              <a:t>Case 2:</a:t>
            </a:r>
            <a:r>
              <a:rPr lang="en-US" b="0" i="0" dirty="0">
                <a:effectLst/>
                <a:latin typeface="var(--font-din)"/>
              </a:rPr>
              <a:t> The item is not included in the optimal set.</a:t>
            </a:r>
          </a:p>
          <a:p>
            <a:pPr algn="l" fontAlgn="base"/>
            <a:r>
              <a:rPr lang="en-US" b="1" i="0" dirty="0">
                <a:effectLst/>
                <a:latin typeface="var(--font-din)"/>
              </a:rPr>
              <a:t>Time Complexity:</a:t>
            </a:r>
            <a:r>
              <a:rPr lang="en-US" b="0" i="0" dirty="0">
                <a:effectLst/>
                <a:latin typeface="var(--font-din)"/>
              </a:rPr>
              <a:t> O(2</a:t>
            </a:r>
            <a:r>
              <a:rPr lang="en-US" b="0" i="0" baseline="30000" dirty="0">
                <a:effectLst/>
                <a:latin typeface="var(--font-din)"/>
              </a:rPr>
              <a:t>n</a:t>
            </a:r>
            <a:r>
              <a:rPr lang="en-US" b="0" i="0" dirty="0">
                <a:effectLst/>
                <a:latin typeface="var(--font-din)"/>
              </a:rPr>
              <a:t>).</a:t>
            </a:r>
            <a:endParaRPr lang="en-US" dirty="0"/>
          </a:p>
        </p:txBody>
      </p:sp>
    </p:spTree>
    <p:extLst>
      <p:ext uri="{BB962C8B-B14F-4D97-AF65-F5344CB8AC3E}">
        <p14:creationId xmlns:p14="http://schemas.microsoft.com/office/powerpoint/2010/main" val="8808252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936A66C-82BF-49E6-B057-C3AB5AA1A152}"/>
              </a:ext>
            </a:extLst>
          </p:cNvPr>
          <p:cNvSpPr>
            <a:spLocks noGrp="1"/>
          </p:cNvSpPr>
          <p:nvPr>
            <p:ph type="title"/>
          </p:nvPr>
        </p:nvSpPr>
        <p:spPr/>
        <p:txBody>
          <a:bodyPr>
            <a:normAutofit fontScale="90000"/>
          </a:bodyPr>
          <a:lstStyle/>
          <a:p>
            <a:r>
              <a:rPr lang="tr-TR" dirty="0"/>
              <a:t>Pseudocode of the Recursion Method</a:t>
            </a:r>
            <a:endParaRPr lang="en-US" dirty="0"/>
          </a:p>
        </p:txBody>
      </p:sp>
      <p:sp>
        <p:nvSpPr>
          <p:cNvPr id="3" name="Content Placeholder 2">
            <a:extLst>
              <a:ext uri="{FF2B5EF4-FFF2-40B4-BE49-F238E27FC236}">
                <a16:creationId xmlns:a16="http://schemas.microsoft.com/office/drawing/2014/main" xmlns="" id="{801F3175-C5D4-49BE-B247-32AD23FDD5F8}"/>
              </a:ext>
            </a:extLst>
          </p:cNvPr>
          <p:cNvSpPr>
            <a:spLocks noGrp="1"/>
          </p:cNvSpPr>
          <p:nvPr>
            <p:ph idx="1"/>
          </p:nvPr>
        </p:nvSpPr>
        <p:spPr>
          <a:xfrm>
            <a:off x="457200" y="1600200"/>
            <a:ext cx="8229600" cy="5069160"/>
          </a:xfrm>
        </p:spPr>
        <p:txBody>
          <a:bodyPr>
            <a:noAutofit/>
          </a:bodyPr>
          <a:lstStyle/>
          <a:p>
            <a:r>
              <a:rPr lang="tr-TR" sz="2000" dirty="0">
                <a:solidFill>
                  <a:srgbClr val="000000"/>
                </a:solidFill>
                <a:latin typeface="Consolas" panose="020B0609020204030204" pitchFamily="49" charset="0"/>
              </a:rPr>
              <a:t>Val=[60,100,120] </a:t>
            </a:r>
            <a:r>
              <a:rPr lang="tr-TR" sz="2000" dirty="0">
                <a:solidFill>
                  <a:schemeClr val="accent3">
                    <a:lumMod val="75000"/>
                  </a:schemeClr>
                </a:solidFill>
                <a:latin typeface="Consolas" panose="020B0609020204030204" pitchFamily="49" charset="0"/>
              </a:rPr>
              <a:t>// value of the items</a:t>
            </a:r>
          </a:p>
          <a:p>
            <a:r>
              <a:rPr lang="tr-TR" sz="2000" dirty="0">
                <a:solidFill>
                  <a:srgbClr val="000000"/>
                </a:solidFill>
                <a:latin typeface="Consolas" panose="020B0609020204030204" pitchFamily="49" charset="0"/>
              </a:rPr>
              <a:t>Wt=[10,20,30] </a:t>
            </a:r>
            <a:r>
              <a:rPr lang="tr-TR" sz="2000" dirty="0">
                <a:solidFill>
                  <a:schemeClr val="accent3">
                    <a:lumMod val="75000"/>
                  </a:schemeClr>
                </a:solidFill>
                <a:latin typeface="Consolas" panose="020B0609020204030204" pitchFamily="49" charset="0"/>
              </a:rPr>
              <a:t>//weight of the items</a:t>
            </a:r>
          </a:p>
          <a:p>
            <a:r>
              <a:rPr lang="tr-TR" sz="2000" dirty="0">
                <a:solidFill>
                  <a:srgbClr val="000000"/>
                </a:solidFill>
                <a:latin typeface="Consolas" panose="020B0609020204030204" pitchFamily="49" charset="0"/>
              </a:rPr>
              <a:t>W=50 </a:t>
            </a:r>
            <a:r>
              <a:rPr lang="tr-TR" sz="2000" dirty="0">
                <a:solidFill>
                  <a:schemeClr val="accent3">
                    <a:lumMod val="75000"/>
                  </a:schemeClr>
                </a:solidFill>
                <a:latin typeface="Consolas" panose="020B0609020204030204" pitchFamily="49" charset="0"/>
              </a:rPr>
              <a:t>//Capacity(weight) of the knapsack</a:t>
            </a:r>
          </a:p>
          <a:p>
            <a:r>
              <a:rPr lang="tr-TR" sz="2000" dirty="0">
                <a:solidFill>
                  <a:srgbClr val="000000"/>
                </a:solidFill>
                <a:latin typeface="Consolas" panose="020B0609020204030204" pitchFamily="49" charset="0"/>
              </a:rPr>
              <a:t>n=len(val) </a:t>
            </a:r>
            <a:r>
              <a:rPr lang="tr-TR" sz="2000" dirty="0">
                <a:solidFill>
                  <a:schemeClr val="accent3">
                    <a:lumMod val="75000"/>
                  </a:schemeClr>
                </a:solidFill>
                <a:latin typeface="Consolas" panose="020B0609020204030204" pitchFamily="49" charset="0"/>
              </a:rPr>
              <a:t>// number of the items</a:t>
            </a:r>
            <a:endParaRPr lang="tr-TR" sz="2000" dirty="0">
              <a:solidFill>
                <a:srgbClr val="000000"/>
              </a:solidFill>
              <a:latin typeface="Consolas" panose="020B0609020204030204" pitchFamily="49" charset="0"/>
            </a:endParaRPr>
          </a:p>
          <a:p>
            <a:r>
              <a:rPr lang="tr-TR" sz="2000" dirty="0" err="1" smtClean="0">
                <a:latin typeface="Consolas" panose="020B0609020204030204" pitchFamily="49" charset="0"/>
              </a:rPr>
              <a:t>function</a:t>
            </a:r>
            <a:r>
              <a:rPr lang="tr-TR" sz="2000" dirty="0" smtClean="0">
                <a:solidFill>
                  <a:schemeClr val="accent2"/>
                </a:solidFill>
                <a:latin typeface="Consolas" panose="020B0609020204030204" pitchFamily="49" charset="0"/>
              </a:rPr>
              <a:t> </a:t>
            </a:r>
            <a:r>
              <a:rPr lang="tr-TR" sz="2000" dirty="0" err="1" smtClean="0">
                <a:solidFill>
                  <a:schemeClr val="accent2"/>
                </a:solidFill>
                <a:latin typeface="Consolas" panose="020B0609020204030204" pitchFamily="49" charset="0"/>
              </a:rPr>
              <a:t>knapsack</a:t>
            </a:r>
            <a:r>
              <a:rPr lang="tr-TR" sz="2000" dirty="0" smtClean="0">
                <a:solidFill>
                  <a:srgbClr val="000000"/>
                </a:solidFill>
                <a:latin typeface="Consolas" panose="020B0609020204030204" pitchFamily="49" charset="0"/>
              </a:rPr>
              <a:t>(</a:t>
            </a:r>
            <a:r>
              <a:rPr lang="tr-TR" sz="2000" dirty="0" err="1" smtClean="0">
                <a:solidFill>
                  <a:srgbClr val="000000"/>
                </a:solidFill>
                <a:latin typeface="Consolas" panose="020B0609020204030204" pitchFamily="49" charset="0"/>
              </a:rPr>
              <a:t>W,wt,val,n</a:t>
            </a:r>
            <a:r>
              <a:rPr lang="tr-TR" sz="2000" dirty="0">
                <a:solidFill>
                  <a:srgbClr val="000000"/>
                </a:solidFill>
                <a:latin typeface="Consolas" panose="020B0609020204030204" pitchFamily="49" charset="0"/>
              </a:rPr>
              <a:t>):</a:t>
            </a:r>
          </a:p>
          <a:p>
            <a:r>
              <a:rPr lang="tr-TR" sz="2000" dirty="0">
                <a:solidFill>
                  <a:srgbClr val="000000"/>
                </a:solidFill>
                <a:latin typeface="Consolas" panose="020B0609020204030204" pitchFamily="49" charset="0"/>
              </a:rPr>
              <a:t>  </a:t>
            </a:r>
            <a:r>
              <a:rPr lang="tr-TR" sz="2000" dirty="0">
                <a:solidFill>
                  <a:schemeClr val="accent1"/>
                </a:solidFill>
                <a:latin typeface="Consolas" panose="020B0609020204030204" pitchFamily="49" charset="0"/>
              </a:rPr>
              <a:t>İf</a:t>
            </a:r>
            <a:r>
              <a:rPr lang="tr-TR" sz="2000" dirty="0">
                <a:solidFill>
                  <a:srgbClr val="000000"/>
                </a:solidFill>
                <a:latin typeface="Consolas" panose="020B0609020204030204" pitchFamily="49" charset="0"/>
              </a:rPr>
              <a:t> (n=0 or w=0):  </a:t>
            </a:r>
            <a:r>
              <a:rPr lang="tr-TR" sz="2000" dirty="0">
                <a:solidFill>
                  <a:schemeClr val="accent4"/>
                </a:solidFill>
                <a:latin typeface="Consolas" panose="020B0609020204030204" pitchFamily="49" charset="0"/>
              </a:rPr>
              <a:t>return</a:t>
            </a:r>
            <a:r>
              <a:rPr lang="tr-TR" sz="2000" dirty="0">
                <a:solidFill>
                  <a:srgbClr val="000000"/>
                </a:solidFill>
                <a:latin typeface="Consolas" panose="020B0609020204030204" pitchFamily="49" charset="0"/>
              </a:rPr>
              <a:t> 0 </a:t>
            </a:r>
            <a:r>
              <a:rPr lang="tr-TR" sz="2000" dirty="0">
                <a:solidFill>
                  <a:schemeClr val="accent3">
                    <a:lumMod val="75000"/>
                  </a:schemeClr>
                </a:solidFill>
                <a:latin typeface="Consolas" panose="020B0609020204030204" pitchFamily="49" charset="0"/>
              </a:rPr>
              <a:t>//base case</a:t>
            </a:r>
            <a:endParaRPr lang="tr-TR" sz="2000" dirty="0">
              <a:solidFill>
                <a:srgbClr val="000000"/>
              </a:solidFill>
              <a:latin typeface="Consolas" panose="020B0609020204030204" pitchFamily="49" charset="0"/>
            </a:endParaRPr>
          </a:p>
          <a:p>
            <a:r>
              <a:rPr lang="tr-TR" sz="2000" dirty="0">
                <a:solidFill>
                  <a:srgbClr val="000000"/>
                </a:solidFill>
                <a:latin typeface="Consolas" panose="020B0609020204030204" pitchFamily="49" charset="0"/>
              </a:rPr>
              <a:t>  </a:t>
            </a:r>
            <a:r>
              <a:rPr lang="tr-TR" sz="2000" dirty="0">
                <a:solidFill>
                  <a:schemeClr val="accent1"/>
                </a:solidFill>
                <a:latin typeface="Consolas" panose="020B0609020204030204" pitchFamily="49" charset="0"/>
              </a:rPr>
              <a:t>İf</a:t>
            </a:r>
            <a:r>
              <a:rPr lang="tr-TR" sz="2000" dirty="0">
                <a:solidFill>
                  <a:srgbClr val="000000"/>
                </a:solidFill>
                <a:latin typeface="Consolas" panose="020B0609020204030204" pitchFamily="49" charset="0"/>
              </a:rPr>
              <a:t> (wt[n-1]&gt;W):   </a:t>
            </a:r>
            <a:r>
              <a:rPr lang="tr-TR" sz="2000" dirty="0">
                <a:solidFill>
                  <a:schemeClr val="accent4"/>
                </a:solidFill>
                <a:latin typeface="Consolas" panose="020B0609020204030204" pitchFamily="49" charset="0"/>
              </a:rPr>
              <a:t>return</a:t>
            </a:r>
            <a:r>
              <a:rPr lang="tr-TR" sz="2000" dirty="0">
                <a:solidFill>
                  <a:srgbClr val="000000"/>
                </a:solidFill>
                <a:latin typeface="Consolas" panose="020B0609020204030204" pitchFamily="49" charset="0"/>
              </a:rPr>
              <a:t> knapsack(W,wt,val,n-1)</a:t>
            </a:r>
          </a:p>
          <a:p>
            <a:r>
              <a:rPr lang="tr-TR" sz="2000" dirty="0">
                <a:solidFill>
                  <a:schemeClr val="accent3">
                    <a:lumMod val="75000"/>
                  </a:schemeClr>
                </a:solidFill>
                <a:latin typeface="Consolas" panose="020B0609020204030204" pitchFamily="49" charset="0"/>
              </a:rPr>
              <a:t>//Weight of the n’th item is more than Knapsack of       capacity W then this item cannot be included in the  optimal solution</a:t>
            </a:r>
          </a:p>
          <a:p>
            <a:r>
              <a:rPr lang="tr-TR" sz="2000" dirty="0">
                <a:solidFill>
                  <a:srgbClr val="000000"/>
                </a:solidFill>
                <a:latin typeface="Consolas" panose="020B0609020204030204" pitchFamily="49" charset="0"/>
              </a:rPr>
              <a:t>  </a:t>
            </a:r>
            <a:r>
              <a:rPr lang="tr-TR" sz="2000" dirty="0">
                <a:solidFill>
                  <a:schemeClr val="accent1"/>
                </a:solidFill>
                <a:latin typeface="Consolas" panose="020B0609020204030204" pitchFamily="49" charset="0"/>
              </a:rPr>
              <a:t>else:</a:t>
            </a:r>
            <a:r>
              <a:rPr lang="tr-TR" sz="2000" dirty="0">
                <a:solidFill>
                  <a:srgbClr val="000000"/>
                </a:solidFill>
                <a:latin typeface="Consolas" panose="020B0609020204030204" pitchFamily="49" charset="0"/>
              </a:rPr>
              <a:t>  </a:t>
            </a:r>
            <a:r>
              <a:rPr lang="tr-TR" sz="2000" dirty="0">
                <a:solidFill>
                  <a:schemeClr val="accent4"/>
                </a:solidFill>
                <a:latin typeface="Consolas" panose="020B0609020204030204" pitchFamily="49" charset="0"/>
              </a:rPr>
              <a:t>return</a:t>
            </a:r>
            <a:r>
              <a:rPr lang="tr-TR" sz="2000" dirty="0">
                <a:solidFill>
                  <a:srgbClr val="000000"/>
                </a:solidFill>
                <a:latin typeface="Consolas" panose="020B0609020204030204" pitchFamily="49" charset="0"/>
              </a:rPr>
              <a:t> </a:t>
            </a:r>
            <a:r>
              <a:rPr lang="tr-TR" sz="2000" dirty="0">
                <a:solidFill>
                  <a:schemeClr val="accent6"/>
                </a:solidFill>
                <a:latin typeface="Consolas" panose="020B0609020204030204" pitchFamily="49" charset="0"/>
              </a:rPr>
              <a:t>max</a:t>
            </a:r>
            <a:r>
              <a:rPr lang="tr-TR" sz="2000" dirty="0">
                <a:solidFill>
                  <a:srgbClr val="000000"/>
                </a:solidFill>
                <a:latin typeface="Consolas" panose="020B0609020204030204" pitchFamily="49" charset="0"/>
              </a:rPr>
              <a:t>(val[n-1]+</a:t>
            </a:r>
            <a:r>
              <a:rPr lang="tr-TR" sz="2000" dirty="0">
                <a:solidFill>
                  <a:schemeClr val="accent2"/>
                </a:solidFill>
                <a:latin typeface="Consolas" panose="020B0609020204030204" pitchFamily="49" charset="0"/>
              </a:rPr>
              <a:t>knapsack</a:t>
            </a:r>
            <a:r>
              <a:rPr lang="tr-TR" sz="2000" dirty="0">
                <a:solidFill>
                  <a:srgbClr val="000000"/>
                </a:solidFill>
                <a:latin typeface="Consolas" panose="020B0609020204030204" pitchFamily="49" charset="0"/>
              </a:rPr>
              <a:t>(w-wt[n-1],wt,val,</a:t>
            </a:r>
          </a:p>
          <a:p>
            <a:r>
              <a:rPr lang="tr-TR" sz="2000" dirty="0">
                <a:solidFill>
                  <a:srgbClr val="000000"/>
                </a:solidFill>
                <a:latin typeface="Consolas" panose="020B0609020204030204" pitchFamily="49" charset="0"/>
              </a:rPr>
              <a:t>  n-1,))</a:t>
            </a:r>
          </a:p>
          <a:p>
            <a:r>
              <a:rPr lang="tr-TR" sz="2000" dirty="0">
                <a:solidFill>
                  <a:schemeClr val="accent3">
                    <a:lumMod val="75000"/>
                  </a:schemeClr>
                </a:solidFill>
                <a:latin typeface="Consolas" panose="020B0609020204030204" pitchFamily="49" charset="0"/>
              </a:rPr>
              <a:t> // return the max of two cases (1) nth item included   (2) not included</a:t>
            </a:r>
            <a:endParaRPr lang="en-US" sz="2000" dirty="0">
              <a:solidFill>
                <a:schemeClr val="accent3">
                  <a:lumMod val="75000"/>
                </a:schemeClr>
              </a:solidFill>
            </a:endParaRPr>
          </a:p>
        </p:txBody>
      </p:sp>
    </p:spTree>
    <p:extLst>
      <p:ext uri="{BB962C8B-B14F-4D97-AF65-F5344CB8AC3E}">
        <p14:creationId xmlns:p14="http://schemas.microsoft.com/office/powerpoint/2010/main" val="26548579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FADCF8A-9718-4EFB-A1EA-137443DE906E}"/>
              </a:ext>
            </a:extLst>
          </p:cNvPr>
          <p:cNvSpPr>
            <a:spLocks noGrp="1"/>
          </p:cNvSpPr>
          <p:nvPr>
            <p:ph type="title"/>
          </p:nvPr>
        </p:nvSpPr>
        <p:spPr>
          <a:xfrm>
            <a:off x="457200" y="116632"/>
            <a:ext cx="8229600" cy="1143000"/>
          </a:xfrm>
        </p:spPr>
        <p:txBody>
          <a:bodyPr>
            <a:normAutofit/>
          </a:bodyPr>
          <a:lstStyle/>
          <a:p>
            <a:r>
              <a:rPr lang="tr-TR" dirty="0"/>
              <a:t>Dynamic Method</a:t>
            </a:r>
            <a:endParaRPr lang="en-US" dirty="0"/>
          </a:p>
        </p:txBody>
      </p:sp>
      <p:sp>
        <p:nvSpPr>
          <p:cNvPr id="3" name="Content Placeholder 2">
            <a:extLst>
              <a:ext uri="{FF2B5EF4-FFF2-40B4-BE49-F238E27FC236}">
                <a16:creationId xmlns:a16="http://schemas.microsoft.com/office/drawing/2014/main" xmlns="" id="{6E058E21-993A-4A33-A119-C1E378339C17}"/>
              </a:ext>
            </a:extLst>
          </p:cNvPr>
          <p:cNvSpPr>
            <a:spLocks noGrp="1"/>
          </p:cNvSpPr>
          <p:nvPr>
            <p:ph idx="1"/>
          </p:nvPr>
        </p:nvSpPr>
        <p:spPr>
          <a:xfrm>
            <a:off x="323528" y="1124744"/>
            <a:ext cx="8229600" cy="5616624"/>
          </a:xfrm>
        </p:spPr>
        <p:txBody>
          <a:bodyPr>
            <a:normAutofit lnSpcReduction="10000"/>
          </a:bodyPr>
          <a:lstStyle/>
          <a:p>
            <a:pPr algn="l" fontAlgn="base"/>
            <a:r>
              <a:rPr lang="en-US" b="0" i="0" dirty="0">
                <a:effectLst/>
                <a:latin typeface="var(--font-din)"/>
              </a:rPr>
              <a:t>Like other typical </a:t>
            </a:r>
            <a:r>
              <a:rPr lang="tr-TR" dirty="0">
                <a:latin typeface="var(--font-din)"/>
              </a:rPr>
              <a:t>dynamic programming problems</a:t>
            </a:r>
            <a:r>
              <a:rPr lang="en-US" b="0" i="0" dirty="0">
                <a:effectLst/>
                <a:latin typeface="var(--font-din)"/>
              </a:rPr>
              <a:t>, precomputations of same subproblems can be avoided by constructing a temporary array K[][] in bottom-up manner. Following is Dynamic Programming based implementation.</a:t>
            </a:r>
            <a:endParaRPr lang="tr-TR" b="0" i="0" dirty="0">
              <a:effectLst/>
              <a:latin typeface="var(--font-din)"/>
            </a:endParaRPr>
          </a:p>
          <a:p>
            <a:pPr algn="l" fontAlgn="base">
              <a:buFont typeface="Arial" panose="020B0604020202020204" pitchFamily="34" charset="0"/>
              <a:buChar char="•"/>
            </a:pPr>
            <a:r>
              <a:rPr lang="en-US" b="1" i="0" dirty="0">
                <a:effectLst/>
                <a:latin typeface="var(--font-din)"/>
              </a:rPr>
              <a:t>Time Complexity:</a:t>
            </a:r>
            <a:r>
              <a:rPr lang="en-US" b="0" i="0" dirty="0">
                <a:effectLst/>
                <a:latin typeface="var(--font-din)"/>
              </a:rPr>
              <a:t> O(N*W). </a:t>
            </a:r>
            <a:br>
              <a:rPr lang="en-US" b="0" i="0" dirty="0">
                <a:effectLst/>
                <a:latin typeface="var(--font-din)"/>
              </a:rPr>
            </a:br>
            <a:r>
              <a:rPr lang="en-US" b="0" i="0" dirty="0">
                <a:effectLst/>
                <a:latin typeface="var(--font-din)"/>
              </a:rPr>
              <a:t>N </a:t>
            </a:r>
            <a:r>
              <a:rPr lang="tr-TR" dirty="0">
                <a:latin typeface="var(--font-din)"/>
              </a:rPr>
              <a:t>:</a:t>
            </a:r>
            <a:r>
              <a:rPr lang="en-US" b="0" i="0" dirty="0">
                <a:effectLst/>
                <a:latin typeface="var(--font-din)"/>
              </a:rPr>
              <a:t>number of weight element </a:t>
            </a:r>
            <a:r>
              <a:rPr lang="tr-TR" b="0" i="0" dirty="0">
                <a:effectLst/>
                <a:latin typeface="var(--font-din)"/>
              </a:rPr>
              <a:t>.</a:t>
            </a:r>
            <a:endParaRPr lang="tr-TR" dirty="0">
              <a:latin typeface="var(--font-din)"/>
            </a:endParaRPr>
          </a:p>
          <a:p>
            <a:pPr algn="l" fontAlgn="base">
              <a:buFont typeface="Arial" panose="020B0604020202020204" pitchFamily="34" charset="0"/>
              <a:buChar char="•"/>
            </a:pPr>
            <a:r>
              <a:rPr lang="en-US" b="0" i="0" dirty="0">
                <a:effectLst/>
                <a:latin typeface="var(--font-din)"/>
              </a:rPr>
              <a:t>W</a:t>
            </a:r>
            <a:r>
              <a:rPr lang="tr-TR" b="0" i="0" dirty="0">
                <a:effectLst/>
                <a:latin typeface="var(--font-din)"/>
              </a:rPr>
              <a:t>:</a:t>
            </a:r>
            <a:r>
              <a:rPr lang="en-US" b="0" i="0" dirty="0">
                <a:effectLst/>
                <a:latin typeface="var(--font-din)"/>
              </a:rPr>
              <a:t> capacity. </a:t>
            </a:r>
            <a:endParaRPr lang="tr-TR" b="0" i="0" dirty="0">
              <a:effectLst/>
              <a:latin typeface="var(--font-din)"/>
            </a:endParaRPr>
          </a:p>
          <a:p>
            <a:pPr algn="l" fontAlgn="base">
              <a:buFont typeface="Arial" panose="020B0604020202020204" pitchFamily="34" charset="0"/>
              <a:buChar char="•"/>
            </a:pPr>
            <a:r>
              <a:rPr lang="en-US" b="0" i="0" dirty="0">
                <a:effectLst/>
                <a:latin typeface="var(--font-din)"/>
              </a:rPr>
              <a:t>As for every weight element we traverse through all weight capacities 1&lt;=w&lt;=W.</a:t>
            </a:r>
          </a:p>
          <a:p>
            <a:pPr algn="l" fontAlgn="base"/>
            <a:endParaRPr lang="tr-TR" b="0" i="0" dirty="0">
              <a:effectLst/>
              <a:latin typeface="var(--font-din)"/>
            </a:endParaRPr>
          </a:p>
          <a:p>
            <a:pPr marL="0" indent="0" algn="l" fontAlgn="base">
              <a:buNone/>
            </a:pPr>
            <a:endParaRPr lang="en-US" b="0" i="0" dirty="0">
              <a:effectLst/>
              <a:latin typeface="var(--font-din)"/>
            </a:endParaRPr>
          </a:p>
        </p:txBody>
      </p:sp>
    </p:spTree>
    <p:extLst>
      <p:ext uri="{BB962C8B-B14F-4D97-AF65-F5344CB8AC3E}">
        <p14:creationId xmlns:p14="http://schemas.microsoft.com/office/powerpoint/2010/main" val="39153481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A980EF9-3E21-4ED5-8C1F-F17E21CE2AB4}"/>
              </a:ext>
            </a:extLst>
          </p:cNvPr>
          <p:cNvSpPr>
            <a:spLocks noGrp="1"/>
          </p:cNvSpPr>
          <p:nvPr>
            <p:ph type="title"/>
          </p:nvPr>
        </p:nvSpPr>
        <p:spPr/>
        <p:txBody>
          <a:bodyPr>
            <a:normAutofit fontScale="90000"/>
          </a:bodyPr>
          <a:lstStyle/>
          <a:p>
            <a:r>
              <a:rPr lang="tr-TR" dirty="0"/>
              <a:t>Pseudocode of the Dynamic Method</a:t>
            </a:r>
            <a:endParaRPr lang="en-US" dirty="0"/>
          </a:p>
        </p:txBody>
      </p:sp>
      <p:sp>
        <p:nvSpPr>
          <p:cNvPr id="3" name="Content Placeholder 2">
            <a:extLst>
              <a:ext uri="{FF2B5EF4-FFF2-40B4-BE49-F238E27FC236}">
                <a16:creationId xmlns:a16="http://schemas.microsoft.com/office/drawing/2014/main" xmlns="" id="{ECA4045F-867E-4CE7-8849-B9A3C95CB539}"/>
              </a:ext>
            </a:extLst>
          </p:cNvPr>
          <p:cNvSpPr>
            <a:spLocks noGrp="1"/>
          </p:cNvSpPr>
          <p:nvPr>
            <p:ph idx="1"/>
          </p:nvPr>
        </p:nvSpPr>
        <p:spPr/>
        <p:txBody>
          <a:bodyPr>
            <a:normAutofit fontScale="92500" lnSpcReduction="10000"/>
          </a:bodyPr>
          <a:lstStyle/>
          <a:p>
            <a:r>
              <a:rPr lang="tr-TR" sz="2000" dirty="0">
                <a:solidFill>
                  <a:srgbClr val="000000"/>
                </a:solidFill>
                <a:latin typeface="Consolas" panose="020B0609020204030204" pitchFamily="49" charset="0"/>
              </a:rPr>
              <a:t>Val=[60,100,120] </a:t>
            </a:r>
            <a:r>
              <a:rPr lang="tr-TR" sz="2000" dirty="0">
                <a:solidFill>
                  <a:schemeClr val="accent3">
                    <a:lumMod val="75000"/>
                  </a:schemeClr>
                </a:solidFill>
                <a:latin typeface="Consolas" panose="020B0609020204030204" pitchFamily="49" charset="0"/>
              </a:rPr>
              <a:t>// value of the items</a:t>
            </a:r>
          </a:p>
          <a:p>
            <a:r>
              <a:rPr lang="tr-TR" sz="2000" dirty="0">
                <a:solidFill>
                  <a:srgbClr val="000000"/>
                </a:solidFill>
                <a:latin typeface="Consolas" panose="020B0609020204030204" pitchFamily="49" charset="0"/>
              </a:rPr>
              <a:t>Wt=[10,20,30] </a:t>
            </a:r>
            <a:r>
              <a:rPr lang="tr-TR" sz="2000" dirty="0">
                <a:solidFill>
                  <a:schemeClr val="accent3">
                    <a:lumMod val="75000"/>
                  </a:schemeClr>
                </a:solidFill>
                <a:latin typeface="Consolas" panose="020B0609020204030204" pitchFamily="49" charset="0"/>
              </a:rPr>
              <a:t>//weight of the items</a:t>
            </a:r>
          </a:p>
          <a:p>
            <a:r>
              <a:rPr lang="tr-TR" sz="2000" dirty="0">
                <a:solidFill>
                  <a:srgbClr val="000000"/>
                </a:solidFill>
                <a:latin typeface="Consolas" panose="020B0609020204030204" pitchFamily="49" charset="0"/>
              </a:rPr>
              <a:t>W=50 </a:t>
            </a:r>
            <a:r>
              <a:rPr lang="tr-TR" sz="2000" dirty="0">
                <a:solidFill>
                  <a:schemeClr val="accent3">
                    <a:lumMod val="75000"/>
                  </a:schemeClr>
                </a:solidFill>
                <a:latin typeface="Consolas" panose="020B0609020204030204" pitchFamily="49" charset="0"/>
              </a:rPr>
              <a:t>//Capacity(weight) of the knapsack</a:t>
            </a:r>
          </a:p>
          <a:p>
            <a:r>
              <a:rPr lang="tr-TR" sz="2000" dirty="0">
                <a:solidFill>
                  <a:srgbClr val="000000"/>
                </a:solidFill>
                <a:latin typeface="Consolas" panose="020B0609020204030204" pitchFamily="49" charset="0"/>
              </a:rPr>
              <a:t>n= sizeof(val)/sizeof(val[0])</a:t>
            </a:r>
            <a:r>
              <a:rPr lang="tr-TR" sz="2000" dirty="0">
                <a:solidFill>
                  <a:schemeClr val="accent3">
                    <a:lumMod val="75000"/>
                  </a:schemeClr>
                </a:solidFill>
                <a:latin typeface="Consolas" panose="020B0609020204030204" pitchFamily="49" charset="0"/>
              </a:rPr>
              <a:t>// number of the items</a:t>
            </a:r>
          </a:p>
          <a:p>
            <a:pPr marL="0" indent="0">
              <a:buNone/>
            </a:pPr>
            <a:r>
              <a:rPr lang="tr-TR" sz="2000" dirty="0">
                <a:solidFill>
                  <a:schemeClr val="accent3">
                    <a:lumMod val="75000"/>
                  </a:schemeClr>
                </a:solidFill>
                <a:latin typeface="Consolas" panose="020B0609020204030204" pitchFamily="49" charset="0"/>
              </a:rPr>
              <a:t> </a:t>
            </a:r>
            <a:r>
              <a:rPr lang="tr-TR" sz="2000" dirty="0" err="1" smtClean="0">
                <a:latin typeface="Consolas" panose="020B0609020204030204" pitchFamily="49" charset="0"/>
              </a:rPr>
              <a:t>function</a:t>
            </a:r>
            <a:r>
              <a:rPr lang="tr-TR" sz="2000" dirty="0" smtClean="0">
                <a:solidFill>
                  <a:schemeClr val="accent3">
                    <a:lumMod val="75000"/>
                  </a:schemeClr>
                </a:solidFill>
                <a:latin typeface="Consolas" panose="020B0609020204030204" pitchFamily="49" charset="0"/>
              </a:rPr>
              <a:t> </a:t>
            </a:r>
            <a:r>
              <a:rPr lang="tr-TR" sz="2000" dirty="0" err="1" smtClean="0">
                <a:solidFill>
                  <a:schemeClr val="accent2"/>
                </a:solidFill>
                <a:latin typeface="Consolas" panose="020B0609020204030204" pitchFamily="49" charset="0"/>
              </a:rPr>
              <a:t>knapsack</a:t>
            </a:r>
            <a:r>
              <a:rPr lang="tr-TR" sz="2000" dirty="0" smtClean="0">
                <a:latin typeface="Consolas" panose="020B0609020204030204" pitchFamily="49" charset="0"/>
              </a:rPr>
              <a:t>(</a:t>
            </a:r>
            <a:r>
              <a:rPr lang="tr-TR" sz="2000" dirty="0" err="1" smtClean="0">
                <a:latin typeface="Consolas" panose="020B0609020204030204" pitchFamily="49" charset="0"/>
              </a:rPr>
              <a:t>W,wt,val,n</a:t>
            </a:r>
            <a:r>
              <a:rPr lang="tr-TR" sz="2000" dirty="0">
                <a:latin typeface="Consolas" panose="020B0609020204030204" pitchFamily="49" charset="0"/>
              </a:rPr>
              <a:t>): </a:t>
            </a:r>
          </a:p>
          <a:p>
            <a:pPr marL="0" indent="0">
              <a:buNone/>
            </a:pPr>
            <a:r>
              <a:rPr lang="tr-TR" sz="2000" dirty="0">
                <a:solidFill>
                  <a:schemeClr val="accent3">
                    <a:lumMod val="75000"/>
                  </a:schemeClr>
                </a:solidFill>
                <a:latin typeface="Consolas" panose="020B0609020204030204" pitchFamily="49" charset="0"/>
              </a:rPr>
              <a:t>  </a:t>
            </a:r>
            <a:r>
              <a:rPr lang="tr-TR" sz="2000" dirty="0">
                <a:latin typeface="Consolas" panose="020B0609020204030204" pitchFamily="49" charset="0"/>
              </a:rPr>
              <a:t>K[n+1][W+1]</a:t>
            </a:r>
          </a:p>
          <a:p>
            <a:pPr marL="0" indent="0">
              <a:buNone/>
            </a:pPr>
            <a:r>
              <a:rPr lang="tr-TR" sz="2000" dirty="0">
                <a:solidFill>
                  <a:schemeClr val="accent3">
                    <a:lumMod val="75000"/>
                  </a:schemeClr>
                </a:solidFill>
              </a:rPr>
              <a:t>      //Build table K[][] in bottom up manner</a:t>
            </a:r>
          </a:p>
          <a:p>
            <a:r>
              <a:rPr lang="tr-TR" sz="2000" dirty="0">
                <a:solidFill>
                  <a:schemeClr val="accent1"/>
                </a:solidFill>
              </a:rPr>
              <a:t>for</a:t>
            </a:r>
            <a:r>
              <a:rPr lang="tr-TR" sz="2000" dirty="0"/>
              <a:t> (i=0 to n+1,i++ ):</a:t>
            </a:r>
          </a:p>
          <a:p>
            <a:r>
              <a:rPr lang="tr-TR" sz="2000" dirty="0"/>
              <a:t> </a:t>
            </a:r>
            <a:r>
              <a:rPr lang="tr-TR" sz="2000" dirty="0">
                <a:solidFill>
                  <a:schemeClr val="accent1"/>
                </a:solidFill>
              </a:rPr>
              <a:t> for (</a:t>
            </a:r>
            <a:r>
              <a:rPr lang="tr-TR" sz="2000" dirty="0"/>
              <a:t>w=0 to w+1,w++) :</a:t>
            </a:r>
          </a:p>
          <a:p>
            <a:r>
              <a:rPr lang="tr-TR" sz="2000" dirty="0"/>
              <a:t>      </a:t>
            </a:r>
            <a:r>
              <a:rPr lang="tr-TR" sz="2000" dirty="0">
                <a:solidFill>
                  <a:schemeClr val="accent1"/>
                </a:solidFill>
              </a:rPr>
              <a:t>İf</a:t>
            </a:r>
            <a:r>
              <a:rPr lang="tr-TR" sz="2000" dirty="0"/>
              <a:t>  (i=0 or w=0):  K[i][w]=0</a:t>
            </a:r>
          </a:p>
          <a:p>
            <a:r>
              <a:rPr lang="tr-TR" sz="2000" dirty="0"/>
              <a:t>      </a:t>
            </a:r>
            <a:r>
              <a:rPr lang="tr-TR" sz="2000" dirty="0">
                <a:solidFill>
                  <a:schemeClr val="accent1"/>
                </a:solidFill>
              </a:rPr>
              <a:t>else if (</a:t>
            </a:r>
            <a:r>
              <a:rPr lang="tr-TR" sz="2000" dirty="0"/>
              <a:t>wt[i-1]&lt;= w) :  k[i][w] = max(val[i-1] + K[i-1] [w-wt[i-1]] , K[i-1][w])</a:t>
            </a:r>
          </a:p>
          <a:p>
            <a:r>
              <a:rPr lang="tr-TR" sz="2000" dirty="0"/>
              <a:t>      </a:t>
            </a:r>
            <a:r>
              <a:rPr lang="tr-TR" sz="2000" dirty="0">
                <a:solidFill>
                  <a:schemeClr val="accent1"/>
                </a:solidFill>
              </a:rPr>
              <a:t>else </a:t>
            </a:r>
            <a:r>
              <a:rPr lang="tr-TR" sz="2000" dirty="0"/>
              <a:t>:  K[i][w]=K[i-1][w] </a:t>
            </a:r>
          </a:p>
          <a:p>
            <a:r>
              <a:rPr lang="tr-TR" sz="2000" dirty="0">
                <a:solidFill>
                  <a:schemeClr val="accent4"/>
                </a:solidFill>
              </a:rPr>
              <a:t>return</a:t>
            </a:r>
            <a:r>
              <a:rPr lang="tr-TR" sz="2000" dirty="0"/>
              <a:t> K[n][W]</a:t>
            </a:r>
            <a:endParaRPr lang="en-US" sz="2000" dirty="0"/>
          </a:p>
        </p:txBody>
      </p:sp>
    </p:spTree>
    <p:extLst>
      <p:ext uri="{BB962C8B-B14F-4D97-AF65-F5344CB8AC3E}">
        <p14:creationId xmlns:p14="http://schemas.microsoft.com/office/powerpoint/2010/main" val="35769493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normAutofit/>
          </a:bodyPr>
          <a:lstStyle/>
          <a:p>
            <a:r>
              <a:rPr lang="tr-TR" dirty="0">
                <a:latin typeface="Share Tech" panose="020B0604020202020204" charset="0"/>
              </a:rPr>
              <a:t>Memorization Method</a:t>
            </a:r>
          </a:p>
        </p:txBody>
      </p:sp>
      <p:sp>
        <p:nvSpPr>
          <p:cNvPr id="3" name="İçerik Yer Tutucusu 2"/>
          <p:cNvSpPr>
            <a:spLocks noGrp="1"/>
          </p:cNvSpPr>
          <p:nvPr>
            <p:ph idx="1"/>
          </p:nvPr>
        </p:nvSpPr>
        <p:spPr>
          <a:xfrm>
            <a:off x="457200" y="1403082"/>
            <a:ext cx="8229600" cy="5266278"/>
          </a:xfrm>
        </p:spPr>
        <p:txBody>
          <a:bodyPr>
            <a:normAutofit fontScale="70000" lnSpcReduction="20000"/>
          </a:bodyPr>
          <a:lstStyle/>
          <a:p>
            <a:r>
              <a:rPr lang="en-US" b="0" i="0" dirty="0">
                <a:effectLst/>
                <a:latin typeface="urw-din"/>
              </a:rPr>
              <a:t>Memorization </a:t>
            </a:r>
            <a:r>
              <a:rPr lang="tr-TR" b="0" i="0" dirty="0">
                <a:effectLst/>
                <a:latin typeface="urw-din"/>
              </a:rPr>
              <a:t>Method</a:t>
            </a:r>
            <a:r>
              <a:rPr lang="en-US" b="0" i="0" dirty="0">
                <a:effectLst/>
                <a:latin typeface="urw-din"/>
              </a:rPr>
              <a:t> </a:t>
            </a:r>
            <a:r>
              <a:rPr lang="tr-TR" b="0" i="0" dirty="0">
                <a:effectLst/>
                <a:latin typeface="urw-din"/>
              </a:rPr>
              <a:t>is </a:t>
            </a:r>
            <a:r>
              <a:rPr lang="en-US" b="0" i="0" dirty="0">
                <a:effectLst/>
                <a:latin typeface="urw-din"/>
              </a:rPr>
              <a:t>an extension of recursive approach</a:t>
            </a:r>
            <a:r>
              <a:rPr lang="tr-TR" dirty="0">
                <a:latin typeface="urw-din"/>
              </a:rPr>
              <a:t>.</a:t>
            </a:r>
            <a:r>
              <a:rPr lang="en-US" dirty="0"/>
              <a:t/>
            </a:r>
            <a:br>
              <a:rPr lang="en-US" dirty="0"/>
            </a:br>
            <a:r>
              <a:rPr lang="en-US" b="0" i="0" dirty="0">
                <a:effectLst/>
                <a:latin typeface="urw-din"/>
              </a:rPr>
              <a:t>This method is basically an extension to the recursive approach so that we can overcome the problem of calculating redundant cases and thus increased complexity.</a:t>
            </a:r>
            <a:endParaRPr lang="tr-TR" b="0" i="0" dirty="0">
              <a:effectLst/>
              <a:latin typeface="urw-din"/>
            </a:endParaRPr>
          </a:p>
          <a:p>
            <a:r>
              <a:rPr lang="en-US" b="0" i="0" dirty="0">
                <a:effectLst/>
                <a:latin typeface="urw-din"/>
              </a:rPr>
              <a:t> We can solve this problem by simply creating a 2-D array that can store a particular state (n, w) if we get it the first time.</a:t>
            </a:r>
            <a:endParaRPr lang="tr-TR" b="0" i="0" dirty="0">
              <a:effectLst/>
              <a:latin typeface="urw-din"/>
            </a:endParaRPr>
          </a:p>
          <a:p>
            <a:r>
              <a:rPr lang="en-US" b="0" i="0" dirty="0">
                <a:effectLst/>
                <a:latin typeface="urw-din"/>
              </a:rPr>
              <a:t> Now if we come across the same state (n, w) again instead of calculating it in exponential complexity we can directly return its result stored in the table in constant time. </a:t>
            </a:r>
            <a:endParaRPr lang="tr-TR" b="0" i="0" dirty="0">
              <a:effectLst/>
              <a:latin typeface="urw-din"/>
            </a:endParaRPr>
          </a:p>
          <a:p>
            <a:endParaRPr lang="tr-TR" dirty="0">
              <a:latin typeface="urw-din"/>
            </a:endParaRPr>
          </a:p>
          <a:p>
            <a:r>
              <a:rPr lang="en-US" b="1" i="0" dirty="0">
                <a:effectLst/>
                <a:latin typeface="var(--font-din)"/>
              </a:rPr>
              <a:t>Time Complexity:</a:t>
            </a:r>
            <a:r>
              <a:rPr lang="en-US" b="0" i="0" dirty="0">
                <a:effectLst/>
                <a:latin typeface="var(--font-din)"/>
              </a:rPr>
              <a:t> O(N*W). </a:t>
            </a:r>
            <a:br>
              <a:rPr lang="en-US" b="0" i="0" dirty="0">
                <a:effectLst/>
                <a:latin typeface="var(--font-din)"/>
              </a:rPr>
            </a:br>
            <a:r>
              <a:rPr lang="en-US" b="0" i="0" dirty="0">
                <a:effectLst/>
                <a:latin typeface="var(--font-din)"/>
              </a:rPr>
              <a:t>As redundant calculations of states are avoided.</a:t>
            </a:r>
          </a:p>
          <a:p>
            <a:endParaRPr lang="en-US" dirty="0"/>
          </a:p>
        </p:txBody>
      </p:sp>
    </p:spTree>
    <p:extLst>
      <p:ext uri="{BB962C8B-B14F-4D97-AF65-F5344CB8AC3E}">
        <p14:creationId xmlns:p14="http://schemas.microsoft.com/office/powerpoint/2010/main" val="38161470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E2C27FD-D1F1-42E5-8773-E04DE92D201B}"/>
              </a:ext>
            </a:extLst>
          </p:cNvPr>
          <p:cNvSpPr>
            <a:spLocks noGrp="1"/>
          </p:cNvSpPr>
          <p:nvPr>
            <p:ph type="title"/>
          </p:nvPr>
        </p:nvSpPr>
        <p:spPr/>
        <p:txBody>
          <a:bodyPr>
            <a:normAutofit fontScale="90000"/>
          </a:bodyPr>
          <a:lstStyle/>
          <a:p>
            <a:r>
              <a:rPr lang="tr-TR" dirty="0"/>
              <a:t>Pseudocode of the Memorization Method</a:t>
            </a:r>
            <a:endParaRPr lang="en-US" dirty="0"/>
          </a:p>
        </p:txBody>
      </p:sp>
      <p:sp>
        <p:nvSpPr>
          <p:cNvPr id="3" name="Content Placeholder 2">
            <a:extLst>
              <a:ext uri="{FF2B5EF4-FFF2-40B4-BE49-F238E27FC236}">
                <a16:creationId xmlns:a16="http://schemas.microsoft.com/office/drawing/2014/main" xmlns="" id="{3468FD9A-0929-4930-8536-64E0A0D9009D}"/>
              </a:ext>
            </a:extLst>
          </p:cNvPr>
          <p:cNvSpPr>
            <a:spLocks noGrp="1"/>
          </p:cNvSpPr>
          <p:nvPr>
            <p:ph idx="1"/>
          </p:nvPr>
        </p:nvSpPr>
        <p:spPr>
          <a:xfrm>
            <a:off x="457200" y="1623047"/>
            <a:ext cx="8229600" cy="5165724"/>
          </a:xfrm>
        </p:spPr>
        <p:txBody>
          <a:bodyPr>
            <a:normAutofit fontScale="70000" lnSpcReduction="20000"/>
          </a:bodyPr>
          <a:lstStyle/>
          <a:p>
            <a:r>
              <a:rPr lang="tr-TR" sz="2300" dirty="0">
                <a:solidFill>
                  <a:srgbClr val="000000"/>
                </a:solidFill>
                <a:latin typeface="Consolas" panose="020B0609020204030204" pitchFamily="49" charset="0"/>
              </a:rPr>
              <a:t>Val=[60,100,120] </a:t>
            </a:r>
            <a:r>
              <a:rPr lang="tr-TR" sz="2300" dirty="0">
                <a:solidFill>
                  <a:schemeClr val="accent3">
                    <a:lumMod val="75000"/>
                  </a:schemeClr>
                </a:solidFill>
                <a:latin typeface="Consolas" panose="020B0609020204030204" pitchFamily="49" charset="0"/>
              </a:rPr>
              <a:t>// value of the items</a:t>
            </a:r>
          </a:p>
          <a:p>
            <a:r>
              <a:rPr lang="tr-TR" sz="2300" dirty="0">
                <a:solidFill>
                  <a:srgbClr val="000000"/>
                </a:solidFill>
                <a:latin typeface="Consolas" panose="020B0609020204030204" pitchFamily="49" charset="0"/>
              </a:rPr>
              <a:t>Wt=[10,20,30] </a:t>
            </a:r>
            <a:r>
              <a:rPr lang="tr-TR" sz="2300" dirty="0">
                <a:solidFill>
                  <a:schemeClr val="accent3">
                    <a:lumMod val="75000"/>
                  </a:schemeClr>
                </a:solidFill>
                <a:latin typeface="Consolas" panose="020B0609020204030204" pitchFamily="49" charset="0"/>
              </a:rPr>
              <a:t>//weight of the items</a:t>
            </a:r>
          </a:p>
          <a:p>
            <a:r>
              <a:rPr lang="tr-TR" sz="2300" dirty="0">
                <a:solidFill>
                  <a:srgbClr val="000000"/>
                </a:solidFill>
                <a:latin typeface="Consolas" panose="020B0609020204030204" pitchFamily="49" charset="0"/>
              </a:rPr>
              <a:t>W=50 </a:t>
            </a:r>
            <a:r>
              <a:rPr lang="tr-TR" sz="2300" dirty="0">
                <a:solidFill>
                  <a:schemeClr val="accent3">
                    <a:lumMod val="75000"/>
                  </a:schemeClr>
                </a:solidFill>
                <a:latin typeface="Consolas" panose="020B0609020204030204" pitchFamily="49" charset="0"/>
              </a:rPr>
              <a:t>//Capacity(weight) of the knapsack</a:t>
            </a:r>
          </a:p>
          <a:p>
            <a:r>
              <a:rPr lang="tr-TR" sz="2300" dirty="0">
                <a:solidFill>
                  <a:srgbClr val="000000"/>
                </a:solidFill>
                <a:latin typeface="Consolas" panose="020B0609020204030204" pitchFamily="49" charset="0"/>
              </a:rPr>
              <a:t>n=len(val) </a:t>
            </a:r>
            <a:r>
              <a:rPr lang="tr-TR" sz="2300" dirty="0">
                <a:solidFill>
                  <a:schemeClr val="accent3">
                    <a:lumMod val="75000"/>
                  </a:schemeClr>
                </a:solidFill>
                <a:latin typeface="Consolas" panose="020B0609020204030204" pitchFamily="49" charset="0"/>
              </a:rPr>
              <a:t>// number of the items</a:t>
            </a:r>
          </a:p>
          <a:p>
            <a:r>
              <a:rPr lang="tr-TR" sz="2300" dirty="0">
                <a:solidFill>
                  <a:schemeClr val="accent3">
                    <a:lumMod val="75000"/>
                  </a:schemeClr>
                </a:solidFill>
                <a:latin typeface="Consolas" panose="020B0609020204030204" pitchFamily="49" charset="0"/>
              </a:rPr>
              <a:t>//First initialize with -1</a:t>
            </a:r>
          </a:p>
          <a:p>
            <a:r>
              <a:rPr lang="tr-TR" sz="2300" dirty="0">
                <a:solidFill>
                  <a:schemeClr val="accent1"/>
                </a:solidFill>
                <a:latin typeface="Consolas" panose="020B0609020204030204" pitchFamily="49" charset="0"/>
              </a:rPr>
              <a:t>for</a:t>
            </a:r>
            <a:r>
              <a:rPr lang="tr-TR" sz="2300" dirty="0">
                <a:latin typeface="Consolas" panose="020B0609020204030204" pitchFamily="49" charset="0"/>
              </a:rPr>
              <a:t> (i=0 to n+1,i++):</a:t>
            </a:r>
          </a:p>
          <a:p>
            <a:r>
              <a:rPr lang="tr-TR" sz="2300" dirty="0">
                <a:latin typeface="Consolas" panose="020B0609020204030204" pitchFamily="49" charset="0"/>
              </a:rPr>
              <a:t>  </a:t>
            </a:r>
            <a:r>
              <a:rPr lang="tr-TR" sz="2300" dirty="0">
                <a:solidFill>
                  <a:schemeClr val="accent1"/>
                </a:solidFill>
                <a:latin typeface="Consolas" panose="020B0609020204030204" pitchFamily="49" charset="0"/>
              </a:rPr>
              <a:t>for</a:t>
            </a:r>
            <a:r>
              <a:rPr lang="tr-TR" sz="2300" dirty="0">
                <a:latin typeface="Consolas" panose="020B0609020204030204" pitchFamily="49" charset="0"/>
              </a:rPr>
              <a:t> (j=-1 to w+1,j++):</a:t>
            </a:r>
          </a:p>
          <a:p>
            <a:r>
              <a:rPr lang="tr-TR" sz="2300" dirty="0">
                <a:latin typeface="Consolas" panose="020B0609020204030204" pitchFamily="49" charset="0"/>
              </a:rPr>
              <a:t>    t[n][w]=-1</a:t>
            </a:r>
          </a:p>
          <a:p>
            <a:r>
              <a:rPr lang="tr-TR" sz="2300" dirty="0" err="1" smtClean="0">
                <a:latin typeface="Consolas" panose="020B0609020204030204" pitchFamily="49" charset="0"/>
              </a:rPr>
              <a:t>function</a:t>
            </a:r>
            <a:r>
              <a:rPr lang="tr-TR" sz="2300" dirty="0" smtClean="0">
                <a:solidFill>
                  <a:schemeClr val="accent2"/>
                </a:solidFill>
                <a:latin typeface="Consolas" panose="020B0609020204030204" pitchFamily="49" charset="0"/>
              </a:rPr>
              <a:t> </a:t>
            </a:r>
            <a:r>
              <a:rPr lang="tr-TR" sz="2300" dirty="0" err="1" smtClean="0">
                <a:solidFill>
                  <a:schemeClr val="accent2"/>
                </a:solidFill>
                <a:latin typeface="Consolas" panose="020B0609020204030204" pitchFamily="49" charset="0"/>
              </a:rPr>
              <a:t>knapsack</a:t>
            </a:r>
            <a:r>
              <a:rPr lang="tr-TR" sz="2300" dirty="0" smtClean="0">
                <a:latin typeface="Consolas" panose="020B0609020204030204" pitchFamily="49" charset="0"/>
              </a:rPr>
              <a:t>(</a:t>
            </a:r>
            <a:r>
              <a:rPr lang="tr-TR" sz="2300" dirty="0" err="1" smtClean="0">
                <a:latin typeface="Consolas" panose="020B0609020204030204" pitchFamily="49" charset="0"/>
              </a:rPr>
              <a:t>W,wt,val,n</a:t>
            </a:r>
            <a:r>
              <a:rPr lang="tr-TR" sz="2300" dirty="0">
                <a:latin typeface="Consolas" panose="020B0609020204030204" pitchFamily="49" charset="0"/>
              </a:rPr>
              <a:t>): </a:t>
            </a:r>
          </a:p>
          <a:p>
            <a:r>
              <a:rPr lang="tr-TR" sz="2300" dirty="0">
                <a:latin typeface="Consolas" panose="020B0609020204030204" pitchFamily="49" charset="0"/>
              </a:rPr>
              <a:t>  </a:t>
            </a:r>
            <a:r>
              <a:rPr lang="tr-TR" sz="2300" dirty="0">
                <a:solidFill>
                  <a:schemeClr val="accent3">
                    <a:lumMod val="75000"/>
                  </a:schemeClr>
                </a:solidFill>
                <a:latin typeface="Consolas" panose="020B0609020204030204" pitchFamily="49" charset="0"/>
              </a:rPr>
              <a:t>//base conditions</a:t>
            </a:r>
          </a:p>
          <a:p>
            <a:r>
              <a:rPr lang="tr-TR" sz="2300" dirty="0">
                <a:solidFill>
                  <a:schemeClr val="accent1"/>
                </a:solidFill>
                <a:latin typeface="Consolas" panose="020B0609020204030204" pitchFamily="49" charset="0"/>
              </a:rPr>
              <a:t>  if</a:t>
            </a:r>
            <a:r>
              <a:rPr lang="tr-TR" sz="2300" dirty="0">
                <a:latin typeface="Consolas" panose="020B0609020204030204" pitchFamily="49" charset="0"/>
              </a:rPr>
              <a:t> (n=0 or W=0): </a:t>
            </a:r>
            <a:r>
              <a:rPr lang="tr-TR" sz="2300" dirty="0">
                <a:solidFill>
                  <a:schemeClr val="accent4"/>
                </a:solidFill>
                <a:latin typeface="Consolas" panose="020B0609020204030204" pitchFamily="49" charset="0"/>
              </a:rPr>
              <a:t>return</a:t>
            </a:r>
            <a:r>
              <a:rPr lang="tr-TR" sz="2300" dirty="0">
                <a:latin typeface="Consolas" panose="020B0609020204030204" pitchFamily="49" charset="0"/>
              </a:rPr>
              <a:t> 0</a:t>
            </a:r>
          </a:p>
          <a:p>
            <a:r>
              <a:rPr lang="tr-TR" sz="2300" dirty="0">
                <a:latin typeface="Consolas" panose="020B0609020204030204" pitchFamily="49" charset="0"/>
              </a:rPr>
              <a:t>  </a:t>
            </a:r>
            <a:r>
              <a:rPr lang="tr-TR" sz="2300" dirty="0">
                <a:solidFill>
                  <a:schemeClr val="accent1"/>
                </a:solidFill>
                <a:latin typeface="Consolas" panose="020B0609020204030204" pitchFamily="49" charset="0"/>
              </a:rPr>
              <a:t>İf</a:t>
            </a:r>
            <a:r>
              <a:rPr lang="tr-TR" sz="2300" dirty="0">
                <a:latin typeface="Consolas" panose="020B0609020204030204" pitchFamily="49" charset="0"/>
              </a:rPr>
              <a:t> (t[n][W]!= -1): </a:t>
            </a:r>
            <a:r>
              <a:rPr lang="tr-TR" sz="2300" dirty="0">
                <a:solidFill>
                  <a:schemeClr val="accent4"/>
                </a:solidFill>
                <a:latin typeface="Consolas" panose="020B0609020204030204" pitchFamily="49" charset="0"/>
              </a:rPr>
              <a:t>return</a:t>
            </a:r>
            <a:r>
              <a:rPr lang="tr-TR" sz="2300" dirty="0">
                <a:latin typeface="Consolas" panose="020B0609020204030204" pitchFamily="49" charset="0"/>
              </a:rPr>
              <a:t> t[n][W]</a:t>
            </a:r>
          </a:p>
          <a:p>
            <a:r>
              <a:rPr lang="tr-TR" sz="2300" dirty="0">
                <a:latin typeface="Consolas" panose="020B0609020204030204" pitchFamily="49" charset="0"/>
              </a:rPr>
              <a:t>  </a:t>
            </a:r>
            <a:r>
              <a:rPr lang="tr-TR" sz="2300" dirty="0">
                <a:solidFill>
                  <a:schemeClr val="accent3">
                    <a:lumMod val="75000"/>
                  </a:schemeClr>
                </a:solidFill>
                <a:latin typeface="Consolas" panose="020B0609020204030204" pitchFamily="49" charset="0"/>
              </a:rPr>
              <a:t>//choice diagram code</a:t>
            </a:r>
          </a:p>
          <a:p>
            <a:r>
              <a:rPr lang="tr-TR" sz="2300" dirty="0">
                <a:solidFill>
                  <a:schemeClr val="accent1"/>
                </a:solidFill>
                <a:latin typeface="Consolas" panose="020B0609020204030204" pitchFamily="49" charset="0"/>
              </a:rPr>
              <a:t>  if (</a:t>
            </a:r>
            <a:r>
              <a:rPr lang="tr-TR" sz="2300" dirty="0">
                <a:latin typeface="Consolas" panose="020B0609020204030204" pitchFamily="49" charset="0"/>
              </a:rPr>
              <a:t>wt[n-1]&lt;=W):</a:t>
            </a:r>
          </a:p>
          <a:p>
            <a:r>
              <a:rPr lang="tr-TR" sz="2300" dirty="0">
                <a:latin typeface="Consolas" panose="020B0609020204030204" pitchFamily="49" charset="0"/>
              </a:rPr>
              <a:t>    T[n][W] = </a:t>
            </a:r>
            <a:r>
              <a:rPr lang="tr-TR" sz="2300" dirty="0">
                <a:solidFill>
                  <a:schemeClr val="accent6"/>
                </a:solidFill>
                <a:latin typeface="Consolas" panose="020B0609020204030204" pitchFamily="49" charset="0"/>
              </a:rPr>
              <a:t>max</a:t>
            </a:r>
            <a:r>
              <a:rPr lang="tr-TR" sz="2300" dirty="0">
                <a:latin typeface="Consolas" panose="020B0609020204030204" pitchFamily="49" charset="0"/>
              </a:rPr>
              <a:t>(val[n-1]+</a:t>
            </a:r>
            <a:r>
              <a:rPr lang="tr-TR" sz="2300" dirty="0">
                <a:solidFill>
                  <a:schemeClr val="accent2"/>
                </a:solidFill>
                <a:latin typeface="Consolas" panose="020B0609020204030204" pitchFamily="49" charset="0"/>
              </a:rPr>
              <a:t>knapsack</a:t>
            </a:r>
            <a:r>
              <a:rPr lang="tr-TR" sz="2300" dirty="0">
                <a:latin typeface="Consolas" panose="020B0609020204030204" pitchFamily="49" charset="0"/>
              </a:rPr>
              <a:t>(wt,val,W-wt[n-1],n-1), </a:t>
            </a:r>
            <a:r>
              <a:rPr lang="tr-TR" sz="2300" dirty="0">
                <a:solidFill>
                  <a:schemeClr val="accent2"/>
                </a:solidFill>
                <a:latin typeface="Consolas" panose="020B0609020204030204" pitchFamily="49" charset="0"/>
              </a:rPr>
              <a:t>knapsack</a:t>
            </a:r>
            <a:r>
              <a:rPr lang="tr-TR" sz="2300" dirty="0">
                <a:latin typeface="Consolas" panose="020B0609020204030204" pitchFamily="49" charset="0"/>
              </a:rPr>
              <a:t>(wt,val,W,n-1))</a:t>
            </a:r>
          </a:p>
          <a:p>
            <a:r>
              <a:rPr lang="tr-TR" sz="2300" dirty="0">
                <a:latin typeface="Consolas" panose="020B0609020204030204" pitchFamily="49" charset="0"/>
              </a:rPr>
              <a:t>    </a:t>
            </a:r>
            <a:r>
              <a:rPr lang="tr-TR" sz="2300" dirty="0">
                <a:solidFill>
                  <a:schemeClr val="accent4"/>
                </a:solidFill>
                <a:latin typeface="Consolas" panose="020B0609020204030204" pitchFamily="49" charset="0"/>
              </a:rPr>
              <a:t>return</a:t>
            </a:r>
            <a:r>
              <a:rPr lang="tr-TR" sz="2300" dirty="0">
                <a:latin typeface="Consolas" panose="020B0609020204030204" pitchFamily="49" charset="0"/>
              </a:rPr>
              <a:t> t[n][W]</a:t>
            </a:r>
          </a:p>
          <a:p>
            <a:r>
              <a:rPr lang="tr-TR" sz="2300" dirty="0">
                <a:latin typeface="Consolas" panose="020B0609020204030204" pitchFamily="49" charset="0"/>
              </a:rPr>
              <a:t>  </a:t>
            </a:r>
            <a:r>
              <a:rPr lang="tr-TR" sz="2300" dirty="0">
                <a:solidFill>
                  <a:schemeClr val="accent1"/>
                </a:solidFill>
                <a:latin typeface="Consolas" panose="020B0609020204030204" pitchFamily="49" charset="0"/>
              </a:rPr>
              <a:t>else if (</a:t>
            </a:r>
            <a:r>
              <a:rPr lang="tr-TR" sz="2300" dirty="0">
                <a:latin typeface="Consolas" panose="020B0609020204030204" pitchFamily="49" charset="0"/>
              </a:rPr>
              <a:t>wt[n-1]&gt;W): T[n][W] = </a:t>
            </a:r>
            <a:r>
              <a:rPr lang="tr-TR" sz="2300" dirty="0">
                <a:solidFill>
                  <a:schemeClr val="accent2"/>
                </a:solidFill>
                <a:latin typeface="Consolas" panose="020B0609020204030204" pitchFamily="49" charset="0"/>
              </a:rPr>
              <a:t>knapsack</a:t>
            </a:r>
            <a:r>
              <a:rPr lang="tr-TR" sz="2300" dirty="0">
                <a:latin typeface="Consolas" panose="020B0609020204030204" pitchFamily="49" charset="0"/>
              </a:rPr>
              <a:t>(wt,val,W,n-1)</a:t>
            </a:r>
          </a:p>
          <a:p>
            <a:r>
              <a:rPr lang="tr-TR" sz="2300" dirty="0">
                <a:latin typeface="Consolas" panose="020B0609020204030204" pitchFamily="49" charset="0"/>
              </a:rPr>
              <a:t>  </a:t>
            </a:r>
            <a:r>
              <a:rPr lang="tr-TR" sz="2300" dirty="0">
                <a:solidFill>
                  <a:schemeClr val="accent4"/>
                </a:solidFill>
                <a:latin typeface="Consolas" panose="020B0609020204030204" pitchFamily="49" charset="0"/>
              </a:rPr>
              <a:t>return</a:t>
            </a:r>
            <a:r>
              <a:rPr lang="tr-TR" sz="2300" dirty="0">
                <a:latin typeface="Consolas" panose="020B0609020204030204" pitchFamily="49" charset="0"/>
              </a:rPr>
              <a:t> t[n][W]</a:t>
            </a:r>
          </a:p>
          <a:p>
            <a:r>
              <a:rPr lang="tr-TR" sz="2300" dirty="0">
                <a:latin typeface="Consolas" panose="020B0609020204030204" pitchFamily="49" charset="0"/>
              </a:rPr>
              <a:t>Print(</a:t>
            </a:r>
            <a:r>
              <a:rPr lang="tr-TR" sz="2300" dirty="0">
                <a:solidFill>
                  <a:schemeClr val="accent2"/>
                </a:solidFill>
                <a:latin typeface="Consolas" panose="020B0609020204030204" pitchFamily="49" charset="0"/>
              </a:rPr>
              <a:t>knapsack</a:t>
            </a:r>
            <a:r>
              <a:rPr lang="tr-TR" sz="2300" dirty="0">
                <a:latin typeface="Consolas" panose="020B0609020204030204" pitchFamily="49" charset="0"/>
              </a:rPr>
              <a:t>(wt,val,W,n))</a:t>
            </a:r>
          </a:p>
          <a:p>
            <a:endParaRPr lang="en-US" dirty="0"/>
          </a:p>
        </p:txBody>
      </p:sp>
    </p:spTree>
    <p:extLst>
      <p:ext uri="{BB962C8B-B14F-4D97-AF65-F5344CB8AC3E}">
        <p14:creationId xmlns:p14="http://schemas.microsoft.com/office/powerpoint/2010/main" val="35104950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normAutofit/>
          </a:bodyPr>
          <a:lstStyle/>
          <a:p>
            <a:r>
              <a:rPr lang="tr-TR" dirty="0" smtClean="0"/>
              <a:t>3SAT</a:t>
            </a:r>
            <a:endParaRPr lang="tr-TR" dirty="0"/>
          </a:p>
        </p:txBody>
      </p:sp>
      <p:sp>
        <p:nvSpPr>
          <p:cNvPr id="3" name="İçerik Yer Tutucusu 2"/>
          <p:cNvSpPr>
            <a:spLocks noGrp="1"/>
          </p:cNvSpPr>
          <p:nvPr>
            <p:ph idx="1"/>
          </p:nvPr>
        </p:nvSpPr>
        <p:spPr>
          <a:xfrm>
            <a:off x="395536" y="1412776"/>
            <a:ext cx="8229600" cy="5112568"/>
          </a:xfrm>
        </p:spPr>
        <p:txBody>
          <a:bodyPr>
            <a:noAutofit/>
          </a:bodyPr>
          <a:lstStyle/>
          <a:p>
            <a:pPr>
              <a:lnSpc>
                <a:spcPct val="170000"/>
              </a:lnSpc>
            </a:pPr>
            <a:r>
              <a:rPr lang="tr-TR" sz="1600" dirty="0">
                <a:latin typeface="Arial" pitchFamily="34" charset="0"/>
                <a:cs typeface="Arial" pitchFamily="34" charset="0"/>
              </a:rPr>
              <a:t>SAT is boolean satisfiability problem</a:t>
            </a:r>
            <a:r>
              <a:rPr lang="tr-TR" sz="1600" dirty="0"/>
              <a:t>. </a:t>
            </a:r>
            <a:r>
              <a:rPr lang="tr-TR" sz="1600" smtClean="0"/>
              <a:t>I</a:t>
            </a:r>
            <a:r>
              <a:rPr lang="tr-TR" sz="1600" smtClean="0"/>
              <a:t>t</a:t>
            </a:r>
            <a:r>
              <a:rPr lang="tr-TR" sz="1600" dirty="0" smtClean="0"/>
              <a:t> </a:t>
            </a:r>
            <a:r>
              <a:rPr lang="en-US" sz="1600" i="0" dirty="0">
                <a:effectLst/>
                <a:latin typeface="Arial" panose="020B0604020202020204" pitchFamily="34" charset="0"/>
              </a:rPr>
              <a:t>determine if there exists</a:t>
            </a:r>
            <a:r>
              <a:rPr lang="tr-TR" sz="1600" i="0" dirty="0">
                <a:effectLst/>
                <a:latin typeface="Arial" panose="020B0604020202020204" pitchFamily="34" charset="0"/>
              </a:rPr>
              <a:t> an interpratation</a:t>
            </a:r>
            <a:r>
              <a:rPr lang="tr-TR" sz="1600" dirty="0">
                <a:latin typeface="Arial" panose="020B0604020202020204" pitchFamily="34" charset="0"/>
              </a:rPr>
              <a:t> that </a:t>
            </a:r>
            <a:r>
              <a:rPr lang="tr-TR" sz="1600" i="0" strike="noStrike" dirty="0">
                <a:effectLst/>
                <a:latin typeface="Arial" panose="020B0604020202020204" pitchFamily="34" charset="0"/>
              </a:rPr>
              <a:t>satisfies</a:t>
            </a:r>
            <a:r>
              <a:rPr lang="en-US" sz="1600" i="0" dirty="0">
                <a:effectLst/>
                <a:latin typeface="Arial" panose="020B0604020202020204" pitchFamily="34" charset="0"/>
              </a:rPr>
              <a:t> a given </a:t>
            </a:r>
            <a:r>
              <a:rPr lang="tr-TR" sz="1600" i="0" strike="noStrike" dirty="0">
                <a:effectLst/>
                <a:latin typeface="Arial" panose="020B0604020202020204" pitchFamily="34" charset="0"/>
              </a:rPr>
              <a:t>boolean formula</a:t>
            </a:r>
            <a:r>
              <a:rPr lang="en-US" sz="1600" i="0" dirty="0">
                <a:effectLst/>
                <a:latin typeface="Arial" panose="020B0604020202020204" pitchFamily="34" charset="0"/>
              </a:rPr>
              <a:t>.</a:t>
            </a:r>
            <a:r>
              <a:rPr lang="tr-TR" sz="1600" i="0" dirty="0">
                <a:effectLst/>
                <a:latin typeface="Arial" panose="020B0604020202020204" pitchFamily="34" charset="0"/>
              </a:rPr>
              <a:t> </a:t>
            </a:r>
          </a:p>
          <a:p>
            <a:pPr>
              <a:lnSpc>
                <a:spcPct val="170000"/>
              </a:lnSpc>
            </a:pPr>
            <a:r>
              <a:rPr lang="tr-TR" sz="1600" b="0" i="0" dirty="0">
                <a:solidFill>
                  <a:srgbClr val="202122"/>
                </a:solidFill>
                <a:effectLst/>
                <a:latin typeface="Arial" panose="020B0604020202020204" pitchFamily="34" charset="0"/>
              </a:rPr>
              <a:t>3SAT is boolean satisfiability problem but the </a:t>
            </a:r>
            <a:r>
              <a:rPr lang="en-US" sz="1600" b="0" i="0" u="sng" dirty="0">
                <a:solidFill>
                  <a:srgbClr val="202122"/>
                </a:solidFill>
                <a:effectLst/>
                <a:latin typeface="Arial" panose="020B0604020202020204" pitchFamily="34" charset="0"/>
              </a:rPr>
              <a:t>clause is limited to </a:t>
            </a:r>
            <a:r>
              <a:rPr lang="en-US" sz="1600" b="0" i="0" u="sng" dirty="0">
                <a:solidFill>
                  <a:schemeClr val="accent2"/>
                </a:solidFill>
                <a:effectLst/>
                <a:latin typeface="Arial" panose="020B0604020202020204" pitchFamily="34" charset="0"/>
              </a:rPr>
              <a:t>at most </a:t>
            </a:r>
            <a:r>
              <a:rPr lang="en-US" sz="1600" b="0" i="0" u="sng" dirty="0">
                <a:solidFill>
                  <a:srgbClr val="202122"/>
                </a:solidFill>
                <a:effectLst/>
                <a:latin typeface="Arial" panose="020B0604020202020204" pitchFamily="34" charset="0"/>
              </a:rPr>
              <a:t>three literals</a:t>
            </a:r>
            <a:r>
              <a:rPr lang="tr-TR" sz="1600" b="0" i="0" u="sng" dirty="0">
                <a:solidFill>
                  <a:srgbClr val="202122"/>
                </a:solidFill>
                <a:effectLst/>
                <a:latin typeface="Arial" panose="020B0604020202020204" pitchFamily="34" charset="0"/>
              </a:rPr>
              <a:t>. </a:t>
            </a:r>
            <a:endParaRPr lang="tr-TR" sz="1600" b="0" i="0" u="sng" dirty="0" smtClean="0">
              <a:solidFill>
                <a:srgbClr val="202122"/>
              </a:solidFill>
              <a:effectLst/>
              <a:latin typeface="Arial" panose="020B0604020202020204" pitchFamily="34" charset="0"/>
            </a:endParaRPr>
          </a:p>
          <a:p>
            <a:pPr>
              <a:lnSpc>
                <a:spcPct val="170000"/>
              </a:lnSpc>
            </a:pPr>
            <a:r>
              <a:rPr lang="tr-TR" sz="1600" dirty="0" smtClean="0">
                <a:latin typeface="Arial" pitchFamily="34" charset="0"/>
                <a:cs typeface="Arial" pitchFamily="34" charset="0"/>
              </a:rPr>
              <a:t>3SAT={&lt;</a:t>
            </a:r>
            <a:r>
              <a:rPr lang="tr-TR" sz="1600" dirty="0">
                <a:latin typeface="Arial" pitchFamily="34" charset="0"/>
                <a:cs typeface="Arial" pitchFamily="34" charset="0"/>
              </a:rPr>
              <a:t>∅</a:t>
            </a:r>
            <a:r>
              <a:rPr lang="tr-TR" sz="1600" dirty="0" smtClean="0">
                <a:latin typeface="Arial" pitchFamily="34" charset="0"/>
                <a:cs typeface="Arial" pitchFamily="34" charset="0"/>
              </a:rPr>
              <a:t>&gt;|</a:t>
            </a:r>
            <a:r>
              <a:rPr lang="tr-TR" sz="1600" dirty="0">
                <a:latin typeface="Arial" pitchFamily="34" charset="0"/>
                <a:cs typeface="Arial" pitchFamily="34" charset="0"/>
              </a:rPr>
              <a:t>∅</a:t>
            </a:r>
            <a:r>
              <a:rPr lang="tr-TR" sz="1600" dirty="0" smtClean="0">
                <a:latin typeface="Arial" pitchFamily="34" charset="0"/>
                <a:cs typeface="Arial" pitchFamily="34" charset="0"/>
              </a:rPr>
              <a:t>,3CNF-formula is </a:t>
            </a:r>
            <a:r>
              <a:rPr lang="tr-TR" sz="1600" dirty="0" err="1" smtClean="0">
                <a:latin typeface="Arial" pitchFamily="34" charset="0"/>
                <a:cs typeface="Arial" pitchFamily="34" charset="0"/>
              </a:rPr>
              <a:t>satisfiable</a:t>
            </a:r>
            <a:r>
              <a:rPr lang="tr-TR" sz="1600" dirty="0" smtClean="0">
                <a:latin typeface="Arial" pitchFamily="34" charset="0"/>
                <a:cs typeface="Arial" pitchFamily="34" charset="0"/>
              </a:rPr>
              <a:t>}</a:t>
            </a:r>
          </a:p>
          <a:p>
            <a:pPr>
              <a:lnSpc>
                <a:spcPct val="170000"/>
              </a:lnSpc>
            </a:pPr>
            <a:r>
              <a:rPr lang="en-US" sz="1600" dirty="0">
                <a:latin typeface="Arial" pitchFamily="34" charset="0"/>
                <a:cs typeface="Arial" pitchFamily="34" charset="0"/>
              </a:rPr>
              <a:t>If an expression satisfies a </a:t>
            </a:r>
            <a:r>
              <a:rPr lang="en-US" sz="1600" dirty="0" err="1">
                <a:latin typeface="Arial" pitchFamily="34" charset="0"/>
                <a:cs typeface="Arial" pitchFamily="34" charset="0"/>
              </a:rPr>
              <a:t>cnf</a:t>
            </a:r>
            <a:r>
              <a:rPr lang="en-US" sz="1600" dirty="0">
                <a:latin typeface="Arial" pitchFamily="34" charset="0"/>
                <a:cs typeface="Arial" pitchFamily="34" charset="0"/>
              </a:rPr>
              <a:t>-formula, it must contain a sentence of it at least one literary with a </a:t>
            </a:r>
            <a:r>
              <a:rPr lang="tr-TR" sz="1600" dirty="0" err="1" smtClean="0">
                <a:latin typeface="Arial" pitchFamily="34" charset="0"/>
                <a:cs typeface="Arial" pitchFamily="34" charset="0"/>
              </a:rPr>
              <a:t>result</a:t>
            </a:r>
            <a:r>
              <a:rPr lang="tr-TR" sz="1600" dirty="0" smtClean="0">
                <a:latin typeface="Arial" pitchFamily="34" charset="0"/>
                <a:cs typeface="Arial" pitchFamily="34" charset="0"/>
              </a:rPr>
              <a:t> of 1</a:t>
            </a:r>
            <a:r>
              <a:rPr lang="en-US" sz="1600" dirty="0" smtClean="0">
                <a:latin typeface="Arial" pitchFamily="34" charset="0"/>
                <a:cs typeface="Arial" pitchFamily="34" charset="0"/>
              </a:rPr>
              <a:t>.</a:t>
            </a:r>
            <a:endParaRPr lang="tr-TR" sz="1600" dirty="0" smtClean="0">
              <a:latin typeface="Arial" pitchFamily="34" charset="0"/>
              <a:cs typeface="Arial" pitchFamily="34" charset="0"/>
            </a:endParaRPr>
          </a:p>
          <a:p>
            <a:pPr>
              <a:lnSpc>
                <a:spcPct val="170000"/>
              </a:lnSpc>
            </a:pPr>
            <a:r>
              <a:rPr lang="en-US" sz="1600" dirty="0">
                <a:latin typeface="Arial" pitchFamily="34" charset="0"/>
                <a:cs typeface="Arial" pitchFamily="34" charset="0"/>
              </a:rPr>
              <a:t>Cnf-formula (Conjunctive normal form): It is a Boolean formula consisting of several </a:t>
            </a:r>
            <a:r>
              <a:rPr lang="en-US" sz="1600" u="sng" dirty="0">
                <a:latin typeface="Arial" pitchFamily="34" charset="0"/>
                <a:cs typeface="Arial" pitchFamily="34" charset="0"/>
              </a:rPr>
              <a:t>clauses</a:t>
            </a:r>
            <a:r>
              <a:rPr lang="en-US" sz="1600" dirty="0">
                <a:latin typeface="Arial" pitchFamily="34" charset="0"/>
                <a:cs typeface="Arial" pitchFamily="34" charset="0"/>
              </a:rPr>
              <a:t> connected together by </a:t>
            </a:r>
            <a:r>
              <a:rPr lang="en-US" sz="1600" dirty="0" smtClean="0">
                <a:latin typeface="Arial" pitchFamily="34" charset="0"/>
                <a:cs typeface="Arial" pitchFamily="34" charset="0"/>
              </a:rPr>
              <a:t>∧</a:t>
            </a:r>
            <a:r>
              <a:rPr lang="tr-TR" sz="1600" dirty="0" smtClean="0">
                <a:latin typeface="Arial" pitchFamily="34" charset="0"/>
                <a:cs typeface="Arial" pitchFamily="34" charset="0"/>
              </a:rPr>
              <a:t> (and) </a:t>
            </a:r>
            <a:r>
              <a:rPr lang="tr-TR" sz="1600" dirty="0" err="1" smtClean="0">
                <a:latin typeface="Arial" pitchFamily="34" charset="0"/>
                <a:cs typeface="Arial" pitchFamily="34" charset="0"/>
              </a:rPr>
              <a:t>symbols</a:t>
            </a:r>
            <a:r>
              <a:rPr lang="tr-TR" sz="1600" dirty="0" smtClean="0">
                <a:latin typeface="Arial" pitchFamily="34" charset="0"/>
                <a:cs typeface="Arial" pitchFamily="34" charset="0"/>
              </a:rPr>
              <a:t>(</a:t>
            </a:r>
            <a:r>
              <a:rPr lang="tr-TR" sz="1600" dirty="0" err="1" smtClean="0">
                <a:latin typeface="Arial" pitchFamily="34" charset="0"/>
                <a:cs typeface="Arial" pitchFamily="34" charset="0"/>
              </a:rPr>
              <a:t>e.g</a:t>
            </a:r>
            <a:r>
              <a:rPr lang="tr-TR" sz="1600" dirty="0">
                <a:latin typeface="Arial" pitchFamily="34" charset="0"/>
                <a:cs typeface="Arial" pitchFamily="34" charset="0"/>
              </a:rPr>
              <a:t> </a:t>
            </a:r>
            <a:r>
              <a:rPr lang="tr-TR" sz="1600" dirty="0" smtClean="0">
                <a:latin typeface="Arial" pitchFamily="34" charset="0"/>
                <a:cs typeface="Arial" pitchFamily="34" charset="0"/>
              </a:rPr>
              <a:t>((~x3 </a:t>
            </a:r>
            <a:r>
              <a:rPr lang="en-US" sz="1600" dirty="0">
                <a:latin typeface="Arial" pitchFamily="34" charset="0"/>
                <a:cs typeface="Arial" pitchFamily="34" charset="0"/>
              </a:rPr>
              <a:t>∨</a:t>
            </a:r>
            <a:r>
              <a:rPr lang="tr-TR" sz="1600" dirty="0" smtClean="0">
                <a:latin typeface="Arial" pitchFamily="34" charset="0"/>
                <a:cs typeface="Arial" pitchFamily="34" charset="0"/>
              </a:rPr>
              <a:t> x2 </a:t>
            </a:r>
            <a:r>
              <a:rPr lang="en-US" sz="1600" dirty="0">
                <a:latin typeface="Arial" pitchFamily="34" charset="0"/>
                <a:cs typeface="Arial" pitchFamily="34" charset="0"/>
              </a:rPr>
              <a:t>∨</a:t>
            </a:r>
            <a:r>
              <a:rPr lang="tr-TR" sz="1600" dirty="0" smtClean="0">
                <a:latin typeface="Arial" pitchFamily="34" charset="0"/>
                <a:cs typeface="Arial" pitchFamily="34" charset="0"/>
              </a:rPr>
              <a:t> ~x1) </a:t>
            </a:r>
            <a:r>
              <a:rPr lang="en-US" sz="1600" dirty="0">
                <a:solidFill>
                  <a:schemeClr val="accent2"/>
                </a:solidFill>
                <a:latin typeface="Arial" pitchFamily="34" charset="0"/>
                <a:cs typeface="Arial" pitchFamily="34" charset="0"/>
              </a:rPr>
              <a:t>∧</a:t>
            </a:r>
            <a:r>
              <a:rPr lang="tr-TR" sz="1600" dirty="0" smtClean="0">
                <a:latin typeface="Arial" pitchFamily="34" charset="0"/>
                <a:cs typeface="Arial" pitchFamily="34" charset="0"/>
              </a:rPr>
              <a:t> (</a:t>
            </a:r>
            <a:r>
              <a:rPr lang="tr-TR" sz="1600" dirty="0">
                <a:latin typeface="Arial" pitchFamily="34" charset="0"/>
                <a:cs typeface="Arial" pitchFamily="34" charset="0"/>
              </a:rPr>
              <a:t>x1 </a:t>
            </a:r>
            <a:r>
              <a:rPr lang="en-US" sz="1600" dirty="0">
                <a:latin typeface="Arial" pitchFamily="34" charset="0"/>
                <a:cs typeface="Arial" pitchFamily="34" charset="0"/>
              </a:rPr>
              <a:t>∨</a:t>
            </a:r>
            <a:r>
              <a:rPr lang="tr-TR" sz="1600" dirty="0">
                <a:latin typeface="Arial" pitchFamily="34" charset="0"/>
                <a:cs typeface="Arial" pitchFamily="34" charset="0"/>
              </a:rPr>
              <a:t> x2 </a:t>
            </a:r>
            <a:r>
              <a:rPr lang="en-US" sz="1600" dirty="0">
                <a:latin typeface="Arial" pitchFamily="34" charset="0"/>
                <a:cs typeface="Arial" pitchFamily="34" charset="0"/>
              </a:rPr>
              <a:t>∨</a:t>
            </a:r>
            <a:r>
              <a:rPr lang="tr-TR" sz="1600" dirty="0">
                <a:latin typeface="Arial" pitchFamily="34" charset="0"/>
                <a:cs typeface="Arial" pitchFamily="34" charset="0"/>
              </a:rPr>
              <a:t> ~x2</a:t>
            </a:r>
            <a:r>
              <a:rPr lang="tr-TR" sz="1600" dirty="0" smtClean="0">
                <a:latin typeface="Arial" pitchFamily="34" charset="0"/>
                <a:cs typeface="Arial" pitchFamily="34" charset="0"/>
              </a:rPr>
              <a:t>) ) )</a:t>
            </a:r>
            <a:r>
              <a:rPr lang="en-US" sz="1600" dirty="0" smtClean="0">
                <a:latin typeface="Arial" pitchFamily="34" charset="0"/>
                <a:cs typeface="Arial" pitchFamily="34" charset="0"/>
              </a:rPr>
              <a:t>.</a:t>
            </a:r>
            <a:endParaRPr lang="tr-TR" sz="1600" dirty="0" smtClean="0">
              <a:latin typeface="Arial" pitchFamily="34" charset="0"/>
              <a:cs typeface="Arial" pitchFamily="34" charset="0"/>
            </a:endParaRPr>
          </a:p>
          <a:p>
            <a:pPr>
              <a:lnSpc>
                <a:spcPct val="170000"/>
              </a:lnSpc>
            </a:pPr>
            <a:r>
              <a:rPr lang="en-US" sz="1600" dirty="0">
                <a:latin typeface="Arial" pitchFamily="34" charset="0"/>
                <a:cs typeface="Arial" pitchFamily="34" charset="0"/>
              </a:rPr>
              <a:t>Clause: </a:t>
            </a:r>
            <a:r>
              <a:rPr lang="tr-TR" sz="1600" dirty="0">
                <a:latin typeface="Arial" pitchFamily="34" charset="0"/>
                <a:cs typeface="Arial" pitchFamily="34" charset="0"/>
              </a:rPr>
              <a:t>F</a:t>
            </a:r>
            <a:r>
              <a:rPr lang="en-US" sz="1600" dirty="0" err="1" smtClean="0">
                <a:latin typeface="Arial" pitchFamily="34" charset="0"/>
                <a:cs typeface="Arial" pitchFamily="34" charset="0"/>
              </a:rPr>
              <a:t>ew</a:t>
            </a:r>
            <a:r>
              <a:rPr lang="en-US" sz="1600" dirty="0" smtClean="0">
                <a:latin typeface="Arial" pitchFamily="34" charset="0"/>
                <a:cs typeface="Arial" pitchFamily="34" charset="0"/>
              </a:rPr>
              <a:t> </a:t>
            </a:r>
            <a:r>
              <a:rPr lang="en-US" sz="1600" u="sng" dirty="0" smtClean="0">
                <a:latin typeface="Arial" pitchFamily="34" charset="0"/>
                <a:cs typeface="Arial" pitchFamily="34" charset="0"/>
              </a:rPr>
              <a:t>liter</a:t>
            </a:r>
            <a:r>
              <a:rPr lang="tr-TR" sz="1600" u="sng" dirty="0" err="1" smtClean="0">
                <a:latin typeface="Arial" pitchFamily="34" charset="0"/>
                <a:cs typeface="Arial" pitchFamily="34" charset="0"/>
              </a:rPr>
              <a:t>als</a:t>
            </a:r>
            <a:r>
              <a:rPr lang="en-US" sz="1600" u="sng" dirty="0" smtClean="0">
                <a:latin typeface="Arial" pitchFamily="34" charset="0"/>
                <a:cs typeface="Arial" pitchFamily="34" charset="0"/>
              </a:rPr>
              <a:t> </a:t>
            </a:r>
            <a:r>
              <a:rPr lang="en-US" sz="1600" dirty="0">
                <a:latin typeface="Arial" pitchFamily="34" charset="0"/>
                <a:cs typeface="Arial" pitchFamily="34" charset="0"/>
              </a:rPr>
              <a:t>connected with the </a:t>
            </a:r>
            <a:r>
              <a:rPr lang="en-US" sz="1600" dirty="0" smtClean="0">
                <a:latin typeface="Arial" pitchFamily="34" charset="0"/>
                <a:cs typeface="Arial" pitchFamily="34" charset="0"/>
              </a:rPr>
              <a:t>∨</a:t>
            </a:r>
            <a:r>
              <a:rPr lang="tr-TR" sz="1600" dirty="0" smtClean="0">
                <a:latin typeface="Arial" pitchFamily="34" charset="0"/>
                <a:cs typeface="Arial" pitchFamily="34" charset="0"/>
              </a:rPr>
              <a:t> (</a:t>
            </a:r>
            <a:r>
              <a:rPr lang="tr-TR" sz="1600" dirty="0" err="1" smtClean="0">
                <a:latin typeface="Arial" pitchFamily="34" charset="0"/>
                <a:cs typeface="Arial" pitchFamily="34" charset="0"/>
              </a:rPr>
              <a:t>or</a:t>
            </a:r>
            <a:r>
              <a:rPr lang="tr-TR" sz="1600" dirty="0" smtClean="0">
                <a:latin typeface="Arial" pitchFamily="34" charset="0"/>
                <a:cs typeface="Arial" pitchFamily="34" charset="0"/>
              </a:rPr>
              <a:t>) </a:t>
            </a:r>
            <a:r>
              <a:rPr lang="tr-TR" sz="1600" dirty="0" err="1" smtClean="0">
                <a:latin typeface="Arial" pitchFamily="34" charset="0"/>
                <a:cs typeface="Arial" pitchFamily="34" charset="0"/>
              </a:rPr>
              <a:t>symbols</a:t>
            </a:r>
            <a:r>
              <a:rPr lang="tr-TR" sz="1600" dirty="0" smtClean="0">
                <a:latin typeface="Arial" pitchFamily="34" charset="0"/>
                <a:cs typeface="Arial" pitchFamily="34" charset="0"/>
              </a:rPr>
              <a:t> (</a:t>
            </a:r>
            <a:r>
              <a:rPr lang="tr-TR" sz="1600" dirty="0" err="1" smtClean="0">
                <a:latin typeface="Arial" pitchFamily="34" charset="0"/>
                <a:cs typeface="Arial" pitchFamily="34" charset="0"/>
              </a:rPr>
              <a:t>e.g</a:t>
            </a:r>
            <a:r>
              <a:rPr lang="tr-TR" sz="1600" dirty="0" smtClean="0">
                <a:latin typeface="Arial" pitchFamily="34" charset="0"/>
                <a:cs typeface="Arial" pitchFamily="34" charset="0"/>
              </a:rPr>
              <a:t> (x1 </a:t>
            </a:r>
            <a:r>
              <a:rPr lang="en-US" sz="1600" dirty="0">
                <a:solidFill>
                  <a:schemeClr val="accent2"/>
                </a:solidFill>
                <a:latin typeface="Arial" pitchFamily="34" charset="0"/>
                <a:cs typeface="Arial" pitchFamily="34" charset="0"/>
              </a:rPr>
              <a:t>∨</a:t>
            </a:r>
            <a:r>
              <a:rPr lang="tr-TR" sz="1600" dirty="0" smtClean="0">
                <a:latin typeface="Arial" pitchFamily="34" charset="0"/>
                <a:cs typeface="Arial" pitchFamily="34" charset="0"/>
              </a:rPr>
              <a:t> x2 </a:t>
            </a:r>
            <a:r>
              <a:rPr lang="en-US" sz="1600" dirty="0">
                <a:solidFill>
                  <a:schemeClr val="accent2"/>
                </a:solidFill>
                <a:latin typeface="Arial" pitchFamily="34" charset="0"/>
                <a:cs typeface="Arial" pitchFamily="34" charset="0"/>
              </a:rPr>
              <a:t>∨</a:t>
            </a:r>
            <a:r>
              <a:rPr lang="tr-TR" sz="1600" dirty="0" smtClean="0">
                <a:latin typeface="Arial" pitchFamily="34" charset="0"/>
                <a:cs typeface="Arial" pitchFamily="34" charset="0"/>
              </a:rPr>
              <a:t> ~x2))</a:t>
            </a:r>
            <a:r>
              <a:rPr lang="en-US" sz="1600" dirty="0" smtClean="0">
                <a:latin typeface="Arial" pitchFamily="34" charset="0"/>
                <a:cs typeface="Arial" pitchFamily="34" charset="0"/>
              </a:rPr>
              <a:t>.</a:t>
            </a:r>
            <a:endParaRPr lang="tr-TR" sz="1600" dirty="0" smtClean="0">
              <a:latin typeface="Arial" pitchFamily="34" charset="0"/>
              <a:cs typeface="Arial" pitchFamily="34" charset="0"/>
            </a:endParaRPr>
          </a:p>
          <a:p>
            <a:pPr>
              <a:lnSpc>
                <a:spcPct val="170000"/>
              </a:lnSpc>
            </a:pPr>
            <a:r>
              <a:rPr lang="en-US" sz="1600" dirty="0">
                <a:latin typeface="Arial" pitchFamily="34" charset="0"/>
                <a:cs typeface="Arial" pitchFamily="34" charset="0"/>
              </a:rPr>
              <a:t>Literal: A </a:t>
            </a:r>
            <a:r>
              <a:rPr lang="en-US" sz="1600" dirty="0" err="1">
                <a:latin typeface="Arial" pitchFamily="34" charset="0"/>
                <a:cs typeface="Arial" pitchFamily="34" charset="0"/>
              </a:rPr>
              <a:t>boolean</a:t>
            </a:r>
            <a:r>
              <a:rPr lang="en-US" sz="1600" dirty="0">
                <a:latin typeface="Arial" pitchFamily="34" charset="0"/>
                <a:cs typeface="Arial" pitchFamily="34" charset="0"/>
              </a:rPr>
              <a:t> variable or its </a:t>
            </a:r>
            <a:r>
              <a:rPr lang="en-US" sz="1600" dirty="0" smtClean="0">
                <a:latin typeface="Arial" pitchFamily="34" charset="0"/>
                <a:cs typeface="Arial" pitchFamily="34" charset="0"/>
              </a:rPr>
              <a:t>complement</a:t>
            </a:r>
            <a:r>
              <a:rPr lang="tr-TR" sz="1600" dirty="0" smtClean="0">
                <a:latin typeface="Arial" pitchFamily="34" charset="0"/>
                <a:cs typeface="Arial" pitchFamily="34" charset="0"/>
              </a:rPr>
              <a:t>(</a:t>
            </a:r>
            <a:r>
              <a:rPr lang="tr-TR" sz="1600" dirty="0" err="1" smtClean="0">
                <a:latin typeface="Arial" pitchFamily="34" charset="0"/>
                <a:cs typeface="Arial" pitchFamily="34" charset="0"/>
              </a:rPr>
              <a:t>e.g</a:t>
            </a:r>
            <a:r>
              <a:rPr lang="tr-TR" sz="1600" dirty="0" smtClean="0">
                <a:latin typeface="Arial" pitchFamily="34" charset="0"/>
                <a:cs typeface="Arial" pitchFamily="34" charset="0"/>
              </a:rPr>
              <a:t> x , ~x)</a:t>
            </a:r>
            <a:r>
              <a:rPr lang="en-US" sz="1600" dirty="0" smtClean="0">
                <a:latin typeface="Arial" pitchFamily="34" charset="0"/>
                <a:cs typeface="Arial" pitchFamily="34" charset="0"/>
              </a:rPr>
              <a:t>.</a:t>
            </a:r>
            <a:endParaRPr lang="tr-TR" sz="1600" dirty="0">
              <a:latin typeface="Arial" pitchFamily="34" charset="0"/>
              <a:cs typeface="Arial" pitchFamily="34" charset="0"/>
            </a:endParaRPr>
          </a:p>
        </p:txBody>
      </p:sp>
    </p:spTree>
    <p:extLst>
      <p:ext uri="{BB962C8B-B14F-4D97-AF65-F5344CB8AC3E}">
        <p14:creationId xmlns:p14="http://schemas.microsoft.com/office/powerpoint/2010/main" val="32621336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8EB8255-311D-42AE-8992-288A698D9462}"/>
              </a:ext>
            </a:extLst>
          </p:cNvPr>
          <p:cNvSpPr>
            <a:spLocks noGrp="1"/>
          </p:cNvSpPr>
          <p:nvPr>
            <p:ph type="title"/>
          </p:nvPr>
        </p:nvSpPr>
        <p:spPr/>
        <p:txBody>
          <a:bodyPr>
            <a:normAutofit fontScale="90000"/>
          </a:bodyPr>
          <a:lstStyle/>
          <a:p>
            <a:r>
              <a:rPr lang="tr-TR" dirty="0"/>
              <a:t>T</a:t>
            </a:r>
            <a:r>
              <a:rPr lang="en-US" dirty="0"/>
              <a:t>he </a:t>
            </a:r>
            <a:r>
              <a:rPr lang="en-US" dirty="0" err="1" smtClean="0"/>
              <a:t>reduc</a:t>
            </a:r>
            <a:r>
              <a:rPr lang="tr-TR" dirty="0" err="1" smtClean="0"/>
              <a:t>ability</a:t>
            </a:r>
            <a:r>
              <a:rPr lang="en-US" dirty="0" smtClean="0"/>
              <a:t> </a:t>
            </a:r>
            <a:r>
              <a:rPr lang="en-US" dirty="0"/>
              <a:t>of 3sat to knapsack</a:t>
            </a:r>
          </a:p>
        </p:txBody>
      </p:sp>
      <p:sp>
        <p:nvSpPr>
          <p:cNvPr id="3" name="Content Placeholder 2">
            <a:extLst>
              <a:ext uri="{FF2B5EF4-FFF2-40B4-BE49-F238E27FC236}">
                <a16:creationId xmlns:a16="http://schemas.microsoft.com/office/drawing/2014/main" xmlns="" id="{287B21B2-99A7-44FC-8D16-1DF7E343ABBF}"/>
              </a:ext>
            </a:extLst>
          </p:cNvPr>
          <p:cNvSpPr>
            <a:spLocks noGrp="1"/>
          </p:cNvSpPr>
          <p:nvPr>
            <p:ph idx="1"/>
          </p:nvPr>
        </p:nvSpPr>
        <p:spPr/>
        <p:txBody>
          <a:bodyPr>
            <a:normAutofit/>
          </a:bodyPr>
          <a:lstStyle/>
          <a:p>
            <a:r>
              <a:rPr lang="en-US" dirty="0"/>
              <a:t>Reduction: If problem A can be reduced to problem B, the solution to problem B can be used for solution of A</a:t>
            </a:r>
            <a:r>
              <a:rPr lang="en-US" dirty="0" smtClean="0"/>
              <a:t>.</a:t>
            </a:r>
            <a:endParaRPr lang="tr-TR" dirty="0" smtClean="0"/>
          </a:p>
          <a:p>
            <a:r>
              <a:rPr lang="en-US" dirty="0"/>
              <a:t>Given 3SAT instance F, we need to construct a list L and a budget </a:t>
            </a:r>
            <a:r>
              <a:rPr lang="tr-TR" dirty="0" smtClean="0"/>
              <a:t>b</a:t>
            </a:r>
            <a:r>
              <a:rPr lang="en-US" dirty="0" smtClean="0"/>
              <a:t>.</a:t>
            </a:r>
            <a:endParaRPr lang="en-US" dirty="0"/>
          </a:p>
          <a:p>
            <a:r>
              <a:rPr lang="en-US" dirty="0"/>
              <a:t>Suppose F has c clauses and v variables.</a:t>
            </a:r>
          </a:p>
          <a:p>
            <a:r>
              <a:rPr lang="en-US" dirty="0"/>
              <a:t>L will have base-32 integers of length </a:t>
            </a:r>
            <a:r>
              <a:rPr lang="en-US" dirty="0" err="1"/>
              <a:t>c+v</a:t>
            </a:r>
            <a:r>
              <a:rPr lang="en-US" dirty="0"/>
              <a:t>, and there will be 3c+2v of them.</a:t>
            </a:r>
          </a:p>
          <a:p>
            <a:endParaRPr lang="tr-TR" dirty="0" smtClean="0"/>
          </a:p>
          <a:p>
            <a:endParaRPr lang="en-US" dirty="0"/>
          </a:p>
        </p:txBody>
      </p:sp>
    </p:spTree>
    <p:extLst>
      <p:ext uri="{BB962C8B-B14F-4D97-AF65-F5344CB8AC3E}">
        <p14:creationId xmlns:p14="http://schemas.microsoft.com/office/powerpoint/2010/main" val="34691555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a:xfrm>
            <a:off x="259137" y="260648"/>
            <a:ext cx="8507288" cy="1143000"/>
          </a:xfrm>
        </p:spPr>
        <p:txBody>
          <a:bodyPr>
            <a:normAutofit fontScale="90000"/>
          </a:bodyPr>
          <a:lstStyle/>
          <a:p>
            <a:r>
              <a:rPr lang="tr-TR" dirty="0" smtClean="0"/>
              <a:t>Picture of </a:t>
            </a:r>
            <a:r>
              <a:rPr lang="tr-TR" dirty="0" err="1" smtClean="0"/>
              <a:t>Integer</a:t>
            </a:r>
            <a:r>
              <a:rPr lang="tr-TR" dirty="0" smtClean="0"/>
              <a:t> </a:t>
            </a:r>
            <a:r>
              <a:rPr lang="tr-TR" dirty="0" err="1" smtClean="0"/>
              <a:t>for</a:t>
            </a:r>
            <a:r>
              <a:rPr lang="tr-TR" dirty="0" smtClean="0"/>
              <a:t> </a:t>
            </a:r>
            <a:r>
              <a:rPr lang="tr-TR" dirty="0" err="1" smtClean="0"/>
              <a:t>Literals</a:t>
            </a:r>
            <a:r>
              <a:rPr lang="tr-TR" dirty="0" smtClean="0"/>
              <a:t> </a:t>
            </a:r>
            <a:r>
              <a:rPr lang="tr-TR" dirty="0" err="1" smtClean="0"/>
              <a:t>and</a:t>
            </a:r>
            <a:r>
              <a:rPr lang="tr-TR" dirty="0" smtClean="0"/>
              <a:t> </a:t>
            </a:r>
            <a:r>
              <a:rPr lang="tr-TR" dirty="0" err="1" smtClean="0"/>
              <a:t>Clauses</a:t>
            </a:r>
            <a:endParaRPr lang="tr-TR" dirty="0"/>
          </a:p>
        </p:txBody>
      </p:sp>
      <p:sp>
        <p:nvSpPr>
          <p:cNvPr id="4" name="Rectangle 2"/>
          <p:cNvSpPr>
            <a:spLocks noGrp="1" noChangeArrowheads="1"/>
          </p:cNvSpPr>
          <p:nvPr>
            <p:ph idx="1"/>
          </p:nvPr>
        </p:nvSpPr>
        <p:spPr>
          <a:xfrm>
            <a:off x="457200" y="1600200"/>
            <a:ext cx="4330824" cy="4525963"/>
          </a:xfrm>
        </p:spPr>
        <p:txBody>
          <a:bodyPr/>
          <a:lstStyle/>
          <a:p>
            <a:r>
              <a:rPr lang="en-US" dirty="0" smtClean="0">
                <a:latin typeface="Arial" pitchFamily="34" charset="0"/>
                <a:cs typeface="Arial" pitchFamily="34" charset="0"/>
              </a:rPr>
              <a:t>Picture of Integers for Literals</a:t>
            </a:r>
            <a:endParaRPr lang="tr-TR" dirty="0" smtClean="0">
              <a:latin typeface="Arial" pitchFamily="34" charset="0"/>
              <a:cs typeface="Arial" pitchFamily="34" charset="0"/>
            </a:endParaRPr>
          </a:p>
          <a:p>
            <a:endParaRPr lang="en-US" dirty="0" smtClean="0"/>
          </a:p>
        </p:txBody>
      </p:sp>
      <p:grpSp>
        <p:nvGrpSpPr>
          <p:cNvPr id="7" name="Group 21"/>
          <p:cNvGrpSpPr>
            <a:grpSpLocks/>
          </p:cNvGrpSpPr>
          <p:nvPr/>
        </p:nvGrpSpPr>
        <p:grpSpPr bwMode="auto">
          <a:xfrm>
            <a:off x="611560" y="2938602"/>
            <a:ext cx="3897046" cy="533400"/>
            <a:chOff x="960" y="1584"/>
            <a:chExt cx="3936" cy="336"/>
          </a:xfrm>
        </p:grpSpPr>
        <p:sp>
          <p:nvSpPr>
            <p:cNvPr id="8" name="Rectangle 3"/>
            <p:cNvSpPr>
              <a:spLocks noChangeArrowheads="1"/>
            </p:cNvSpPr>
            <p:nvPr/>
          </p:nvSpPr>
          <p:spPr bwMode="auto">
            <a:xfrm>
              <a:off x="960" y="1584"/>
              <a:ext cx="3936" cy="33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r-TR"/>
            </a:p>
          </p:txBody>
        </p:sp>
        <p:sp>
          <p:nvSpPr>
            <p:cNvPr id="9" name="Line 5"/>
            <p:cNvSpPr>
              <a:spLocks noChangeShapeType="1"/>
            </p:cNvSpPr>
            <p:nvPr/>
          </p:nvSpPr>
          <p:spPr bwMode="auto">
            <a:xfrm>
              <a:off x="2736" y="1584"/>
              <a:ext cx="0"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r-TR"/>
            </a:p>
          </p:txBody>
        </p:sp>
      </p:grpSp>
      <p:sp>
        <p:nvSpPr>
          <p:cNvPr id="13" name="Text Box 18"/>
          <p:cNvSpPr txBox="1">
            <a:spLocks noChangeArrowheads="1"/>
          </p:cNvSpPr>
          <p:nvPr/>
        </p:nvSpPr>
        <p:spPr bwMode="auto">
          <a:xfrm>
            <a:off x="2454780" y="3036025"/>
            <a:ext cx="2058001"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r>
              <a:rPr lang="en-US" sz="1600" dirty="0"/>
              <a:t>1    1  1        1    11</a:t>
            </a:r>
          </a:p>
        </p:txBody>
      </p:sp>
      <p:sp>
        <p:nvSpPr>
          <p:cNvPr id="14" name="Text Box 13"/>
          <p:cNvSpPr txBox="1">
            <a:spLocks noChangeArrowheads="1"/>
          </p:cNvSpPr>
          <p:nvPr/>
        </p:nvSpPr>
        <p:spPr bwMode="auto">
          <a:xfrm>
            <a:off x="1691680" y="3036025"/>
            <a:ext cx="296876"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r>
              <a:rPr lang="en-US" sz="1600" dirty="0"/>
              <a:t>1</a:t>
            </a:r>
          </a:p>
        </p:txBody>
      </p:sp>
      <p:sp>
        <p:nvSpPr>
          <p:cNvPr id="15" name="Line 6"/>
          <p:cNvSpPr>
            <a:spLocks noChangeShapeType="1"/>
          </p:cNvSpPr>
          <p:nvPr/>
        </p:nvSpPr>
        <p:spPr bwMode="auto">
          <a:xfrm flipH="1" flipV="1">
            <a:off x="2369982" y="3645024"/>
            <a:ext cx="905873"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r-TR"/>
          </a:p>
        </p:txBody>
      </p:sp>
      <p:sp>
        <p:nvSpPr>
          <p:cNvPr id="16" name="Line 10"/>
          <p:cNvSpPr>
            <a:spLocks noChangeShapeType="1"/>
          </p:cNvSpPr>
          <p:nvPr/>
        </p:nvSpPr>
        <p:spPr bwMode="auto">
          <a:xfrm>
            <a:off x="1593701" y="3645024"/>
            <a:ext cx="77628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r-TR"/>
          </a:p>
        </p:txBody>
      </p:sp>
      <p:sp>
        <p:nvSpPr>
          <p:cNvPr id="17" name="Line 11"/>
          <p:cNvSpPr>
            <a:spLocks noChangeShapeType="1"/>
          </p:cNvSpPr>
          <p:nvPr/>
        </p:nvSpPr>
        <p:spPr bwMode="auto">
          <a:xfrm flipH="1">
            <a:off x="611560" y="3645024"/>
            <a:ext cx="64807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r-TR"/>
          </a:p>
        </p:txBody>
      </p:sp>
      <p:sp>
        <p:nvSpPr>
          <p:cNvPr id="18" name="Line 10"/>
          <p:cNvSpPr>
            <a:spLocks noChangeShapeType="1"/>
          </p:cNvSpPr>
          <p:nvPr/>
        </p:nvSpPr>
        <p:spPr bwMode="auto">
          <a:xfrm>
            <a:off x="3736499" y="3645024"/>
            <a:ext cx="77628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r-TR"/>
          </a:p>
        </p:txBody>
      </p:sp>
      <p:sp>
        <p:nvSpPr>
          <p:cNvPr id="25" name="Line 16"/>
          <p:cNvSpPr>
            <a:spLocks noChangeShapeType="1"/>
          </p:cNvSpPr>
          <p:nvPr/>
        </p:nvSpPr>
        <p:spPr bwMode="auto">
          <a:xfrm flipH="1">
            <a:off x="1372242" y="4109500"/>
            <a:ext cx="304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r-TR"/>
          </a:p>
        </p:txBody>
      </p:sp>
      <p:sp>
        <p:nvSpPr>
          <p:cNvPr id="26" name="Line 15"/>
          <p:cNvSpPr>
            <a:spLocks noChangeShapeType="1"/>
          </p:cNvSpPr>
          <p:nvPr/>
        </p:nvSpPr>
        <p:spPr bwMode="auto">
          <a:xfrm>
            <a:off x="1912783" y="4109500"/>
            <a:ext cx="457199"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r-TR"/>
          </a:p>
        </p:txBody>
      </p:sp>
      <p:sp>
        <p:nvSpPr>
          <p:cNvPr id="27" name="Text Box 12"/>
          <p:cNvSpPr txBox="1">
            <a:spLocks noChangeArrowheads="1"/>
          </p:cNvSpPr>
          <p:nvPr/>
        </p:nvSpPr>
        <p:spPr bwMode="auto">
          <a:xfrm>
            <a:off x="1713118" y="3851920"/>
            <a:ext cx="25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r>
              <a:rPr lang="en-US" dirty="0"/>
              <a:t>i</a:t>
            </a:r>
          </a:p>
        </p:txBody>
      </p:sp>
      <p:sp>
        <p:nvSpPr>
          <p:cNvPr id="28" name="Text Box 14"/>
          <p:cNvSpPr txBox="1">
            <a:spLocks noChangeArrowheads="1"/>
          </p:cNvSpPr>
          <p:nvPr/>
        </p:nvSpPr>
        <p:spPr bwMode="auto">
          <a:xfrm>
            <a:off x="582142" y="4533722"/>
            <a:ext cx="1758423"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r>
              <a:rPr lang="en-US" sz="1800" dirty="0">
                <a:latin typeface="Arial" pitchFamily="34" charset="0"/>
                <a:cs typeface="Arial" pitchFamily="34" charset="0"/>
              </a:rPr>
              <a:t>1 in i-</a:t>
            </a:r>
            <a:r>
              <a:rPr lang="en-US" sz="1800" dirty="0" err="1">
                <a:latin typeface="Arial" pitchFamily="34" charset="0"/>
                <a:cs typeface="Arial" pitchFamily="34" charset="0"/>
              </a:rPr>
              <a:t>th</a:t>
            </a:r>
            <a:r>
              <a:rPr lang="en-US" sz="1800" dirty="0">
                <a:latin typeface="Arial" pitchFamily="34" charset="0"/>
                <a:cs typeface="Arial" pitchFamily="34" charset="0"/>
              </a:rPr>
              <a:t> position</a:t>
            </a:r>
          </a:p>
          <a:p>
            <a:r>
              <a:rPr lang="en-US" sz="1800" dirty="0">
                <a:latin typeface="Arial" pitchFamily="34" charset="0"/>
                <a:cs typeface="Arial" pitchFamily="34" charset="0"/>
              </a:rPr>
              <a:t>if this integer is</a:t>
            </a:r>
          </a:p>
          <a:p>
            <a:r>
              <a:rPr lang="en-US" sz="1800" dirty="0">
                <a:latin typeface="Arial" pitchFamily="34" charset="0"/>
                <a:cs typeface="Arial" pitchFamily="34" charset="0"/>
              </a:rPr>
              <a:t>for x</a:t>
            </a:r>
            <a:r>
              <a:rPr lang="en-US" sz="1800" baseline="-25000" dirty="0">
                <a:latin typeface="Arial" pitchFamily="34" charset="0"/>
                <a:cs typeface="Arial" pitchFamily="34" charset="0"/>
              </a:rPr>
              <a:t>i</a:t>
            </a:r>
            <a:r>
              <a:rPr lang="en-US" sz="1800" dirty="0">
                <a:latin typeface="Arial" pitchFamily="34" charset="0"/>
                <a:cs typeface="Arial" pitchFamily="34" charset="0"/>
              </a:rPr>
              <a:t> or -x</a:t>
            </a:r>
            <a:r>
              <a:rPr lang="en-US" sz="1800" baseline="-25000" dirty="0">
                <a:latin typeface="Arial" pitchFamily="34" charset="0"/>
                <a:cs typeface="Arial" pitchFamily="34" charset="0"/>
              </a:rPr>
              <a:t>i</a:t>
            </a:r>
            <a:r>
              <a:rPr lang="en-US" sz="1800" dirty="0">
                <a:latin typeface="Arial" pitchFamily="34" charset="0"/>
                <a:cs typeface="Arial" pitchFamily="34" charset="0"/>
              </a:rPr>
              <a:t>.</a:t>
            </a:r>
          </a:p>
        </p:txBody>
      </p:sp>
      <p:sp>
        <p:nvSpPr>
          <p:cNvPr id="29" name="Text Box 22"/>
          <p:cNvSpPr txBox="1">
            <a:spLocks noChangeArrowheads="1"/>
          </p:cNvSpPr>
          <p:nvPr/>
        </p:nvSpPr>
        <p:spPr bwMode="auto">
          <a:xfrm>
            <a:off x="1005103" y="5858742"/>
            <a:ext cx="267092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r>
              <a:rPr lang="en-US" sz="1800" dirty="0"/>
              <a:t>All other positions are </a:t>
            </a:r>
            <a:r>
              <a:rPr lang="en-US" sz="1800" dirty="0" smtClean="0"/>
              <a:t>0</a:t>
            </a:r>
            <a:endParaRPr lang="en-US" sz="1800" dirty="0"/>
          </a:p>
        </p:txBody>
      </p:sp>
      <p:sp>
        <p:nvSpPr>
          <p:cNvPr id="30" name="Text Box 19"/>
          <p:cNvSpPr txBox="1">
            <a:spLocks noChangeArrowheads="1"/>
          </p:cNvSpPr>
          <p:nvPr/>
        </p:nvSpPr>
        <p:spPr bwMode="auto">
          <a:xfrm>
            <a:off x="2313159" y="4558493"/>
            <a:ext cx="2147789"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r>
              <a:rPr lang="en-US" sz="1800" dirty="0">
                <a:latin typeface="Arial" pitchFamily="34" charset="0"/>
                <a:cs typeface="Arial" pitchFamily="34" charset="0"/>
              </a:rPr>
              <a:t>1’s in all positions</a:t>
            </a:r>
          </a:p>
          <a:p>
            <a:r>
              <a:rPr lang="en-US" sz="1800" dirty="0">
                <a:latin typeface="Arial" pitchFamily="34" charset="0"/>
                <a:cs typeface="Arial" pitchFamily="34" charset="0"/>
              </a:rPr>
              <a:t>such that this literal</a:t>
            </a:r>
          </a:p>
          <a:p>
            <a:r>
              <a:rPr lang="en-US" sz="1800" dirty="0">
                <a:latin typeface="Arial" pitchFamily="34" charset="0"/>
                <a:cs typeface="Arial" pitchFamily="34" charset="0"/>
              </a:rPr>
              <a:t>makes the clause true.</a:t>
            </a:r>
          </a:p>
        </p:txBody>
      </p:sp>
      <p:sp>
        <p:nvSpPr>
          <p:cNvPr id="31" name="Text Box 9"/>
          <p:cNvSpPr txBox="1">
            <a:spLocks noChangeArrowheads="1"/>
          </p:cNvSpPr>
          <p:nvPr/>
        </p:nvSpPr>
        <p:spPr bwMode="auto">
          <a:xfrm>
            <a:off x="1293078" y="339472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r>
              <a:rPr lang="en-US" dirty="0"/>
              <a:t>v</a:t>
            </a:r>
          </a:p>
        </p:txBody>
      </p:sp>
      <p:sp>
        <p:nvSpPr>
          <p:cNvPr id="32" name="Text Box 9"/>
          <p:cNvSpPr txBox="1">
            <a:spLocks noChangeArrowheads="1"/>
          </p:cNvSpPr>
          <p:nvPr/>
        </p:nvSpPr>
        <p:spPr bwMode="auto">
          <a:xfrm>
            <a:off x="3320113" y="3374579"/>
            <a:ext cx="32733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r>
              <a:rPr lang="tr-TR" dirty="0" smtClean="0"/>
              <a:t>c</a:t>
            </a:r>
            <a:endParaRPr lang="en-US" dirty="0"/>
          </a:p>
        </p:txBody>
      </p:sp>
      <p:sp>
        <p:nvSpPr>
          <p:cNvPr id="33" name="Rectangle 2"/>
          <p:cNvSpPr txBox="1">
            <a:spLocks noChangeArrowheads="1"/>
          </p:cNvSpPr>
          <p:nvPr/>
        </p:nvSpPr>
        <p:spPr>
          <a:xfrm>
            <a:off x="4795384" y="1588938"/>
            <a:ext cx="4330824"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smtClean="0">
                <a:latin typeface="Arial" pitchFamily="34" charset="0"/>
                <a:cs typeface="Arial" pitchFamily="34" charset="0"/>
              </a:rPr>
              <a:t>Picture of Integers for Literals</a:t>
            </a:r>
            <a:endParaRPr lang="tr-TR" dirty="0" smtClean="0">
              <a:latin typeface="Arial" pitchFamily="34" charset="0"/>
              <a:cs typeface="Arial" pitchFamily="34" charset="0"/>
            </a:endParaRPr>
          </a:p>
          <a:p>
            <a:endParaRPr lang="en-US" dirty="0" smtClean="0"/>
          </a:p>
        </p:txBody>
      </p:sp>
      <p:grpSp>
        <p:nvGrpSpPr>
          <p:cNvPr id="34" name="Group 3"/>
          <p:cNvGrpSpPr>
            <a:grpSpLocks/>
          </p:cNvGrpSpPr>
          <p:nvPr/>
        </p:nvGrpSpPr>
        <p:grpSpPr bwMode="auto">
          <a:xfrm>
            <a:off x="5417621" y="2938602"/>
            <a:ext cx="3056384" cy="361343"/>
            <a:chOff x="960" y="1584"/>
            <a:chExt cx="3936" cy="336"/>
          </a:xfrm>
        </p:grpSpPr>
        <p:sp>
          <p:nvSpPr>
            <p:cNvPr id="35" name="Rectangle 4"/>
            <p:cNvSpPr>
              <a:spLocks noChangeArrowheads="1"/>
            </p:cNvSpPr>
            <p:nvPr/>
          </p:nvSpPr>
          <p:spPr bwMode="auto">
            <a:xfrm>
              <a:off x="960" y="1584"/>
              <a:ext cx="3936" cy="33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r-TR"/>
            </a:p>
          </p:txBody>
        </p:sp>
        <p:sp>
          <p:nvSpPr>
            <p:cNvPr id="36" name="Line 5"/>
            <p:cNvSpPr>
              <a:spLocks noChangeShapeType="1"/>
            </p:cNvSpPr>
            <p:nvPr/>
          </p:nvSpPr>
          <p:spPr bwMode="auto">
            <a:xfrm>
              <a:off x="2736" y="1584"/>
              <a:ext cx="0"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r-TR"/>
            </a:p>
          </p:txBody>
        </p:sp>
      </p:grpSp>
      <p:grpSp>
        <p:nvGrpSpPr>
          <p:cNvPr id="37" name="Group 3"/>
          <p:cNvGrpSpPr>
            <a:grpSpLocks/>
          </p:cNvGrpSpPr>
          <p:nvPr/>
        </p:nvGrpSpPr>
        <p:grpSpPr bwMode="auto">
          <a:xfrm>
            <a:off x="5432604" y="3565584"/>
            <a:ext cx="3056384" cy="333780"/>
            <a:chOff x="960" y="1584"/>
            <a:chExt cx="3936" cy="336"/>
          </a:xfrm>
        </p:grpSpPr>
        <p:sp>
          <p:nvSpPr>
            <p:cNvPr id="38" name="Rectangle 4"/>
            <p:cNvSpPr>
              <a:spLocks noChangeArrowheads="1"/>
            </p:cNvSpPr>
            <p:nvPr/>
          </p:nvSpPr>
          <p:spPr bwMode="auto">
            <a:xfrm>
              <a:off x="960" y="1584"/>
              <a:ext cx="3936" cy="33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r-TR"/>
            </a:p>
          </p:txBody>
        </p:sp>
        <p:sp>
          <p:nvSpPr>
            <p:cNvPr id="39" name="Line 5"/>
            <p:cNvSpPr>
              <a:spLocks noChangeShapeType="1"/>
            </p:cNvSpPr>
            <p:nvPr/>
          </p:nvSpPr>
          <p:spPr bwMode="auto">
            <a:xfrm>
              <a:off x="2736" y="1584"/>
              <a:ext cx="0"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r-TR"/>
            </a:p>
          </p:txBody>
        </p:sp>
      </p:grpSp>
      <p:grpSp>
        <p:nvGrpSpPr>
          <p:cNvPr id="40" name="Group 3"/>
          <p:cNvGrpSpPr>
            <a:grpSpLocks/>
          </p:cNvGrpSpPr>
          <p:nvPr/>
        </p:nvGrpSpPr>
        <p:grpSpPr bwMode="auto">
          <a:xfrm>
            <a:off x="5432604" y="4080520"/>
            <a:ext cx="3056384" cy="361343"/>
            <a:chOff x="960" y="1584"/>
            <a:chExt cx="3936" cy="336"/>
          </a:xfrm>
        </p:grpSpPr>
        <p:sp>
          <p:nvSpPr>
            <p:cNvPr id="41" name="Rectangle 4"/>
            <p:cNvSpPr>
              <a:spLocks noChangeArrowheads="1"/>
            </p:cNvSpPr>
            <p:nvPr/>
          </p:nvSpPr>
          <p:spPr bwMode="auto">
            <a:xfrm>
              <a:off x="960" y="1584"/>
              <a:ext cx="3936" cy="33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r-TR"/>
            </a:p>
          </p:txBody>
        </p:sp>
        <p:sp>
          <p:nvSpPr>
            <p:cNvPr id="42" name="Line 5"/>
            <p:cNvSpPr>
              <a:spLocks noChangeShapeType="1"/>
            </p:cNvSpPr>
            <p:nvPr/>
          </p:nvSpPr>
          <p:spPr bwMode="auto">
            <a:xfrm>
              <a:off x="2736" y="1584"/>
              <a:ext cx="0"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r-TR"/>
            </a:p>
          </p:txBody>
        </p:sp>
      </p:grpSp>
      <p:sp>
        <p:nvSpPr>
          <p:cNvPr id="43" name="Text Box 12"/>
          <p:cNvSpPr txBox="1">
            <a:spLocks noChangeArrowheads="1"/>
          </p:cNvSpPr>
          <p:nvPr/>
        </p:nvSpPr>
        <p:spPr bwMode="auto">
          <a:xfrm>
            <a:off x="7020272" y="2911898"/>
            <a:ext cx="3508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r>
              <a:rPr lang="en-US" dirty="0"/>
              <a:t>5</a:t>
            </a:r>
          </a:p>
        </p:txBody>
      </p:sp>
      <p:sp>
        <p:nvSpPr>
          <p:cNvPr id="44" name="Text Box 12"/>
          <p:cNvSpPr txBox="1">
            <a:spLocks noChangeArrowheads="1"/>
          </p:cNvSpPr>
          <p:nvPr/>
        </p:nvSpPr>
        <p:spPr bwMode="auto">
          <a:xfrm>
            <a:off x="7027996" y="3522998"/>
            <a:ext cx="35732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r>
              <a:rPr lang="tr-TR" dirty="0" smtClean="0"/>
              <a:t>6</a:t>
            </a:r>
            <a:endParaRPr lang="en-US" dirty="0"/>
          </a:p>
        </p:txBody>
      </p:sp>
      <p:sp>
        <p:nvSpPr>
          <p:cNvPr id="45" name="Text Box 12"/>
          <p:cNvSpPr txBox="1">
            <a:spLocks noChangeArrowheads="1"/>
          </p:cNvSpPr>
          <p:nvPr/>
        </p:nvSpPr>
        <p:spPr bwMode="auto">
          <a:xfrm>
            <a:off x="7032341" y="4030358"/>
            <a:ext cx="35298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r>
              <a:rPr lang="tr-TR" dirty="0" smtClean="0"/>
              <a:t>7</a:t>
            </a:r>
            <a:endParaRPr lang="en-US" dirty="0"/>
          </a:p>
        </p:txBody>
      </p:sp>
      <p:sp>
        <p:nvSpPr>
          <p:cNvPr id="46" name="Line 15"/>
          <p:cNvSpPr>
            <a:spLocks noChangeShapeType="1"/>
          </p:cNvSpPr>
          <p:nvPr/>
        </p:nvSpPr>
        <p:spPr bwMode="auto">
          <a:xfrm>
            <a:off x="7917249" y="4653136"/>
            <a:ext cx="571739"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r-TR"/>
          </a:p>
        </p:txBody>
      </p:sp>
      <p:sp>
        <p:nvSpPr>
          <p:cNvPr id="47" name="Line 16"/>
          <p:cNvSpPr>
            <a:spLocks noChangeShapeType="1"/>
          </p:cNvSpPr>
          <p:nvPr/>
        </p:nvSpPr>
        <p:spPr bwMode="auto">
          <a:xfrm flipH="1">
            <a:off x="7232923" y="4653136"/>
            <a:ext cx="430326" cy="395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r-TR"/>
          </a:p>
        </p:txBody>
      </p:sp>
      <p:sp>
        <p:nvSpPr>
          <p:cNvPr id="48" name="Text Box 12"/>
          <p:cNvSpPr txBox="1">
            <a:spLocks noChangeArrowheads="1"/>
          </p:cNvSpPr>
          <p:nvPr/>
        </p:nvSpPr>
        <p:spPr bwMode="auto">
          <a:xfrm>
            <a:off x="7663249" y="4424536"/>
            <a:ext cx="25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r>
              <a:rPr lang="en-US" dirty="0"/>
              <a:t>i</a:t>
            </a:r>
          </a:p>
        </p:txBody>
      </p:sp>
      <p:sp>
        <p:nvSpPr>
          <p:cNvPr id="49" name="Text Box 22"/>
          <p:cNvSpPr txBox="1">
            <a:spLocks noChangeArrowheads="1"/>
          </p:cNvSpPr>
          <p:nvPr/>
        </p:nvSpPr>
        <p:spPr bwMode="auto">
          <a:xfrm>
            <a:off x="6462984" y="4949220"/>
            <a:ext cx="202600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r>
              <a:rPr lang="tr-TR" sz="1800" dirty="0" err="1" smtClean="0"/>
              <a:t>For</a:t>
            </a:r>
            <a:r>
              <a:rPr lang="tr-TR" sz="1800" dirty="0" smtClean="0"/>
              <a:t> </a:t>
            </a:r>
            <a:r>
              <a:rPr lang="tr-TR" sz="1800" dirty="0" err="1" smtClean="0"/>
              <a:t>the</a:t>
            </a:r>
            <a:r>
              <a:rPr lang="tr-TR" sz="1800" dirty="0" smtClean="0"/>
              <a:t> i-</a:t>
            </a:r>
            <a:r>
              <a:rPr lang="tr-TR" sz="1800" dirty="0" err="1" smtClean="0"/>
              <a:t>th</a:t>
            </a:r>
            <a:r>
              <a:rPr lang="tr-TR" sz="1800" dirty="0" smtClean="0"/>
              <a:t> </a:t>
            </a:r>
            <a:r>
              <a:rPr lang="tr-TR" sz="1800" dirty="0" err="1" smtClean="0"/>
              <a:t>clause</a:t>
            </a:r>
            <a:endParaRPr lang="tr-TR" sz="1800" dirty="0" smtClean="0"/>
          </a:p>
        </p:txBody>
      </p:sp>
    </p:spTree>
    <p:extLst>
      <p:ext uri="{BB962C8B-B14F-4D97-AF65-F5344CB8AC3E}">
        <p14:creationId xmlns:p14="http://schemas.microsoft.com/office/powerpoint/2010/main" val="951743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utoUpdateAnimBg="0"/>
      <p:bldP spid="49"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a:xfrm>
            <a:off x="179512" y="260648"/>
            <a:ext cx="8686800" cy="1143000"/>
          </a:xfrm>
        </p:spPr>
        <p:txBody>
          <a:bodyPr>
            <a:normAutofit/>
          </a:bodyPr>
          <a:lstStyle/>
          <a:p>
            <a:r>
              <a:rPr lang="en-US" sz="3600" dirty="0"/>
              <a:t>Example: (x </a:t>
            </a:r>
            <a:r>
              <a:rPr lang="en-US" sz="2700" dirty="0">
                <a:latin typeface="Arial" pitchFamily="34" charset="0"/>
                <a:cs typeface="Arial" pitchFamily="34" charset="0"/>
              </a:rPr>
              <a:t>∨</a:t>
            </a:r>
            <a:r>
              <a:rPr lang="en-US" sz="3600" dirty="0" smtClean="0"/>
              <a:t> </a:t>
            </a:r>
            <a:r>
              <a:rPr lang="en-US" sz="3600" dirty="0"/>
              <a:t>y </a:t>
            </a:r>
            <a:r>
              <a:rPr lang="en-US" sz="2700" dirty="0">
                <a:latin typeface="Arial" pitchFamily="34" charset="0"/>
                <a:cs typeface="Arial" pitchFamily="34" charset="0"/>
              </a:rPr>
              <a:t>∨</a:t>
            </a:r>
            <a:r>
              <a:rPr lang="en-US" sz="3600" dirty="0" smtClean="0"/>
              <a:t> </a:t>
            </a:r>
            <a:r>
              <a:rPr lang="en-US" sz="3600" dirty="0"/>
              <a:t>z</a:t>
            </a:r>
            <a:r>
              <a:rPr lang="en-US" sz="3600" dirty="0" smtClean="0"/>
              <a:t>)</a:t>
            </a:r>
            <a:r>
              <a:rPr lang="en-US" sz="3600" dirty="0">
                <a:latin typeface="Arial" pitchFamily="34" charset="0"/>
                <a:cs typeface="Arial" pitchFamily="34" charset="0"/>
              </a:rPr>
              <a:t> </a:t>
            </a:r>
            <a:r>
              <a:rPr lang="en-US" sz="3100" dirty="0" smtClean="0">
                <a:solidFill>
                  <a:schemeClr val="accent2"/>
                </a:solidFill>
                <a:latin typeface="Arial" pitchFamily="34" charset="0"/>
                <a:cs typeface="Arial" pitchFamily="34" charset="0"/>
              </a:rPr>
              <a:t>∧</a:t>
            </a:r>
            <a:r>
              <a:rPr lang="tr-TR" sz="3600" dirty="0" smtClean="0">
                <a:latin typeface="Arial" pitchFamily="34" charset="0"/>
                <a:cs typeface="Arial" pitchFamily="34" charset="0"/>
              </a:rPr>
              <a:t> </a:t>
            </a:r>
            <a:r>
              <a:rPr lang="en-US" sz="3600" dirty="0" smtClean="0"/>
              <a:t>(</a:t>
            </a:r>
            <a:r>
              <a:rPr lang="tr-TR" sz="3600" dirty="0" smtClean="0"/>
              <a:t>~</a:t>
            </a:r>
            <a:r>
              <a:rPr lang="en-US" sz="3600" dirty="0" smtClean="0"/>
              <a:t>x </a:t>
            </a:r>
            <a:r>
              <a:rPr lang="en-US" sz="2700" dirty="0">
                <a:latin typeface="Arial" pitchFamily="34" charset="0"/>
                <a:cs typeface="Arial" pitchFamily="34" charset="0"/>
              </a:rPr>
              <a:t>∨</a:t>
            </a:r>
            <a:r>
              <a:rPr lang="en-US" sz="3600" dirty="0" smtClean="0"/>
              <a:t> </a:t>
            </a:r>
            <a:r>
              <a:rPr lang="tr-TR" sz="3600" dirty="0" smtClean="0"/>
              <a:t>~</a:t>
            </a:r>
            <a:r>
              <a:rPr lang="en-US" sz="3600" dirty="0" smtClean="0"/>
              <a:t>y </a:t>
            </a:r>
            <a:r>
              <a:rPr lang="en-US" sz="2700" dirty="0">
                <a:latin typeface="Arial" pitchFamily="34" charset="0"/>
                <a:cs typeface="Arial" pitchFamily="34" charset="0"/>
              </a:rPr>
              <a:t>∨</a:t>
            </a:r>
            <a:r>
              <a:rPr lang="en-US" sz="3600" dirty="0" smtClean="0"/>
              <a:t> </a:t>
            </a:r>
            <a:r>
              <a:rPr lang="tr-TR" sz="3600" dirty="0" smtClean="0"/>
              <a:t>~</a:t>
            </a:r>
            <a:r>
              <a:rPr lang="en-US" sz="3600" dirty="0" smtClean="0"/>
              <a:t>z)</a:t>
            </a:r>
            <a:endParaRPr lang="tr-TR" sz="3600" dirty="0"/>
          </a:p>
        </p:txBody>
      </p:sp>
      <p:sp>
        <p:nvSpPr>
          <p:cNvPr id="3" name="İçerik Yer Tutucusu 2"/>
          <p:cNvSpPr>
            <a:spLocks noGrp="1"/>
          </p:cNvSpPr>
          <p:nvPr>
            <p:ph idx="1"/>
          </p:nvPr>
        </p:nvSpPr>
        <p:spPr>
          <a:xfrm>
            <a:off x="467544" y="1772816"/>
            <a:ext cx="3024336" cy="4525963"/>
          </a:xfrm>
        </p:spPr>
        <p:txBody>
          <a:bodyPr/>
          <a:lstStyle/>
          <a:p>
            <a:r>
              <a:rPr lang="en-US" dirty="0"/>
              <a:t>For x:  00111</a:t>
            </a:r>
          </a:p>
          <a:p>
            <a:r>
              <a:rPr lang="en-US" dirty="0" smtClean="0"/>
              <a:t>For</a:t>
            </a:r>
            <a:r>
              <a:rPr lang="tr-TR" dirty="0" smtClean="0"/>
              <a:t> ~</a:t>
            </a:r>
            <a:r>
              <a:rPr lang="en-US" dirty="0" smtClean="0"/>
              <a:t>x</a:t>
            </a:r>
            <a:r>
              <a:rPr lang="en-US" dirty="0"/>
              <a:t>: 00100</a:t>
            </a:r>
          </a:p>
          <a:p>
            <a:r>
              <a:rPr lang="en-US" dirty="0"/>
              <a:t>For y:  01001</a:t>
            </a:r>
          </a:p>
          <a:p>
            <a:r>
              <a:rPr lang="en-US" dirty="0"/>
              <a:t>For </a:t>
            </a:r>
            <a:r>
              <a:rPr lang="tr-TR" dirty="0" smtClean="0"/>
              <a:t>~</a:t>
            </a:r>
            <a:r>
              <a:rPr lang="en-US" dirty="0" smtClean="0"/>
              <a:t>y</a:t>
            </a:r>
            <a:r>
              <a:rPr lang="en-US" dirty="0"/>
              <a:t>: 01010</a:t>
            </a:r>
          </a:p>
          <a:p>
            <a:r>
              <a:rPr lang="en-US" dirty="0"/>
              <a:t>For z:  10001</a:t>
            </a:r>
          </a:p>
          <a:p>
            <a:r>
              <a:rPr lang="en-US" dirty="0"/>
              <a:t>For </a:t>
            </a:r>
            <a:r>
              <a:rPr lang="tr-TR" dirty="0" smtClean="0"/>
              <a:t>~</a:t>
            </a:r>
            <a:r>
              <a:rPr lang="en-US" dirty="0" smtClean="0"/>
              <a:t>z</a:t>
            </a:r>
            <a:r>
              <a:rPr lang="en-US" dirty="0"/>
              <a:t>: 10010</a:t>
            </a:r>
          </a:p>
          <a:p>
            <a:endParaRPr lang="tr-TR" dirty="0"/>
          </a:p>
        </p:txBody>
      </p:sp>
      <p:sp>
        <p:nvSpPr>
          <p:cNvPr id="5" name="Rectangle 4"/>
          <p:cNvSpPr txBox="1">
            <a:spLocks noChangeArrowheads="1"/>
          </p:cNvSpPr>
          <p:nvPr/>
        </p:nvSpPr>
        <p:spPr>
          <a:xfrm>
            <a:off x="4746622" y="1844824"/>
            <a:ext cx="3810000" cy="4114800"/>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smtClean="0"/>
              <a:t>For first clause: 00005, 00006, 00007</a:t>
            </a:r>
          </a:p>
          <a:p>
            <a:r>
              <a:rPr lang="en-US" dirty="0" smtClean="0"/>
              <a:t>For second clause: 00050, 00060, 00070</a:t>
            </a:r>
            <a:endParaRPr lang="tr-TR" dirty="0" smtClean="0"/>
          </a:p>
        </p:txBody>
      </p:sp>
    </p:spTree>
    <p:extLst>
      <p:ext uri="{BB962C8B-B14F-4D97-AF65-F5344CB8AC3E}">
        <p14:creationId xmlns:p14="http://schemas.microsoft.com/office/powerpoint/2010/main" val="3545144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en-US" dirty="0"/>
              <a:t>The Budget</a:t>
            </a:r>
            <a:endParaRPr lang="tr-TR" dirty="0"/>
          </a:p>
        </p:txBody>
      </p:sp>
      <p:sp>
        <p:nvSpPr>
          <p:cNvPr id="3" name="İçerik Yer Tutucusu 2"/>
          <p:cNvSpPr>
            <a:spLocks noGrp="1"/>
          </p:cNvSpPr>
          <p:nvPr>
            <p:ph idx="1"/>
          </p:nvPr>
        </p:nvSpPr>
        <p:spPr>
          <a:xfrm>
            <a:off x="467544" y="1772816"/>
            <a:ext cx="8229600" cy="4525963"/>
          </a:xfrm>
        </p:spPr>
        <p:txBody>
          <a:bodyPr/>
          <a:lstStyle/>
          <a:p>
            <a:r>
              <a:rPr lang="tr-TR" dirty="0"/>
              <a:t>b</a:t>
            </a:r>
            <a:r>
              <a:rPr lang="en-US" dirty="0" smtClean="0"/>
              <a:t> </a:t>
            </a:r>
            <a:r>
              <a:rPr lang="en-US" dirty="0"/>
              <a:t>= 8(1+32+32</a:t>
            </a:r>
            <a:r>
              <a:rPr lang="en-US" baseline="30000" dirty="0"/>
              <a:t>2</a:t>
            </a:r>
            <a:r>
              <a:rPr lang="en-US" dirty="0"/>
              <a:t>+…+32</a:t>
            </a:r>
            <a:r>
              <a:rPr lang="en-US" baseline="30000" dirty="0"/>
              <a:t>c-1</a:t>
            </a:r>
            <a:r>
              <a:rPr lang="en-US" dirty="0"/>
              <a:t>) + 32</a:t>
            </a:r>
            <a:r>
              <a:rPr lang="en-US" baseline="30000" dirty="0"/>
              <a:t>c</a:t>
            </a:r>
            <a:r>
              <a:rPr lang="en-US" dirty="0"/>
              <a:t>(1+32+32</a:t>
            </a:r>
            <a:r>
              <a:rPr lang="en-US" baseline="30000" dirty="0"/>
              <a:t>2</a:t>
            </a:r>
            <a:r>
              <a:rPr lang="en-US" dirty="0"/>
              <a:t>+…+32</a:t>
            </a:r>
            <a:r>
              <a:rPr lang="en-US" baseline="30000" dirty="0"/>
              <a:t>v-1</a:t>
            </a:r>
            <a:r>
              <a:rPr lang="en-US" dirty="0"/>
              <a:t>)</a:t>
            </a:r>
          </a:p>
          <a:p>
            <a:r>
              <a:rPr lang="en-US" dirty="0"/>
              <a:t>That is, 8 for the position of each clause and 1 for the position of each variable.</a:t>
            </a:r>
          </a:p>
          <a:p>
            <a:r>
              <a:rPr lang="en-US" dirty="0" smtClean="0"/>
              <a:t>Base-32 </a:t>
            </a:r>
            <a:r>
              <a:rPr lang="en-US" dirty="0"/>
              <a:t>is high enough that there can be no carries between positions.</a:t>
            </a:r>
          </a:p>
        </p:txBody>
      </p:sp>
    </p:spTree>
    <p:extLst>
      <p:ext uri="{BB962C8B-B14F-4D97-AF65-F5344CB8AC3E}">
        <p14:creationId xmlns:p14="http://schemas.microsoft.com/office/powerpoint/2010/main" val="3179187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err="1" smtClean="0"/>
              <a:t>Details</a:t>
            </a:r>
            <a:endParaRPr lang="tr-TR" dirty="0"/>
          </a:p>
        </p:txBody>
      </p:sp>
      <p:sp>
        <p:nvSpPr>
          <p:cNvPr id="3" name="İçerik Yer Tutucusu 2"/>
          <p:cNvSpPr>
            <a:spLocks noGrp="1"/>
          </p:cNvSpPr>
          <p:nvPr>
            <p:ph idx="1"/>
          </p:nvPr>
        </p:nvSpPr>
        <p:spPr/>
        <p:txBody>
          <a:bodyPr>
            <a:normAutofit fontScale="85000" lnSpcReduction="20000"/>
          </a:bodyPr>
          <a:lstStyle/>
          <a:p>
            <a:r>
              <a:rPr lang="en-US" dirty="0"/>
              <a:t>Among all the integers, the sum of digits in the position for a variable is 2.</a:t>
            </a:r>
          </a:p>
          <a:p>
            <a:r>
              <a:rPr lang="en-US" dirty="0"/>
              <a:t>And for a clause, it is 1+1+1+5+6+7 = 21.</a:t>
            </a:r>
          </a:p>
          <a:p>
            <a:pPr lvl="1"/>
            <a:r>
              <a:rPr lang="en-US" dirty="0"/>
              <a:t>1’s for the three literals in the clause; 5, 6, and 7 for the integers for that clause.</a:t>
            </a:r>
          </a:p>
          <a:p>
            <a:r>
              <a:rPr lang="en-US" dirty="0"/>
              <a:t>Thus, the budget must be satisfied on a digit-by-digit basis</a:t>
            </a:r>
            <a:r>
              <a:rPr lang="en-US" dirty="0" smtClean="0"/>
              <a:t>.</a:t>
            </a:r>
            <a:endParaRPr lang="tr-TR" dirty="0" smtClean="0"/>
          </a:p>
          <a:p>
            <a:r>
              <a:rPr lang="en-US" dirty="0"/>
              <a:t>Thus, if a set of integers matches the budget, it must include exactly one of the integers for x and -x.</a:t>
            </a:r>
          </a:p>
          <a:p>
            <a:r>
              <a:rPr lang="en-US" dirty="0"/>
              <a:t>For each clause, at least one of the integers for literals must have a 1 there, so we can choose either 5, 6, or 7 to make 8 in that position.</a:t>
            </a:r>
          </a:p>
          <a:p>
            <a:endParaRPr lang="en-US" dirty="0"/>
          </a:p>
          <a:p>
            <a:endParaRPr lang="tr-TR" dirty="0"/>
          </a:p>
        </p:txBody>
      </p:sp>
    </p:spTree>
    <p:extLst>
      <p:ext uri="{BB962C8B-B14F-4D97-AF65-F5344CB8AC3E}">
        <p14:creationId xmlns:p14="http://schemas.microsoft.com/office/powerpoint/2010/main" val="498774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err="1" smtClean="0"/>
              <a:t>Proof</a:t>
            </a:r>
            <a:r>
              <a:rPr lang="tr-TR" dirty="0" smtClean="0"/>
              <a:t> of </a:t>
            </a:r>
            <a:r>
              <a:rPr lang="tr-TR" dirty="0" err="1" smtClean="0"/>
              <a:t>the</a:t>
            </a:r>
            <a:r>
              <a:rPr lang="tr-TR" dirty="0" smtClean="0"/>
              <a:t> </a:t>
            </a:r>
            <a:r>
              <a:rPr lang="tr-TR" dirty="0" err="1" smtClean="0"/>
              <a:t>reduciton</a:t>
            </a:r>
            <a:endParaRPr lang="tr-TR" dirty="0"/>
          </a:p>
        </p:txBody>
      </p:sp>
      <p:sp>
        <p:nvSpPr>
          <p:cNvPr id="3" name="İçerik Yer Tutucusu 2"/>
          <p:cNvSpPr>
            <a:spLocks noGrp="1"/>
          </p:cNvSpPr>
          <p:nvPr>
            <p:ph idx="1"/>
          </p:nvPr>
        </p:nvSpPr>
        <p:spPr/>
        <p:txBody>
          <a:bodyPr>
            <a:normAutofit fontScale="85000" lnSpcReduction="10000"/>
          </a:bodyPr>
          <a:lstStyle/>
          <a:p>
            <a:r>
              <a:rPr lang="en-US" dirty="0"/>
              <a:t>Each integer can be constructed from the 3SAT instance F in time proportional to its length.</a:t>
            </a:r>
          </a:p>
          <a:p>
            <a:pPr lvl="1"/>
            <a:r>
              <a:rPr lang="en-US" dirty="0"/>
              <a:t>Thus, reduction is O(n</a:t>
            </a:r>
            <a:r>
              <a:rPr lang="en-US" baseline="30000" dirty="0"/>
              <a:t>2</a:t>
            </a:r>
            <a:r>
              <a:rPr lang="en-US" dirty="0"/>
              <a:t>).</a:t>
            </a:r>
          </a:p>
          <a:p>
            <a:r>
              <a:rPr lang="en-US" dirty="0"/>
              <a:t>If F is </a:t>
            </a:r>
            <a:r>
              <a:rPr lang="en-US" dirty="0" err="1"/>
              <a:t>satisfiable</a:t>
            </a:r>
            <a:r>
              <a:rPr lang="en-US" dirty="0"/>
              <a:t>, take a satisfying assignment A.</a:t>
            </a:r>
          </a:p>
          <a:p>
            <a:r>
              <a:rPr lang="en-US" dirty="0"/>
              <a:t>Pick integers for those literals that A makes true.</a:t>
            </a:r>
          </a:p>
          <a:p>
            <a:r>
              <a:rPr lang="en-US" dirty="0"/>
              <a:t>The selected integers sum to between 1 and 3 in the digit for each clause.</a:t>
            </a:r>
          </a:p>
          <a:p>
            <a:r>
              <a:rPr lang="en-US" dirty="0"/>
              <a:t>For each clause, choose the integer with 5, 6, or 7 in that digit to make a sum of 8.</a:t>
            </a:r>
          </a:p>
          <a:p>
            <a:r>
              <a:rPr lang="en-US" dirty="0"/>
              <a:t>These selected integers sum to exactly the budget.</a:t>
            </a:r>
          </a:p>
          <a:p>
            <a:endParaRPr lang="tr-TR" dirty="0"/>
          </a:p>
        </p:txBody>
      </p:sp>
    </p:spTree>
    <p:extLst>
      <p:ext uri="{BB962C8B-B14F-4D97-AF65-F5344CB8AC3E}">
        <p14:creationId xmlns:p14="http://schemas.microsoft.com/office/powerpoint/2010/main" val="4004270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err="1" smtClean="0"/>
              <a:t>Converse</a:t>
            </a:r>
            <a:endParaRPr lang="tr-TR" dirty="0"/>
          </a:p>
        </p:txBody>
      </p:sp>
      <p:sp>
        <p:nvSpPr>
          <p:cNvPr id="3" name="İçerik Yer Tutucusu 2"/>
          <p:cNvSpPr>
            <a:spLocks noGrp="1"/>
          </p:cNvSpPr>
          <p:nvPr>
            <p:ph idx="1"/>
          </p:nvPr>
        </p:nvSpPr>
        <p:spPr/>
        <p:txBody>
          <a:bodyPr>
            <a:normAutofit fontScale="92500" lnSpcReduction="10000"/>
          </a:bodyPr>
          <a:lstStyle/>
          <a:p>
            <a:r>
              <a:rPr lang="en-US" dirty="0"/>
              <a:t>We must also show that a sum of integers equal to the budget </a:t>
            </a:r>
            <a:r>
              <a:rPr lang="tr-TR" dirty="0" smtClean="0"/>
              <a:t>b</a:t>
            </a:r>
            <a:r>
              <a:rPr lang="en-US" dirty="0" smtClean="0"/>
              <a:t> </a:t>
            </a:r>
            <a:r>
              <a:rPr lang="en-US" dirty="0"/>
              <a:t>implies F is </a:t>
            </a:r>
            <a:r>
              <a:rPr lang="en-US" dirty="0" err="1"/>
              <a:t>satisfiable</a:t>
            </a:r>
            <a:r>
              <a:rPr lang="en-US" dirty="0"/>
              <a:t>.</a:t>
            </a:r>
          </a:p>
          <a:p>
            <a:r>
              <a:rPr lang="en-US" dirty="0"/>
              <a:t>In each digit for a variable x, either the integer for x or the digit for -x, but not both is selected.</a:t>
            </a:r>
          </a:p>
          <a:p>
            <a:pPr lvl="1"/>
            <a:r>
              <a:rPr lang="en-US" dirty="0"/>
              <a:t>let truth assignment A make this literal true.</a:t>
            </a:r>
          </a:p>
          <a:p>
            <a:r>
              <a:rPr lang="en-US" dirty="0"/>
              <a:t>In the digits for the clauses, a sum of 8 can only be achieved if among the integers for the variables, there is at least one 1 in that digit.</a:t>
            </a:r>
          </a:p>
          <a:p>
            <a:r>
              <a:rPr lang="en-US" dirty="0"/>
              <a:t>Thus, truth assignment A makes each clause true, so it satisfies F.</a:t>
            </a:r>
          </a:p>
          <a:p>
            <a:endParaRPr lang="tr-TR" dirty="0"/>
          </a:p>
        </p:txBody>
      </p:sp>
    </p:spTree>
    <p:extLst>
      <p:ext uri="{BB962C8B-B14F-4D97-AF65-F5344CB8AC3E}">
        <p14:creationId xmlns:p14="http://schemas.microsoft.com/office/powerpoint/2010/main" val="13474282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Kaynakça</a:t>
            </a:r>
          </a:p>
        </p:txBody>
      </p:sp>
      <p:sp>
        <p:nvSpPr>
          <p:cNvPr id="3" name="İçerik Yer Tutucusu 2"/>
          <p:cNvSpPr>
            <a:spLocks noGrp="1"/>
          </p:cNvSpPr>
          <p:nvPr>
            <p:ph idx="1"/>
          </p:nvPr>
        </p:nvSpPr>
        <p:spPr/>
        <p:txBody>
          <a:bodyPr>
            <a:normAutofit fontScale="55000" lnSpcReduction="20000"/>
          </a:bodyPr>
          <a:lstStyle/>
          <a:p>
            <a:r>
              <a:rPr lang="tr-TR" dirty="0"/>
              <a:t>Mobilhanem-Knapsack algorithm:</a:t>
            </a:r>
            <a:endParaRPr lang="tr-TR" dirty="0">
              <a:hlinkClick r:id="rId2"/>
            </a:endParaRPr>
          </a:p>
          <a:p>
            <a:r>
              <a:rPr lang="tr-TR" dirty="0">
                <a:hlinkClick r:id="rId2"/>
              </a:rPr>
              <a:t>https://www.mobilhanem.com/knapsack-sirt-cantasi-algoritmasi/</a:t>
            </a:r>
            <a:endParaRPr lang="tr-TR" dirty="0"/>
          </a:p>
          <a:p>
            <a:endParaRPr lang="tr-TR" dirty="0"/>
          </a:p>
          <a:p>
            <a:r>
              <a:rPr lang="tr-TR" dirty="0"/>
              <a:t>Wikipedia-Knapsack problem:</a:t>
            </a:r>
          </a:p>
          <a:p>
            <a:r>
              <a:rPr lang="tr-TR" dirty="0">
                <a:hlinkClick r:id="rId3"/>
              </a:rPr>
              <a:t>https://tr.wikipedia.org/wiki/S%C4%B1rt_%C3%A7antas%C4%B1_problemi</a:t>
            </a:r>
            <a:endParaRPr lang="tr-TR" dirty="0"/>
          </a:p>
          <a:p>
            <a:endParaRPr lang="tr-TR" dirty="0"/>
          </a:p>
          <a:p>
            <a:r>
              <a:rPr lang="tr-TR" dirty="0"/>
              <a:t>Geeksforgeeks- Knapsack problem:</a:t>
            </a:r>
          </a:p>
          <a:p>
            <a:r>
              <a:rPr lang="tr-TR" u="sng" dirty="0">
                <a:solidFill>
                  <a:srgbClr val="0000FF"/>
                </a:solidFill>
                <a:hlinkClick r:id="rId4"/>
              </a:rPr>
              <a:t>https://www.geeksforgeeks.org/0-1-knapsack-problem-dp-10/</a:t>
            </a:r>
            <a:endParaRPr lang="tr-TR" u="sng" dirty="0">
              <a:solidFill>
                <a:srgbClr val="0000FF"/>
              </a:solidFill>
            </a:endParaRPr>
          </a:p>
          <a:p>
            <a:endParaRPr lang="tr-TR" i="1" dirty="0"/>
          </a:p>
          <a:p>
            <a:r>
              <a:rPr lang="tr-TR" i="1" dirty="0"/>
              <a:t>Wikipedia-SAT:</a:t>
            </a:r>
          </a:p>
          <a:p>
            <a:r>
              <a:rPr lang="tr-TR" u="sng" dirty="0">
                <a:solidFill>
                  <a:srgbClr val="0000FF"/>
                </a:solidFill>
                <a:hlinkClick r:id="rId5"/>
              </a:rPr>
              <a:t>https://</a:t>
            </a:r>
            <a:r>
              <a:rPr lang="tr-TR" u="sng" dirty="0" smtClean="0">
                <a:solidFill>
                  <a:srgbClr val="0000FF"/>
                </a:solidFill>
                <a:hlinkClick r:id="rId5"/>
              </a:rPr>
              <a:t>en.wikipedia.org/wiki/Boolean_satisfiability_problem</a:t>
            </a:r>
            <a:endParaRPr lang="tr-TR" u="sng" dirty="0" smtClean="0">
              <a:solidFill>
                <a:srgbClr val="0000FF"/>
              </a:solidFill>
            </a:endParaRPr>
          </a:p>
          <a:p>
            <a:endParaRPr lang="tr-TR" dirty="0" smtClean="0"/>
          </a:p>
          <a:p>
            <a:r>
              <a:rPr lang="tr-TR" dirty="0" smtClean="0"/>
              <a:t>Ahmet Cevahir Çınar-3SAT:</a:t>
            </a:r>
            <a:endParaRPr lang="tr-TR" dirty="0"/>
          </a:p>
          <a:p>
            <a:r>
              <a:rPr lang="tr-TR" u="sng" dirty="0">
                <a:solidFill>
                  <a:srgbClr val="0000FF"/>
                </a:solidFill>
              </a:rPr>
              <a:t>https://ahmetcevahircinar.com.tr/wp-content/uploads/2017/06/3sat-clique.pdf</a:t>
            </a:r>
          </a:p>
          <a:p>
            <a:endParaRPr lang="tr-TR" dirty="0"/>
          </a:p>
        </p:txBody>
      </p:sp>
    </p:spTree>
    <p:extLst>
      <p:ext uri="{BB962C8B-B14F-4D97-AF65-F5344CB8AC3E}">
        <p14:creationId xmlns:p14="http://schemas.microsoft.com/office/powerpoint/2010/main" val="3374786543"/>
      </p:ext>
    </p:extLst>
  </p:cSld>
  <p:clrMapOvr>
    <a:masterClrMapping/>
  </p:clrMapOvr>
</p:sld>
</file>

<file path=ppt/theme/theme1.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1241</TotalTime>
  <Words>1565</Words>
  <Application>Microsoft Office PowerPoint</Application>
  <PresentationFormat>Ekran Gösterisi (4:3)</PresentationFormat>
  <Paragraphs>212</Paragraphs>
  <Slides>22</Slides>
  <Notes>0</Notes>
  <HiddenSlides>0</HiddenSlides>
  <MMClips>0</MMClips>
  <ScaleCrop>false</ScaleCrop>
  <HeadingPairs>
    <vt:vector size="4" baseType="variant">
      <vt:variant>
        <vt:lpstr>Tema</vt:lpstr>
      </vt:variant>
      <vt:variant>
        <vt:i4>1</vt:i4>
      </vt:variant>
      <vt:variant>
        <vt:lpstr>Slayt Başlıkları</vt:lpstr>
      </vt:variant>
      <vt:variant>
        <vt:i4>22</vt:i4>
      </vt:variant>
    </vt:vector>
  </HeadingPairs>
  <TitlesOfParts>
    <vt:vector size="23" baseType="lpstr">
      <vt:lpstr>Ofis Teması</vt:lpstr>
      <vt:lpstr>3SAT&lt;= KNAPSACK</vt:lpstr>
      <vt:lpstr>History of Knapsack Problem</vt:lpstr>
      <vt:lpstr>Knapsack in detail</vt:lpstr>
      <vt:lpstr>0-1 Knapsack Problem</vt:lpstr>
      <vt:lpstr>0-1 Knapsack Problem(2)</vt:lpstr>
      <vt:lpstr>0-1 Knapsack Problem(3)</vt:lpstr>
      <vt:lpstr>Different approaches to 0-1 Knapsack Problem</vt:lpstr>
      <vt:lpstr>Recursion Method </vt:lpstr>
      <vt:lpstr>Pseudocode of the Recursion Method</vt:lpstr>
      <vt:lpstr>Dynamic Method</vt:lpstr>
      <vt:lpstr>Pseudocode of the Dynamic Method</vt:lpstr>
      <vt:lpstr>Memorization Method</vt:lpstr>
      <vt:lpstr>Pseudocode of the Memorization Method</vt:lpstr>
      <vt:lpstr>3SAT</vt:lpstr>
      <vt:lpstr>The reducability of 3sat to knapsack</vt:lpstr>
      <vt:lpstr>Picture of Integer for Literals and Clauses</vt:lpstr>
      <vt:lpstr>Example: (x ∨ y ∨ z) ∧ (~x ∨ ~y ∨ ~z)</vt:lpstr>
      <vt:lpstr>The Budget</vt:lpstr>
      <vt:lpstr>Details</vt:lpstr>
      <vt:lpstr>Proof of the reduciton</vt:lpstr>
      <vt:lpstr>Converse</vt:lpstr>
      <vt:lpstr>Kaynakça</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deneme</dc:title>
  <dc:creator>CAHİT BARKIN ÖZER</dc:creator>
  <cp:lastModifiedBy>CAHİT BARKIN ÖZER</cp:lastModifiedBy>
  <cp:revision>176</cp:revision>
  <dcterms:created xsi:type="dcterms:W3CDTF">2020-11-08T12:04:20Z</dcterms:created>
  <dcterms:modified xsi:type="dcterms:W3CDTF">2020-11-30T13:36:20Z</dcterms:modified>
</cp:coreProperties>
</file>